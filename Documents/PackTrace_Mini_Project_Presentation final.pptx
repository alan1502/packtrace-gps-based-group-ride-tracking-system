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35"/>
  </p:notes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89" r:id="rId20"/>
    <p:sldId id="274" r:id="rId21"/>
    <p:sldId id="275" r:id="rId22"/>
    <p:sldId id="276" r:id="rId23"/>
    <p:sldId id="277" r:id="rId24"/>
    <p:sldId id="278" r:id="rId25"/>
    <p:sldId id="279" r:id="rId26"/>
    <p:sldId id="280" r:id="rId27"/>
    <p:sldId id="281" r:id="rId28"/>
    <p:sldId id="283" r:id="rId29"/>
    <p:sldId id="284" r:id="rId30"/>
    <p:sldId id="285" r:id="rId31"/>
    <p:sldId id="286" r:id="rId32"/>
    <p:sldId id="287" r:id="rId33"/>
    <p:sldId id="288" r:id="rId34"/>
  </p:sldIdLst>
  <p:sldSz cx="9144000" cy="5143500" type="screen16x9"/>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Introduction" id="{F113C608-CE58-BC35-FADF-5B1D37B315D7}">
          <p14:sldIdLst>
            <p14:sldId id="256"/>
            <p14:sldId id="257"/>
            <p14:sldId id="258"/>
            <p14:sldId id="259"/>
            <p14:sldId id="260"/>
            <p14:sldId id="261"/>
            <p14:sldId id="262"/>
            <p14:sldId id="263"/>
          </p14:sldIdLst>
        </p14:section>
        <p14:section name="Background" id="{E45701A5-8794-0F4D-956E-FEE7F3D3F247}">
          <p14:sldIdLst>
            <p14:sldId id="264"/>
            <p14:sldId id="265"/>
            <p14:sldId id="266"/>
          </p14:sldIdLst>
        </p14:section>
        <p14:section name="System Design" id="{C134AFA6-5FAD-C4CE-F879-E5A02D63DC9E}">
          <p14:sldIdLst>
            <p14:sldId id="267"/>
            <p14:sldId id="268"/>
            <p14:sldId id="269"/>
            <p14:sldId id="270"/>
            <p14:sldId id="271"/>
            <p14:sldId id="272"/>
            <p14:sldId id="273"/>
            <p14:sldId id="289"/>
            <p14:sldId id="274"/>
            <p14:sldId id="275"/>
            <p14:sldId id="276"/>
            <p14:sldId id="277"/>
          </p14:sldIdLst>
        </p14:section>
        <p14:section name="Implementation &amp; Results" id="{CE064E68-C47B-4A3D-BEAC-ABE7EBD101EC}">
          <p14:sldIdLst>
            <p14:sldId id="278"/>
            <p14:sldId id="279"/>
            <p14:sldId id="280"/>
            <p14:sldId id="281"/>
            <p14:sldId id="283"/>
          </p14:sldIdLst>
        </p14:section>
        <p14:section name="Conclusion" id="{D30CB2AE-2264-848B-8B68-AF1F730ADDD9}">
          <p14:sldIdLst>
            <p14:sldId id="284"/>
            <p14:sldId id="285"/>
            <p14:sldId id="286"/>
            <p14:sldId id="287"/>
            <p14:sldId id="288"/>
          </p14:sldIdLst>
        </p14:section>
      </p14:sectionLst>
    </p:ex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5611"/>
    <p:restoredTop sz="94610"/>
  </p:normalViewPr>
  <p:slideViewPr>
    <p:cSldViewPr snapToGrid="0" snapToObjects="1">
      <p:cViewPr varScale="1">
        <p:scale>
          <a:sx n="109" d="100"/>
          <a:sy n="109" d="100"/>
        </p:scale>
        <p:origin x="706" y="8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tableStyles" Target="tableStyles.xml"/><Relationship Id="rId21" Type="http://schemas.openxmlformats.org/officeDocument/2006/relationships/slide" Target="slides/slide20.xml"/><Relationship Id="rId34" Type="http://schemas.openxmlformats.org/officeDocument/2006/relationships/slide" Target="slides/slide33.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theme" Target="theme/theme1.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viewProps" Target="view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presProps" Target="presProps.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notesMaster" Target="notesMasters/notesMaster1.xml"/><Relationship Id="rId8" Type="http://schemas.openxmlformats.org/officeDocument/2006/relationships/slide" Target="slides/slide7.xml"/><Relationship Id="rId3" Type="http://schemas.openxmlformats.org/officeDocument/2006/relationships/slide" Target="slides/slide2.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1601830625"/>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Title slide. Details taken from the brief and the final report cover page (Reg. No. MLM25MCA2015, guide Ms. Divya Gopan, academic year 2025-27).</a:t>
            </a:r>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Source: report Chapter 1 (Background, Motivation). The diagram is illustrative, not data.</a:t>
            </a:r>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Verified in code: consumers.py (RideTrackingConsumer), dashboard.html (watchPosition, Google Maps JS API), services.py (45 s / 500 m thresholds), views.py (ride history, admin monitor).</a:t>
            </a:r>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Problem statement wording follows report Section 1.4.</a:t>
            </a:r>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Objectives follow report Section 1.3. Status of each objective is in report Table 8.1.</a:t>
            </a:r>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Source: report Section 2.1. Limitations are described for group-ride use, not as general criticism of these apps.</a:t>
            </a:r>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Flow matches report Section 2.2 and verified code path: dashboard.html watchPosition -&gt; WebSocket (/ws/rides/&lt;id&gt;/) -&gt; consumers.py -&gt; group broadcast -&gt; dashboard marker update.</a:t>
            </a:r>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Current scope items were each verified in the source: registration/login (views.py), create/join (views.py), live location (consumers.py), SOS (consumers.py), disconnect (services.py), ride history (views.ride_history_view), admin (Django admin + /admin-monitor/). Future scope from report Section 9.3.</a:t>
            </a:r>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All papers are from the final report (references [1]-[10]). Most recent first. Aldhahri 2025 [1], Moumen 2023 [2], Boronat 2021 [3], Pimentel &amp; Nickerson 2012 [4], White 2011 [6].</a:t>
            </a:r>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Remaining papers from the final report: Zandbergen &amp; Barbeau 2011 [5] with Zandbergen 2009 [7], Consolvo et al. 2005 [8], Beresford &amp; Stajano 2003 [9], Sinnott 1984 [10].</a:t>
            </a:r>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Gap statement from report Section 3.10: none of the reviewed works offers a lightweight, browser-based environment built around a riding group.</a:t>
            </a:r>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Verified against the ZIP: no requirements.txt is included. Versions were read from the project virtual environment (Python 3.14.0, Django 6.1.1, channels 4.3.2, daphne 4.2.3). Report Table 2.4 lists Python 3.10.11 / Django 5.2.16; settings.py header says it was generated by Django 5.2.16. OSRM and Nominatim are called by the code (routing_service.py, dashboard.html). No Bootstrap is used.</a:t>
            </a:r>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Hardware from report Table 2.3. Software versions verified from the project virtual environment (see slide 12 notes).</a:t>
            </a:r>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Verified: browser layer (dashboard.html, Geolocation, WebSocket, Google Maps JS API), Django backend (views.py, consumers.py, services.py, routing_service.py), SQLite via Django ORM (5 PackTrace models + Django auth). OSRM is called from the backend; Nominatim reverse-geocoding is called from the browser. Channel layer is InMemoryChannelLayer (single-process, development).</a:t>
            </a:r>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Workflow follows report Figure 4.6 and was checked against the code: start/end ride are leader actions (views.start_ride_view / end_ride_view); disconnect rules are in services.py and consumers.py.</a:t>
            </a:r>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Redrawn from report Figure 4.1 (entities: Rider, Admin, GPS source, map service). The map service is Google Maps Platform for display; road routes come from OSRM (routing_service.py).</a:t>
            </a:r>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Process grouping follows report Figure 4.2, extended with Location Distribution and Route Monitoring as separate processes as requested. Data stores correspond to the real tables: D1 auth user + RiderProfile, D2 RideGroup + RideMember, D3 LocationLog, D4 SOSAlert. Ride history reads D2 and D3 (there is no separate history table).</a:t>
            </a:r>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Actors and use cases from report Figure 4.3, limited to what exists in the code. The leader is a rider role (RideMember.role = LEADER) who starts and ends the ride. Administration is the Django admin site plus the custom /admin-monitor/ page.</a:t>
            </a:r>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75BC506-209C-4A6F-7433-B4F47B4F62C7}"/>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560186D2-0A9D-A592-550E-0F5A24ECCBD3}"/>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0514CE63-15EC-459E-8BE9-6D4EAE0D1A14}"/>
              </a:ext>
            </a:extLst>
          </p:cNvPr>
          <p:cNvSpPr>
            <a:spLocks noGrp="1"/>
          </p:cNvSpPr>
          <p:nvPr>
            <p:ph type="body" idx="1"/>
          </p:nvPr>
        </p:nvSpPr>
        <p:spPr/>
        <p:txBody>
          <a:bodyPr/>
          <a:lstStyle/>
          <a:p>
            <a:r>
              <a:rPr lang="en-US" dirty="0"/>
              <a:t>Actors and use cases from report Figure 4.3, limited to what exists in the code. The leader is a rider role (RideMember.role = LEADER) who starts and ends the ride. Administration is the Django admin site plus the custom /admin-monitor/ page.</a:t>
            </a:r>
          </a:p>
        </p:txBody>
      </p:sp>
      <p:sp>
        <p:nvSpPr>
          <p:cNvPr id="4" name="Slide Number Placeholder 3">
            <a:extLst>
              <a:ext uri="{FF2B5EF4-FFF2-40B4-BE49-F238E27FC236}">
                <a16:creationId xmlns:a16="http://schemas.microsoft.com/office/drawing/2014/main" id="{6572C443-989D-82C9-5E00-D6819906296A}"/>
              </a:ext>
            </a:extLst>
          </p:cNvPr>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82867223"/>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Redrawn from tracker/models.py and migrations 0001-0006. PackTrace defines 5 models (RiderProfile, RideGroup, RideMember, LocationLog, SOSAlert) plus Django auth User. The report ER diagram also shows RIDE_HISTORY and NOTIFICATION tables; these do NOT exist in the code. Ride history is computed from completed RideGroup/RideMember/LocationLog rows. Field lists are trimmed for readability; names are as in models.py.</a:t>
            </a:r>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Every module below was found in the source. Authentication: views.register_view/login_view, backends.EmailAuthBackend. Ride management: create/join/start/end views. GPS: dashboard.html watchPosition + consumers.handle_location_update. Live map: dashboard.html (Google Maps). Disconnect: services.check_and_update_disconnected_riders. Deviation: services.check_route_deviation. SOS: consumers.handle_sos_alert + admin acknowledge/resolve. History: views.ride_history_view. Admin: admin.py + admin_monitor_view.</a:t>
            </a:r>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Verified values: watchPosition options (dashboard.html: enableHighAccuracy true, timeout 60000, maximumAge 5000); Haversine R = 6371000 m (services.py); DEVIATION_THRESHOLD 500 m from ROUTE_DEVIATION_THRESHOLD_METERS; DISCONNECT_THRESHOLD 45 s from DISCONNECT_THRESHOLD_SECONDS; dashboard polls live-state every 3 s, and that endpoint runs the disconnect sweep; check_disconnects management command also exists. Deviation compares the rider with route points (vertices), not line segments.</a:t>
            </a:r>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File layout and excerpts are copied from the ZIP. tracker/tests.py contains 23 automated test methods (routes, destination, history, registration, OSRM client, disconnect detection); they were not executed while preparing this deck.</a:t>
            </a:r>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All images are real screenshots from the final report (Figures 5.2, 5.3, 5.4 and the dashboard header from Figure 5.6). The Join with Code control is shown as a header crop because the report has no separate join-dialog screenshot.</a:t>
            </a:r>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Screenshot is from report Figure 6.1 (development run, one rider, planned route 14.4 km). Planned distance, route duration, distance remaining, ETA and travelled distance are all computed fields in the dashboard (group_live_state_api / dashboard.html). Values in the screenshot are from one test run and are not system constants.</a:t>
            </a:r>
          </a:p>
        </p:txBody>
      </p:sp>
      <p:sp>
        <p:nvSpPr>
          <p:cNvPr id="4" name="Slide Number Placeholder 3"/>
          <p:cNvSpPr>
            <a:spLocks noGrp="1"/>
          </p:cNvSpPr>
          <p:nvPr>
            <p:ph type="sldNum" sz="quarter" idx="10"/>
          </p:nvPr>
        </p:nvSpPr>
        <p:spPr/>
        <p:txBody>
          <a:bodyPr/>
          <a:lstStyle/>
          <a:p>
            <a:fld id="{F7021451-1387-4CA6-816F-3879F97B5CBC}" type="slidenum">
              <a:rPr lang="en-US"/>
              <a:t>25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Real screenshots: SOS/alert banner and rider badge (report Figure 5.7 / 6.1), ride history (Figure 5.8), Django admin (Figure 5.9). IMPORTANT: the alert banner visible in the report screenshots reads "Ride started by Leader admin!" because start/end ride notices are stored as alert records; it is not a manually raised SOS. Disconnected-rider, last-known-location and route-deviation screenshots do not exist in the report, so those tiles are placeholders to fill with a fresh capture.</a:t>
            </a:r>
          </a:p>
        </p:txBody>
      </p:sp>
      <p:sp>
        <p:nvSpPr>
          <p:cNvPr id="4" name="Slide Number Placeholder 3"/>
          <p:cNvSpPr>
            <a:spLocks noGrp="1"/>
          </p:cNvSpPr>
          <p:nvPr>
            <p:ph type="sldNum" sz="quarter" idx="10"/>
          </p:nvPr>
        </p:nvSpPr>
        <p:spPr/>
        <p:txBody>
          <a:bodyPr/>
          <a:lstStyle/>
          <a:p>
            <a:fld id="{F7021451-1387-4CA6-816F-3879F97B5CBC}" type="slidenum">
              <a:rPr lang="en-US"/>
              <a:t>26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Statuses are copied from report Table 6.2 (22 cases): 17 recorded as executed/pass; UAT06, UAT07, UAT10, UAT12 and UAT13 are recorded as Pending. The report text itself says results are still to be recorded, so update this slide before the viva if more cases have been run. tracker/tests.py also holds 23 automated tests (including disconnect detection and reconnect); they were not executed here. No performance measurements exist, so none are shown.</a:t>
            </a:r>
          </a:p>
        </p:txBody>
      </p:sp>
      <p:sp>
        <p:nvSpPr>
          <p:cNvPr id="4" name="Slide Number Placeholder 3"/>
          <p:cNvSpPr>
            <a:spLocks noGrp="1"/>
          </p:cNvSpPr>
          <p:nvPr>
            <p:ph type="sldNum" sz="quarter" idx="10"/>
          </p:nvPr>
        </p:nvSpPr>
        <p:spPr/>
        <p:txBody>
          <a:bodyPr/>
          <a:lstStyle/>
          <a:p>
            <a:fld id="{F7021451-1387-4CA6-816F-3879F97B5CBC}" type="slidenum">
              <a:rPr lang="en-US"/>
              <a:t>27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Each PackTrace claim was checked in the source. Group management: RideGroup.join_code + RideMember. Common map: dashboard.html Google Maps. Group tracking: consumers.py broadcast. Disconnect: services.py (45 s) + consumers.disconnect. Route deviation: services.check_route_deviation (500 m). SOS: consumers.handle_sos_alert (WebSocket only; in-app, no SMS/email/push). History: views.ride_history_view. Admin: Django admin + /admin-monitor/.</a:t>
            </a:r>
          </a:p>
        </p:txBody>
      </p:sp>
      <p:sp>
        <p:nvSpPr>
          <p:cNvPr id="4" name="Slide Number Placeholder 3"/>
          <p:cNvSpPr>
            <a:spLocks noGrp="1"/>
          </p:cNvSpPr>
          <p:nvPr>
            <p:ph type="sldNum" sz="quarter" idx="10"/>
          </p:nvPr>
        </p:nvSpPr>
        <p:spPr/>
        <p:txBody>
          <a:bodyPr/>
          <a:lstStyle/>
          <a:p>
            <a:fld id="{F7021451-1387-4CA6-816F-3879F97B5CBC}" type="slidenum">
              <a:rPr lang="en-US"/>
              <a:t>28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Advantages: report Section 7.1. Limitations: report Sections 7.2 and 9.2, plus development-configuration facts from settings.py (SQLite, InMemoryChannelLayer, DEBUG=True). Future scope: report Section 9.3 (labelled as not present features).</a:t>
            </a:r>
          </a:p>
        </p:txBody>
      </p:sp>
      <p:sp>
        <p:nvSpPr>
          <p:cNvPr id="4" name="Slide Number Placeholder 3"/>
          <p:cNvSpPr>
            <a:spLocks noGrp="1"/>
          </p:cNvSpPr>
          <p:nvPr>
            <p:ph type="sldNum" sz="quarter" idx="10"/>
          </p:nvPr>
        </p:nvSpPr>
        <p:spPr/>
        <p:txBody>
          <a:bodyPr/>
          <a:lstStyle/>
          <a:p>
            <a:fld id="{F7021451-1387-4CA6-816F-3879F97B5CBC}" type="slidenum">
              <a:rPr lang="en-US"/>
              <a:t>29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PO / PSO / SDG mapping from the report (PO1-PO8, PSO1-PSO2; SDG 3, 9 and 11). The report notes that the SDG 3 contribution is indirect: PackTrace supports safer riding but does not itself prevent accidents.</a:t>
            </a:r>
          </a:p>
        </p:txBody>
      </p:sp>
      <p:sp>
        <p:nvSpPr>
          <p:cNvPr id="4" name="Slide Number Placeholder 3"/>
          <p:cNvSpPr>
            <a:spLocks noGrp="1"/>
          </p:cNvSpPr>
          <p:nvPr>
            <p:ph type="sldNum" sz="quarter" idx="10"/>
          </p:nvPr>
        </p:nvSpPr>
        <p:spPr/>
        <p:txBody>
          <a:bodyPr/>
          <a:lstStyle/>
          <a:p>
            <a:fld id="{F7021451-1387-4CA6-816F-3879F97B5CBC}" type="slidenum">
              <a:rPr lang="en-US"/>
              <a:t>30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IEEE-format references [1]-[8], copied from the final report Chapter 11.</a:t>
            </a:r>
          </a:p>
        </p:txBody>
      </p:sp>
      <p:sp>
        <p:nvSpPr>
          <p:cNvPr id="4" name="Slide Number Placeholder 3"/>
          <p:cNvSpPr>
            <a:spLocks noGrp="1"/>
          </p:cNvSpPr>
          <p:nvPr>
            <p:ph type="sldNum" sz="quarter" idx="10"/>
          </p:nvPr>
        </p:nvSpPr>
        <p:spPr/>
        <p:txBody>
          <a:bodyPr/>
          <a:lstStyle/>
          <a:p>
            <a:fld id="{F7021451-1387-4CA6-816F-3879F97B5CBC}" type="slidenum">
              <a:rPr lang="en-US"/>
              <a:t>31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IEEE-format references [9]-[17], copied from the final report Chapter 11.</a:t>
            </a:r>
          </a:p>
        </p:txBody>
      </p:sp>
      <p:sp>
        <p:nvSpPr>
          <p:cNvPr id="4" name="Slide Number Placeholder 3"/>
          <p:cNvSpPr>
            <a:spLocks noGrp="1"/>
          </p:cNvSpPr>
          <p:nvPr>
            <p:ph type="sldNum" sz="quarter" idx="10"/>
          </p:nvPr>
        </p:nvSpPr>
        <p:spPr/>
        <p:txBody>
          <a:bodyPr/>
          <a:lstStyle/>
          <a:p>
            <a:fld id="{F7021451-1387-4CA6-816F-3879F97B5CBC}" type="slidenum">
              <a:rPr lang="en-US"/>
              <a:t>32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Closing slide. Invite questions; the demo video is on slide 27.</a:t>
            </a:r>
          </a:p>
        </p:txBody>
      </p:sp>
      <p:sp>
        <p:nvSpPr>
          <p:cNvPr id="4" name="Slide Number Placeholder 3"/>
          <p:cNvSpPr>
            <a:spLocks noGrp="1"/>
          </p:cNvSpPr>
          <p:nvPr>
            <p:ph type="sldNum" sz="quarter" idx="10"/>
          </p:nvPr>
        </p:nvSpPr>
        <p:spPr/>
        <p:txBody>
          <a:bodyPr/>
          <a:lstStyle/>
          <a:p>
            <a:fld id="{F7021451-1387-4CA6-816F-3879F97B5CBC}" type="slidenum">
              <a:rPr lang="en-US"/>
              <a:t>33</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TITLE_LAYOUT">
    <p:bg>
      <p:bgPr>
        <a:solidFill>
          <a:srgbClr val="FFFFFF"/>
        </a:solidFill>
        <a:effectLst/>
      </p:bgPr>
    </p:bg>
    <p:spTree>
      <p:nvGrpSpPr>
        <p:cNvPr id="1" name=""/>
        <p:cNvGrpSpPr/>
        <p:nvPr/>
      </p:nvGrpSpPr>
      <p:grpSpPr>
        <a:xfrm>
          <a:off x="0" y="0"/>
          <a:ext cx="0" cy="0"/>
          <a:chOff x="0" y="0"/>
          <a:chExt cx="0" cy="0"/>
        </a:xfrm>
      </p:grpSpPr>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CONTENT_LAYOUT">
    <p:bg>
      <p:bgPr>
        <a:solidFill>
          <a:srgbClr val="FFFFFF"/>
        </a:solidFill>
        <a:effectLst/>
      </p:bgPr>
    </p:bg>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457200" y="420624"/>
            <a:ext cx="8229600" cy="566928"/>
          </a:xfrm>
          <a:prstGeom prst="rect">
            <a:avLst/>
          </a:prstGeom>
          <a:noFill/>
          <a:ln/>
        </p:spPr>
        <p:txBody>
          <a:bodyPr wrap="square" rtlCol="0"/>
          <a:lstStyle>
            <a:lvl1pPr marL="0" indent="0" algn="l">
              <a:buNone/>
              <a:defRPr lang="en-US" sz="2800" b="1" dirty="0">
                <a:solidFill>
                  <a:schemeClr val="tx1"/>
                </a:solidFill>
              </a:defRPr>
            </a:lvl1pPr>
          </a:lstStyle>
          <a:p>
            <a:pPr marL="0" indent="0" algn="l">
              <a:buNone/>
            </a:pPr>
            <a:endParaRPr lang="en-US" sz="2800" dirty="0"/>
          </a:p>
        </p:txBody>
      </p:sp>
      <p:sp>
        <p:nvSpPr>
          <p:cNvPr id="3" name="Text 0"/>
          <p:cNvSpPr/>
          <p:nvPr/>
        </p:nvSpPr>
        <p:spPr>
          <a:xfrm>
            <a:off x="457200" y="4791456"/>
            <a:ext cx="5486400" cy="228600"/>
          </a:xfrm>
          <a:prstGeom prst="rect">
            <a:avLst/>
          </a:prstGeom>
          <a:noFill/>
          <a:ln/>
        </p:spPr>
        <p:txBody>
          <a:bodyPr wrap="square" lIns="0" tIns="0" rIns="0" bIns="0" rtlCol="0" anchor="ctr"/>
          <a:lstStyle/>
          <a:p>
            <a:pPr marL="0" indent="0">
              <a:buNone/>
            </a:pPr>
            <a:r>
              <a:rPr lang="en-US" sz="1000" dirty="0">
                <a:solidFill>
                  <a:schemeClr val="tx2"/>
                </a:solidFill>
              </a:rPr>
              <a:t>PackTrace  |  GPS-Based Group Ride Tracking System</a:t>
            </a:r>
            <a:endParaRPr lang="en-US" sz="1000" dirty="0"/>
          </a:p>
        </p:txBody>
      </p:sp>
      <p:sp>
        <p:nvSpPr>
          <p:cNvPr id="25" name="Slide Number Placeholder 0"/>
          <p:cNvSpPr>
            <a:spLocks noGrp="1"/>
          </p:cNvSpPr>
          <p:nvPr>
            <p:ph type="sldNum" sz="quarter" idx="4294967295"/>
          </p:nvPr>
        </p:nvSpPr>
        <p:spPr>
          <a:xfrm>
            <a:off x="8138160" y="4791456"/>
            <a:ext cx="548640" cy="228600"/>
          </a:xfrm>
          <a:prstGeom prst="rect">
            <a:avLst/>
          </a:prstGeom>
          <a:extLst>
            <a:ext uri="{C572A759-6A51-4108-AA02-DFA0A04FC94B}">
              <ma14:wrappingTextBoxFlag xmlns:ma14="http://schemas.microsoft.com/office/mac/drawingml/2011/main" xmlns="" val="0"/>
            </a:ext>
          </a:extLst>
        </p:spPr>
        <p:txBody>
          <a:bodyPr/>
          <a:lstStyle>
            <a:lvl1pPr>
              <a:defRPr sz="1000">
                <a:solidFill>
                  <a:srgbClr val="475569"/>
                </a:solidFill>
              </a:defRPr>
            </a:lvl1pPr>
          </a:lstStyle>
          <a:p>
            <a:pPr algn="r"/>
            <a:fld id="{F7021451-1387-4CA6-816F-3879F97B5CBC}" type="slidenum">
              <a:rPr lang="en-US" b="0"/>
              <a:t>‹#›</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slideLayout" Target="../slideLayouts/slideLayout3.xml"/><Relationship Id="rId2" Type="http://schemas.openxmlformats.org/officeDocument/2006/relationships/slideLayout" Target="../slideLayouts/slideLayout2.xml"/><Relationship Id="rId1" Type="http://schemas.openxmlformats.org/officeDocument/2006/relationships/slideLayout" Target="../slideLayouts/slideLayout1.xml"/><Relationship Id="rId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8138160" y="4791456"/>
            <a:ext cx="548640" cy="228600"/>
          </a:xfrm>
          <a:prstGeom prst="rect">
            <a:avLst/>
          </a:prstGeom>
          <a:extLst>
            <a:ext uri="{C572A759-6A51-4108-AA02-DFA0A04FC94B}">
              <ma14:wrappingTextBoxFlag xmlns:ma14="http://schemas.microsoft.com/office/mac/drawingml/2011/main" xmlns="" val="0"/>
            </a:ext>
          </a:extLst>
        </p:spPr>
        <p:txBody>
          <a:bodyPr/>
          <a:lstStyle>
            <a:lvl1pPr>
              <a:defRPr sz="1000">
                <a:solidFill>
                  <a:srgbClr val="475569"/>
                </a:solidFill>
              </a:defRPr>
            </a:lvl1pPr>
          </a:lstStyle>
          <a:p>
            <a:pPr algn="r"/>
            <a:fld id="{F7021451-1387-4CA6-816F-3879F97B5CBC}" type="slidenum">
              <a:rPr lang="en-US" b="0"/>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2.xml"/><Relationship Id="rId4" Type="http://schemas.openxmlformats.org/officeDocument/2006/relationships/image" Target="../media/image2.png"/></Relationships>
</file>

<file path=ppt/slides/_rels/slide2.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2.xml"/><Relationship Id="rId1" Type="http://schemas.openxmlformats.org/officeDocument/2006/relationships/slideLayout" Target="../slideLayouts/slideLayout3.xml"/><Relationship Id="rId6" Type="http://schemas.openxmlformats.org/officeDocument/2006/relationships/image" Target="../media/image6.png"/><Relationship Id="rId5" Type="http://schemas.openxmlformats.org/officeDocument/2006/relationships/image" Target="../media/image5.png"/><Relationship Id="rId4" Type="http://schemas.openxmlformats.org/officeDocument/2006/relationships/image" Target="../media/image4.png"/></Relationships>
</file>

<file path=ppt/slides/_rels/slide3.xml.rels><?xml version="1.0" encoding="UTF-8" standalone="yes"?>
<Relationships xmlns="http://schemas.openxmlformats.org/package/2006/relationships"><Relationship Id="rId8" Type="http://schemas.openxmlformats.org/officeDocument/2006/relationships/image" Target="../media/image11.png"/><Relationship Id="rId3" Type="http://schemas.openxmlformats.org/officeDocument/2006/relationships/image" Target="../media/image7.png"/><Relationship Id="rId7" Type="http://schemas.openxmlformats.org/officeDocument/2006/relationships/image" Target="../media/image6.png"/><Relationship Id="rId2" Type="http://schemas.openxmlformats.org/officeDocument/2006/relationships/notesSlide" Target="../notesSlides/notesSlide3.xml"/><Relationship Id="rId1" Type="http://schemas.openxmlformats.org/officeDocument/2006/relationships/slideLayout" Target="../slideLayouts/slideLayout3.xml"/><Relationship Id="rId6" Type="http://schemas.openxmlformats.org/officeDocument/2006/relationships/image" Target="../media/image10.png"/><Relationship Id="rId5" Type="http://schemas.openxmlformats.org/officeDocument/2006/relationships/image" Target="../media/image9.png"/><Relationship Id="rId10" Type="http://schemas.openxmlformats.org/officeDocument/2006/relationships/image" Target="../media/image13.png"/><Relationship Id="rId4" Type="http://schemas.openxmlformats.org/officeDocument/2006/relationships/image" Target="../media/image8.png"/><Relationship Id="rId9" Type="http://schemas.openxmlformats.org/officeDocument/2006/relationships/image" Target="../media/image12.png"/></Relationships>
</file>

<file path=ppt/slides/_rels/slide4.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4.xml"/><Relationship Id="rId1" Type="http://schemas.openxmlformats.org/officeDocument/2006/relationships/slideLayout" Target="../slideLayouts/slideLayout3.xml"/><Relationship Id="rId5" Type="http://schemas.openxmlformats.org/officeDocument/2006/relationships/image" Target="../media/image14.png"/><Relationship Id="rId4" Type="http://schemas.openxmlformats.org/officeDocument/2006/relationships/image" Target="../media/image6.png"/></Relationships>
</file>

<file path=ppt/slides/_rels/slide5.xml.rels><?xml version="1.0" encoding="UTF-8" standalone="yes"?>
<Relationships xmlns="http://schemas.openxmlformats.org/package/2006/relationships"><Relationship Id="rId8" Type="http://schemas.openxmlformats.org/officeDocument/2006/relationships/image" Target="../media/image14.png"/><Relationship Id="rId3" Type="http://schemas.openxmlformats.org/officeDocument/2006/relationships/image" Target="../media/image9.png"/><Relationship Id="rId7" Type="http://schemas.openxmlformats.org/officeDocument/2006/relationships/image" Target="../media/image15.png"/><Relationship Id="rId2" Type="http://schemas.openxmlformats.org/officeDocument/2006/relationships/notesSlide" Target="../notesSlides/notesSlide5.xml"/><Relationship Id="rId1" Type="http://schemas.openxmlformats.org/officeDocument/2006/relationships/slideLayout" Target="../slideLayouts/slideLayout3.xml"/><Relationship Id="rId6" Type="http://schemas.openxmlformats.org/officeDocument/2006/relationships/image" Target="../media/image3.png"/><Relationship Id="rId5" Type="http://schemas.openxmlformats.org/officeDocument/2006/relationships/image" Target="../media/image6.png"/><Relationship Id="rId4" Type="http://schemas.openxmlformats.org/officeDocument/2006/relationships/image" Target="../media/image10.png"/><Relationship Id="rId9" Type="http://schemas.openxmlformats.org/officeDocument/2006/relationships/image" Target="../media/image16.png"/></Relationships>
</file>

<file path=ppt/slides/_rels/slide6.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notesSlide" Target="../notesSlides/notesSlide6.xml"/><Relationship Id="rId1" Type="http://schemas.openxmlformats.org/officeDocument/2006/relationships/slideLayout" Target="../slideLayouts/slideLayout3.xml"/><Relationship Id="rId6" Type="http://schemas.openxmlformats.org/officeDocument/2006/relationships/image" Target="../media/image20.png"/><Relationship Id="rId5" Type="http://schemas.openxmlformats.org/officeDocument/2006/relationships/image" Target="../media/image19.png"/><Relationship Id="rId4" Type="http://schemas.openxmlformats.org/officeDocument/2006/relationships/image" Target="../media/image18.png"/></Relationships>
</file>

<file path=ppt/slides/_rels/slide7.xml.rels><?xml version="1.0" encoding="UTF-8" standalone="yes"?>
<Relationships xmlns="http://schemas.openxmlformats.org/package/2006/relationships"><Relationship Id="rId8" Type="http://schemas.openxmlformats.org/officeDocument/2006/relationships/image" Target="../media/image6.png"/><Relationship Id="rId13" Type="http://schemas.openxmlformats.org/officeDocument/2006/relationships/image" Target="../media/image12.png"/><Relationship Id="rId3" Type="http://schemas.openxmlformats.org/officeDocument/2006/relationships/image" Target="../media/image21.png"/><Relationship Id="rId7" Type="http://schemas.openxmlformats.org/officeDocument/2006/relationships/image" Target="../media/image10.png"/><Relationship Id="rId12" Type="http://schemas.openxmlformats.org/officeDocument/2006/relationships/image" Target="../media/image27.png"/><Relationship Id="rId2" Type="http://schemas.openxmlformats.org/officeDocument/2006/relationships/notesSlide" Target="../notesSlides/notesSlide7.xml"/><Relationship Id="rId1" Type="http://schemas.openxmlformats.org/officeDocument/2006/relationships/slideLayout" Target="../slideLayouts/slideLayout3.xml"/><Relationship Id="rId6" Type="http://schemas.openxmlformats.org/officeDocument/2006/relationships/image" Target="../media/image8.png"/><Relationship Id="rId11" Type="http://schemas.openxmlformats.org/officeDocument/2006/relationships/image" Target="../media/image26.png"/><Relationship Id="rId5" Type="http://schemas.openxmlformats.org/officeDocument/2006/relationships/image" Target="../media/image23.png"/><Relationship Id="rId10" Type="http://schemas.openxmlformats.org/officeDocument/2006/relationships/image" Target="../media/image25.png"/><Relationship Id="rId4" Type="http://schemas.openxmlformats.org/officeDocument/2006/relationships/image" Target="../media/image22.png"/><Relationship Id="rId9" Type="http://schemas.openxmlformats.org/officeDocument/2006/relationships/image" Target="../media/image24.png"/></Relationships>
</file>

<file path=ppt/slides/_rels/slide8.xml.rels><?xml version="1.0" encoding="UTF-8" standalone="yes"?>
<Relationships xmlns="http://schemas.openxmlformats.org/package/2006/relationships"><Relationship Id="rId3" Type="http://schemas.openxmlformats.org/officeDocument/2006/relationships/image" Target="../media/image28.png"/><Relationship Id="rId2" Type="http://schemas.openxmlformats.org/officeDocument/2006/relationships/notesSlide" Target="../notesSlides/notesSlide8.xml"/><Relationship Id="rId1" Type="http://schemas.openxmlformats.org/officeDocument/2006/relationships/slideLayout" Target="../slideLayouts/slideLayout3.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3.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3.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3.xml"/></Relationships>
</file>

<file path=ppt/slides/_rels/slide12.xml.rels><?xml version="1.0" encoding="UTF-8" standalone="yes"?>
<Relationships xmlns="http://schemas.openxmlformats.org/package/2006/relationships"><Relationship Id="rId3" Type="http://schemas.openxmlformats.org/officeDocument/2006/relationships/image" Target="../media/image29.png"/><Relationship Id="rId7" Type="http://schemas.openxmlformats.org/officeDocument/2006/relationships/image" Target="../media/image32.png"/><Relationship Id="rId2" Type="http://schemas.openxmlformats.org/officeDocument/2006/relationships/notesSlide" Target="../notesSlides/notesSlide12.xml"/><Relationship Id="rId1" Type="http://schemas.openxmlformats.org/officeDocument/2006/relationships/slideLayout" Target="../slideLayouts/slideLayout3.xml"/><Relationship Id="rId6" Type="http://schemas.openxmlformats.org/officeDocument/2006/relationships/image" Target="../media/image31.png"/><Relationship Id="rId5" Type="http://schemas.openxmlformats.org/officeDocument/2006/relationships/image" Target="../media/image6.png"/><Relationship Id="rId4" Type="http://schemas.openxmlformats.org/officeDocument/2006/relationships/image" Target="../media/image30.png"/></Relationships>
</file>

<file path=ppt/slides/_rels/slide13.xml.rels><?xml version="1.0" encoding="UTF-8" standalone="yes"?>
<Relationships xmlns="http://schemas.openxmlformats.org/package/2006/relationships"><Relationship Id="rId3" Type="http://schemas.openxmlformats.org/officeDocument/2006/relationships/image" Target="../media/image33.png"/><Relationship Id="rId2" Type="http://schemas.openxmlformats.org/officeDocument/2006/relationships/notesSlide" Target="../notesSlides/notesSlide13.xml"/><Relationship Id="rId1" Type="http://schemas.openxmlformats.org/officeDocument/2006/relationships/slideLayout" Target="../slideLayouts/slideLayout3.xml"/><Relationship Id="rId5" Type="http://schemas.openxmlformats.org/officeDocument/2006/relationships/image" Target="../media/image34.png"/><Relationship Id="rId4" Type="http://schemas.openxmlformats.org/officeDocument/2006/relationships/image" Target="../media/image7.png"/></Relationships>
</file>

<file path=ppt/slides/_rels/slide14.xml.rels><?xml version="1.0" encoding="UTF-8" standalone="yes"?>
<Relationships xmlns="http://schemas.openxmlformats.org/package/2006/relationships"><Relationship Id="rId3" Type="http://schemas.openxmlformats.org/officeDocument/2006/relationships/image" Target="../media/image35.png"/><Relationship Id="rId2" Type="http://schemas.openxmlformats.org/officeDocument/2006/relationships/notesSlide" Target="../notesSlides/notesSlide14.xml"/><Relationship Id="rId1" Type="http://schemas.openxmlformats.org/officeDocument/2006/relationships/slideLayout" Target="../slideLayouts/slideLayout3.xml"/><Relationship Id="rId4" Type="http://schemas.openxmlformats.org/officeDocument/2006/relationships/image" Target="../media/image6.png"/></Relationships>
</file>

<file path=ppt/slides/_rels/slide15.xml.rels><?xml version="1.0" encoding="UTF-8" standalone="yes"?>
<Relationships xmlns="http://schemas.openxmlformats.org/package/2006/relationships"><Relationship Id="rId3" Type="http://schemas.openxmlformats.org/officeDocument/2006/relationships/image" Target="../media/image36.png"/><Relationship Id="rId2" Type="http://schemas.openxmlformats.org/officeDocument/2006/relationships/notesSlide" Target="../notesSlides/notesSlide15.xml"/><Relationship Id="rId1" Type="http://schemas.openxmlformats.org/officeDocument/2006/relationships/slideLayout" Target="../slideLayouts/slideLayout3.xml"/></Relationships>
</file>

<file path=ppt/slides/_rels/slide16.xml.rels><?xml version="1.0" encoding="UTF-8" standalone="yes"?>
<Relationships xmlns="http://schemas.openxmlformats.org/package/2006/relationships"><Relationship Id="rId3" Type="http://schemas.openxmlformats.org/officeDocument/2006/relationships/image" Target="../media/image37.png"/><Relationship Id="rId2" Type="http://schemas.openxmlformats.org/officeDocument/2006/relationships/notesSlide" Target="../notesSlides/notesSlide16.xml"/><Relationship Id="rId1" Type="http://schemas.openxmlformats.org/officeDocument/2006/relationships/slideLayout" Target="../slideLayouts/slideLayout3.xml"/></Relationships>
</file>

<file path=ppt/slides/_rels/slide17.xml.rels><?xml version="1.0" encoding="UTF-8" standalone="yes"?>
<Relationships xmlns="http://schemas.openxmlformats.org/package/2006/relationships"><Relationship Id="rId3" Type="http://schemas.openxmlformats.org/officeDocument/2006/relationships/image" Target="../media/image38.png"/><Relationship Id="rId2" Type="http://schemas.openxmlformats.org/officeDocument/2006/relationships/notesSlide" Target="../notesSlides/notesSlide17.xml"/><Relationship Id="rId1" Type="http://schemas.openxmlformats.org/officeDocument/2006/relationships/slideLayout" Target="../slideLayouts/slideLayout3.xml"/></Relationships>
</file>

<file path=ppt/slides/_rels/slide18.xml.rels><?xml version="1.0" encoding="UTF-8" standalone="yes"?>
<Relationships xmlns="http://schemas.openxmlformats.org/package/2006/relationships"><Relationship Id="rId3" Type="http://schemas.openxmlformats.org/officeDocument/2006/relationships/image" Target="../media/image39.png"/><Relationship Id="rId2" Type="http://schemas.openxmlformats.org/officeDocument/2006/relationships/notesSlide" Target="../notesSlides/notesSlide18.xml"/><Relationship Id="rId1" Type="http://schemas.openxmlformats.org/officeDocument/2006/relationships/slideLayout" Target="../slideLayouts/slideLayout3.xml"/></Relationships>
</file>

<file path=ppt/slides/_rels/slide19.xml.rels><?xml version="1.0" encoding="UTF-8" standalone="yes"?>
<Relationships xmlns="http://schemas.openxmlformats.org/package/2006/relationships"><Relationship Id="rId3" Type="http://schemas.openxmlformats.org/officeDocument/2006/relationships/image" Target="../media/image40.png"/><Relationship Id="rId2" Type="http://schemas.openxmlformats.org/officeDocument/2006/relationships/notesSlide" Target="../notesSlides/notesSlide19.xml"/><Relationship Id="rId1" Type="http://schemas.openxmlformats.org/officeDocument/2006/relationships/slideLayout" Target="../slideLayouts/slideLayout3.xml"/></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3.xml"/></Relationships>
</file>

<file path=ppt/slides/_rels/slide21.xml.rels><?xml version="1.0" encoding="UTF-8" standalone="yes"?>
<Relationships xmlns="http://schemas.openxmlformats.org/package/2006/relationships"><Relationship Id="rId8" Type="http://schemas.openxmlformats.org/officeDocument/2006/relationships/image" Target="../media/image9.png"/><Relationship Id="rId13" Type="http://schemas.openxmlformats.org/officeDocument/2006/relationships/image" Target="../media/image42.png"/><Relationship Id="rId3" Type="http://schemas.openxmlformats.org/officeDocument/2006/relationships/image" Target="../media/image41.png"/><Relationship Id="rId7" Type="http://schemas.openxmlformats.org/officeDocument/2006/relationships/image" Target="../media/image6.png"/><Relationship Id="rId12" Type="http://schemas.openxmlformats.org/officeDocument/2006/relationships/image" Target="../media/image16.png"/><Relationship Id="rId2" Type="http://schemas.openxmlformats.org/officeDocument/2006/relationships/notesSlide" Target="../notesSlides/notesSlide21.xml"/><Relationship Id="rId1" Type="http://schemas.openxmlformats.org/officeDocument/2006/relationships/slideLayout" Target="../slideLayouts/slideLayout3.xml"/><Relationship Id="rId6" Type="http://schemas.openxmlformats.org/officeDocument/2006/relationships/image" Target="../media/image22.png"/><Relationship Id="rId11" Type="http://schemas.openxmlformats.org/officeDocument/2006/relationships/image" Target="../media/image14.png"/><Relationship Id="rId5" Type="http://schemas.openxmlformats.org/officeDocument/2006/relationships/image" Target="../media/image10.png"/><Relationship Id="rId10" Type="http://schemas.openxmlformats.org/officeDocument/2006/relationships/image" Target="../media/image15.png"/><Relationship Id="rId4" Type="http://schemas.openxmlformats.org/officeDocument/2006/relationships/image" Target="../media/image28.png"/><Relationship Id="rId9" Type="http://schemas.openxmlformats.org/officeDocument/2006/relationships/image" Target="../media/image3.png"/></Relationships>
</file>

<file path=ppt/slides/_rels/slide22.xml.rels><?xml version="1.0" encoding="UTF-8" standalone="yes"?>
<Relationships xmlns="http://schemas.openxmlformats.org/package/2006/relationships"><Relationship Id="rId3" Type="http://schemas.openxmlformats.org/officeDocument/2006/relationships/image" Target="../media/image22.png"/><Relationship Id="rId2" Type="http://schemas.openxmlformats.org/officeDocument/2006/relationships/notesSlide" Target="../notesSlides/notesSlide22.xml"/><Relationship Id="rId1" Type="http://schemas.openxmlformats.org/officeDocument/2006/relationships/slideLayout" Target="../slideLayouts/slideLayout3.xml"/><Relationship Id="rId6" Type="http://schemas.openxmlformats.org/officeDocument/2006/relationships/image" Target="../media/image3.png"/><Relationship Id="rId5" Type="http://schemas.openxmlformats.org/officeDocument/2006/relationships/image" Target="../media/image15.png"/><Relationship Id="rId4" Type="http://schemas.openxmlformats.org/officeDocument/2006/relationships/image" Target="../media/image43.png"/></Relationships>
</file>

<file path=ppt/slides/_rels/slide23.xml.rels><?xml version="1.0" encoding="UTF-8" standalone="yes"?>
<Relationships xmlns="http://schemas.openxmlformats.org/package/2006/relationships"><Relationship Id="rId2" Type="http://schemas.openxmlformats.org/officeDocument/2006/relationships/notesSlide" Target="../notesSlides/notesSlide23.xml"/><Relationship Id="rId1" Type="http://schemas.openxmlformats.org/officeDocument/2006/relationships/slideLayout" Target="../slideLayouts/slideLayout3.xml"/></Relationships>
</file>

<file path=ppt/slides/_rels/slide24.xml.rels><?xml version="1.0" encoding="UTF-8" standalone="yes"?>
<Relationships xmlns="http://schemas.openxmlformats.org/package/2006/relationships"><Relationship Id="rId3" Type="http://schemas.openxmlformats.org/officeDocument/2006/relationships/image" Target="../media/image44.png"/><Relationship Id="rId2" Type="http://schemas.openxmlformats.org/officeDocument/2006/relationships/notesSlide" Target="../notesSlides/notesSlide24.xml"/><Relationship Id="rId1" Type="http://schemas.openxmlformats.org/officeDocument/2006/relationships/slideLayout" Target="../slideLayouts/slideLayout3.xml"/><Relationship Id="rId6" Type="http://schemas.openxmlformats.org/officeDocument/2006/relationships/image" Target="../media/image47.png"/><Relationship Id="rId5" Type="http://schemas.openxmlformats.org/officeDocument/2006/relationships/image" Target="../media/image46.png"/><Relationship Id="rId4" Type="http://schemas.openxmlformats.org/officeDocument/2006/relationships/image" Target="../media/image45.png"/></Relationships>
</file>

<file path=ppt/slides/_rels/slide25.xml.rels><?xml version="1.0" encoding="UTF-8" standalone="yes"?>
<Relationships xmlns="http://schemas.openxmlformats.org/package/2006/relationships"><Relationship Id="rId3" Type="http://schemas.openxmlformats.org/officeDocument/2006/relationships/image" Target="../media/image48.png"/><Relationship Id="rId2" Type="http://schemas.openxmlformats.org/officeDocument/2006/relationships/notesSlide" Target="../notesSlides/notesSlide25.xml"/><Relationship Id="rId1" Type="http://schemas.openxmlformats.org/officeDocument/2006/relationships/slideLayout" Target="../slideLayouts/slideLayout3.xml"/></Relationships>
</file>

<file path=ppt/slides/_rels/slide26.xml.rels><?xml version="1.0" encoding="UTF-8" standalone="yes"?>
<Relationships xmlns="http://schemas.openxmlformats.org/package/2006/relationships"><Relationship Id="rId3" Type="http://schemas.openxmlformats.org/officeDocument/2006/relationships/image" Target="../media/image49.png"/><Relationship Id="rId2" Type="http://schemas.openxmlformats.org/officeDocument/2006/relationships/notesSlide" Target="../notesSlides/notesSlide26.xml"/><Relationship Id="rId1" Type="http://schemas.openxmlformats.org/officeDocument/2006/relationships/slideLayout" Target="../slideLayouts/slideLayout3.xml"/><Relationship Id="rId5" Type="http://schemas.openxmlformats.org/officeDocument/2006/relationships/image" Target="../media/image51.png"/><Relationship Id="rId4" Type="http://schemas.openxmlformats.org/officeDocument/2006/relationships/image" Target="../media/image50.png"/></Relationships>
</file>

<file path=ppt/slides/_rels/slide27.xml.rels><?xml version="1.0" encoding="UTF-8" standalone="yes"?>
<Relationships xmlns="http://schemas.openxmlformats.org/package/2006/relationships"><Relationship Id="rId2" Type="http://schemas.openxmlformats.org/officeDocument/2006/relationships/notesSlide" Target="../notesSlides/notesSlide27.xml"/><Relationship Id="rId1" Type="http://schemas.openxmlformats.org/officeDocument/2006/relationships/slideLayout" Target="../slideLayouts/slideLayout3.xml"/></Relationships>
</file>

<file path=ppt/slides/_rels/slide28.xml.rels><?xml version="1.0" encoding="UTF-8" standalone="yes"?>
<Relationships xmlns="http://schemas.openxmlformats.org/package/2006/relationships"><Relationship Id="rId2" Type="http://schemas.openxmlformats.org/officeDocument/2006/relationships/notesSlide" Target="../notesSlides/notesSlide28.xml"/><Relationship Id="rId1" Type="http://schemas.openxmlformats.org/officeDocument/2006/relationships/slideLayout" Target="../slideLayouts/slideLayout3.xml"/></Relationships>
</file>

<file path=ppt/slides/_rels/slide29.xml.rels><?xml version="1.0" encoding="UTF-8" standalone="yes"?>
<Relationships xmlns="http://schemas.openxmlformats.org/package/2006/relationships"><Relationship Id="rId3" Type="http://schemas.openxmlformats.org/officeDocument/2006/relationships/image" Target="../media/image28.png"/><Relationship Id="rId2" Type="http://schemas.openxmlformats.org/officeDocument/2006/relationships/notesSlide" Target="../notesSlides/notesSlide29.xml"/><Relationship Id="rId1" Type="http://schemas.openxmlformats.org/officeDocument/2006/relationships/slideLayout" Target="../slideLayouts/slideLayout3.xml"/><Relationship Id="rId5" Type="http://schemas.openxmlformats.org/officeDocument/2006/relationships/image" Target="../media/image43.png"/><Relationship Id="rId4" Type="http://schemas.openxmlformats.org/officeDocument/2006/relationships/image" Target="../media/image52.png"/></Relationships>
</file>

<file path=ppt/slides/_rels/slide30.xml.rels><?xml version="1.0" encoding="UTF-8" standalone="yes"?>
<Relationships xmlns="http://schemas.openxmlformats.org/package/2006/relationships"><Relationship Id="rId2" Type="http://schemas.openxmlformats.org/officeDocument/2006/relationships/notesSlide" Target="../notesSlides/notesSlide30.xml"/><Relationship Id="rId1" Type="http://schemas.openxmlformats.org/officeDocument/2006/relationships/slideLayout" Target="../slideLayouts/slideLayout3.xml"/></Relationships>
</file>

<file path=ppt/slides/_rels/slide31.xml.rels><?xml version="1.0" encoding="UTF-8" standalone="yes"?>
<Relationships xmlns="http://schemas.openxmlformats.org/package/2006/relationships"><Relationship Id="rId2" Type="http://schemas.openxmlformats.org/officeDocument/2006/relationships/notesSlide" Target="../notesSlides/notesSlide31.xml"/><Relationship Id="rId1" Type="http://schemas.openxmlformats.org/officeDocument/2006/relationships/slideLayout" Target="../slideLayouts/slideLayout3.xml"/></Relationships>
</file>

<file path=ppt/slides/_rels/slide32.xml.rels><?xml version="1.0" encoding="UTF-8" standalone="yes"?>
<Relationships xmlns="http://schemas.openxmlformats.org/package/2006/relationships"><Relationship Id="rId2" Type="http://schemas.openxmlformats.org/officeDocument/2006/relationships/notesSlide" Target="../notesSlides/notesSlide32.xml"/><Relationship Id="rId1" Type="http://schemas.openxmlformats.org/officeDocument/2006/relationships/slideLayout" Target="../slideLayouts/slideLayout3.xml"/></Relationships>
</file>

<file path=ppt/slides/_rels/slide33.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33.xml"/><Relationship Id="rId1" Type="http://schemas.openxmlformats.org/officeDocument/2006/relationships/slideLayout" Target="../slideLayouts/slideLayout2.xml"/><Relationship Id="rId4" Type="http://schemas.openxmlformats.org/officeDocument/2006/relationships/image" Target="../media/image2.png"/></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3" name="Text 0"/>
          <p:cNvSpPr txBox="1"/>
          <p:nvPr/>
        </p:nvSpPr>
        <p:spPr>
          <a:xfrm>
            <a:off x="457200" y="411480"/>
            <a:ext cx="5120640" cy="201168"/>
          </a:xfrm>
          <a:prstGeom prst="rect">
            <a:avLst/>
          </a:prstGeom>
          <a:noFill/>
          <a:ln/>
        </p:spPr>
        <p:txBody>
          <a:bodyPr wrap="square" lIns="0" tIns="0" rIns="0" bIns="0" rtlCol="0" anchor="t"/>
          <a:lstStyle/>
          <a:p>
            <a:pPr marL="0" indent="0">
              <a:buNone/>
            </a:pPr>
            <a:r>
              <a:rPr lang="en-US" sz="1100" b="1" kern="0" spc="200" dirty="0">
                <a:solidFill>
                  <a:schemeClr val="accent1"/>
                </a:solidFill>
              </a:rPr>
              <a:t>MCA MINI PROJECT  |  FINAL PRESENTATION</a:t>
            </a:r>
            <a:endParaRPr lang="en-US" sz="1100" dirty="0"/>
          </a:p>
        </p:txBody>
      </p:sp>
      <p:sp>
        <p:nvSpPr>
          <p:cNvPr id="4" name="Text 1"/>
          <p:cNvSpPr txBox="1"/>
          <p:nvPr/>
        </p:nvSpPr>
        <p:spPr>
          <a:xfrm>
            <a:off x="457200" y="713232"/>
            <a:ext cx="5212080" cy="822960"/>
          </a:xfrm>
          <a:prstGeom prst="rect">
            <a:avLst/>
          </a:prstGeom>
          <a:noFill/>
          <a:ln/>
        </p:spPr>
        <p:txBody>
          <a:bodyPr wrap="square" lIns="0" tIns="0" rIns="0" bIns="0" rtlCol="0" anchor="ctr"/>
          <a:lstStyle/>
          <a:p>
            <a:pPr marL="0" indent="0">
              <a:buNone/>
            </a:pPr>
            <a:r>
              <a:rPr lang="en-US" sz="5000" b="1" dirty="0">
                <a:solidFill>
                  <a:schemeClr val="tx1"/>
                </a:solidFill>
                <a:latin typeface="+mj-lt" pitchFamily="34" charset="0"/>
                <a:ea typeface="+mj-lt" pitchFamily="34" charset="-122"/>
                <a:cs typeface="+mj-lt" pitchFamily="34" charset="-120"/>
              </a:rPr>
              <a:t>PACKTRACE</a:t>
            </a:r>
            <a:endParaRPr lang="en-US" sz="5000" dirty="0"/>
          </a:p>
        </p:txBody>
      </p:sp>
      <p:sp>
        <p:nvSpPr>
          <p:cNvPr id="5" name="Text 2"/>
          <p:cNvSpPr txBox="1"/>
          <p:nvPr/>
        </p:nvSpPr>
        <p:spPr>
          <a:xfrm>
            <a:off x="457200" y="1554480"/>
            <a:ext cx="5212080" cy="310896"/>
          </a:xfrm>
          <a:prstGeom prst="rect">
            <a:avLst/>
          </a:prstGeom>
          <a:noFill/>
          <a:ln/>
        </p:spPr>
        <p:txBody>
          <a:bodyPr wrap="square" lIns="0" tIns="0" rIns="0" bIns="0" rtlCol="0" anchor="t"/>
          <a:lstStyle/>
          <a:p>
            <a:pPr marL="0" indent="0">
              <a:buNone/>
            </a:pPr>
            <a:r>
              <a:rPr lang="en-US" sz="1700" b="1" dirty="0">
                <a:solidFill>
                  <a:schemeClr val="accent1"/>
                </a:solidFill>
              </a:rPr>
              <a:t>GPS-BASED GROUP RIDE TRACKING SYSTEM</a:t>
            </a:r>
            <a:endParaRPr lang="en-US" sz="1700" dirty="0"/>
          </a:p>
        </p:txBody>
      </p:sp>
      <p:sp>
        <p:nvSpPr>
          <p:cNvPr id="6" name="Text 3"/>
          <p:cNvSpPr txBox="1"/>
          <p:nvPr/>
        </p:nvSpPr>
        <p:spPr>
          <a:xfrm>
            <a:off x="457200" y="1920240"/>
            <a:ext cx="5029200" cy="457200"/>
          </a:xfrm>
          <a:prstGeom prst="rect">
            <a:avLst/>
          </a:prstGeom>
          <a:noFill/>
          <a:ln/>
        </p:spPr>
        <p:txBody>
          <a:bodyPr wrap="square" lIns="0" tIns="0" rIns="0" bIns="0" rtlCol="0" anchor="t"/>
          <a:lstStyle/>
          <a:p>
            <a:pPr marL="0" indent="0">
              <a:buNone/>
            </a:pPr>
            <a:r>
              <a:rPr lang="en-US" sz="1400" i="1" dirty="0">
                <a:solidFill>
                  <a:schemeClr val="tx2"/>
                </a:solidFill>
              </a:rPr>
              <a:t>A Web-Based Real-Time Location Sharing Application for Bike Riders</a:t>
            </a:r>
            <a:endParaRPr lang="en-US" sz="1400" dirty="0"/>
          </a:p>
        </p:txBody>
      </p:sp>
      <p:sp>
        <p:nvSpPr>
          <p:cNvPr id="7" name="Text 4"/>
          <p:cNvSpPr txBox="1"/>
          <p:nvPr/>
        </p:nvSpPr>
        <p:spPr>
          <a:xfrm>
            <a:off x="457200" y="2606040"/>
            <a:ext cx="2103120" cy="155448"/>
          </a:xfrm>
          <a:prstGeom prst="rect">
            <a:avLst/>
          </a:prstGeom>
          <a:noFill/>
          <a:ln/>
        </p:spPr>
        <p:txBody>
          <a:bodyPr wrap="square" lIns="0" tIns="0" rIns="0" bIns="0" rtlCol="0" anchor="t"/>
          <a:lstStyle/>
          <a:p>
            <a:pPr marL="0" indent="0">
              <a:buNone/>
            </a:pPr>
            <a:r>
              <a:rPr lang="en-US" sz="1000" b="1" kern="0" spc="100" dirty="0">
                <a:solidFill>
                  <a:schemeClr val="tx2"/>
                </a:solidFill>
              </a:rPr>
              <a:t>PRESENTED BY</a:t>
            </a:r>
            <a:endParaRPr lang="en-US" sz="1000" dirty="0"/>
          </a:p>
        </p:txBody>
      </p:sp>
      <p:sp>
        <p:nvSpPr>
          <p:cNvPr id="8" name="Text 5"/>
          <p:cNvSpPr txBox="1"/>
          <p:nvPr/>
        </p:nvSpPr>
        <p:spPr>
          <a:xfrm>
            <a:off x="457200" y="2761488"/>
            <a:ext cx="2103120" cy="274320"/>
          </a:xfrm>
          <a:prstGeom prst="rect">
            <a:avLst/>
          </a:prstGeom>
          <a:noFill/>
          <a:ln/>
        </p:spPr>
        <p:txBody>
          <a:bodyPr wrap="square" lIns="0" tIns="0" rIns="0" bIns="0" rtlCol="0" anchor="t"/>
          <a:lstStyle/>
          <a:p>
            <a:pPr marL="0" indent="0">
              <a:buNone/>
            </a:pPr>
            <a:r>
              <a:rPr lang="en-US" sz="1300" b="1" dirty="0">
                <a:solidFill>
                  <a:schemeClr val="tx1"/>
                </a:solidFill>
              </a:rPr>
              <a:t>Alan Johny</a:t>
            </a:r>
            <a:endParaRPr lang="en-US" sz="1300" dirty="0"/>
          </a:p>
        </p:txBody>
      </p:sp>
      <p:sp>
        <p:nvSpPr>
          <p:cNvPr id="9" name="Text 6"/>
          <p:cNvSpPr txBox="1"/>
          <p:nvPr/>
        </p:nvSpPr>
        <p:spPr>
          <a:xfrm>
            <a:off x="457200" y="3108960"/>
            <a:ext cx="2103120" cy="155448"/>
          </a:xfrm>
          <a:prstGeom prst="rect">
            <a:avLst/>
          </a:prstGeom>
          <a:noFill/>
          <a:ln/>
        </p:spPr>
        <p:txBody>
          <a:bodyPr wrap="square" lIns="0" tIns="0" rIns="0" bIns="0" rtlCol="0" anchor="t"/>
          <a:lstStyle/>
          <a:p>
            <a:pPr marL="0" indent="0">
              <a:buNone/>
            </a:pPr>
            <a:r>
              <a:rPr lang="en-US" sz="1000" b="1" kern="0" spc="100" dirty="0">
                <a:solidFill>
                  <a:schemeClr val="tx2"/>
                </a:solidFill>
              </a:rPr>
              <a:t>ROLL NO</a:t>
            </a:r>
            <a:endParaRPr lang="en-US" sz="1000" dirty="0"/>
          </a:p>
        </p:txBody>
      </p:sp>
      <p:sp>
        <p:nvSpPr>
          <p:cNvPr id="10" name="Text 7"/>
          <p:cNvSpPr txBox="1"/>
          <p:nvPr/>
        </p:nvSpPr>
        <p:spPr>
          <a:xfrm>
            <a:off x="457200" y="3264408"/>
            <a:ext cx="2103120" cy="274320"/>
          </a:xfrm>
          <a:prstGeom prst="rect">
            <a:avLst/>
          </a:prstGeom>
          <a:noFill/>
          <a:ln/>
        </p:spPr>
        <p:txBody>
          <a:bodyPr wrap="square" lIns="0" tIns="0" rIns="0" bIns="0" rtlCol="0" anchor="t"/>
          <a:lstStyle/>
          <a:p>
            <a:pPr marL="0" indent="0">
              <a:buNone/>
            </a:pPr>
            <a:r>
              <a:rPr lang="en-US" sz="1300" b="1" dirty="0">
                <a:solidFill>
                  <a:schemeClr val="tx1"/>
                </a:solidFill>
              </a:rPr>
              <a:t>14</a:t>
            </a:r>
            <a:endParaRPr lang="en-US" sz="1300" dirty="0"/>
          </a:p>
        </p:txBody>
      </p:sp>
      <p:sp>
        <p:nvSpPr>
          <p:cNvPr id="11" name="Text 8"/>
          <p:cNvSpPr txBox="1"/>
          <p:nvPr/>
        </p:nvSpPr>
        <p:spPr>
          <a:xfrm>
            <a:off x="457200" y="3611880"/>
            <a:ext cx="2103120" cy="155448"/>
          </a:xfrm>
          <a:prstGeom prst="rect">
            <a:avLst/>
          </a:prstGeom>
          <a:noFill/>
          <a:ln/>
        </p:spPr>
        <p:txBody>
          <a:bodyPr wrap="square" lIns="0" tIns="0" rIns="0" bIns="0" rtlCol="0" anchor="t"/>
          <a:lstStyle/>
          <a:p>
            <a:pPr marL="0" indent="0">
              <a:buNone/>
            </a:pPr>
            <a:r>
              <a:rPr lang="en-US" sz="1000" b="1" kern="0" spc="100" dirty="0">
                <a:solidFill>
                  <a:schemeClr val="tx2"/>
                </a:solidFill>
              </a:rPr>
              <a:t>REGISTER NO</a:t>
            </a:r>
            <a:endParaRPr lang="en-US" sz="1000" dirty="0"/>
          </a:p>
        </p:txBody>
      </p:sp>
      <p:sp>
        <p:nvSpPr>
          <p:cNvPr id="12" name="Text 9"/>
          <p:cNvSpPr txBox="1"/>
          <p:nvPr/>
        </p:nvSpPr>
        <p:spPr>
          <a:xfrm>
            <a:off x="457200" y="3767328"/>
            <a:ext cx="2103120" cy="274320"/>
          </a:xfrm>
          <a:prstGeom prst="rect">
            <a:avLst/>
          </a:prstGeom>
          <a:noFill/>
          <a:ln/>
        </p:spPr>
        <p:txBody>
          <a:bodyPr wrap="square" lIns="0" tIns="0" rIns="0" bIns="0" rtlCol="0" anchor="t"/>
          <a:lstStyle/>
          <a:p>
            <a:pPr marL="0" indent="0">
              <a:buNone/>
            </a:pPr>
            <a:r>
              <a:rPr lang="en-US" sz="1300" b="1" dirty="0">
                <a:solidFill>
                  <a:schemeClr val="tx1"/>
                </a:solidFill>
              </a:rPr>
              <a:t>MLM25MCA2015</a:t>
            </a:r>
            <a:endParaRPr lang="en-US" sz="1300" dirty="0"/>
          </a:p>
        </p:txBody>
      </p:sp>
      <p:sp>
        <p:nvSpPr>
          <p:cNvPr id="13" name="Text 10"/>
          <p:cNvSpPr txBox="1"/>
          <p:nvPr/>
        </p:nvSpPr>
        <p:spPr>
          <a:xfrm>
            <a:off x="457200" y="4114800"/>
            <a:ext cx="2103120" cy="155448"/>
          </a:xfrm>
          <a:prstGeom prst="rect">
            <a:avLst/>
          </a:prstGeom>
          <a:noFill/>
          <a:ln/>
        </p:spPr>
        <p:txBody>
          <a:bodyPr wrap="square" lIns="0" tIns="0" rIns="0" bIns="0" rtlCol="0" anchor="t"/>
          <a:lstStyle/>
          <a:p>
            <a:pPr marL="0" indent="0">
              <a:buNone/>
            </a:pPr>
            <a:r>
              <a:rPr lang="en-US" sz="1000" b="1" kern="0" spc="100" dirty="0">
                <a:solidFill>
                  <a:schemeClr val="tx2"/>
                </a:solidFill>
              </a:rPr>
              <a:t>PROGRAMME</a:t>
            </a:r>
            <a:endParaRPr lang="en-US" sz="1000" dirty="0"/>
          </a:p>
        </p:txBody>
      </p:sp>
      <p:sp>
        <p:nvSpPr>
          <p:cNvPr id="14" name="Text 11"/>
          <p:cNvSpPr txBox="1"/>
          <p:nvPr/>
        </p:nvSpPr>
        <p:spPr>
          <a:xfrm>
            <a:off x="457200" y="4270248"/>
            <a:ext cx="2103120" cy="274320"/>
          </a:xfrm>
          <a:prstGeom prst="rect">
            <a:avLst/>
          </a:prstGeom>
          <a:noFill/>
          <a:ln/>
        </p:spPr>
        <p:txBody>
          <a:bodyPr wrap="square" lIns="0" tIns="0" rIns="0" bIns="0" rtlCol="0" anchor="t"/>
          <a:lstStyle/>
          <a:p>
            <a:pPr marL="0" indent="0">
              <a:buNone/>
            </a:pPr>
            <a:r>
              <a:rPr lang="en-US" sz="1300" b="1" dirty="0">
                <a:solidFill>
                  <a:schemeClr val="tx1"/>
                </a:solidFill>
              </a:rPr>
              <a:t>S3 MCA</a:t>
            </a:r>
            <a:endParaRPr lang="en-US" sz="1300" dirty="0"/>
          </a:p>
        </p:txBody>
      </p:sp>
      <p:sp>
        <p:nvSpPr>
          <p:cNvPr id="15" name="Text 12"/>
          <p:cNvSpPr txBox="1"/>
          <p:nvPr/>
        </p:nvSpPr>
        <p:spPr>
          <a:xfrm>
            <a:off x="2743200" y="2606040"/>
            <a:ext cx="2834640" cy="155448"/>
          </a:xfrm>
          <a:prstGeom prst="rect">
            <a:avLst/>
          </a:prstGeom>
          <a:noFill/>
          <a:ln/>
        </p:spPr>
        <p:txBody>
          <a:bodyPr wrap="square" lIns="0" tIns="0" rIns="0" bIns="0" rtlCol="0" anchor="t"/>
          <a:lstStyle/>
          <a:p>
            <a:pPr marL="0" indent="0">
              <a:buNone/>
            </a:pPr>
            <a:r>
              <a:rPr lang="en-US" sz="1000" b="1" kern="0" spc="100" dirty="0">
                <a:solidFill>
                  <a:schemeClr val="tx2"/>
                </a:solidFill>
              </a:rPr>
              <a:t>GUIDE</a:t>
            </a:r>
            <a:endParaRPr lang="en-US" sz="1000" dirty="0"/>
          </a:p>
        </p:txBody>
      </p:sp>
      <p:sp>
        <p:nvSpPr>
          <p:cNvPr id="16" name="Text 13"/>
          <p:cNvSpPr txBox="1"/>
          <p:nvPr/>
        </p:nvSpPr>
        <p:spPr>
          <a:xfrm>
            <a:off x="2743200" y="2761488"/>
            <a:ext cx="2834640" cy="274320"/>
          </a:xfrm>
          <a:prstGeom prst="rect">
            <a:avLst/>
          </a:prstGeom>
          <a:noFill/>
          <a:ln/>
        </p:spPr>
        <p:txBody>
          <a:bodyPr wrap="square" lIns="0" tIns="0" rIns="0" bIns="0" rtlCol="0" anchor="t"/>
          <a:lstStyle/>
          <a:p>
            <a:pPr marL="0" indent="0">
              <a:buNone/>
            </a:pPr>
            <a:r>
              <a:rPr lang="en-US" sz="1300" b="1" dirty="0">
                <a:solidFill>
                  <a:schemeClr val="tx1"/>
                </a:solidFill>
              </a:rPr>
              <a:t>Ms. Divya </a:t>
            </a:r>
            <a:r>
              <a:rPr lang="en-US" sz="1300" b="1" dirty="0"/>
              <a:t>S B</a:t>
            </a:r>
            <a:endParaRPr lang="en-US" sz="1300" dirty="0"/>
          </a:p>
        </p:txBody>
      </p:sp>
      <p:sp>
        <p:nvSpPr>
          <p:cNvPr id="17" name="Text 14"/>
          <p:cNvSpPr txBox="1"/>
          <p:nvPr/>
        </p:nvSpPr>
        <p:spPr>
          <a:xfrm>
            <a:off x="2743200" y="3108960"/>
            <a:ext cx="2926080" cy="155448"/>
          </a:xfrm>
          <a:prstGeom prst="rect">
            <a:avLst/>
          </a:prstGeom>
          <a:noFill/>
          <a:ln/>
        </p:spPr>
        <p:txBody>
          <a:bodyPr wrap="square" lIns="0" tIns="0" rIns="0" bIns="0" rtlCol="0" anchor="t"/>
          <a:lstStyle/>
          <a:p>
            <a:pPr marL="0" indent="0">
              <a:buNone/>
            </a:pPr>
            <a:r>
              <a:rPr lang="en-US" sz="1000" b="1" kern="0" spc="100" dirty="0">
                <a:solidFill>
                  <a:schemeClr val="tx2"/>
                </a:solidFill>
              </a:rPr>
              <a:t>DEPARTMENT</a:t>
            </a:r>
            <a:endParaRPr lang="en-US" sz="1000" dirty="0"/>
          </a:p>
        </p:txBody>
      </p:sp>
      <p:sp>
        <p:nvSpPr>
          <p:cNvPr id="18" name="Text 15"/>
          <p:cNvSpPr txBox="1"/>
          <p:nvPr/>
        </p:nvSpPr>
        <p:spPr>
          <a:xfrm>
            <a:off x="2743200" y="3264408"/>
            <a:ext cx="2926080" cy="274320"/>
          </a:xfrm>
          <a:prstGeom prst="rect">
            <a:avLst/>
          </a:prstGeom>
          <a:noFill/>
          <a:ln/>
        </p:spPr>
        <p:txBody>
          <a:bodyPr wrap="square" lIns="0" tIns="0" rIns="0" bIns="0" rtlCol="0" anchor="t"/>
          <a:lstStyle/>
          <a:p>
            <a:pPr marL="0" indent="0">
              <a:buNone/>
            </a:pPr>
            <a:r>
              <a:rPr lang="en-US" sz="1200" b="1" dirty="0">
                <a:solidFill>
                  <a:schemeClr val="tx1"/>
                </a:solidFill>
              </a:rPr>
              <a:t>Department of Computer Applications</a:t>
            </a:r>
            <a:endParaRPr lang="en-US" sz="1200" dirty="0"/>
          </a:p>
        </p:txBody>
      </p:sp>
      <p:sp>
        <p:nvSpPr>
          <p:cNvPr id="19" name="Text 16"/>
          <p:cNvSpPr txBox="1"/>
          <p:nvPr/>
        </p:nvSpPr>
        <p:spPr>
          <a:xfrm>
            <a:off x="2743200" y="3611880"/>
            <a:ext cx="2834640" cy="155448"/>
          </a:xfrm>
          <a:prstGeom prst="rect">
            <a:avLst/>
          </a:prstGeom>
          <a:noFill/>
          <a:ln/>
        </p:spPr>
        <p:txBody>
          <a:bodyPr wrap="square" lIns="0" tIns="0" rIns="0" bIns="0" rtlCol="0" anchor="t"/>
          <a:lstStyle/>
          <a:p>
            <a:pPr marL="0" indent="0">
              <a:buNone/>
            </a:pPr>
            <a:r>
              <a:rPr lang="en-US" sz="1000" b="1" kern="0" spc="100" dirty="0">
                <a:solidFill>
                  <a:schemeClr val="tx2"/>
                </a:solidFill>
              </a:rPr>
              <a:t>COLLEGE</a:t>
            </a:r>
            <a:endParaRPr lang="en-US" sz="1000" dirty="0"/>
          </a:p>
        </p:txBody>
      </p:sp>
      <p:sp>
        <p:nvSpPr>
          <p:cNvPr id="20" name="Text 17"/>
          <p:cNvSpPr txBox="1"/>
          <p:nvPr/>
        </p:nvSpPr>
        <p:spPr>
          <a:xfrm>
            <a:off x="2743200" y="3767328"/>
            <a:ext cx="2926080" cy="384048"/>
          </a:xfrm>
          <a:prstGeom prst="rect">
            <a:avLst/>
          </a:prstGeom>
          <a:noFill/>
          <a:ln/>
        </p:spPr>
        <p:txBody>
          <a:bodyPr wrap="square" lIns="0" tIns="0" rIns="0" bIns="0" rtlCol="0" anchor="t"/>
          <a:lstStyle/>
          <a:p>
            <a:pPr marL="0" indent="0">
              <a:buNone/>
            </a:pPr>
            <a:r>
              <a:rPr lang="en-US" sz="1200" b="1" dirty="0">
                <a:solidFill>
                  <a:schemeClr val="tx1"/>
                </a:solidFill>
              </a:rPr>
              <a:t>Mangalam College of Engineering, Ettumanoor</a:t>
            </a:r>
            <a:endParaRPr lang="en-US" sz="1200" dirty="0"/>
          </a:p>
        </p:txBody>
      </p:sp>
      <p:sp>
        <p:nvSpPr>
          <p:cNvPr id="21" name="Text 18"/>
          <p:cNvSpPr txBox="1"/>
          <p:nvPr/>
        </p:nvSpPr>
        <p:spPr>
          <a:xfrm>
            <a:off x="2743200" y="4224528"/>
            <a:ext cx="2834640" cy="155448"/>
          </a:xfrm>
          <a:prstGeom prst="rect">
            <a:avLst/>
          </a:prstGeom>
          <a:noFill/>
          <a:ln/>
        </p:spPr>
        <p:txBody>
          <a:bodyPr wrap="square" lIns="0" tIns="0" rIns="0" bIns="0" rtlCol="0" anchor="t"/>
          <a:lstStyle/>
          <a:p>
            <a:pPr marL="0" indent="0">
              <a:buNone/>
            </a:pPr>
            <a:r>
              <a:rPr lang="en-US" sz="1000" b="1" kern="0" spc="100" dirty="0">
                <a:solidFill>
                  <a:schemeClr val="tx2"/>
                </a:solidFill>
              </a:rPr>
              <a:t>ACADEMIC YEAR</a:t>
            </a:r>
            <a:endParaRPr lang="en-US" sz="1000" dirty="0"/>
          </a:p>
        </p:txBody>
      </p:sp>
      <p:sp>
        <p:nvSpPr>
          <p:cNvPr id="22" name="Text 19"/>
          <p:cNvSpPr txBox="1"/>
          <p:nvPr/>
        </p:nvSpPr>
        <p:spPr>
          <a:xfrm>
            <a:off x="2743200" y="4379976"/>
            <a:ext cx="2834640" cy="274320"/>
          </a:xfrm>
          <a:prstGeom prst="rect">
            <a:avLst/>
          </a:prstGeom>
          <a:noFill/>
          <a:ln/>
        </p:spPr>
        <p:txBody>
          <a:bodyPr wrap="square" lIns="0" tIns="0" rIns="0" bIns="0" rtlCol="0" anchor="t"/>
          <a:lstStyle/>
          <a:p>
            <a:pPr marL="0" indent="0">
              <a:buNone/>
            </a:pPr>
            <a:r>
              <a:rPr lang="en-US" sz="1300" b="1" dirty="0">
                <a:solidFill>
                  <a:schemeClr val="tx1"/>
                </a:solidFill>
              </a:rPr>
              <a:t>2025–27</a:t>
            </a:r>
            <a:endParaRPr lang="en-US" sz="1300" dirty="0"/>
          </a:p>
        </p:txBody>
      </p:sp>
      <p:sp>
        <p:nvSpPr>
          <p:cNvPr id="23" name="Shape 20"/>
          <p:cNvSpPr/>
          <p:nvPr/>
        </p:nvSpPr>
        <p:spPr>
          <a:xfrm>
            <a:off x="5989320" y="457200"/>
            <a:ext cx="2697480" cy="4251960"/>
          </a:xfrm>
          <a:prstGeom prst="roundRect">
            <a:avLst>
              <a:gd name="adj" fmla="val 4746"/>
            </a:avLst>
          </a:prstGeom>
          <a:solidFill>
            <a:schemeClr val="bg2"/>
          </a:solidFill>
          <a:ln w="12700">
            <a:solidFill>
              <a:srgbClr val="D5DCE8"/>
            </a:solidFill>
            <a:prstDash val="solid"/>
          </a:ln>
        </p:spPr>
      </p:sp>
      <p:sp>
        <p:nvSpPr>
          <p:cNvPr id="24" name="Shape 21"/>
          <p:cNvSpPr/>
          <p:nvPr/>
        </p:nvSpPr>
        <p:spPr>
          <a:xfrm>
            <a:off x="6126480" y="1165860"/>
            <a:ext cx="2423160" cy="0"/>
          </a:xfrm>
          <a:prstGeom prst="line">
            <a:avLst/>
          </a:prstGeom>
          <a:noFill/>
          <a:ln w="9525">
            <a:solidFill>
              <a:srgbClr val="DCE3EE"/>
            </a:solidFill>
            <a:prstDash val="solid"/>
          </a:ln>
        </p:spPr>
      </p:sp>
      <p:sp>
        <p:nvSpPr>
          <p:cNvPr id="25" name="Shape 22"/>
          <p:cNvSpPr/>
          <p:nvPr/>
        </p:nvSpPr>
        <p:spPr>
          <a:xfrm>
            <a:off x="6126480" y="1874520"/>
            <a:ext cx="2423160" cy="0"/>
          </a:xfrm>
          <a:prstGeom prst="line">
            <a:avLst/>
          </a:prstGeom>
          <a:noFill/>
          <a:ln w="9525">
            <a:solidFill>
              <a:srgbClr val="DCE3EE"/>
            </a:solidFill>
            <a:prstDash val="solid"/>
          </a:ln>
        </p:spPr>
      </p:sp>
      <p:sp>
        <p:nvSpPr>
          <p:cNvPr id="26" name="Shape 23"/>
          <p:cNvSpPr/>
          <p:nvPr/>
        </p:nvSpPr>
        <p:spPr>
          <a:xfrm>
            <a:off x="6126480" y="2583180"/>
            <a:ext cx="2423160" cy="0"/>
          </a:xfrm>
          <a:prstGeom prst="line">
            <a:avLst/>
          </a:prstGeom>
          <a:noFill/>
          <a:ln w="9525">
            <a:solidFill>
              <a:srgbClr val="DCE3EE"/>
            </a:solidFill>
            <a:prstDash val="solid"/>
          </a:ln>
        </p:spPr>
      </p:sp>
      <p:sp>
        <p:nvSpPr>
          <p:cNvPr id="27" name="Shape 24"/>
          <p:cNvSpPr/>
          <p:nvPr/>
        </p:nvSpPr>
        <p:spPr>
          <a:xfrm>
            <a:off x="6126480" y="3291840"/>
            <a:ext cx="2423160" cy="0"/>
          </a:xfrm>
          <a:prstGeom prst="line">
            <a:avLst/>
          </a:prstGeom>
          <a:noFill/>
          <a:ln w="9525">
            <a:solidFill>
              <a:srgbClr val="DCE3EE"/>
            </a:solidFill>
            <a:prstDash val="solid"/>
          </a:ln>
        </p:spPr>
      </p:sp>
      <p:sp>
        <p:nvSpPr>
          <p:cNvPr id="28" name="Shape 25"/>
          <p:cNvSpPr/>
          <p:nvPr/>
        </p:nvSpPr>
        <p:spPr>
          <a:xfrm>
            <a:off x="6126480" y="4000500"/>
            <a:ext cx="2423160" cy="0"/>
          </a:xfrm>
          <a:prstGeom prst="line">
            <a:avLst/>
          </a:prstGeom>
          <a:noFill/>
          <a:ln w="9525">
            <a:solidFill>
              <a:srgbClr val="DCE3EE"/>
            </a:solidFill>
            <a:prstDash val="solid"/>
          </a:ln>
        </p:spPr>
      </p:sp>
      <p:sp>
        <p:nvSpPr>
          <p:cNvPr id="29" name="Shape 26"/>
          <p:cNvSpPr/>
          <p:nvPr/>
        </p:nvSpPr>
        <p:spPr>
          <a:xfrm>
            <a:off x="6663690" y="594360"/>
            <a:ext cx="0" cy="3977640"/>
          </a:xfrm>
          <a:prstGeom prst="line">
            <a:avLst/>
          </a:prstGeom>
          <a:noFill/>
          <a:ln w="9525">
            <a:solidFill>
              <a:srgbClr val="DCE3EE"/>
            </a:solidFill>
            <a:prstDash val="solid"/>
          </a:ln>
        </p:spPr>
      </p:sp>
      <p:sp>
        <p:nvSpPr>
          <p:cNvPr id="30" name="Shape 27"/>
          <p:cNvSpPr/>
          <p:nvPr/>
        </p:nvSpPr>
        <p:spPr>
          <a:xfrm>
            <a:off x="7338060" y="594360"/>
            <a:ext cx="0" cy="3977640"/>
          </a:xfrm>
          <a:prstGeom prst="line">
            <a:avLst/>
          </a:prstGeom>
          <a:noFill/>
          <a:ln w="9525">
            <a:solidFill>
              <a:srgbClr val="DCE3EE"/>
            </a:solidFill>
            <a:prstDash val="solid"/>
          </a:ln>
        </p:spPr>
      </p:sp>
      <p:sp>
        <p:nvSpPr>
          <p:cNvPr id="31" name="Shape 28"/>
          <p:cNvSpPr/>
          <p:nvPr/>
        </p:nvSpPr>
        <p:spPr>
          <a:xfrm>
            <a:off x="8012430" y="594360"/>
            <a:ext cx="0" cy="3977640"/>
          </a:xfrm>
          <a:prstGeom prst="line">
            <a:avLst/>
          </a:prstGeom>
          <a:noFill/>
          <a:ln w="9525">
            <a:solidFill>
              <a:srgbClr val="DCE3EE"/>
            </a:solidFill>
            <a:prstDash val="solid"/>
          </a:ln>
        </p:spPr>
      </p:sp>
      <p:sp>
        <p:nvSpPr>
          <p:cNvPr id="32" name="Shape 29"/>
          <p:cNvSpPr/>
          <p:nvPr/>
        </p:nvSpPr>
        <p:spPr>
          <a:xfrm flipV="1">
            <a:off x="6400800" y="3520440"/>
            <a:ext cx="594360" cy="685800"/>
          </a:xfrm>
          <a:prstGeom prst="line">
            <a:avLst/>
          </a:prstGeom>
          <a:noFill/>
          <a:ln w="38100">
            <a:solidFill>
              <a:schemeClr val="accent1"/>
            </a:solidFill>
            <a:prstDash val="solid"/>
          </a:ln>
        </p:spPr>
      </p:sp>
      <p:sp>
        <p:nvSpPr>
          <p:cNvPr id="33" name="Shape 30"/>
          <p:cNvSpPr/>
          <p:nvPr/>
        </p:nvSpPr>
        <p:spPr>
          <a:xfrm flipH="1" flipV="1">
            <a:off x="6720840" y="2743200"/>
            <a:ext cx="274320" cy="777240"/>
          </a:xfrm>
          <a:prstGeom prst="line">
            <a:avLst/>
          </a:prstGeom>
          <a:noFill/>
          <a:ln w="38100">
            <a:solidFill>
              <a:schemeClr val="accent1"/>
            </a:solidFill>
            <a:prstDash val="solid"/>
          </a:ln>
        </p:spPr>
      </p:sp>
      <p:sp>
        <p:nvSpPr>
          <p:cNvPr id="34" name="Shape 31"/>
          <p:cNvSpPr/>
          <p:nvPr/>
        </p:nvSpPr>
        <p:spPr>
          <a:xfrm flipV="1">
            <a:off x="6720840" y="2148840"/>
            <a:ext cx="822960" cy="594360"/>
          </a:xfrm>
          <a:prstGeom prst="line">
            <a:avLst/>
          </a:prstGeom>
          <a:noFill/>
          <a:ln w="38100">
            <a:solidFill>
              <a:schemeClr val="accent1"/>
            </a:solidFill>
            <a:prstDash val="solid"/>
          </a:ln>
        </p:spPr>
      </p:sp>
      <p:sp>
        <p:nvSpPr>
          <p:cNvPr id="35" name="Shape 32"/>
          <p:cNvSpPr/>
          <p:nvPr/>
        </p:nvSpPr>
        <p:spPr>
          <a:xfrm flipV="1">
            <a:off x="7543800" y="1508760"/>
            <a:ext cx="548640" cy="640080"/>
          </a:xfrm>
          <a:prstGeom prst="line">
            <a:avLst/>
          </a:prstGeom>
          <a:noFill/>
          <a:ln w="38100">
            <a:solidFill>
              <a:schemeClr val="accent1"/>
            </a:solidFill>
            <a:prstDash val="solid"/>
          </a:ln>
        </p:spPr>
      </p:sp>
      <p:sp>
        <p:nvSpPr>
          <p:cNvPr id="36" name="Shape 33"/>
          <p:cNvSpPr/>
          <p:nvPr/>
        </p:nvSpPr>
        <p:spPr>
          <a:xfrm flipV="1">
            <a:off x="8092440" y="1005840"/>
            <a:ext cx="137160" cy="502920"/>
          </a:xfrm>
          <a:prstGeom prst="line">
            <a:avLst/>
          </a:prstGeom>
          <a:noFill/>
          <a:ln w="38100">
            <a:solidFill>
              <a:schemeClr val="accent1"/>
            </a:solidFill>
            <a:prstDash val="solid"/>
          </a:ln>
        </p:spPr>
      </p:sp>
      <p:sp>
        <p:nvSpPr>
          <p:cNvPr id="37" name="Shape 34"/>
          <p:cNvSpPr/>
          <p:nvPr/>
        </p:nvSpPr>
        <p:spPr>
          <a:xfrm>
            <a:off x="6912864" y="3438144"/>
            <a:ext cx="164592" cy="164592"/>
          </a:xfrm>
          <a:prstGeom prst="ellipse">
            <a:avLst/>
          </a:prstGeom>
          <a:solidFill>
            <a:schemeClr val="bg1"/>
          </a:solidFill>
          <a:ln w="25400">
            <a:solidFill>
              <a:schemeClr val="accent1"/>
            </a:solidFill>
            <a:prstDash val="solid"/>
          </a:ln>
        </p:spPr>
      </p:sp>
      <p:sp>
        <p:nvSpPr>
          <p:cNvPr id="38" name="Shape 35"/>
          <p:cNvSpPr/>
          <p:nvPr/>
        </p:nvSpPr>
        <p:spPr>
          <a:xfrm>
            <a:off x="6638544" y="2660904"/>
            <a:ext cx="164592" cy="164592"/>
          </a:xfrm>
          <a:prstGeom prst="ellipse">
            <a:avLst/>
          </a:prstGeom>
          <a:solidFill>
            <a:schemeClr val="bg1"/>
          </a:solidFill>
          <a:ln w="25400">
            <a:solidFill>
              <a:schemeClr val="accent1"/>
            </a:solidFill>
            <a:prstDash val="solid"/>
          </a:ln>
        </p:spPr>
      </p:sp>
      <p:sp>
        <p:nvSpPr>
          <p:cNvPr id="39" name="Shape 36"/>
          <p:cNvSpPr/>
          <p:nvPr/>
        </p:nvSpPr>
        <p:spPr>
          <a:xfrm>
            <a:off x="7461504" y="2066544"/>
            <a:ext cx="164592" cy="164592"/>
          </a:xfrm>
          <a:prstGeom prst="ellipse">
            <a:avLst/>
          </a:prstGeom>
          <a:solidFill>
            <a:schemeClr val="bg1"/>
          </a:solidFill>
          <a:ln w="25400">
            <a:solidFill>
              <a:schemeClr val="accent1"/>
            </a:solidFill>
            <a:prstDash val="solid"/>
          </a:ln>
        </p:spPr>
      </p:sp>
      <p:sp>
        <p:nvSpPr>
          <p:cNvPr id="40" name="Shape 37"/>
          <p:cNvSpPr/>
          <p:nvPr/>
        </p:nvSpPr>
        <p:spPr>
          <a:xfrm>
            <a:off x="8010144" y="1426464"/>
            <a:ext cx="164592" cy="164592"/>
          </a:xfrm>
          <a:prstGeom prst="ellipse">
            <a:avLst/>
          </a:prstGeom>
          <a:solidFill>
            <a:schemeClr val="bg1"/>
          </a:solidFill>
          <a:ln w="25400">
            <a:solidFill>
              <a:schemeClr val="accent1"/>
            </a:solidFill>
            <a:prstDash val="solid"/>
          </a:ln>
        </p:spPr>
      </p:sp>
      <p:pic>
        <p:nvPicPr>
          <p:cNvPr id="41" name="Image 0" descr="preencoded.png"/>
          <p:cNvPicPr>
            <a:picLocks noChangeAspect="1"/>
          </p:cNvPicPr>
          <p:nvPr/>
        </p:nvPicPr>
        <p:blipFill>
          <a:blip r:embed="rId3"/>
          <a:stretch>
            <a:fillRect/>
          </a:stretch>
        </p:blipFill>
        <p:spPr>
          <a:xfrm>
            <a:off x="8046720" y="621792"/>
            <a:ext cx="365760" cy="365760"/>
          </a:xfrm>
          <a:prstGeom prst="rect">
            <a:avLst/>
          </a:prstGeom>
        </p:spPr>
      </p:pic>
      <p:sp>
        <p:nvSpPr>
          <p:cNvPr id="42" name="Shape 38"/>
          <p:cNvSpPr/>
          <p:nvPr/>
        </p:nvSpPr>
        <p:spPr>
          <a:xfrm>
            <a:off x="6153912" y="3959352"/>
            <a:ext cx="493776" cy="493776"/>
          </a:xfrm>
          <a:prstGeom prst="ellipse">
            <a:avLst/>
          </a:prstGeom>
          <a:solidFill>
            <a:schemeClr val="tx1"/>
          </a:solidFill>
          <a:ln/>
        </p:spPr>
      </p:sp>
      <p:pic>
        <p:nvPicPr>
          <p:cNvPr id="43" name="Image 1" descr="preencoded.png"/>
          <p:cNvPicPr>
            <a:picLocks noChangeAspect="1"/>
          </p:cNvPicPr>
          <p:nvPr/>
        </p:nvPicPr>
        <p:blipFill>
          <a:blip r:embed="rId4"/>
          <a:stretch>
            <a:fillRect/>
          </a:stretch>
        </p:blipFill>
        <p:spPr>
          <a:xfrm>
            <a:off x="6254496" y="4059936"/>
            <a:ext cx="292608" cy="292608"/>
          </a:xfrm>
          <a:prstGeom prst="rect">
            <a:avLst/>
          </a:prstGeom>
        </p:spPr>
      </p:pic>
      <p:sp>
        <p:nvSpPr>
          <p:cNvPr id="44" name="Shape 39"/>
          <p:cNvSpPr/>
          <p:nvPr/>
        </p:nvSpPr>
        <p:spPr>
          <a:xfrm>
            <a:off x="7342632" y="1947672"/>
            <a:ext cx="402336" cy="402336"/>
          </a:xfrm>
          <a:prstGeom prst="ellipse">
            <a:avLst/>
          </a:prstGeom>
          <a:solidFill>
            <a:schemeClr val="accent1"/>
          </a:solidFill>
          <a:ln/>
        </p:spPr>
      </p:sp>
      <p:pic>
        <p:nvPicPr>
          <p:cNvPr id="45" name="Image 2" descr="preencoded.png"/>
          <p:cNvPicPr>
            <a:picLocks noChangeAspect="1"/>
          </p:cNvPicPr>
          <p:nvPr/>
        </p:nvPicPr>
        <p:blipFill>
          <a:blip r:embed="rId4"/>
          <a:stretch>
            <a:fillRect/>
          </a:stretch>
        </p:blipFill>
        <p:spPr>
          <a:xfrm>
            <a:off x="7424928" y="2029968"/>
            <a:ext cx="237744" cy="237744"/>
          </a:xfrm>
          <a:prstGeom prst="rect">
            <a:avLst/>
          </a:prstGeom>
        </p:spPr>
      </p:pic>
      <p:sp>
        <p:nvSpPr>
          <p:cNvPr id="46" name="Shape 40"/>
          <p:cNvSpPr/>
          <p:nvPr/>
        </p:nvSpPr>
        <p:spPr>
          <a:xfrm>
            <a:off x="6172200" y="640080"/>
            <a:ext cx="640080" cy="256032"/>
          </a:xfrm>
          <a:prstGeom prst="roundRect">
            <a:avLst>
              <a:gd name="adj" fmla="val 50000"/>
            </a:avLst>
          </a:prstGeom>
          <a:solidFill>
            <a:schemeClr val="bg1"/>
          </a:solidFill>
          <a:ln w="12700">
            <a:solidFill>
              <a:srgbClr val="D5DCE8"/>
            </a:solidFill>
            <a:prstDash val="solid"/>
          </a:ln>
        </p:spPr>
      </p:sp>
      <p:sp>
        <p:nvSpPr>
          <p:cNvPr id="47" name="Text 41"/>
          <p:cNvSpPr txBox="1"/>
          <p:nvPr/>
        </p:nvSpPr>
        <p:spPr>
          <a:xfrm>
            <a:off x="6172200" y="640080"/>
            <a:ext cx="640080" cy="256032"/>
          </a:xfrm>
          <a:prstGeom prst="rect">
            <a:avLst/>
          </a:prstGeom>
          <a:noFill/>
          <a:ln/>
        </p:spPr>
        <p:txBody>
          <a:bodyPr wrap="square" lIns="0" tIns="0" rIns="0" bIns="0" rtlCol="0" anchor="ctr"/>
          <a:lstStyle/>
          <a:p>
            <a:pPr marL="0" indent="0" algn="ctr">
              <a:buNone/>
            </a:pPr>
            <a:r>
              <a:rPr lang="en-US" sz="1000" b="1" dirty="0">
                <a:solidFill>
                  <a:schemeClr val="tx1"/>
                </a:solidFill>
              </a:rPr>
              <a:t>LIVE</a:t>
            </a:r>
            <a:endParaRPr lang="en-US" sz="1000" dirty="0"/>
          </a:p>
        </p:txBody>
      </p:sp>
      <p:sp>
        <p:nvSpPr>
          <p:cNvPr id="48" name="Text 42"/>
          <p:cNvSpPr txBox="1"/>
          <p:nvPr/>
        </p:nvSpPr>
        <p:spPr>
          <a:xfrm>
            <a:off x="6172200" y="4343400"/>
            <a:ext cx="2331720" cy="201168"/>
          </a:xfrm>
          <a:prstGeom prst="rect">
            <a:avLst/>
          </a:prstGeom>
          <a:noFill/>
          <a:ln/>
        </p:spPr>
        <p:txBody>
          <a:bodyPr wrap="square" lIns="0" tIns="0" rIns="0" bIns="0" rtlCol="0" anchor="t"/>
          <a:lstStyle/>
          <a:p>
            <a:pPr marL="0" indent="0">
              <a:buNone/>
            </a:pPr>
            <a:r>
              <a:rPr lang="en-US" sz="1000" b="1" dirty="0">
                <a:solidFill>
                  <a:schemeClr val="tx2"/>
                </a:solidFill>
              </a:rPr>
              <a:t>Common map  |  every rider</a:t>
            </a:r>
            <a:endParaRPr lang="en-US" sz="10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457200" y="420624"/>
            <a:ext cx="8229600" cy="566928"/>
          </a:xfrm>
          <a:prstGeom prst="rect">
            <a:avLst/>
          </a:prstGeom>
          <a:noFill/>
          <a:ln/>
        </p:spPr>
        <p:txBody>
          <a:bodyPr wrap="square" lIns="0" tIns="0" rIns="0" bIns="0" rtlCol="0" anchor="ctr"/>
          <a:lstStyle/>
          <a:p>
            <a:pPr marL="0" indent="0" algn="l">
              <a:buNone/>
            </a:pPr>
            <a:r>
              <a:rPr lang="en-US" sz="2800" b="1" dirty="0">
                <a:solidFill>
                  <a:schemeClr val="tx1"/>
                </a:solidFill>
              </a:rPr>
              <a:t>Why group riders lose each other</a:t>
            </a:r>
            <a:endParaRPr lang="en-US" sz="2800" dirty="0"/>
          </a:p>
        </p:txBody>
      </p:sp>
      <p:sp>
        <p:nvSpPr>
          <p:cNvPr id="3" name="Text 1"/>
          <p:cNvSpPr txBox="1"/>
          <p:nvPr/>
        </p:nvSpPr>
        <p:spPr>
          <a:xfrm>
            <a:off x="457200" y="219456"/>
            <a:ext cx="5486400" cy="182880"/>
          </a:xfrm>
          <a:prstGeom prst="rect">
            <a:avLst/>
          </a:prstGeom>
          <a:noFill/>
          <a:ln/>
        </p:spPr>
        <p:txBody>
          <a:bodyPr wrap="square" lIns="0" tIns="0" rIns="0" bIns="0" rtlCol="0" anchor="t"/>
          <a:lstStyle/>
          <a:p>
            <a:pPr marL="0" indent="0">
              <a:buNone/>
            </a:pPr>
            <a:r>
              <a:rPr lang="en-US" sz="1000" b="1" kern="0" spc="200" dirty="0">
                <a:solidFill>
                  <a:schemeClr val="accent1"/>
                </a:solidFill>
              </a:rPr>
              <a:t>INTRODUCTION</a:t>
            </a:r>
            <a:endParaRPr lang="en-US" sz="1000" dirty="0"/>
          </a:p>
        </p:txBody>
      </p:sp>
      <p:sp>
        <p:nvSpPr>
          <p:cNvPr id="5" name="Shape 2"/>
          <p:cNvSpPr/>
          <p:nvPr/>
        </p:nvSpPr>
        <p:spPr>
          <a:xfrm>
            <a:off x="457200" y="1280160"/>
            <a:ext cx="566928" cy="566928"/>
          </a:xfrm>
          <a:prstGeom prst="ellipse">
            <a:avLst/>
          </a:prstGeom>
          <a:solidFill>
            <a:schemeClr val="accent1">
              <a:alpha val="12000"/>
            </a:schemeClr>
          </a:solidFill>
          <a:ln/>
        </p:spPr>
      </p:sp>
      <p:pic>
        <p:nvPicPr>
          <p:cNvPr id="6" name="Image 0" descr="preencoded.png"/>
          <p:cNvPicPr>
            <a:picLocks noChangeAspect="1"/>
          </p:cNvPicPr>
          <p:nvPr/>
        </p:nvPicPr>
        <p:blipFill>
          <a:blip r:embed="rId3"/>
          <a:stretch>
            <a:fillRect/>
          </a:stretch>
        </p:blipFill>
        <p:spPr>
          <a:xfrm>
            <a:off x="604601" y="1427561"/>
            <a:ext cx="272125" cy="272125"/>
          </a:xfrm>
          <a:prstGeom prst="rect">
            <a:avLst/>
          </a:prstGeom>
        </p:spPr>
      </p:pic>
      <p:sp>
        <p:nvSpPr>
          <p:cNvPr id="7" name="Text 3"/>
          <p:cNvSpPr txBox="1"/>
          <p:nvPr/>
        </p:nvSpPr>
        <p:spPr>
          <a:xfrm>
            <a:off x="1188720" y="1234440"/>
            <a:ext cx="3200400" cy="274320"/>
          </a:xfrm>
          <a:prstGeom prst="rect">
            <a:avLst/>
          </a:prstGeom>
          <a:noFill/>
          <a:ln/>
        </p:spPr>
        <p:txBody>
          <a:bodyPr wrap="square" lIns="0" tIns="0" rIns="0" bIns="0" rtlCol="0" anchor="t"/>
          <a:lstStyle/>
          <a:p>
            <a:pPr marL="0" indent="0">
              <a:buNone/>
            </a:pPr>
            <a:r>
              <a:rPr lang="en-US" sz="1600" b="1" dirty="0">
                <a:solidFill>
                  <a:schemeClr val="tx1"/>
                </a:solidFill>
              </a:rPr>
              <a:t>Riders get separated</a:t>
            </a:r>
            <a:endParaRPr lang="en-US" sz="1600" dirty="0"/>
          </a:p>
        </p:txBody>
      </p:sp>
      <p:sp>
        <p:nvSpPr>
          <p:cNvPr id="8" name="Text 4"/>
          <p:cNvSpPr txBox="1"/>
          <p:nvPr/>
        </p:nvSpPr>
        <p:spPr>
          <a:xfrm>
            <a:off x="1188720" y="1527048"/>
            <a:ext cx="3200400" cy="685800"/>
          </a:xfrm>
          <a:prstGeom prst="rect">
            <a:avLst/>
          </a:prstGeom>
          <a:noFill/>
          <a:ln/>
        </p:spPr>
        <p:txBody>
          <a:bodyPr wrap="square" lIns="0" tIns="0" rIns="0" bIns="0" rtlCol="0" anchor="t"/>
          <a:lstStyle/>
          <a:p>
            <a:pPr marL="0" indent="0">
              <a:buNone/>
            </a:pPr>
            <a:r>
              <a:rPr lang="en-US" sz="1300" dirty="0">
                <a:solidFill>
                  <a:schemeClr val="tx2"/>
                </a:solidFill>
              </a:rPr>
              <a:t>Speed differences, traffic and fuel stops stretch a group over kilometres.</a:t>
            </a:r>
            <a:endParaRPr lang="en-US" sz="1300" dirty="0"/>
          </a:p>
        </p:txBody>
      </p:sp>
      <p:sp>
        <p:nvSpPr>
          <p:cNvPr id="9" name="Shape 5"/>
          <p:cNvSpPr/>
          <p:nvPr/>
        </p:nvSpPr>
        <p:spPr>
          <a:xfrm>
            <a:off x="457200" y="2395728"/>
            <a:ext cx="566928" cy="566928"/>
          </a:xfrm>
          <a:prstGeom prst="ellipse">
            <a:avLst/>
          </a:prstGeom>
          <a:solidFill>
            <a:schemeClr val="accent1">
              <a:alpha val="12000"/>
            </a:schemeClr>
          </a:solidFill>
          <a:ln/>
        </p:spPr>
      </p:sp>
      <p:pic>
        <p:nvPicPr>
          <p:cNvPr id="10" name="Image 1" descr="preencoded.png"/>
          <p:cNvPicPr>
            <a:picLocks noChangeAspect="1"/>
          </p:cNvPicPr>
          <p:nvPr/>
        </p:nvPicPr>
        <p:blipFill>
          <a:blip r:embed="rId4"/>
          <a:stretch>
            <a:fillRect/>
          </a:stretch>
        </p:blipFill>
        <p:spPr>
          <a:xfrm>
            <a:off x="604601" y="2543129"/>
            <a:ext cx="272125" cy="272125"/>
          </a:xfrm>
          <a:prstGeom prst="rect">
            <a:avLst/>
          </a:prstGeom>
        </p:spPr>
      </p:pic>
      <p:sp>
        <p:nvSpPr>
          <p:cNvPr id="11" name="Text 6"/>
          <p:cNvSpPr txBox="1"/>
          <p:nvPr/>
        </p:nvSpPr>
        <p:spPr>
          <a:xfrm>
            <a:off x="1188720" y="2350008"/>
            <a:ext cx="3200400" cy="274320"/>
          </a:xfrm>
          <a:prstGeom prst="rect">
            <a:avLst/>
          </a:prstGeom>
          <a:noFill/>
          <a:ln/>
        </p:spPr>
        <p:txBody>
          <a:bodyPr wrap="square" lIns="0" tIns="0" rIns="0" bIns="0" rtlCol="0" anchor="t"/>
          <a:lstStyle/>
          <a:p>
            <a:pPr marL="0" indent="0">
              <a:buNone/>
            </a:pPr>
            <a:r>
              <a:rPr lang="en-US" sz="1600" b="1" dirty="0">
                <a:solidFill>
                  <a:schemeClr val="tx1"/>
                </a:solidFill>
              </a:rPr>
              <a:t>Chat tools share one position each</a:t>
            </a:r>
            <a:endParaRPr lang="en-US" sz="1600" dirty="0"/>
          </a:p>
        </p:txBody>
      </p:sp>
      <p:sp>
        <p:nvSpPr>
          <p:cNvPr id="12" name="Text 7"/>
          <p:cNvSpPr txBox="1"/>
          <p:nvPr/>
        </p:nvSpPr>
        <p:spPr>
          <a:xfrm>
            <a:off x="1188720" y="2642616"/>
            <a:ext cx="3200400" cy="685800"/>
          </a:xfrm>
          <a:prstGeom prst="rect">
            <a:avLst/>
          </a:prstGeom>
          <a:noFill/>
          <a:ln/>
        </p:spPr>
        <p:txBody>
          <a:bodyPr wrap="square" lIns="0" tIns="0" rIns="0" bIns="0" rtlCol="0" anchor="t"/>
          <a:lstStyle/>
          <a:p>
            <a:pPr marL="0" indent="0">
              <a:buNone/>
            </a:pPr>
            <a:r>
              <a:rPr lang="en-US" sz="1300" dirty="0">
                <a:solidFill>
                  <a:schemeClr val="tx2"/>
                </a:solidFill>
              </a:rPr>
              <a:t>No single picture of where the whole group is, and typing while riding is unsafe.</a:t>
            </a:r>
            <a:endParaRPr lang="en-US" sz="1300" dirty="0"/>
          </a:p>
        </p:txBody>
      </p:sp>
      <p:sp>
        <p:nvSpPr>
          <p:cNvPr id="13" name="Shape 8"/>
          <p:cNvSpPr/>
          <p:nvPr/>
        </p:nvSpPr>
        <p:spPr>
          <a:xfrm>
            <a:off x="457200" y="3511296"/>
            <a:ext cx="566928" cy="566928"/>
          </a:xfrm>
          <a:prstGeom prst="ellipse">
            <a:avLst/>
          </a:prstGeom>
          <a:solidFill>
            <a:srgbClr val="1D6FE8"/>
          </a:solidFill>
          <a:ln/>
        </p:spPr>
      </p:sp>
      <p:pic>
        <p:nvPicPr>
          <p:cNvPr id="14" name="Image 2" descr="preencoded.png"/>
          <p:cNvPicPr>
            <a:picLocks noChangeAspect="1"/>
          </p:cNvPicPr>
          <p:nvPr/>
        </p:nvPicPr>
        <p:blipFill>
          <a:blip r:embed="rId5"/>
          <a:stretch>
            <a:fillRect/>
          </a:stretch>
        </p:blipFill>
        <p:spPr>
          <a:xfrm>
            <a:off x="604601" y="3658697"/>
            <a:ext cx="272125" cy="272125"/>
          </a:xfrm>
          <a:prstGeom prst="rect">
            <a:avLst/>
          </a:prstGeom>
        </p:spPr>
      </p:pic>
      <p:sp>
        <p:nvSpPr>
          <p:cNvPr id="15" name="Text 9"/>
          <p:cNvSpPr txBox="1"/>
          <p:nvPr/>
        </p:nvSpPr>
        <p:spPr>
          <a:xfrm>
            <a:off x="1188720" y="3465576"/>
            <a:ext cx="3200400" cy="274320"/>
          </a:xfrm>
          <a:prstGeom prst="rect">
            <a:avLst/>
          </a:prstGeom>
          <a:noFill/>
          <a:ln/>
        </p:spPr>
        <p:txBody>
          <a:bodyPr wrap="square" lIns="0" tIns="0" rIns="0" bIns="0" rtlCol="0" anchor="t"/>
          <a:lstStyle/>
          <a:p>
            <a:pPr marL="0" indent="0">
              <a:buNone/>
            </a:pPr>
            <a:r>
              <a:rPr lang="en-US" sz="1600" b="1" dirty="0">
                <a:solidFill>
                  <a:schemeClr val="tx1"/>
                </a:solidFill>
              </a:rPr>
              <a:t>PackTrace: one shared map</a:t>
            </a:r>
            <a:endParaRPr lang="en-US" sz="1600" dirty="0"/>
          </a:p>
        </p:txBody>
      </p:sp>
      <p:sp>
        <p:nvSpPr>
          <p:cNvPr id="16" name="Text 10"/>
          <p:cNvSpPr txBox="1"/>
          <p:nvPr/>
        </p:nvSpPr>
        <p:spPr>
          <a:xfrm>
            <a:off x="1188720" y="3758184"/>
            <a:ext cx="3200400" cy="685800"/>
          </a:xfrm>
          <a:prstGeom prst="rect">
            <a:avLst/>
          </a:prstGeom>
          <a:noFill/>
          <a:ln/>
        </p:spPr>
        <p:txBody>
          <a:bodyPr wrap="square" lIns="0" tIns="0" rIns="0" bIns="0" rtlCol="0" anchor="t"/>
          <a:lstStyle/>
          <a:p>
            <a:pPr marL="0" indent="0">
              <a:buNone/>
            </a:pPr>
            <a:r>
              <a:rPr lang="en-US" sz="1300" dirty="0">
                <a:solidFill>
                  <a:schemeClr val="tx2"/>
                </a:solidFill>
              </a:rPr>
              <a:t>A browser-based dashboard shows every rider, with ride-level safety alerts.</a:t>
            </a:r>
            <a:endParaRPr lang="en-US" sz="1300" dirty="0"/>
          </a:p>
        </p:txBody>
      </p:sp>
      <p:sp>
        <p:nvSpPr>
          <p:cNvPr id="17" name="Shape 11"/>
          <p:cNvSpPr/>
          <p:nvPr/>
        </p:nvSpPr>
        <p:spPr>
          <a:xfrm>
            <a:off x="4663440" y="1188720"/>
            <a:ext cx="4023360" cy="3383280"/>
          </a:xfrm>
          <a:prstGeom prst="roundRect">
            <a:avLst>
              <a:gd name="adj" fmla="val 2162"/>
            </a:avLst>
          </a:prstGeom>
          <a:solidFill>
            <a:schemeClr val="bg2"/>
          </a:solidFill>
          <a:ln/>
        </p:spPr>
      </p:sp>
      <p:sp>
        <p:nvSpPr>
          <p:cNvPr id="18" name="Text 12"/>
          <p:cNvSpPr txBox="1"/>
          <p:nvPr/>
        </p:nvSpPr>
        <p:spPr>
          <a:xfrm>
            <a:off x="4892040" y="1325880"/>
            <a:ext cx="2743200" cy="182880"/>
          </a:xfrm>
          <a:prstGeom prst="rect">
            <a:avLst/>
          </a:prstGeom>
          <a:noFill/>
          <a:ln/>
        </p:spPr>
        <p:txBody>
          <a:bodyPr wrap="square" lIns="0" tIns="0" rIns="0" bIns="0" rtlCol="0" anchor="t"/>
          <a:lstStyle/>
          <a:p>
            <a:pPr marL="0" indent="0">
              <a:buNone/>
            </a:pPr>
            <a:r>
              <a:rPr lang="en-US" sz="1000" b="1" kern="0" spc="100" dirty="0">
                <a:solidFill>
                  <a:schemeClr val="accent4"/>
                </a:solidFill>
              </a:rPr>
              <a:t>WITHOUT A SHARED VIEW</a:t>
            </a:r>
            <a:endParaRPr lang="en-US" sz="1000" dirty="0"/>
          </a:p>
        </p:txBody>
      </p:sp>
      <p:sp>
        <p:nvSpPr>
          <p:cNvPr id="19" name="Shape 13"/>
          <p:cNvSpPr/>
          <p:nvPr/>
        </p:nvSpPr>
        <p:spPr>
          <a:xfrm>
            <a:off x="4937760" y="2057400"/>
            <a:ext cx="3474720" cy="0"/>
          </a:xfrm>
          <a:prstGeom prst="line">
            <a:avLst/>
          </a:prstGeom>
          <a:noFill/>
          <a:ln w="63500">
            <a:solidFill>
              <a:schemeClr val="accent3"/>
            </a:solidFill>
            <a:prstDash val="solid"/>
          </a:ln>
        </p:spPr>
      </p:sp>
      <p:sp>
        <p:nvSpPr>
          <p:cNvPr id="20" name="Shape 14"/>
          <p:cNvSpPr/>
          <p:nvPr/>
        </p:nvSpPr>
        <p:spPr>
          <a:xfrm>
            <a:off x="8119872" y="1901952"/>
            <a:ext cx="310896" cy="310896"/>
          </a:xfrm>
          <a:prstGeom prst="ellipse">
            <a:avLst/>
          </a:prstGeom>
          <a:solidFill>
            <a:schemeClr val="tx1"/>
          </a:solidFill>
          <a:ln/>
        </p:spPr>
      </p:sp>
      <p:sp>
        <p:nvSpPr>
          <p:cNvPr id="21" name="Text 15"/>
          <p:cNvSpPr txBox="1"/>
          <p:nvPr/>
        </p:nvSpPr>
        <p:spPr>
          <a:xfrm>
            <a:off x="8119872" y="1901952"/>
            <a:ext cx="310896" cy="310896"/>
          </a:xfrm>
          <a:prstGeom prst="rect">
            <a:avLst/>
          </a:prstGeom>
          <a:noFill/>
          <a:ln/>
        </p:spPr>
        <p:txBody>
          <a:bodyPr wrap="square" lIns="0" tIns="0" rIns="0" bIns="0" rtlCol="0" anchor="ctr"/>
          <a:lstStyle/>
          <a:p>
            <a:pPr marL="0" indent="0" algn="ctr">
              <a:buNone/>
            </a:pPr>
            <a:r>
              <a:rPr lang="en-US" sz="1200" b="1" dirty="0">
                <a:solidFill>
                  <a:schemeClr val="bg1"/>
                </a:solidFill>
              </a:rPr>
              <a:t>A</a:t>
            </a:r>
            <a:endParaRPr lang="en-US" sz="1200" dirty="0"/>
          </a:p>
        </p:txBody>
      </p:sp>
      <p:sp>
        <p:nvSpPr>
          <p:cNvPr id="22" name="Shape 16"/>
          <p:cNvSpPr/>
          <p:nvPr/>
        </p:nvSpPr>
        <p:spPr>
          <a:xfrm>
            <a:off x="7022592" y="1901952"/>
            <a:ext cx="310896" cy="310896"/>
          </a:xfrm>
          <a:prstGeom prst="ellipse">
            <a:avLst/>
          </a:prstGeom>
          <a:solidFill>
            <a:schemeClr val="tx1"/>
          </a:solidFill>
          <a:ln/>
        </p:spPr>
      </p:sp>
      <p:sp>
        <p:nvSpPr>
          <p:cNvPr id="23" name="Text 17"/>
          <p:cNvSpPr txBox="1"/>
          <p:nvPr/>
        </p:nvSpPr>
        <p:spPr>
          <a:xfrm>
            <a:off x="7022592" y="1901952"/>
            <a:ext cx="310896" cy="310896"/>
          </a:xfrm>
          <a:prstGeom prst="rect">
            <a:avLst/>
          </a:prstGeom>
          <a:noFill/>
          <a:ln/>
        </p:spPr>
        <p:txBody>
          <a:bodyPr wrap="square" lIns="0" tIns="0" rIns="0" bIns="0" rtlCol="0" anchor="ctr"/>
          <a:lstStyle/>
          <a:p>
            <a:pPr marL="0" indent="0" algn="ctr">
              <a:buNone/>
            </a:pPr>
            <a:r>
              <a:rPr lang="en-US" sz="1200" b="1" dirty="0">
                <a:solidFill>
                  <a:schemeClr val="bg1"/>
                </a:solidFill>
              </a:rPr>
              <a:t>B</a:t>
            </a:r>
            <a:endParaRPr lang="en-US" sz="1200" dirty="0"/>
          </a:p>
        </p:txBody>
      </p:sp>
      <p:sp>
        <p:nvSpPr>
          <p:cNvPr id="24" name="Shape 18"/>
          <p:cNvSpPr/>
          <p:nvPr/>
        </p:nvSpPr>
        <p:spPr>
          <a:xfrm>
            <a:off x="5422392" y="1901952"/>
            <a:ext cx="310896" cy="310896"/>
          </a:xfrm>
          <a:prstGeom prst="ellipse">
            <a:avLst/>
          </a:prstGeom>
          <a:solidFill>
            <a:schemeClr val="accent4"/>
          </a:solidFill>
          <a:ln/>
        </p:spPr>
      </p:sp>
      <p:sp>
        <p:nvSpPr>
          <p:cNvPr id="25" name="Text 19"/>
          <p:cNvSpPr txBox="1"/>
          <p:nvPr/>
        </p:nvSpPr>
        <p:spPr>
          <a:xfrm>
            <a:off x="5422392" y="1901952"/>
            <a:ext cx="310896" cy="310896"/>
          </a:xfrm>
          <a:prstGeom prst="rect">
            <a:avLst/>
          </a:prstGeom>
          <a:noFill/>
          <a:ln/>
        </p:spPr>
        <p:txBody>
          <a:bodyPr wrap="square" lIns="0" tIns="0" rIns="0" bIns="0" rtlCol="0" anchor="ctr"/>
          <a:lstStyle/>
          <a:p>
            <a:pPr marL="0" indent="0" algn="ctr">
              <a:buNone/>
            </a:pPr>
            <a:r>
              <a:rPr lang="en-US" sz="1200" b="1" dirty="0">
                <a:solidFill>
                  <a:schemeClr val="bg1"/>
                </a:solidFill>
              </a:rPr>
              <a:t>C</a:t>
            </a:r>
            <a:endParaRPr lang="en-US" sz="1200" dirty="0"/>
          </a:p>
        </p:txBody>
      </p:sp>
      <p:sp>
        <p:nvSpPr>
          <p:cNvPr id="26" name="Shape 20"/>
          <p:cNvSpPr/>
          <p:nvPr/>
        </p:nvSpPr>
        <p:spPr>
          <a:xfrm>
            <a:off x="6675120" y="2057400"/>
            <a:ext cx="365760" cy="548640"/>
          </a:xfrm>
          <a:prstGeom prst="line">
            <a:avLst/>
          </a:prstGeom>
          <a:noFill/>
          <a:ln w="25400">
            <a:solidFill>
              <a:schemeClr val="accent6"/>
            </a:solidFill>
            <a:prstDash val="dash"/>
          </a:ln>
        </p:spPr>
      </p:sp>
      <p:sp>
        <p:nvSpPr>
          <p:cNvPr id="27" name="Shape 21"/>
          <p:cNvSpPr/>
          <p:nvPr/>
        </p:nvSpPr>
        <p:spPr>
          <a:xfrm>
            <a:off x="6885432" y="2606040"/>
            <a:ext cx="310896" cy="310896"/>
          </a:xfrm>
          <a:prstGeom prst="ellipse">
            <a:avLst/>
          </a:prstGeom>
          <a:solidFill>
            <a:schemeClr val="accent6"/>
          </a:solidFill>
          <a:ln/>
        </p:spPr>
      </p:sp>
      <p:sp>
        <p:nvSpPr>
          <p:cNvPr id="28" name="Text 22"/>
          <p:cNvSpPr txBox="1"/>
          <p:nvPr/>
        </p:nvSpPr>
        <p:spPr>
          <a:xfrm>
            <a:off x="6885432" y="2606040"/>
            <a:ext cx="310896" cy="310896"/>
          </a:xfrm>
          <a:prstGeom prst="rect">
            <a:avLst/>
          </a:prstGeom>
          <a:noFill/>
          <a:ln/>
        </p:spPr>
        <p:txBody>
          <a:bodyPr wrap="square" lIns="0" tIns="0" rIns="0" bIns="0" rtlCol="0" anchor="ctr"/>
          <a:lstStyle/>
          <a:p>
            <a:pPr marL="0" indent="0" algn="ctr">
              <a:buNone/>
            </a:pPr>
            <a:r>
              <a:rPr lang="en-US" sz="1200" b="1" dirty="0">
                <a:solidFill>
                  <a:schemeClr val="bg1"/>
                </a:solidFill>
              </a:rPr>
              <a:t>D</a:t>
            </a:r>
            <a:endParaRPr lang="en-US" sz="1200" dirty="0"/>
          </a:p>
        </p:txBody>
      </p:sp>
      <p:sp>
        <p:nvSpPr>
          <p:cNvPr id="29" name="Text 23"/>
          <p:cNvSpPr txBox="1"/>
          <p:nvPr/>
        </p:nvSpPr>
        <p:spPr>
          <a:xfrm>
            <a:off x="7269480" y="2651760"/>
            <a:ext cx="1280160" cy="228600"/>
          </a:xfrm>
          <a:prstGeom prst="rect">
            <a:avLst/>
          </a:prstGeom>
          <a:noFill/>
          <a:ln/>
        </p:spPr>
        <p:txBody>
          <a:bodyPr wrap="square" lIns="0" tIns="0" rIns="0" bIns="0" rtlCol="0" anchor="t"/>
          <a:lstStyle/>
          <a:p>
            <a:pPr marL="0" indent="0">
              <a:buNone/>
            </a:pPr>
            <a:r>
              <a:rPr lang="en-US" sz="1100" dirty="0">
                <a:solidFill>
                  <a:schemeClr val="tx2"/>
                </a:solidFill>
              </a:rPr>
              <a:t>wrong turn</a:t>
            </a:r>
            <a:endParaRPr lang="en-US" sz="1100" dirty="0"/>
          </a:p>
        </p:txBody>
      </p:sp>
      <p:sp>
        <p:nvSpPr>
          <p:cNvPr id="30" name="Text 24"/>
          <p:cNvSpPr txBox="1"/>
          <p:nvPr/>
        </p:nvSpPr>
        <p:spPr>
          <a:xfrm>
            <a:off x="4937760" y="2331720"/>
            <a:ext cx="1737360" cy="228600"/>
          </a:xfrm>
          <a:prstGeom prst="rect">
            <a:avLst/>
          </a:prstGeom>
          <a:noFill/>
          <a:ln/>
        </p:spPr>
        <p:txBody>
          <a:bodyPr wrap="square" lIns="0" tIns="0" rIns="0" bIns="0" rtlCol="0" anchor="t"/>
          <a:lstStyle/>
          <a:p>
            <a:pPr marL="0" indent="0">
              <a:buNone/>
            </a:pPr>
            <a:r>
              <a:rPr lang="en-US" sz="1100" dirty="0">
                <a:solidFill>
                  <a:schemeClr val="tx2"/>
                </a:solidFill>
              </a:rPr>
              <a:t>breakdown / lost signal</a:t>
            </a:r>
            <a:endParaRPr lang="en-US" sz="1100" dirty="0"/>
          </a:p>
        </p:txBody>
      </p:sp>
      <p:sp>
        <p:nvSpPr>
          <p:cNvPr id="31" name="Shape 25"/>
          <p:cNvSpPr/>
          <p:nvPr/>
        </p:nvSpPr>
        <p:spPr>
          <a:xfrm flipH="1">
            <a:off x="5577840" y="1645920"/>
            <a:ext cx="2697480" cy="0"/>
          </a:xfrm>
          <a:prstGeom prst="line">
            <a:avLst/>
          </a:prstGeom>
          <a:noFill/>
          <a:ln w="15875">
            <a:solidFill>
              <a:schemeClr val="accent3"/>
            </a:solidFill>
            <a:prstDash val="dash"/>
            <a:headEnd type="triangle"/>
            <a:tailEnd type="triangle"/>
          </a:ln>
        </p:spPr>
      </p:sp>
      <p:sp>
        <p:nvSpPr>
          <p:cNvPr id="32" name="Text 26"/>
          <p:cNvSpPr txBox="1"/>
          <p:nvPr/>
        </p:nvSpPr>
        <p:spPr>
          <a:xfrm>
            <a:off x="6035040" y="1444752"/>
            <a:ext cx="1828800" cy="182880"/>
          </a:xfrm>
          <a:prstGeom prst="rect">
            <a:avLst/>
          </a:prstGeom>
          <a:noFill/>
          <a:ln/>
        </p:spPr>
        <p:txBody>
          <a:bodyPr wrap="square" lIns="0" tIns="0" rIns="0" bIns="0" rtlCol="0" anchor="t"/>
          <a:lstStyle/>
          <a:p>
            <a:pPr marL="0" indent="0" algn="ctr">
              <a:buNone/>
            </a:pPr>
            <a:r>
              <a:rPr lang="en-US" sz="1100" dirty="0">
                <a:solidFill>
                  <a:schemeClr val="tx2"/>
                </a:solidFill>
              </a:rPr>
              <a:t>several km apart</a:t>
            </a:r>
            <a:endParaRPr lang="en-US" sz="1100" dirty="0"/>
          </a:p>
        </p:txBody>
      </p:sp>
      <p:sp>
        <p:nvSpPr>
          <p:cNvPr id="33" name="Shape 27"/>
          <p:cNvSpPr/>
          <p:nvPr/>
        </p:nvSpPr>
        <p:spPr>
          <a:xfrm>
            <a:off x="6675120" y="3017520"/>
            <a:ext cx="0" cy="365760"/>
          </a:xfrm>
          <a:prstGeom prst="line">
            <a:avLst/>
          </a:prstGeom>
          <a:noFill/>
          <a:ln w="25400">
            <a:solidFill>
              <a:schemeClr val="accent1"/>
            </a:solidFill>
            <a:prstDash val="solid"/>
            <a:tailEnd type="triangle"/>
          </a:ln>
        </p:spPr>
      </p:sp>
      <p:sp>
        <p:nvSpPr>
          <p:cNvPr id="34" name="Shape 28"/>
          <p:cNvSpPr/>
          <p:nvPr/>
        </p:nvSpPr>
        <p:spPr>
          <a:xfrm>
            <a:off x="4937760" y="3429000"/>
            <a:ext cx="3474720" cy="914400"/>
          </a:xfrm>
          <a:prstGeom prst="roundRect">
            <a:avLst>
              <a:gd name="adj" fmla="val 8000"/>
            </a:avLst>
          </a:prstGeom>
          <a:solidFill>
            <a:schemeClr val="bg1"/>
          </a:solidFill>
          <a:ln w="19050">
            <a:solidFill>
              <a:schemeClr val="accent1"/>
            </a:solidFill>
            <a:prstDash val="solid"/>
          </a:ln>
        </p:spPr>
      </p:sp>
      <p:pic>
        <p:nvPicPr>
          <p:cNvPr id="35" name="Image 3" descr="preencoded.png"/>
          <p:cNvPicPr>
            <a:picLocks noChangeAspect="1"/>
          </p:cNvPicPr>
          <p:nvPr/>
        </p:nvPicPr>
        <p:blipFill>
          <a:blip r:embed="rId6"/>
          <a:stretch>
            <a:fillRect/>
          </a:stretch>
        </p:blipFill>
        <p:spPr>
          <a:xfrm>
            <a:off x="5120640" y="3675888"/>
            <a:ext cx="420624" cy="420624"/>
          </a:xfrm>
          <a:prstGeom prst="rect">
            <a:avLst/>
          </a:prstGeom>
        </p:spPr>
      </p:pic>
      <p:sp>
        <p:nvSpPr>
          <p:cNvPr id="36" name="Text 29"/>
          <p:cNvSpPr txBox="1"/>
          <p:nvPr/>
        </p:nvSpPr>
        <p:spPr>
          <a:xfrm>
            <a:off x="5715000" y="3547872"/>
            <a:ext cx="2651760" cy="274320"/>
          </a:xfrm>
          <a:prstGeom prst="rect">
            <a:avLst/>
          </a:prstGeom>
          <a:noFill/>
          <a:ln/>
        </p:spPr>
        <p:txBody>
          <a:bodyPr wrap="square" lIns="0" tIns="0" rIns="0" bIns="0" rtlCol="0" anchor="t"/>
          <a:lstStyle/>
          <a:p>
            <a:pPr marL="0" indent="0">
              <a:buNone/>
            </a:pPr>
            <a:r>
              <a:rPr lang="en-US" sz="1400" b="1" dirty="0">
                <a:solidFill>
                  <a:schemeClr val="accent1"/>
                </a:solidFill>
              </a:rPr>
              <a:t>PackTrace common map</a:t>
            </a:r>
            <a:endParaRPr lang="en-US" sz="1400" dirty="0"/>
          </a:p>
        </p:txBody>
      </p:sp>
      <p:sp>
        <p:nvSpPr>
          <p:cNvPr id="37" name="Text 30"/>
          <p:cNvSpPr txBox="1"/>
          <p:nvPr/>
        </p:nvSpPr>
        <p:spPr>
          <a:xfrm>
            <a:off x="5715000" y="3822192"/>
            <a:ext cx="2651760" cy="457200"/>
          </a:xfrm>
          <a:prstGeom prst="rect">
            <a:avLst/>
          </a:prstGeom>
          <a:noFill/>
          <a:ln/>
        </p:spPr>
        <p:txBody>
          <a:bodyPr wrap="square" lIns="0" tIns="0" rIns="0" bIns="0" rtlCol="0" anchor="t"/>
          <a:lstStyle/>
          <a:p>
            <a:pPr marL="0" indent="0">
              <a:buNone/>
            </a:pPr>
            <a:r>
              <a:rPr lang="en-US" sz="1200" dirty="0">
                <a:solidFill>
                  <a:schemeClr val="tx2"/>
                </a:solidFill>
              </a:rPr>
              <a:t>All riders visible on one dashboard, with last-known positions and alerts</a:t>
            </a:r>
            <a:endParaRPr lang="en-US" sz="1200" dirty="0"/>
          </a:p>
        </p:txBody>
      </p:sp>
      <p:sp>
        <p:nvSpPr>
          <p:cNvPr id="4" name="Slide Number Placeholder 0"/>
          <p:cNvSpPr>
            <a:spLocks noGrp="1"/>
          </p:cNvSpPr>
          <p:nvPr>
            <p:ph type="sldNum" sz="quarter" idx="4294967295"/>
          </p:nvPr>
        </p:nvSpPr>
        <p:spPr>
          <a:xfrm>
            <a:off x="8138160" y="4791456"/>
            <a:ext cx="548640" cy="228600"/>
          </a:xfrm>
          <a:prstGeom prst="rect">
            <a:avLst/>
          </a:prstGeom>
          <a:extLst>
            <a:ext uri="{C572A759-6A51-4108-AA02-DFA0A04FC94B}">
              <ma14:wrappingTextBoxFlag xmlns:ma14="http://schemas.microsoft.com/office/mac/drawingml/2011/main" xmlns="" val="0"/>
            </a:ext>
          </a:extLst>
        </p:spPr>
        <p:txBody>
          <a:bodyPr/>
          <a:lstStyle>
            <a:lvl1pPr>
              <a:defRPr sz="1000">
                <a:solidFill>
                  <a:srgbClr val="475569"/>
                </a:solidFill>
              </a:defRPr>
            </a:lvl1pPr>
          </a:lstStyle>
          <a:p>
            <a:pPr algn="r"/>
            <a:fld id="{F7021451-1387-4CA6-816F-3879F97B5CBC}" type="slidenum">
              <a:rPr lang="en-US" b="0"/>
              <a:t>2</a:t>
            </a:fld>
            <a:endParaRPr 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457200" y="420624"/>
            <a:ext cx="8229600" cy="566928"/>
          </a:xfrm>
          <a:prstGeom prst="rect">
            <a:avLst/>
          </a:prstGeom>
          <a:noFill/>
          <a:ln/>
        </p:spPr>
        <p:txBody>
          <a:bodyPr wrap="square" lIns="0" tIns="0" rIns="0" bIns="0" rtlCol="0" anchor="ctr"/>
          <a:lstStyle/>
          <a:p>
            <a:pPr marL="0" indent="0" algn="l">
              <a:buNone/>
            </a:pPr>
            <a:r>
              <a:rPr lang="en-US" sz="2800" b="1" dirty="0">
                <a:solidFill>
                  <a:schemeClr val="tx1"/>
                </a:solidFill>
              </a:rPr>
              <a:t>Project overview</a:t>
            </a:r>
            <a:endParaRPr lang="en-US" sz="2800" dirty="0"/>
          </a:p>
        </p:txBody>
      </p:sp>
      <p:sp>
        <p:nvSpPr>
          <p:cNvPr id="3" name="Text 1"/>
          <p:cNvSpPr txBox="1"/>
          <p:nvPr/>
        </p:nvSpPr>
        <p:spPr>
          <a:xfrm>
            <a:off x="457200" y="219456"/>
            <a:ext cx="5486400" cy="182880"/>
          </a:xfrm>
          <a:prstGeom prst="rect">
            <a:avLst/>
          </a:prstGeom>
          <a:noFill/>
          <a:ln/>
        </p:spPr>
        <p:txBody>
          <a:bodyPr wrap="square" lIns="0" tIns="0" rIns="0" bIns="0" rtlCol="0" anchor="t"/>
          <a:lstStyle/>
          <a:p>
            <a:pPr marL="0" indent="0">
              <a:buNone/>
            </a:pPr>
            <a:r>
              <a:rPr lang="en-US" sz="1000" b="1" kern="0" spc="200" dirty="0">
                <a:solidFill>
                  <a:schemeClr val="accent1"/>
                </a:solidFill>
              </a:rPr>
              <a:t>ABSTRACT</a:t>
            </a:r>
            <a:endParaRPr lang="en-US" sz="1000" dirty="0"/>
          </a:p>
        </p:txBody>
      </p:sp>
      <p:sp>
        <p:nvSpPr>
          <p:cNvPr id="5" name="Shape 2"/>
          <p:cNvSpPr/>
          <p:nvPr/>
        </p:nvSpPr>
        <p:spPr>
          <a:xfrm>
            <a:off x="457200" y="1188720"/>
            <a:ext cx="8229600" cy="822960"/>
          </a:xfrm>
          <a:prstGeom prst="roundRect">
            <a:avLst>
              <a:gd name="adj" fmla="val 8889"/>
            </a:avLst>
          </a:prstGeom>
          <a:solidFill>
            <a:schemeClr val="accent1">
              <a:alpha val="10000"/>
            </a:schemeClr>
          </a:solidFill>
          <a:ln w="9525">
            <a:solidFill>
              <a:schemeClr val="accent1">
                <a:alpha val="50000"/>
              </a:schemeClr>
            </a:solidFill>
            <a:prstDash val="solid"/>
          </a:ln>
        </p:spPr>
      </p:sp>
      <p:sp>
        <p:nvSpPr>
          <p:cNvPr id="6" name="Text 3"/>
          <p:cNvSpPr txBox="1"/>
          <p:nvPr/>
        </p:nvSpPr>
        <p:spPr>
          <a:xfrm>
            <a:off x="685800" y="1188720"/>
            <a:ext cx="7772400" cy="822960"/>
          </a:xfrm>
          <a:prstGeom prst="rect">
            <a:avLst/>
          </a:prstGeom>
          <a:noFill/>
          <a:ln/>
        </p:spPr>
        <p:txBody>
          <a:bodyPr wrap="square" lIns="0" tIns="0" rIns="0" bIns="0" rtlCol="0" anchor="ctr"/>
          <a:lstStyle/>
          <a:p>
            <a:pPr marL="0" indent="0">
              <a:buNone/>
            </a:pPr>
            <a:r>
              <a:rPr lang="en-US" sz="1500" b="1" dirty="0">
                <a:solidFill>
                  <a:schemeClr val="accent1"/>
                </a:solidFill>
              </a:rPr>
              <a:t>PackTrace</a:t>
            </a:r>
            <a:r>
              <a:rPr lang="en-US" sz="1500" dirty="0">
                <a:solidFill>
                  <a:schemeClr val="tx1"/>
                </a:solidFill>
              </a:rPr>
              <a:t> is a browser-based application where riders create or join a ride, share live GPS, and see the whole group on one Google Map.</a:t>
            </a:r>
            <a:endParaRPr lang="en-US" sz="1500" dirty="0"/>
          </a:p>
        </p:txBody>
      </p:sp>
      <p:sp>
        <p:nvSpPr>
          <p:cNvPr id="7" name="Shape 4"/>
          <p:cNvSpPr/>
          <p:nvPr/>
        </p:nvSpPr>
        <p:spPr>
          <a:xfrm>
            <a:off x="457200" y="2194560"/>
            <a:ext cx="1444752" cy="914400"/>
          </a:xfrm>
          <a:prstGeom prst="roundRect">
            <a:avLst>
              <a:gd name="adj" fmla="val 8000"/>
            </a:avLst>
          </a:prstGeom>
          <a:solidFill>
            <a:schemeClr val="bg1"/>
          </a:solidFill>
          <a:ln w="12700">
            <a:solidFill>
              <a:srgbClr val="D5DCE8"/>
            </a:solidFill>
            <a:prstDash val="solid"/>
          </a:ln>
        </p:spPr>
      </p:sp>
      <p:pic>
        <p:nvPicPr>
          <p:cNvPr id="8" name="Image 0" descr="preencoded.png"/>
          <p:cNvPicPr>
            <a:picLocks noChangeAspect="1"/>
          </p:cNvPicPr>
          <p:nvPr/>
        </p:nvPicPr>
        <p:blipFill>
          <a:blip r:embed="rId3"/>
          <a:stretch>
            <a:fillRect/>
          </a:stretch>
        </p:blipFill>
        <p:spPr>
          <a:xfrm>
            <a:off x="566928" y="2304288"/>
            <a:ext cx="310896" cy="310896"/>
          </a:xfrm>
          <a:prstGeom prst="rect">
            <a:avLst/>
          </a:prstGeom>
        </p:spPr>
      </p:pic>
      <p:sp>
        <p:nvSpPr>
          <p:cNvPr id="9" name="Text 5"/>
          <p:cNvSpPr txBox="1"/>
          <p:nvPr/>
        </p:nvSpPr>
        <p:spPr>
          <a:xfrm>
            <a:off x="548640" y="2651760"/>
            <a:ext cx="1307592" cy="228600"/>
          </a:xfrm>
          <a:prstGeom prst="rect">
            <a:avLst/>
          </a:prstGeom>
          <a:noFill/>
          <a:ln/>
        </p:spPr>
        <p:txBody>
          <a:bodyPr wrap="square" lIns="0" tIns="0" rIns="0" bIns="0" rtlCol="0" anchor="t"/>
          <a:lstStyle/>
          <a:p>
            <a:pPr marL="0" indent="0">
              <a:buNone/>
            </a:pPr>
            <a:r>
              <a:rPr lang="en-US" sz="1250" b="1" dirty="0">
                <a:solidFill>
                  <a:schemeClr val="tx1"/>
                </a:solidFill>
              </a:rPr>
              <a:t>Rider browser</a:t>
            </a:r>
            <a:endParaRPr lang="en-US" sz="1250" dirty="0"/>
          </a:p>
        </p:txBody>
      </p:sp>
      <p:sp>
        <p:nvSpPr>
          <p:cNvPr id="10" name="Text 6"/>
          <p:cNvSpPr txBox="1"/>
          <p:nvPr/>
        </p:nvSpPr>
        <p:spPr>
          <a:xfrm>
            <a:off x="548640" y="2871216"/>
            <a:ext cx="1307592" cy="201168"/>
          </a:xfrm>
          <a:prstGeom prst="rect">
            <a:avLst/>
          </a:prstGeom>
          <a:noFill/>
          <a:ln/>
        </p:spPr>
        <p:txBody>
          <a:bodyPr wrap="square" lIns="0" tIns="0" rIns="0" bIns="0" rtlCol="0" anchor="t"/>
          <a:lstStyle/>
          <a:p>
            <a:pPr marL="0" indent="0">
              <a:buNone/>
            </a:pPr>
            <a:r>
              <a:rPr lang="en-US" sz="1100" dirty="0">
                <a:solidFill>
                  <a:schemeClr val="tx2"/>
                </a:solidFill>
              </a:rPr>
              <a:t>Geolocation API</a:t>
            </a:r>
            <a:endParaRPr lang="en-US" sz="1100" dirty="0"/>
          </a:p>
        </p:txBody>
      </p:sp>
      <p:sp>
        <p:nvSpPr>
          <p:cNvPr id="11" name="Shape 7"/>
          <p:cNvSpPr/>
          <p:nvPr/>
        </p:nvSpPr>
        <p:spPr>
          <a:xfrm>
            <a:off x="1929384" y="2651760"/>
            <a:ext cx="196596" cy="0"/>
          </a:xfrm>
          <a:prstGeom prst="line">
            <a:avLst/>
          </a:prstGeom>
          <a:noFill/>
          <a:ln w="22225">
            <a:solidFill>
              <a:schemeClr val="accent1"/>
            </a:solidFill>
            <a:prstDash val="solid"/>
            <a:tailEnd type="triangle"/>
          </a:ln>
        </p:spPr>
      </p:sp>
      <p:sp>
        <p:nvSpPr>
          <p:cNvPr id="12" name="Shape 8"/>
          <p:cNvSpPr/>
          <p:nvPr/>
        </p:nvSpPr>
        <p:spPr>
          <a:xfrm>
            <a:off x="2153412" y="2194560"/>
            <a:ext cx="1444752" cy="914400"/>
          </a:xfrm>
          <a:prstGeom prst="roundRect">
            <a:avLst>
              <a:gd name="adj" fmla="val 8000"/>
            </a:avLst>
          </a:prstGeom>
          <a:solidFill>
            <a:schemeClr val="bg1"/>
          </a:solidFill>
          <a:ln w="12700">
            <a:solidFill>
              <a:srgbClr val="D5DCE8"/>
            </a:solidFill>
            <a:prstDash val="solid"/>
          </a:ln>
        </p:spPr>
      </p:sp>
      <p:pic>
        <p:nvPicPr>
          <p:cNvPr id="13" name="Image 1" descr="preencoded.png"/>
          <p:cNvPicPr>
            <a:picLocks noChangeAspect="1"/>
          </p:cNvPicPr>
          <p:nvPr/>
        </p:nvPicPr>
        <p:blipFill>
          <a:blip r:embed="rId4"/>
          <a:stretch>
            <a:fillRect/>
          </a:stretch>
        </p:blipFill>
        <p:spPr>
          <a:xfrm>
            <a:off x="2263140" y="2304288"/>
            <a:ext cx="310896" cy="310896"/>
          </a:xfrm>
          <a:prstGeom prst="rect">
            <a:avLst/>
          </a:prstGeom>
        </p:spPr>
      </p:pic>
      <p:sp>
        <p:nvSpPr>
          <p:cNvPr id="14" name="Text 9"/>
          <p:cNvSpPr txBox="1"/>
          <p:nvPr/>
        </p:nvSpPr>
        <p:spPr>
          <a:xfrm>
            <a:off x="2244852" y="2651760"/>
            <a:ext cx="1307592" cy="228600"/>
          </a:xfrm>
          <a:prstGeom prst="rect">
            <a:avLst/>
          </a:prstGeom>
          <a:noFill/>
          <a:ln/>
        </p:spPr>
        <p:txBody>
          <a:bodyPr wrap="square" lIns="0" tIns="0" rIns="0" bIns="0" rtlCol="0" anchor="t"/>
          <a:lstStyle/>
          <a:p>
            <a:pPr marL="0" indent="0">
              <a:buNone/>
            </a:pPr>
            <a:r>
              <a:rPr lang="en-US" sz="1250" b="1" dirty="0">
                <a:solidFill>
                  <a:schemeClr val="tx1"/>
                </a:solidFill>
              </a:rPr>
              <a:t>Django backend</a:t>
            </a:r>
            <a:endParaRPr lang="en-US" sz="1250" dirty="0"/>
          </a:p>
        </p:txBody>
      </p:sp>
      <p:sp>
        <p:nvSpPr>
          <p:cNvPr id="15" name="Text 10"/>
          <p:cNvSpPr txBox="1"/>
          <p:nvPr/>
        </p:nvSpPr>
        <p:spPr>
          <a:xfrm>
            <a:off x="2244852" y="2871216"/>
            <a:ext cx="1307592" cy="201168"/>
          </a:xfrm>
          <a:prstGeom prst="rect">
            <a:avLst/>
          </a:prstGeom>
          <a:noFill/>
          <a:ln/>
        </p:spPr>
        <p:txBody>
          <a:bodyPr wrap="square" lIns="0" tIns="0" rIns="0" bIns="0" rtlCol="0" anchor="t"/>
          <a:lstStyle/>
          <a:p>
            <a:pPr marL="0" indent="0">
              <a:buNone/>
            </a:pPr>
            <a:r>
              <a:rPr lang="en-US" sz="1100" dirty="0">
                <a:solidFill>
                  <a:schemeClr val="tx2"/>
                </a:solidFill>
              </a:rPr>
              <a:t>validates + stores</a:t>
            </a:r>
            <a:endParaRPr lang="en-US" sz="1100" dirty="0"/>
          </a:p>
        </p:txBody>
      </p:sp>
      <p:sp>
        <p:nvSpPr>
          <p:cNvPr id="16" name="Shape 11"/>
          <p:cNvSpPr/>
          <p:nvPr/>
        </p:nvSpPr>
        <p:spPr>
          <a:xfrm>
            <a:off x="3625596" y="2651760"/>
            <a:ext cx="196596" cy="0"/>
          </a:xfrm>
          <a:prstGeom prst="line">
            <a:avLst/>
          </a:prstGeom>
          <a:noFill/>
          <a:ln w="22225">
            <a:solidFill>
              <a:schemeClr val="accent1"/>
            </a:solidFill>
            <a:prstDash val="solid"/>
            <a:tailEnd type="triangle"/>
          </a:ln>
        </p:spPr>
      </p:sp>
      <p:sp>
        <p:nvSpPr>
          <p:cNvPr id="17" name="Shape 12"/>
          <p:cNvSpPr/>
          <p:nvPr/>
        </p:nvSpPr>
        <p:spPr>
          <a:xfrm>
            <a:off x="3849624" y="2194560"/>
            <a:ext cx="1444752" cy="914400"/>
          </a:xfrm>
          <a:prstGeom prst="roundRect">
            <a:avLst>
              <a:gd name="adj" fmla="val 8000"/>
            </a:avLst>
          </a:prstGeom>
          <a:solidFill>
            <a:schemeClr val="bg1"/>
          </a:solidFill>
          <a:ln w="12700">
            <a:solidFill>
              <a:srgbClr val="D5DCE8"/>
            </a:solidFill>
            <a:prstDash val="solid"/>
          </a:ln>
        </p:spPr>
      </p:sp>
      <p:pic>
        <p:nvPicPr>
          <p:cNvPr id="18" name="Image 2" descr="preencoded.png"/>
          <p:cNvPicPr>
            <a:picLocks noChangeAspect="1"/>
          </p:cNvPicPr>
          <p:nvPr/>
        </p:nvPicPr>
        <p:blipFill>
          <a:blip r:embed="rId5"/>
          <a:stretch>
            <a:fillRect/>
          </a:stretch>
        </p:blipFill>
        <p:spPr>
          <a:xfrm>
            <a:off x="3959352" y="2304288"/>
            <a:ext cx="310896" cy="310896"/>
          </a:xfrm>
          <a:prstGeom prst="rect">
            <a:avLst/>
          </a:prstGeom>
        </p:spPr>
      </p:pic>
      <p:sp>
        <p:nvSpPr>
          <p:cNvPr id="19" name="Text 13"/>
          <p:cNvSpPr txBox="1"/>
          <p:nvPr/>
        </p:nvSpPr>
        <p:spPr>
          <a:xfrm>
            <a:off x="3941064" y="2651760"/>
            <a:ext cx="1307592" cy="228600"/>
          </a:xfrm>
          <a:prstGeom prst="rect">
            <a:avLst/>
          </a:prstGeom>
          <a:noFill/>
          <a:ln/>
        </p:spPr>
        <p:txBody>
          <a:bodyPr wrap="square" lIns="0" tIns="0" rIns="0" bIns="0" rtlCol="0" anchor="t"/>
          <a:lstStyle/>
          <a:p>
            <a:pPr marL="0" indent="0">
              <a:buNone/>
            </a:pPr>
            <a:r>
              <a:rPr lang="en-US" sz="1250" b="1" dirty="0">
                <a:solidFill>
                  <a:schemeClr val="tx1"/>
                </a:solidFill>
              </a:rPr>
              <a:t>Django Channels</a:t>
            </a:r>
            <a:endParaRPr lang="en-US" sz="1250" dirty="0"/>
          </a:p>
        </p:txBody>
      </p:sp>
      <p:sp>
        <p:nvSpPr>
          <p:cNvPr id="20" name="Text 14"/>
          <p:cNvSpPr txBox="1"/>
          <p:nvPr/>
        </p:nvSpPr>
        <p:spPr>
          <a:xfrm>
            <a:off x="3941064" y="2871216"/>
            <a:ext cx="1307592" cy="201168"/>
          </a:xfrm>
          <a:prstGeom prst="rect">
            <a:avLst/>
          </a:prstGeom>
          <a:noFill/>
          <a:ln/>
        </p:spPr>
        <p:txBody>
          <a:bodyPr wrap="square" lIns="0" tIns="0" rIns="0" bIns="0" rtlCol="0" anchor="t"/>
          <a:lstStyle/>
          <a:p>
            <a:pPr marL="0" indent="0">
              <a:buNone/>
            </a:pPr>
            <a:r>
              <a:rPr lang="en-US" sz="1100" dirty="0">
                <a:solidFill>
                  <a:schemeClr val="tx2"/>
                </a:solidFill>
              </a:rPr>
              <a:t>WebSocket broadcast</a:t>
            </a:r>
            <a:endParaRPr lang="en-US" sz="1100" dirty="0"/>
          </a:p>
        </p:txBody>
      </p:sp>
      <p:sp>
        <p:nvSpPr>
          <p:cNvPr id="21" name="Shape 15"/>
          <p:cNvSpPr/>
          <p:nvPr/>
        </p:nvSpPr>
        <p:spPr>
          <a:xfrm>
            <a:off x="5321808" y="2651760"/>
            <a:ext cx="196596" cy="0"/>
          </a:xfrm>
          <a:prstGeom prst="line">
            <a:avLst/>
          </a:prstGeom>
          <a:noFill/>
          <a:ln w="22225">
            <a:solidFill>
              <a:schemeClr val="accent1"/>
            </a:solidFill>
            <a:prstDash val="solid"/>
            <a:tailEnd type="triangle"/>
          </a:ln>
        </p:spPr>
      </p:sp>
      <p:sp>
        <p:nvSpPr>
          <p:cNvPr id="22" name="Shape 16"/>
          <p:cNvSpPr/>
          <p:nvPr/>
        </p:nvSpPr>
        <p:spPr>
          <a:xfrm>
            <a:off x="5545836" y="2194560"/>
            <a:ext cx="1444752" cy="914400"/>
          </a:xfrm>
          <a:prstGeom prst="roundRect">
            <a:avLst>
              <a:gd name="adj" fmla="val 8000"/>
            </a:avLst>
          </a:prstGeom>
          <a:solidFill>
            <a:schemeClr val="bg1"/>
          </a:solidFill>
          <a:ln w="12700">
            <a:solidFill>
              <a:srgbClr val="D5DCE8"/>
            </a:solidFill>
            <a:prstDash val="solid"/>
          </a:ln>
        </p:spPr>
      </p:sp>
      <p:pic>
        <p:nvPicPr>
          <p:cNvPr id="23" name="Image 3" descr="preencoded.png"/>
          <p:cNvPicPr>
            <a:picLocks noChangeAspect="1"/>
          </p:cNvPicPr>
          <p:nvPr/>
        </p:nvPicPr>
        <p:blipFill>
          <a:blip r:embed="rId6"/>
          <a:stretch>
            <a:fillRect/>
          </a:stretch>
        </p:blipFill>
        <p:spPr>
          <a:xfrm>
            <a:off x="5655564" y="2304288"/>
            <a:ext cx="310896" cy="310896"/>
          </a:xfrm>
          <a:prstGeom prst="rect">
            <a:avLst/>
          </a:prstGeom>
        </p:spPr>
      </p:pic>
      <p:sp>
        <p:nvSpPr>
          <p:cNvPr id="24" name="Text 17"/>
          <p:cNvSpPr txBox="1"/>
          <p:nvPr/>
        </p:nvSpPr>
        <p:spPr>
          <a:xfrm>
            <a:off x="5637276" y="2651760"/>
            <a:ext cx="1307592" cy="228600"/>
          </a:xfrm>
          <a:prstGeom prst="rect">
            <a:avLst/>
          </a:prstGeom>
          <a:noFill/>
          <a:ln/>
        </p:spPr>
        <p:txBody>
          <a:bodyPr wrap="square" lIns="0" tIns="0" rIns="0" bIns="0" rtlCol="0" anchor="t"/>
          <a:lstStyle/>
          <a:p>
            <a:pPr marL="0" indent="0">
              <a:buNone/>
            </a:pPr>
            <a:r>
              <a:rPr lang="en-US" sz="1250" b="1" dirty="0">
                <a:solidFill>
                  <a:schemeClr val="tx1"/>
                </a:solidFill>
              </a:rPr>
              <a:t>Group dashboards</a:t>
            </a:r>
            <a:endParaRPr lang="en-US" sz="1250" dirty="0"/>
          </a:p>
        </p:txBody>
      </p:sp>
      <p:sp>
        <p:nvSpPr>
          <p:cNvPr id="25" name="Text 18"/>
          <p:cNvSpPr txBox="1"/>
          <p:nvPr/>
        </p:nvSpPr>
        <p:spPr>
          <a:xfrm>
            <a:off x="5637276" y="2871216"/>
            <a:ext cx="1307592" cy="201168"/>
          </a:xfrm>
          <a:prstGeom prst="rect">
            <a:avLst/>
          </a:prstGeom>
          <a:noFill/>
          <a:ln/>
        </p:spPr>
        <p:txBody>
          <a:bodyPr wrap="square" lIns="0" tIns="0" rIns="0" bIns="0" rtlCol="0" anchor="t"/>
          <a:lstStyle/>
          <a:p>
            <a:pPr marL="0" indent="0">
              <a:buNone/>
            </a:pPr>
            <a:r>
              <a:rPr lang="en-US" sz="1100" dirty="0">
                <a:solidFill>
                  <a:schemeClr val="tx2"/>
                </a:solidFill>
              </a:rPr>
              <a:t>every member</a:t>
            </a:r>
            <a:endParaRPr lang="en-US" sz="1100" dirty="0"/>
          </a:p>
        </p:txBody>
      </p:sp>
      <p:sp>
        <p:nvSpPr>
          <p:cNvPr id="26" name="Shape 19"/>
          <p:cNvSpPr/>
          <p:nvPr/>
        </p:nvSpPr>
        <p:spPr>
          <a:xfrm>
            <a:off x="7018020" y="2651760"/>
            <a:ext cx="196596" cy="0"/>
          </a:xfrm>
          <a:prstGeom prst="line">
            <a:avLst/>
          </a:prstGeom>
          <a:noFill/>
          <a:ln w="22225">
            <a:solidFill>
              <a:schemeClr val="accent1"/>
            </a:solidFill>
            <a:prstDash val="solid"/>
            <a:tailEnd type="triangle"/>
          </a:ln>
        </p:spPr>
      </p:sp>
      <p:sp>
        <p:nvSpPr>
          <p:cNvPr id="27" name="Shape 20"/>
          <p:cNvSpPr/>
          <p:nvPr/>
        </p:nvSpPr>
        <p:spPr>
          <a:xfrm>
            <a:off x="7242048" y="2194560"/>
            <a:ext cx="1444752" cy="914400"/>
          </a:xfrm>
          <a:prstGeom prst="roundRect">
            <a:avLst>
              <a:gd name="adj" fmla="val 8000"/>
            </a:avLst>
          </a:prstGeom>
          <a:solidFill>
            <a:schemeClr val="bg1"/>
          </a:solidFill>
          <a:ln w="12700">
            <a:solidFill>
              <a:srgbClr val="D5DCE8"/>
            </a:solidFill>
            <a:prstDash val="solid"/>
          </a:ln>
        </p:spPr>
      </p:sp>
      <p:pic>
        <p:nvPicPr>
          <p:cNvPr id="28" name="Image 4" descr="preencoded.png"/>
          <p:cNvPicPr>
            <a:picLocks noChangeAspect="1"/>
          </p:cNvPicPr>
          <p:nvPr/>
        </p:nvPicPr>
        <p:blipFill>
          <a:blip r:embed="rId7"/>
          <a:stretch>
            <a:fillRect/>
          </a:stretch>
        </p:blipFill>
        <p:spPr>
          <a:xfrm>
            <a:off x="7351776" y="2304288"/>
            <a:ext cx="310896" cy="310896"/>
          </a:xfrm>
          <a:prstGeom prst="rect">
            <a:avLst/>
          </a:prstGeom>
        </p:spPr>
      </p:pic>
      <p:sp>
        <p:nvSpPr>
          <p:cNvPr id="29" name="Text 21"/>
          <p:cNvSpPr txBox="1"/>
          <p:nvPr/>
        </p:nvSpPr>
        <p:spPr>
          <a:xfrm>
            <a:off x="7333488" y="2651760"/>
            <a:ext cx="1307592" cy="228600"/>
          </a:xfrm>
          <a:prstGeom prst="rect">
            <a:avLst/>
          </a:prstGeom>
          <a:noFill/>
          <a:ln/>
        </p:spPr>
        <p:txBody>
          <a:bodyPr wrap="square" lIns="0" tIns="0" rIns="0" bIns="0" rtlCol="0" anchor="t"/>
          <a:lstStyle/>
          <a:p>
            <a:pPr marL="0" indent="0">
              <a:buNone/>
            </a:pPr>
            <a:r>
              <a:rPr lang="en-US" sz="1250" b="1" dirty="0">
                <a:solidFill>
                  <a:schemeClr val="tx1"/>
                </a:solidFill>
              </a:rPr>
              <a:t>Google Maps</a:t>
            </a:r>
            <a:endParaRPr lang="en-US" sz="1250" dirty="0"/>
          </a:p>
        </p:txBody>
      </p:sp>
      <p:sp>
        <p:nvSpPr>
          <p:cNvPr id="30" name="Text 22"/>
          <p:cNvSpPr txBox="1"/>
          <p:nvPr/>
        </p:nvSpPr>
        <p:spPr>
          <a:xfrm>
            <a:off x="7333488" y="2871216"/>
            <a:ext cx="1307592" cy="201168"/>
          </a:xfrm>
          <a:prstGeom prst="rect">
            <a:avLst/>
          </a:prstGeom>
          <a:noFill/>
          <a:ln/>
        </p:spPr>
        <p:txBody>
          <a:bodyPr wrap="square" lIns="0" tIns="0" rIns="0" bIns="0" rtlCol="0" anchor="t"/>
          <a:lstStyle/>
          <a:p>
            <a:pPr marL="0" indent="0">
              <a:buNone/>
            </a:pPr>
            <a:r>
              <a:rPr lang="en-US" sz="1100" dirty="0">
                <a:solidFill>
                  <a:schemeClr val="tx2"/>
                </a:solidFill>
              </a:rPr>
              <a:t>rider markers</a:t>
            </a:r>
            <a:endParaRPr lang="en-US" sz="1100" dirty="0"/>
          </a:p>
        </p:txBody>
      </p:sp>
      <p:sp>
        <p:nvSpPr>
          <p:cNvPr id="31" name="Shape 23"/>
          <p:cNvSpPr/>
          <p:nvPr/>
        </p:nvSpPr>
        <p:spPr>
          <a:xfrm>
            <a:off x="457200" y="3337560"/>
            <a:ext cx="2651760" cy="1280160"/>
          </a:xfrm>
          <a:prstGeom prst="roundRect">
            <a:avLst>
              <a:gd name="adj" fmla="val 5714"/>
            </a:avLst>
          </a:prstGeom>
          <a:solidFill>
            <a:schemeClr val="bg2"/>
          </a:solidFill>
          <a:ln/>
        </p:spPr>
      </p:sp>
      <p:pic>
        <p:nvPicPr>
          <p:cNvPr id="32" name="Image 5" descr="preencoded.png"/>
          <p:cNvPicPr>
            <a:picLocks noChangeAspect="1"/>
          </p:cNvPicPr>
          <p:nvPr/>
        </p:nvPicPr>
        <p:blipFill>
          <a:blip r:embed="rId8"/>
          <a:stretch>
            <a:fillRect/>
          </a:stretch>
        </p:blipFill>
        <p:spPr>
          <a:xfrm>
            <a:off x="621792" y="3456432"/>
            <a:ext cx="274320" cy="274320"/>
          </a:xfrm>
          <a:prstGeom prst="rect">
            <a:avLst/>
          </a:prstGeom>
        </p:spPr>
      </p:pic>
      <p:sp>
        <p:nvSpPr>
          <p:cNvPr id="33" name="Text 24"/>
          <p:cNvSpPr txBox="1"/>
          <p:nvPr/>
        </p:nvSpPr>
        <p:spPr>
          <a:xfrm>
            <a:off x="1005840" y="3456432"/>
            <a:ext cx="2011680" cy="274320"/>
          </a:xfrm>
          <a:prstGeom prst="rect">
            <a:avLst/>
          </a:prstGeom>
          <a:noFill/>
          <a:ln/>
        </p:spPr>
        <p:txBody>
          <a:bodyPr wrap="square" lIns="0" tIns="0" rIns="0" bIns="0" rtlCol="0" anchor="ctr"/>
          <a:lstStyle/>
          <a:p>
            <a:pPr marL="0" indent="0">
              <a:buNone/>
            </a:pPr>
            <a:r>
              <a:rPr lang="en-US" sz="1400" b="1" dirty="0">
                <a:solidFill>
                  <a:schemeClr val="tx1"/>
                </a:solidFill>
              </a:rPr>
              <a:t>Safety features</a:t>
            </a:r>
            <a:endParaRPr lang="en-US" sz="1400" dirty="0"/>
          </a:p>
        </p:txBody>
      </p:sp>
      <p:sp>
        <p:nvSpPr>
          <p:cNvPr id="34" name="Text 25"/>
          <p:cNvSpPr txBox="1"/>
          <p:nvPr/>
        </p:nvSpPr>
        <p:spPr>
          <a:xfrm>
            <a:off x="621792" y="3813048"/>
            <a:ext cx="2359152" cy="777240"/>
          </a:xfrm>
          <a:prstGeom prst="rect">
            <a:avLst/>
          </a:prstGeom>
          <a:noFill/>
          <a:ln/>
        </p:spPr>
        <p:txBody>
          <a:bodyPr wrap="square" lIns="0" tIns="0" rIns="0" bIns="0" rtlCol="0" anchor="t"/>
          <a:lstStyle/>
          <a:p>
            <a:pPr marL="0" indent="0">
              <a:buNone/>
            </a:pPr>
            <a:r>
              <a:rPr lang="en-US" sz="1200" dirty="0">
                <a:solidFill>
                  <a:schemeClr val="tx2"/>
                </a:solidFill>
              </a:rPr>
              <a:t>Disconnect detection with last-known location, route deviation alert, SOS broadcast</a:t>
            </a:r>
            <a:endParaRPr lang="en-US" sz="1200" dirty="0"/>
          </a:p>
        </p:txBody>
      </p:sp>
      <p:sp>
        <p:nvSpPr>
          <p:cNvPr id="35" name="Shape 26"/>
          <p:cNvSpPr/>
          <p:nvPr/>
        </p:nvSpPr>
        <p:spPr>
          <a:xfrm>
            <a:off x="3246120" y="3337560"/>
            <a:ext cx="2651760" cy="1280160"/>
          </a:xfrm>
          <a:prstGeom prst="roundRect">
            <a:avLst>
              <a:gd name="adj" fmla="val 5714"/>
            </a:avLst>
          </a:prstGeom>
          <a:solidFill>
            <a:schemeClr val="bg2"/>
          </a:solidFill>
          <a:ln/>
        </p:spPr>
      </p:sp>
      <p:pic>
        <p:nvPicPr>
          <p:cNvPr id="36" name="Image 6" descr="preencoded.png"/>
          <p:cNvPicPr>
            <a:picLocks noChangeAspect="1"/>
          </p:cNvPicPr>
          <p:nvPr/>
        </p:nvPicPr>
        <p:blipFill>
          <a:blip r:embed="rId9"/>
          <a:stretch>
            <a:fillRect/>
          </a:stretch>
        </p:blipFill>
        <p:spPr>
          <a:xfrm>
            <a:off x="3410712" y="3456432"/>
            <a:ext cx="274320" cy="274320"/>
          </a:xfrm>
          <a:prstGeom prst="rect">
            <a:avLst/>
          </a:prstGeom>
        </p:spPr>
      </p:pic>
      <p:sp>
        <p:nvSpPr>
          <p:cNvPr id="37" name="Text 27"/>
          <p:cNvSpPr txBox="1"/>
          <p:nvPr/>
        </p:nvSpPr>
        <p:spPr>
          <a:xfrm>
            <a:off x="3794760" y="3456432"/>
            <a:ext cx="2011680" cy="274320"/>
          </a:xfrm>
          <a:prstGeom prst="rect">
            <a:avLst/>
          </a:prstGeom>
          <a:noFill/>
          <a:ln/>
        </p:spPr>
        <p:txBody>
          <a:bodyPr wrap="square" lIns="0" tIns="0" rIns="0" bIns="0" rtlCol="0" anchor="ctr"/>
          <a:lstStyle/>
          <a:p>
            <a:pPr marL="0" indent="0">
              <a:buNone/>
            </a:pPr>
            <a:r>
              <a:rPr lang="en-US" sz="1400" b="1" dirty="0">
                <a:solidFill>
                  <a:schemeClr val="tx1"/>
                </a:solidFill>
              </a:rPr>
              <a:t>Ride history</a:t>
            </a:r>
            <a:endParaRPr lang="en-US" sz="1400" dirty="0"/>
          </a:p>
        </p:txBody>
      </p:sp>
      <p:sp>
        <p:nvSpPr>
          <p:cNvPr id="38" name="Text 28"/>
          <p:cNvSpPr txBox="1"/>
          <p:nvPr/>
        </p:nvSpPr>
        <p:spPr>
          <a:xfrm>
            <a:off x="3410712" y="3813048"/>
            <a:ext cx="2359152" cy="777240"/>
          </a:xfrm>
          <a:prstGeom prst="rect">
            <a:avLst/>
          </a:prstGeom>
          <a:noFill/>
          <a:ln/>
        </p:spPr>
        <p:txBody>
          <a:bodyPr wrap="square" lIns="0" tIns="0" rIns="0" bIns="0" rtlCol="0" anchor="t"/>
          <a:lstStyle/>
          <a:p>
            <a:pPr marL="0" indent="0">
              <a:buNone/>
            </a:pPr>
            <a:r>
              <a:rPr lang="en-US" sz="1200" dirty="0">
                <a:solidFill>
                  <a:schemeClr val="tx2"/>
                </a:solidFill>
              </a:rPr>
              <a:t>Completed rides stored with route, travelled distance, duration and members</a:t>
            </a:r>
            <a:endParaRPr lang="en-US" sz="1200" dirty="0"/>
          </a:p>
        </p:txBody>
      </p:sp>
      <p:sp>
        <p:nvSpPr>
          <p:cNvPr id="39" name="Shape 29"/>
          <p:cNvSpPr/>
          <p:nvPr/>
        </p:nvSpPr>
        <p:spPr>
          <a:xfrm>
            <a:off x="6035040" y="3337560"/>
            <a:ext cx="2651760" cy="1280160"/>
          </a:xfrm>
          <a:prstGeom prst="roundRect">
            <a:avLst>
              <a:gd name="adj" fmla="val 5714"/>
            </a:avLst>
          </a:prstGeom>
          <a:solidFill>
            <a:schemeClr val="bg2"/>
          </a:solidFill>
          <a:ln/>
        </p:spPr>
      </p:sp>
      <p:pic>
        <p:nvPicPr>
          <p:cNvPr id="40" name="Image 7" descr="preencoded.png"/>
          <p:cNvPicPr>
            <a:picLocks noChangeAspect="1"/>
          </p:cNvPicPr>
          <p:nvPr/>
        </p:nvPicPr>
        <p:blipFill>
          <a:blip r:embed="rId10"/>
          <a:stretch>
            <a:fillRect/>
          </a:stretch>
        </p:blipFill>
        <p:spPr>
          <a:xfrm>
            <a:off x="6199632" y="3456432"/>
            <a:ext cx="274320" cy="274320"/>
          </a:xfrm>
          <a:prstGeom prst="rect">
            <a:avLst/>
          </a:prstGeom>
        </p:spPr>
      </p:pic>
      <p:sp>
        <p:nvSpPr>
          <p:cNvPr id="41" name="Text 30"/>
          <p:cNvSpPr txBox="1"/>
          <p:nvPr/>
        </p:nvSpPr>
        <p:spPr>
          <a:xfrm>
            <a:off x="6583680" y="3456432"/>
            <a:ext cx="2011680" cy="274320"/>
          </a:xfrm>
          <a:prstGeom prst="rect">
            <a:avLst/>
          </a:prstGeom>
          <a:noFill/>
          <a:ln/>
        </p:spPr>
        <p:txBody>
          <a:bodyPr wrap="square" lIns="0" tIns="0" rIns="0" bIns="0" rtlCol="0" anchor="ctr"/>
          <a:lstStyle/>
          <a:p>
            <a:pPr marL="0" indent="0">
              <a:buNone/>
            </a:pPr>
            <a:r>
              <a:rPr lang="en-US" sz="1400" b="1" dirty="0">
                <a:solidFill>
                  <a:schemeClr val="tx1"/>
                </a:solidFill>
              </a:rPr>
              <a:t>Built with</a:t>
            </a:r>
            <a:endParaRPr lang="en-US" sz="1400" dirty="0"/>
          </a:p>
        </p:txBody>
      </p:sp>
      <p:sp>
        <p:nvSpPr>
          <p:cNvPr id="42" name="Text 31"/>
          <p:cNvSpPr txBox="1"/>
          <p:nvPr/>
        </p:nvSpPr>
        <p:spPr>
          <a:xfrm>
            <a:off x="6199632" y="3813048"/>
            <a:ext cx="2359152" cy="777240"/>
          </a:xfrm>
          <a:prstGeom prst="rect">
            <a:avLst/>
          </a:prstGeom>
          <a:noFill/>
          <a:ln/>
        </p:spPr>
        <p:txBody>
          <a:bodyPr wrap="square" lIns="0" tIns="0" rIns="0" bIns="0" rtlCol="0" anchor="t"/>
          <a:lstStyle/>
          <a:p>
            <a:pPr marL="0" indent="0">
              <a:buNone/>
            </a:pPr>
            <a:r>
              <a:rPr lang="en-US" sz="1200" dirty="0">
                <a:solidFill>
                  <a:schemeClr val="tx2"/>
                </a:solidFill>
              </a:rPr>
              <a:t>Python, Django, Django Channels, SQLite, JavaScript, Google Maps JavaScript API</a:t>
            </a:r>
            <a:endParaRPr lang="en-US" sz="1200" dirty="0"/>
          </a:p>
        </p:txBody>
      </p:sp>
      <p:sp>
        <p:nvSpPr>
          <p:cNvPr id="4" name="Slide Number Placeholder 0"/>
          <p:cNvSpPr>
            <a:spLocks noGrp="1"/>
          </p:cNvSpPr>
          <p:nvPr>
            <p:ph type="sldNum" sz="quarter" idx="4294967295"/>
          </p:nvPr>
        </p:nvSpPr>
        <p:spPr>
          <a:xfrm>
            <a:off x="8138160" y="4791456"/>
            <a:ext cx="548640" cy="228600"/>
          </a:xfrm>
          <a:prstGeom prst="rect">
            <a:avLst/>
          </a:prstGeom>
          <a:extLst>
            <a:ext uri="{C572A759-6A51-4108-AA02-DFA0A04FC94B}">
              <ma14:wrappingTextBoxFlag xmlns:ma14="http://schemas.microsoft.com/office/mac/drawingml/2011/main" xmlns="" val="0"/>
            </a:ext>
          </a:extLst>
        </p:spPr>
        <p:txBody>
          <a:bodyPr/>
          <a:lstStyle>
            <a:lvl1pPr>
              <a:defRPr sz="1000">
                <a:solidFill>
                  <a:srgbClr val="475569"/>
                </a:solidFill>
              </a:defRPr>
            </a:lvl1pPr>
          </a:lstStyle>
          <a:p>
            <a:pPr algn="r"/>
            <a:fld id="{F7021451-1387-4CA6-816F-3879F97B5CBC}" type="slidenum">
              <a:rPr lang="en-US" b="0"/>
              <a:t>3</a:t>
            </a:fld>
            <a:endParaRPr 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457200" y="420624"/>
            <a:ext cx="8229600" cy="566928"/>
          </a:xfrm>
          <a:prstGeom prst="rect">
            <a:avLst/>
          </a:prstGeom>
          <a:noFill/>
          <a:ln/>
        </p:spPr>
        <p:txBody>
          <a:bodyPr wrap="square" lIns="0" tIns="0" rIns="0" bIns="0" rtlCol="0" anchor="ctr"/>
          <a:lstStyle/>
          <a:p>
            <a:pPr marL="0" indent="0" algn="l">
              <a:buNone/>
            </a:pPr>
            <a:r>
              <a:rPr lang="en-US" sz="2800" b="1" dirty="0">
                <a:solidFill>
                  <a:schemeClr val="tx1"/>
                </a:solidFill>
              </a:rPr>
              <a:t>The problem in one sentence</a:t>
            </a:r>
            <a:endParaRPr lang="en-US" sz="2800" dirty="0"/>
          </a:p>
        </p:txBody>
      </p:sp>
      <p:sp>
        <p:nvSpPr>
          <p:cNvPr id="3" name="Text 1"/>
          <p:cNvSpPr txBox="1"/>
          <p:nvPr/>
        </p:nvSpPr>
        <p:spPr>
          <a:xfrm>
            <a:off x="457200" y="219456"/>
            <a:ext cx="5486400" cy="182880"/>
          </a:xfrm>
          <a:prstGeom prst="rect">
            <a:avLst/>
          </a:prstGeom>
          <a:noFill/>
          <a:ln/>
        </p:spPr>
        <p:txBody>
          <a:bodyPr wrap="square" lIns="0" tIns="0" rIns="0" bIns="0" rtlCol="0" anchor="t"/>
          <a:lstStyle/>
          <a:p>
            <a:pPr marL="0" indent="0">
              <a:buNone/>
            </a:pPr>
            <a:r>
              <a:rPr lang="en-US" sz="1000" b="1" kern="0" spc="200" dirty="0">
                <a:solidFill>
                  <a:schemeClr val="accent1"/>
                </a:solidFill>
              </a:rPr>
              <a:t>PROBLEM STATEMENT</a:t>
            </a:r>
            <a:endParaRPr lang="en-US" sz="1000" dirty="0"/>
          </a:p>
        </p:txBody>
      </p:sp>
      <p:sp>
        <p:nvSpPr>
          <p:cNvPr id="5" name="Shape 2"/>
          <p:cNvSpPr/>
          <p:nvPr/>
        </p:nvSpPr>
        <p:spPr>
          <a:xfrm>
            <a:off x="457200" y="1188720"/>
            <a:ext cx="8229600" cy="1325880"/>
          </a:xfrm>
          <a:prstGeom prst="roundRect">
            <a:avLst>
              <a:gd name="adj" fmla="val 6897"/>
            </a:avLst>
          </a:prstGeom>
          <a:solidFill>
            <a:schemeClr val="tx1"/>
          </a:solidFill>
          <a:ln/>
        </p:spPr>
      </p:sp>
      <p:sp>
        <p:nvSpPr>
          <p:cNvPr id="6" name="Text 3"/>
          <p:cNvSpPr txBox="1"/>
          <p:nvPr/>
        </p:nvSpPr>
        <p:spPr>
          <a:xfrm>
            <a:off x="777240" y="1188720"/>
            <a:ext cx="7589520" cy="1325880"/>
          </a:xfrm>
          <a:prstGeom prst="rect">
            <a:avLst/>
          </a:prstGeom>
          <a:noFill/>
          <a:ln/>
        </p:spPr>
        <p:txBody>
          <a:bodyPr wrap="square" lIns="0" tIns="0" rIns="0" bIns="0" rtlCol="0" anchor="ctr"/>
          <a:lstStyle/>
          <a:p>
            <a:pPr marL="0" indent="0">
              <a:buNone/>
            </a:pPr>
            <a:r>
              <a:rPr lang="en-US" sz="1800" b="1" dirty="0">
                <a:solidFill>
                  <a:schemeClr val="bg1"/>
                </a:solidFill>
              </a:rPr>
              <a:t>During long group rides, continuously monitoring every rider and keeping awareness of the group's location is difficult with conventional messaging and navigation apps.</a:t>
            </a:r>
            <a:endParaRPr lang="en-US" sz="1800" dirty="0"/>
          </a:p>
        </p:txBody>
      </p:sp>
      <p:sp>
        <p:nvSpPr>
          <p:cNvPr id="7" name="Shape 4"/>
          <p:cNvSpPr/>
          <p:nvPr/>
        </p:nvSpPr>
        <p:spPr>
          <a:xfrm>
            <a:off x="457200" y="2788920"/>
            <a:ext cx="2651760" cy="1783080"/>
          </a:xfrm>
          <a:prstGeom prst="roundRect">
            <a:avLst>
              <a:gd name="adj" fmla="val 4103"/>
            </a:avLst>
          </a:prstGeom>
          <a:solidFill>
            <a:schemeClr val="bg1"/>
          </a:solidFill>
          <a:ln w="12700">
            <a:solidFill>
              <a:srgbClr val="D5DCE8"/>
            </a:solidFill>
            <a:prstDash val="solid"/>
          </a:ln>
        </p:spPr>
      </p:sp>
      <p:sp>
        <p:nvSpPr>
          <p:cNvPr id="8" name="Shape 5"/>
          <p:cNvSpPr/>
          <p:nvPr/>
        </p:nvSpPr>
        <p:spPr>
          <a:xfrm>
            <a:off x="640080" y="2944368"/>
            <a:ext cx="530352" cy="530352"/>
          </a:xfrm>
          <a:prstGeom prst="ellipse">
            <a:avLst/>
          </a:prstGeom>
          <a:solidFill>
            <a:schemeClr val="accent1">
              <a:alpha val="12000"/>
            </a:schemeClr>
          </a:solidFill>
          <a:ln/>
        </p:spPr>
      </p:sp>
      <p:pic>
        <p:nvPicPr>
          <p:cNvPr id="9" name="Image 0" descr="preencoded.png"/>
          <p:cNvPicPr>
            <a:picLocks noChangeAspect="1"/>
          </p:cNvPicPr>
          <p:nvPr/>
        </p:nvPicPr>
        <p:blipFill>
          <a:blip r:embed="rId3"/>
          <a:stretch>
            <a:fillRect/>
          </a:stretch>
        </p:blipFill>
        <p:spPr>
          <a:xfrm>
            <a:off x="777972" y="3082260"/>
            <a:ext cx="254569" cy="254569"/>
          </a:xfrm>
          <a:prstGeom prst="rect">
            <a:avLst/>
          </a:prstGeom>
        </p:spPr>
      </p:pic>
      <p:sp>
        <p:nvSpPr>
          <p:cNvPr id="10" name="Text 6"/>
          <p:cNvSpPr txBox="1"/>
          <p:nvPr/>
        </p:nvSpPr>
        <p:spPr>
          <a:xfrm>
            <a:off x="640080" y="3566160"/>
            <a:ext cx="2331720" cy="274320"/>
          </a:xfrm>
          <a:prstGeom prst="rect">
            <a:avLst/>
          </a:prstGeom>
          <a:noFill/>
          <a:ln/>
        </p:spPr>
        <p:txBody>
          <a:bodyPr wrap="square" lIns="0" tIns="0" rIns="0" bIns="0" rtlCol="0" anchor="t"/>
          <a:lstStyle/>
          <a:p>
            <a:pPr marL="0" indent="0">
              <a:buNone/>
            </a:pPr>
            <a:r>
              <a:rPr lang="en-US" sz="1500" b="1" dirty="0">
                <a:solidFill>
                  <a:schemeClr val="tx1"/>
                </a:solidFill>
              </a:rPr>
              <a:t>Riders drift apart</a:t>
            </a:r>
            <a:endParaRPr lang="en-US" sz="1500" dirty="0"/>
          </a:p>
        </p:txBody>
      </p:sp>
      <p:sp>
        <p:nvSpPr>
          <p:cNvPr id="11" name="Text 7"/>
          <p:cNvSpPr txBox="1"/>
          <p:nvPr/>
        </p:nvSpPr>
        <p:spPr>
          <a:xfrm>
            <a:off x="640080" y="3840480"/>
            <a:ext cx="2331720" cy="685800"/>
          </a:xfrm>
          <a:prstGeom prst="rect">
            <a:avLst/>
          </a:prstGeom>
          <a:noFill/>
          <a:ln/>
        </p:spPr>
        <p:txBody>
          <a:bodyPr wrap="square" lIns="0" tIns="0" rIns="0" bIns="0" rtlCol="0" anchor="t"/>
          <a:lstStyle/>
          <a:p>
            <a:pPr marL="0" indent="0">
              <a:buNone/>
            </a:pPr>
            <a:r>
              <a:rPr lang="en-US" sz="1200" dirty="0">
                <a:solidFill>
                  <a:schemeClr val="tx2"/>
                </a:solidFill>
              </a:rPr>
              <a:t>Group stretches over kilometres; a breakdown or wrong turn can go unnoticed.</a:t>
            </a:r>
            <a:endParaRPr lang="en-US" sz="1200" dirty="0"/>
          </a:p>
        </p:txBody>
      </p:sp>
      <p:sp>
        <p:nvSpPr>
          <p:cNvPr id="12" name="Shape 8"/>
          <p:cNvSpPr/>
          <p:nvPr/>
        </p:nvSpPr>
        <p:spPr>
          <a:xfrm>
            <a:off x="3246120" y="2788920"/>
            <a:ext cx="2651760" cy="1783080"/>
          </a:xfrm>
          <a:prstGeom prst="roundRect">
            <a:avLst>
              <a:gd name="adj" fmla="val 4103"/>
            </a:avLst>
          </a:prstGeom>
          <a:solidFill>
            <a:schemeClr val="bg1"/>
          </a:solidFill>
          <a:ln w="12700">
            <a:solidFill>
              <a:srgbClr val="D5DCE8"/>
            </a:solidFill>
            <a:prstDash val="solid"/>
          </a:ln>
        </p:spPr>
      </p:sp>
      <p:sp>
        <p:nvSpPr>
          <p:cNvPr id="13" name="Shape 9"/>
          <p:cNvSpPr/>
          <p:nvPr/>
        </p:nvSpPr>
        <p:spPr>
          <a:xfrm>
            <a:off x="3429000" y="2944368"/>
            <a:ext cx="530352" cy="530352"/>
          </a:xfrm>
          <a:prstGeom prst="ellipse">
            <a:avLst/>
          </a:prstGeom>
          <a:solidFill>
            <a:schemeClr val="accent1">
              <a:alpha val="12000"/>
            </a:schemeClr>
          </a:solidFill>
          <a:ln/>
        </p:spPr>
      </p:sp>
      <p:pic>
        <p:nvPicPr>
          <p:cNvPr id="14" name="Image 1" descr="preencoded.png"/>
          <p:cNvPicPr>
            <a:picLocks noChangeAspect="1"/>
          </p:cNvPicPr>
          <p:nvPr/>
        </p:nvPicPr>
        <p:blipFill>
          <a:blip r:embed="rId4"/>
          <a:stretch>
            <a:fillRect/>
          </a:stretch>
        </p:blipFill>
        <p:spPr>
          <a:xfrm>
            <a:off x="3566892" y="3082260"/>
            <a:ext cx="254569" cy="254569"/>
          </a:xfrm>
          <a:prstGeom prst="rect">
            <a:avLst/>
          </a:prstGeom>
        </p:spPr>
      </p:pic>
      <p:sp>
        <p:nvSpPr>
          <p:cNvPr id="15" name="Text 10"/>
          <p:cNvSpPr txBox="1"/>
          <p:nvPr/>
        </p:nvSpPr>
        <p:spPr>
          <a:xfrm>
            <a:off x="3429000" y="3566160"/>
            <a:ext cx="2331720" cy="274320"/>
          </a:xfrm>
          <a:prstGeom prst="rect">
            <a:avLst/>
          </a:prstGeom>
          <a:noFill/>
          <a:ln/>
        </p:spPr>
        <p:txBody>
          <a:bodyPr wrap="square" lIns="0" tIns="0" rIns="0" bIns="0" rtlCol="0" anchor="t"/>
          <a:lstStyle/>
          <a:p>
            <a:pPr marL="0" indent="0">
              <a:buNone/>
            </a:pPr>
            <a:r>
              <a:rPr lang="en-US" sz="1500" b="1" dirty="0">
                <a:solidFill>
                  <a:schemeClr val="tx1"/>
                </a:solidFill>
              </a:rPr>
              <a:t>No group-level view</a:t>
            </a:r>
            <a:endParaRPr lang="en-US" sz="1500" dirty="0"/>
          </a:p>
        </p:txBody>
      </p:sp>
      <p:sp>
        <p:nvSpPr>
          <p:cNvPr id="16" name="Text 11"/>
          <p:cNvSpPr txBox="1"/>
          <p:nvPr/>
        </p:nvSpPr>
        <p:spPr>
          <a:xfrm>
            <a:off x="3429000" y="3840480"/>
            <a:ext cx="2331720" cy="685800"/>
          </a:xfrm>
          <a:prstGeom prst="rect">
            <a:avLst/>
          </a:prstGeom>
          <a:noFill/>
          <a:ln/>
        </p:spPr>
        <p:txBody>
          <a:bodyPr wrap="square" lIns="0" tIns="0" rIns="0" bIns="0" rtlCol="0" anchor="t"/>
          <a:lstStyle/>
          <a:p>
            <a:pPr marL="0" indent="0">
              <a:buNone/>
            </a:pPr>
            <a:r>
              <a:rPr lang="en-US" sz="1200" dirty="0">
                <a:solidFill>
                  <a:schemeClr val="tx2"/>
                </a:solidFill>
              </a:rPr>
              <a:t>Each shared location is a separate item. No single map of the whole group.</a:t>
            </a:r>
            <a:endParaRPr lang="en-US" sz="1200" dirty="0"/>
          </a:p>
        </p:txBody>
      </p:sp>
      <p:sp>
        <p:nvSpPr>
          <p:cNvPr id="17" name="Shape 12"/>
          <p:cNvSpPr/>
          <p:nvPr/>
        </p:nvSpPr>
        <p:spPr>
          <a:xfrm>
            <a:off x="6035040" y="2788920"/>
            <a:ext cx="2651760" cy="1783080"/>
          </a:xfrm>
          <a:prstGeom prst="roundRect">
            <a:avLst>
              <a:gd name="adj" fmla="val 4103"/>
            </a:avLst>
          </a:prstGeom>
          <a:solidFill>
            <a:schemeClr val="bg1"/>
          </a:solidFill>
          <a:ln w="12700">
            <a:solidFill>
              <a:srgbClr val="D5DCE8"/>
            </a:solidFill>
            <a:prstDash val="solid"/>
          </a:ln>
        </p:spPr>
      </p:sp>
      <p:sp>
        <p:nvSpPr>
          <p:cNvPr id="18" name="Shape 13"/>
          <p:cNvSpPr/>
          <p:nvPr/>
        </p:nvSpPr>
        <p:spPr>
          <a:xfrm>
            <a:off x="6217920" y="2944368"/>
            <a:ext cx="530352" cy="530352"/>
          </a:xfrm>
          <a:prstGeom prst="ellipse">
            <a:avLst/>
          </a:prstGeom>
          <a:solidFill>
            <a:schemeClr val="accent1">
              <a:alpha val="12000"/>
            </a:schemeClr>
          </a:solidFill>
          <a:ln/>
        </p:spPr>
      </p:sp>
      <p:pic>
        <p:nvPicPr>
          <p:cNvPr id="19" name="Image 2" descr="preencoded.png"/>
          <p:cNvPicPr>
            <a:picLocks noChangeAspect="1"/>
          </p:cNvPicPr>
          <p:nvPr/>
        </p:nvPicPr>
        <p:blipFill>
          <a:blip r:embed="rId5"/>
          <a:stretch>
            <a:fillRect/>
          </a:stretch>
        </p:blipFill>
        <p:spPr>
          <a:xfrm>
            <a:off x="6355812" y="3082260"/>
            <a:ext cx="254569" cy="254569"/>
          </a:xfrm>
          <a:prstGeom prst="rect">
            <a:avLst/>
          </a:prstGeom>
        </p:spPr>
      </p:pic>
      <p:sp>
        <p:nvSpPr>
          <p:cNvPr id="20" name="Text 14"/>
          <p:cNvSpPr txBox="1"/>
          <p:nvPr/>
        </p:nvSpPr>
        <p:spPr>
          <a:xfrm>
            <a:off x="6217920" y="3566160"/>
            <a:ext cx="2331720" cy="274320"/>
          </a:xfrm>
          <a:prstGeom prst="rect">
            <a:avLst/>
          </a:prstGeom>
          <a:noFill/>
          <a:ln/>
        </p:spPr>
        <p:txBody>
          <a:bodyPr wrap="square" lIns="0" tIns="0" rIns="0" bIns="0" rtlCol="0" anchor="t"/>
          <a:lstStyle/>
          <a:p>
            <a:pPr marL="0" indent="0">
              <a:buNone/>
            </a:pPr>
            <a:r>
              <a:rPr lang="en-US" sz="1500" b="1" dirty="0">
                <a:solidFill>
                  <a:schemeClr val="tx1"/>
                </a:solidFill>
              </a:rPr>
              <a:t>No ride-level safety</a:t>
            </a:r>
            <a:endParaRPr lang="en-US" sz="1500" dirty="0"/>
          </a:p>
        </p:txBody>
      </p:sp>
      <p:sp>
        <p:nvSpPr>
          <p:cNvPr id="21" name="Text 15"/>
          <p:cNvSpPr txBox="1"/>
          <p:nvPr/>
        </p:nvSpPr>
        <p:spPr>
          <a:xfrm>
            <a:off x="6217920" y="3840480"/>
            <a:ext cx="2331720" cy="685800"/>
          </a:xfrm>
          <a:prstGeom prst="rect">
            <a:avLst/>
          </a:prstGeom>
          <a:noFill/>
          <a:ln/>
        </p:spPr>
        <p:txBody>
          <a:bodyPr wrap="square" lIns="0" tIns="0" rIns="0" bIns="0" rtlCol="0" anchor="t"/>
          <a:lstStyle/>
          <a:p>
            <a:pPr marL="0" indent="0">
              <a:buNone/>
            </a:pPr>
            <a:r>
              <a:rPr lang="en-US" sz="1200" dirty="0">
                <a:solidFill>
                  <a:schemeClr val="tx2"/>
                </a:solidFill>
              </a:rPr>
              <a:t>No built-in off-route or dropped-rider detection and no one-action group alert.</a:t>
            </a:r>
            <a:endParaRPr lang="en-US" sz="1200" dirty="0"/>
          </a:p>
        </p:txBody>
      </p:sp>
      <p:sp>
        <p:nvSpPr>
          <p:cNvPr id="25" name="Slide Number Placeholder 0"/>
          <p:cNvSpPr>
            <a:spLocks noGrp="1"/>
          </p:cNvSpPr>
          <p:nvPr>
            <p:ph type="sldNum" sz="quarter" idx="4294967295"/>
          </p:nvPr>
        </p:nvSpPr>
        <p:spPr>
          <a:xfrm>
            <a:off x="8138160" y="4791456"/>
            <a:ext cx="548640" cy="228600"/>
          </a:xfrm>
          <a:prstGeom prst="rect">
            <a:avLst/>
          </a:prstGeom>
          <a:extLst>
            <a:ext uri="{C572A759-6A51-4108-AA02-DFA0A04FC94B}">
              <ma14:wrappingTextBoxFlag xmlns:ma14="http://schemas.microsoft.com/office/mac/drawingml/2011/main" xmlns="" val="0"/>
            </a:ext>
          </a:extLst>
        </p:spPr>
        <p:txBody>
          <a:bodyPr/>
          <a:lstStyle>
            <a:lvl1pPr>
              <a:defRPr sz="1000">
                <a:solidFill>
                  <a:srgbClr val="475569"/>
                </a:solidFill>
              </a:defRPr>
            </a:lvl1pPr>
          </a:lstStyle>
          <a:p>
            <a:pPr algn="r"/>
            <a:fld id="{F7021451-1387-4CA6-816F-3879F97B5CBC}" type="slidenum">
              <a:rPr lang="en-US" b="0"/>
              <a:t>4</a:t>
            </a:fld>
            <a:endParaRPr lang="en-US"/>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457200" y="420624"/>
            <a:ext cx="8229600" cy="566928"/>
          </a:xfrm>
          <a:prstGeom prst="rect">
            <a:avLst/>
          </a:prstGeom>
          <a:noFill/>
          <a:ln/>
        </p:spPr>
        <p:txBody>
          <a:bodyPr wrap="square" lIns="0" tIns="0" rIns="0" bIns="0" rtlCol="0" anchor="ctr"/>
          <a:lstStyle/>
          <a:p>
            <a:pPr marL="0" indent="0" algn="l">
              <a:buNone/>
            </a:pPr>
            <a:r>
              <a:rPr lang="en-US" sz="2800" b="1" dirty="0">
                <a:solidFill>
                  <a:schemeClr val="tx1"/>
                </a:solidFill>
              </a:rPr>
              <a:t>What PackTrace sets out to do</a:t>
            </a:r>
            <a:endParaRPr lang="en-US" sz="2800" dirty="0"/>
          </a:p>
        </p:txBody>
      </p:sp>
      <p:sp>
        <p:nvSpPr>
          <p:cNvPr id="3" name="Text 1"/>
          <p:cNvSpPr txBox="1"/>
          <p:nvPr/>
        </p:nvSpPr>
        <p:spPr>
          <a:xfrm>
            <a:off x="457200" y="219456"/>
            <a:ext cx="5486400" cy="182880"/>
          </a:xfrm>
          <a:prstGeom prst="rect">
            <a:avLst/>
          </a:prstGeom>
          <a:noFill/>
          <a:ln/>
        </p:spPr>
        <p:txBody>
          <a:bodyPr wrap="square" lIns="0" tIns="0" rIns="0" bIns="0" rtlCol="0" anchor="t"/>
          <a:lstStyle/>
          <a:p>
            <a:pPr marL="0" indent="0">
              <a:buNone/>
            </a:pPr>
            <a:r>
              <a:rPr lang="en-US" sz="1000" b="1" kern="0" spc="200" dirty="0">
                <a:solidFill>
                  <a:schemeClr val="accent1"/>
                </a:solidFill>
              </a:rPr>
              <a:t>OBJECTIVES</a:t>
            </a:r>
            <a:endParaRPr lang="en-US" sz="1000" dirty="0"/>
          </a:p>
        </p:txBody>
      </p:sp>
      <p:sp>
        <p:nvSpPr>
          <p:cNvPr id="5" name="Shape 2"/>
          <p:cNvSpPr/>
          <p:nvPr/>
        </p:nvSpPr>
        <p:spPr>
          <a:xfrm>
            <a:off x="457200" y="1188720"/>
            <a:ext cx="1920240" cy="1600200"/>
          </a:xfrm>
          <a:prstGeom prst="roundRect">
            <a:avLst>
              <a:gd name="adj" fmla="val 4571"/>
            </a:avLst>
          </a:prstGeom>
          <a:solidFill>
            <a:schemeClr val="bg1"/>
          </a:solidFill>
          <a:ln w="12700">
            <a:solidFill>
              <a:srgbClr val="D5DCE8"/>
            </a:solidFill>
            <a:prstDash val="solid"/>
          </a:ln>
        </p:spPr>
      </p:sp>
      <p:sp>
        <p:nvSpPr>
          <p:cNvPr id="6" name="Shape 3"/>
          <p:cNvSpPr/>
          <p:nvPr/>
        </p:nvSpPr>
        <p:spPr>
          <a:xfrm>
            <a:off x="621792" y="1353312"/>
            <a:ext cx="457200" cy="457200"/>
          </a:xfrm>
          <a:prstGeom prst="ellipse">
            <a:avLst/>
          </a:prstGeom>
          <a:solidFill>
            <a:schemeClr val="accent1">
              <a:alpha val="12000"/>
            </a:schemeClr>
          </a:solidFill>
          <a:ln/>
        </p:spPr>
      </p:sp>
      <p:pic>
        <p:nvPicPr>
          <p:cNvPr id="7" name="Image 0" descr="preencoded.png"/>
          <p:cNvPicPr>
            <a:picLocks noChangeAspect="1"/>
          </p:cNvPicPr>
          <p:nvPr/>
        </p:nvPicPr>
        <p:blipFill>
          <a:blip r:embed="rId3"/>
          <a:stretch>
            <a:fillRect/>
          </a:stretch>
        </p:blipFill>
        <p:spPr>
          <a:xfrm>
            <a:off x="740664" y="1472184"/>
            <a:ext cx="219456" cy="219456"/>
          </a:xfrm>
          <a:prstGeom prst="rect">
            <a:avLst/>
          </a:prstGeom>
        </p:spPr>
      </p:pic>
      <p:sp>
        <p:nvSpPr>
          <p:cNvPr id="8" name="Text 4"/>
          <p:cNvSpPr txBox="1"/>
          <p:nvPr/>
        </p:nvSpPr>
        <p:spPr>
          <a:xfrm>
            <a:off x="1783080" y="1371600"/>
            <a:ext cx="457200" cy="274320"/>
          </a:xfrm>
          <a:prstGeom prst="rect">
            <a:avLst/>
          </a:prstGeom>
          <a:noFill/>
          <a:ln/>
        </p:spPr>
        <p:txBody>
          <a:bodyPr wrap="square" lIns="0" tIns="0" rIns="0" bIns="0" rtlCol="0" anchor="t"/>
          <a:lstStyle/>
          <a:p>
            <a:pPr marL="0" indent="0" algn="r">
              <a:buNone/>
            </a:pPr>
            <a:r>
              <a:rPr lang="en-US" sz="1400" b="1" dirty="0">
                <a:solidFill>
                  <a:schemeClr val="accent3"/>
                </a:solidFill>
              </a:rPr>
              <a:t>01</a:t>
            </a:r>
            <a:endParaRPr lang="en-US" sz="1400" dirty="0"/>
          </a:p>
        </p:txBody>
      </p:sp>
      <p:sp>
        <p:nvSpPr>
          <p:cNvPr id="9" name="Text 5"/>
          <p:cNvSpPr txBox="1"/>
          <p:nvPr/>
        </p:nvSpPr>
        <p:spPr>
          <a:xfrm>
            <a:off x="621792" y="1938528"/>
            <a:ext cx="1645920" cy="411480"/>
          </a:xfrm>
          <a:prstGeom prst="rect">
            <a:avLst/>
          </a:prstGeom>
          <a:noFill/>
          <a:ln/>
        </p:spPr>
        <p:txBody>
          <a:bodyPr wrap="square" lIns="0" tIns="0" rIns="0" bIns="0" rtlCol="0" anchor="t"/>
          <a:lstStyle/>
          <a:p>
            <a:pPr marL="0" indent="0">
              <a:buNone/>
            </a:pPr>
            <a:r>
              <a:rPr lang="en-US" sz="1400" b="1" dirty="0">
                <a:solidFill>
                  <a:schemeClr val="tx1"/>
                </a:solidFill>
              </a:rPr>
              <a:t>Real-time location sharing</a:t>
            </a:r>
            <a:endParaRPr lang="en-US" sz="1400" dirty="0"/>
          </a:p>
        </p:txBody>
      </p:sp>
      <p:sp>
        <p:nvSpPr>
          <p:cNvPr id="10" name="Text 6"/>
          <p:cNvSpPr txBox="1"/>
          <p:nvPr/>
        </p:nvSpPr>
        <p:spPr>
          <a:xfrm>
            <a:off x="621792" y="2331720"/>
            <a:ext cx="1645920" cy="411480"/>
          </a:xfrm>
          <a:prstGeom prst="rect">
            <a:avLst/>
          </a:prstGeom>
          <a:noFill/>
          <a:ln/>
        </p:spPr>
        <p:txBody>
          <a:bodyPr wrap="square" lIns="0" tIns="0" rIns="0" bIns="0" rtlCol="0" anchor="t"/>
          <a:lstStyle/>
          <a:p>
            <a:pPr marL="0" indent="0">
              <a:buNone/>
            </a:pPr>
            <a:r>
              <a:rPr lang="en-US" sz="1150" dirty="0">
                <a:solidFill>
                  <a:schemeClr val="tx2"/>
                </a:solidFill>
              </a:rPr>
              <a:t>Live GPS of every rider over WebSocket</a:t>
            </a:r>
            <a:endParaRPr lang="en-US" sz="1150" dirty="0"/>
          </a:p>
        </p:txBody>
      </p:sp>
      <p:sp>
        <p:nvSpPr>
          <p:cNvPr id="11" name="Shape 7"/>
          <p:cNvSpPr/>
          <p:nvPr/>
        </p:nvSpPr>
        <p:spPr>
          <a:xfrm>
            <a:off x="2560320" y="1188720"/>
            <a:ext cx="1920240" cy="1600200"/>
          </a:xfrm>
          <a:prstGeom prst="roundRect">
            <a:avLst>
              <a:gd name="adj" fmla="val 4571"/>
            </a:avLst>
          </a:prstGeom>
          <a:solidFill>
            <a:schemeClr val="bg1"/>
          </a:solidFill>
          <a:ln w="12700">
            <a:solidFill>
              <a:srgbClr val="D5DCE8"/>
            </a:solidFill>
            <a:prstDash val="solid"/>
          </a:ln>
        </p:spPr>
      </p:sp>
      <p:sp>
        <p:nvSpPr>
          <p:cNvPr id="12" name="Shape 8"/>
          <p:cNvSpPr/>
          <p:nvPr/>
        </p:nvSpPr>
        <p:spPr>
          <a:xfrm>
            <a:off x="2724912" y="1353312"/>
            <a:ext cx="457200" cy="457200"/>
          </a:xfrm>
          <a:prstGeom prst="ellipse">
            <a:avLst/>
          </a:prstGeom>
          <a:solidFill>
            <a:schemeClr val="accent1">
              <a:alpha val="12000"/>
            </a:schemeClr>
          </a:solidFill>
          <a:ln/>
        </p:spPr>
      </p:sp>
      <p:pic>
        <p:nvPicPr>
          <p:cNvPr id="13" name="Image 1" descr="preencoded.png"/>
          <p:cNvPicPr>
            <a:picLocks noChangeAspect="1"/>
          </p:cNvPicPr>
          <p:nvPr/>
        </p:nvPicPr>
        <p:blipFill>
          <a:blip r:embed="rId4"/>
          <a:stretch>
            <a:fillRect/>
          </a:stretch>
        </p:blipFill>
        <p:spPr>
          <a:xfrm>
            <a:off x="2843784" y="1472184"/>
            <a:ext cx="219456" cy="219456"/>
          </a:xfrm>
          <a:prstGeom prst="rect">
            <a:avLst/>
          </a:prstGeom>
        </p:spPr>
      </p:pic>
      <p:sp>
        <p:nvSpPr>
          <p:cNvPr id="14" name="Text 9"/>
          <p:cNvSpPr txBox="1"/>
          <p:nvPr/>
        </p:nvSpPr>
        <p:spPr>
          <a:xfrm>
            <a:off x="3886200" y="1371600"/>
            <a:ext cx="457200" cy="274320"/>
          </a:xfrm>
          <a:prstGeom prst="rect">
            <a:avLst/>
          </a:prstGeom>
          <a:noFill/>
          <a:ln/>
        </p:spPr>
        <p:txBody>
          <a:bodyPr wrap="square" lIns="0" tIns="0" rIns="0" bIns="0" rtlCol="0" anchor="t"/>
          <a:lstStyle/>
          <a:p>
            <a:pPr marL="0" indent="0" algn="r">
              <a:buNone/>
            </a:pPr>
            <a:r>
              <a:rPr lang="en-US" sz="1400" b="1" dirty="0">
                <a:solidFill>
                  <a:schemeClr val="accent3"/>
                </a:solidFill>
              </a:rPr>
              <a:t>02</a:t>
            </a:r>
            <a:endParaRPr lang="en-US" sz="1400" dirty="0"/>
          </a:p>
        </p:txBody>
      </p:sp>
      <p:sp>
        <p:nvSpPr>
          <p:cNvPr id="15" name="Text 10"/>
          <p:cNvSpPr txBox="1"/>
          <p:nvPr/>
        </p:nvSpPr>
        <p:spPr>
          <a:xfrm>
            <a:off x="2724912" y="1938528"/>
            <a:ext cx="1645920" cy="411480"/>
          </a:xfrm>
          <a:prstGeom prst="rect">
            <a:avLst/>
          </a:prstGeom>
          <a:noFill/>
          <a:ln/>
        </p:spPr>
        <p:txBody>
          <a:bodyPr wrap="square" lIns="0" tIns="0" rIns="0" bIns="0" rtlCol="0" anchor="t"/>
          <a:lstStyle/>
          <a:p>
            <a:pPr marL="0" indent="0">
              <a:buNone/>
            </a:pPr>
            <a:r>
              <a:rPr lang="en-US" sz="1400" b="1" dirty="0">
                <a:solidFill>
                  <a:schemeClr val="tx1"/>
                </a:solidFill>
              </a:rPr>
              <a:t>Create and join rides</a:t>
            </a:r>
            <a:endParaRPr lang="en-US" sz="1400" dirty="0"/>
          </a:p>
        </p:txBody>
      </p:sp>
      <p:sp>
        <p:nvSpPr>
          <p:cNvPr id="16" name="Text 11"/>
          <p:cNvSpPr txBox="1"/>
          <p:nvPr/>
        </p:nvSpPr>
        <p:spPr>
          <a:xfrm>
            <a:off x="2724912" y="2331720"/>
            <a:ext cx="1645920" cy="411480"/>
          </a:xfrm>
          <a:prstGeom prst="rect">
            <a:avLst/>
          </a:prstGeom>
          <a:noFill/>
          <a:ln/>
        </p:spPr>
        <p:txBody>
          <a:bodyPr wrap="square" lIns="0" tIns="0" rIns="0" bIns="0" rtlCol="0" anchor="t"/>
          <a:lstStyle/>
          <a:p>
            <a:pPr marL="0" indent="0">
              <a:buNone/>
            </a:pPr>
            <a:r>
              <a:rPr lang="en-US" sz="1150" dirty="0">
                <a:solidFill>
                  <a:schemeClr val="tx2"/>
                </a:solidFill>
              </a:rPr>
              <a:t>Ride groups with a unique join code</a:t>
            </a:r>
            <a:endParaRPr lang="en-US" sz="1150" dirty="0"/>
          </a:p>
        </p:txBody>
      </p:sp>
      <p:sp>
        <p:nvSpPr>
          <p:cNvPr id="17" name="Shape 12"/>
          <p:cNvSpPr/>
          <p:nvPr/>
        </p:nvSpPr>
        <p:spPr>
          <a:xfrm>
            <a:off x="4663440" y="1188720"/>
            <a:ext cx="1920240" cy="1600200"/>
          </a:xfrm>
          <a:prstGeom prst="roundRect">
            <a:avLst>
              <a:gd name="adj" fmla="val 4571"/>
            </a:avLst>
          </a:prstGeom>
          <a:solidFill>
            <a:schemeClr val="bg1"/>
          </a:solidFill>
          <a:ln w="12700">
            <a:solidFill>
              <a:srgbClr val="D5DCE8"/>
            </a:solidFill>
            <a:prstDash val="solid"/>
          </a:ln>
        </p:spPr>
      </p:sp>
      <p:sp>
        <p:nvSpPr>
          <p:cNvPr id="18" name="Shape 13"/>
          <p:cNvSpPr/>
          <p:nvPr/>
        </p:nvSpPr>
        <p:spPr>
          <a:xfrm>
            <a:off x="4828032" y="1353312"/>
            <a:ext cx="457200" cy="457200"/>
          </a:xfrm>
          <a:prstGeom prst="ellipse">
            <a:avLst/>
          </a:prstGeom>
          <a:solidFill>
            <a:schemeClr val="accent1">
              <a:alpha val="12000"/>
            </a:schemeClr>
          </a:solidFill>
          <a:ln/>
        </p:spPr>
      </p:sp>
      <p:pic>
        <p:nvPicPr>
          <p:cNvPr id="19" name="Image 2" descr="preencoded.png"/>
          <p:cNvPicPr>
            <a:picLocks noChangeAspect="1"/>
          </p:cNvPicPr>
          <p:nvPr/>
        </p:nvPicPr>
        <p:blipFill>
          <a:blip r:embed="rId5"/>
          <a:stretch>
            <a:fillRect/>
          </a:stretch>
        </p:blipFill>
        <p:spPr>
          <a:xfrm>
            <a:off x="4946904" y="1472184"/>
            <a:ext cx="219456" cy="219456"/>
          </a:xfrm>
          <a:prstGeom prst="rect">
            <a:avLst/>
          </a:prstGeom>
        </p:spPr>
      </p:pic>
      <p:sp>
        <p:nvSpPr>
          <p:cNvPr id="20" name="Text 14"/>
          <p:cNvSpPr txBox="1"/>
          <p:nvPr/>
        </p:nvSpPr>
        <p:spPr>
          <a:xfrm>
            <a:off x="5989320" y="1371600"/>
            <a:ext cx="457200" cy="274320"/>
          </a:xfrm>
          <a:prstGeom prst="rect">
            <a:avLst/>
          </a:prstGeom>
          <a:noFill/>
          <a:ln/>
        </p:spPr>
        <p:txBody>
          <a:bodyPr wrap="square" lIns="0" tIns="0" rIns="0" bIns="0" rtlCol="0" anchor="t"/>
          <a:lstStyle/>
          <a:p>
            <a:pPr marL="0" indent="0" algn="r">
              <a:buNone/>
            </a:pPr>
            <a:r>
              <a:rPr lang="en-US" sz="1400" b="1" dirty="0">
                <a:solidFill>
                  <a:schemeClr val="accent3"/>
                </a:solidFill>
              </a:rPr>
              <a:t>03</a:t>
            </a:r>
            <a:endParaRPr lang="en-US" sz="1400" dirty="0"/>
          </a:p>
        </p:txBody>
      </p:sp>
      <p:sp>
        <p:nvSpPr>
          <p:cNvPr id="21" name="Text 15"/>
          <p:cNvSpPr txBox="1"/>
          <p:nvPr/>
        </p:nvSpPr>
        <p:spPr>
          <a:xfrm>
            <a:off x="4828032" y="1938528"/>
            <a:ext cx="1645920" cy="411480"/>
          </a:xfrm>
          <a:prstGeom prst="rect">
            <a:avLst/>
          </a:prstGeom>
          <a:noFill/>
          <a:ln/>
        </p:spPr>
        <p:txBody>
          <a:bodyPr wrap="square" lIns="0" tIns="0" rIns="0" bIns="0" rtlCol="0" anchor="t"/>
          <a:lstStyle/>
          <a:p>
            <a:pPr marL="0" indent="0">
              <a:buNone/>
            </a:pPr>
            <a:r>
              <a:rPr lang="en-US" sz="1400" b="1" dirty="0">
                <a:solidFill>
                  <a:schemeClr val="tx1"/>
                </a:solidFill>
              </a:rPr>
              <a:t>Common map and route</a:t>
            </a:r>
            <a:endParaRPr lang="en-US" sz="1400" dirty="0"/>
          </a:p>
        </p:txBody>
      </p:sp>
      <p:sp>
        <p:nvSpPr>
          <p:cNvPr id="22" name="Text 16"/>
          <p:cNvSpPr txBox="1"/>
          <p:nvPr/>
        </p:nvSpPr>
        <p:spPr>
          <a:xfrm>
            <a:off x="4828032" y="2331720"/>
            <a:ext cx="1645920" cy="411480"/>
          </a:xfrm>
          <a:prstGeom prst="rect">
            <a:avLst/>
          </a:prstGeom>
          <a:noFill/>
          <a:ln/>
        </p:spPr>
        <p:txBody>
          <a:bodyPr wrap="square" lIns="0" tIns="0" rIns="0" bIns="0" rtlCol="0" anchor="t"/>
          <a:lstStyle/>
          <a:p>
            <a:pPr marL="0" indent="0">
              <a:buNone/>
            </a:pPr>
            <a:r>
              <a:rPr lang="en-US" sz="1150" dirty="0">
                <a:solidFill>
                  <a:schemeClr val="tx2"/>
                </a:solidFill>
              </a:rPr>
              <a:t>One Google Map with planned route and rider trails</a:t>
            </a:r>
            <a:endParaRPr lang="en-US" sz="1150" dirty="0"/>
          </a:p>
        </p:txBody>
      </p:sp>
      <p:sp>
        <p:nvSpPr>
          <p:cNvPr id="23" name="Shape 17"/>
          <p:cNvSpPr/>
          <p:nvPr/>
        </p:nvSpPr>
        <p:spPr>
          <a:xfrm>
            <a:off x="6766560" y="1188720"/>
            <a:ext cx="1920240" cy="1600200"/>
          </a:xfrm>
          <a:prstGeom prst="roundRect">
            <a:avLst>
              <a:gd name="adj" fmla="val 4571"/>
            </a:avLst>
          </a:prstGeom>
          <a:solidFill>
            <a:schemeClr val="bg1"/>
          </a:solidFill>
          <a:ln w="12700">
            <a:solidFill>
              <a:srgbClr val="D5DCE8"/>
            </a:solidFill>
            <a:prstDash val="solid"/>
          </a:ln>
        </p:spPr>
      </p:sp>
      <p:sp>
        <p:nvSpPr>
          <p:cNvPr id="24" name="Shape 18"/>
          <p:cNvSpPr/>
          <p:nvPr/>
        </p:nvSpPr>
        <p:spPr>
          <a:xfrm>
            <a:off x="6931152" y="1353312"/>
            <a:ext cx="457200" cy="457200"/>
          </a:xfrm>
          <a:prstGeom prst="ellipse">
            <a:avLst/>
          </a:prstGeom>
          <a:solidFill>
            <a:schemeClr val="accent1">
              <a:alpha val="12000"/>
            </a:schemeClr>
          </a:solidFill>
          <a:ln/>
        </p:spPr>
      </p:sp>
      <p:pic>
        <p:nvPicPr>
          <p:cNvPr id="25" name="Image 3" descr="preencoded.png"/>
          <p:cNvPicPr>
            <a:picLocks noChangeAspect="1"/>
          </p:cNvPicPr>
          <p:nvPr/>
        </p:nvPicPr>
        <p:blipFill>
          <a:blip r:embed="rId6"/>
          <a:stretch>
            <a:fillRect/>
          </a:stretch>
        </p:blipFill>
        <p:spPr>
          <a:xfrm>
            <a:off x="7050024" y="1472184"/>
            <a:ext cx="219456" cy="219456"/>
          </a:xfrm>
          <a:prstGeom prst="rect">
            <a:avLst/>
          </a:prstGeom>
        </p:spPr>
      </p:pic>
      <p:sp>
        <p:nvSpPr>
          <p:cNvPr id="26" name="Text 19"/>
          <p:cNvSpPr txBox="1"/>
          <p:nvPr/>
        </p:nvSpPr>
        <p:spPr>
          <a:xfrm>
            <a:off x="8092440" y="1371600"/>
            <a:ext cx="457200" cy="274320"/>
          </a:xfrm>
          <a:prstGeom prst="rect">
            <a:avLst/>
          </a:prstGeom>
          <a:noFill/>
          <a:ln/>
        </p:spPr>
        <p:txBody>
          <a:bodyPr wrap="square" lIns="0" tIns="0" rIns="0" bIns="0" rtlCol="0" anchor="t"/>
          <a:lstStyle/>
          <a:p>
            <a:pPr marL="0" indent="0" algn="r">
              <a:buNone/>
            </a:pPr>
            <a:r>
              <a:rPr lang="en-US" sz="1400" b="1" dirty="0">
                <a:solidFill>
                  <a:schemeClr val="accent3"/>
                </a:solidFill>
              </a:rPr>
              <a:t>04</a:t>
            </a:r>
            <a:endParaRPr lang="en-US" sz="1400" dirty="0"/>
          </a:p>
        </p:txBody>
      </p:sp>
      <p:sp>
        <p:nvSpPr>
          <p:cNvPr id="27" name="Text 20"/>
          <p:cNvSpPr txBox="1"/>
          <p:nvPr/>
        </p:nvSpPr>
        <p:spPr>
          <a:xfrm>
            <a:off x="6931152" y="1938528"/>
            <a:ext cx="1645920" cy="411480"/>
          </a:xfrm>
          <a:prstGeom prst="rect">
            <a:avLst/>
          </a:prstGeom>
          <a:noFill/>
          <a:ln/>
        </p:spPr>
        <p:txBody>
          <a:bodyPr wrap="square" lIns="0" tIns="0" rIns="0" bIns="0" rtlCol="0" anchor="t"/>
          <a:lstStyle/>
          <a:p>
            <a:pPr marL="0" indent="0">
              <a:buNone/>
            </a:pPr>
            <a:r>
              <a:rPr lang="en-US" sz="1400" b="1" dirty="0">
                <a:solidFill>
                  <a:schemeClr val="tx1"/>
                </a:solidFill>
              </a:rPr>
              <a:t>Disconnected-rider detection</a:t>
            </a:r>
            <a:endParaRPr lang="en-US" sz="1400" dirty="0"/>
          </a:p>
        </p:txBody>
      </p:sp>
      <p:sp>
        <p:nvSpPr>
          <p:cNvPr id="28" name="Text 21"/>
          <p:cNvSpPr txBox="1"/>
          <p:nvPr/>
        </p:nvSpPr>
        <p:spPr>
          <a:xfrm>
            <a:off x="6931152" y="2331720"/>
            <a:ext cx="1645920" cy="411480"/>
          </a:xfrm>
          <a:prstGeom prst="rect">
            <a:avLst/>
          </a:prstGeom>
          <a:noFill/>
          <a:ln/>
        </p:spPr>
        <p:txBody>
          <a:bodyPr wrap="square" lIns="0" tIns="0" rIns="0" bIns="0" rtlCol="0" anchor="t"/>
          <a:lstStyle/>
          <a:p>
            <a:pPr marL="0" indent="0">
              <a:buNone/>
            </a:pPr>
            <a:r>
              <a:rPr lang="en-US" sz="1150" dirty="0">
                <a:solidFill>
                  <a:schemeClr val="tx2"/>
                </a:solidFill>
              </a:rPr>
              <a:t>Mark the rider, keep the last known location</a:t>
            </a:r>
            <a:endParaRPr lang="en-US" sz="1150" dirty="0"/>
          </a:p>
        </p:txBody>
      </p:sp>
      <p:sp>
        <p:nvSpPr>
          <p:cNvPr id="29" name="Shape 22"/>
          <p:cNvSpPr/>
          <p:nvPr/>
        </p:nvSpPr>
        <p:spPr>
          <a:xfrm>
            <a:off x="457200" y="2971800"/>
            <a:ext cx="1920240" cy="1600200"/>
          </a:xfrm>
          <a:prstGeom prst="roundRect">
            <a:avLst>
              <a:gd name="adj" fmla="val 4571"/>
            </a:avLst>
          </a:prstGeom>
          <a:solidFill>
            <a:schemeClr val="bg1"/>
          </a:solidFill>
          <a:ln w="12700">
            <a:solidFill>
              <a:srgbClr val="D5DCE8"/>
            </a:solidFill>
            <a:prstDash val="solid"/>
          </a:ln>
        </p:spPr>
      </p:sp>
      <p:sp>
        <p:nvSpPr>
          <p:cNvPr id="30" name="Shape 23"/>
          <p:cNvSpPr/>
          <p:nvPr/>
        </p:nvSpPr>
        <p:spPr>
          <a:xfrm>
            <a:off x="621792" y="3136392"/>
            <a:ext cx="457200" cy="457200"/>
          </a:xfrm>
          <a:prstGeom prst="ellipse">
            <a:avLst/>
          </a:prstGeom>
          <a:solidFill>
            <a:schemeClr val="accent1">
              <a:alpha val="12000"/>
            </a:schemeClr>
          </a:solidFill>
          <a:ln/>
        </p:spPr>
      </p:sp>
      <p:pic>
        <p:nvPicPr>
          <p:cNvPr id="31" name="Image 4" descr="preencoded.png"/>
          <p:cNvPicPr>
            <a:picLocks noChangeAspect="1"/>
          </p:cNvPicPr>
          <p:nvPr/>
        </p:nvPicPr>
        <p:blipFill>
          <a:blip r:embed="rId7"/>
          <a:stretch>
            <a:fillRect/>
          </a:stretch>
        </p:blipFill>
        <p:spPr>
          <a:xfrm>
            <a:off x="740664" y="3255264"/>
            <a:ext cx="219456" cy="219456"/>
          </a:xfrm>
          <a:prstGeom prst="rect">
            <a:avLst/>
          </a:prstGeom>
        </p:spPr>
      </p:pic>
      <p:sp>
        <p:nvSpPr>
          <p:cNvPr id="32" name="Text 24"/>
          <p:cNvSpPr txBox="1"/>
          <p:nvPr/>
        </p:nvSpPr>
        <p:spPr>
          <a:xfrm>
            <a:off x="1783080" y="3154680"/>
            <a:ext cx="457200" cy="274320"/>
          </a:xfrm>
          <a:prstGeom prst="rect">
            <a:avLst/>
          </a:prstGeom>
          <a:noFill/>
          <a:ln/>
        </p:spPr>
        <p:txBody>
          <a:bodyPr wrap="square" lIns="0" tIns="0" rIns="0" bIns="0" rtlCol="0" anchor="t"/>
          <a:lstStyle/>
          <a:p>
            <a:pPr marL="0" indent="0" algn="r">
              <a:buNone/>
            </a:pPr>
            <a:r>
              <a:rPr lang="en-US" sz="1400" b="1" dirty="0">
                <a:solidFill>
                  <a:schemeClr val="accent3"/>
                </a:solidFill>
              </a:rPr>
              <a:t>05</a:t>
            </a:r>
            <a:endParaRPr lang="en-US" sz="1400" dirty="0"/>
          </a:p>
        </p:txBody>
      </p:sp>
      <p:sp>
        <p:nvSpPr>
          <p:cNvPr id="33" name="Text 25"/>
          <p:cNvSpPr txBox="1"/>
          <p:nvPr/>
        </p:nvSpPr>
        <p:spPr>
          <a:xfrm>
            <a:off x="621792" y="3721608"/>
            <a:ext cx="1645920" cy="411480"/>
          </a:xfrm>
          <a:prstGeom prst="rect">
            <a:avLst/>
          </a:prstGeom>
          <a:noFill/>
          <a:ln/>
        </p:spPr>
        <p:txBody>
          <a:bodyPr wrap="square" lIns="0" tIns="0" rIns="0" bIns="0" rtlCol="0" anchor="t"/>
          <a:lstStyle/>
          <a:p>
            <a:pPr marL="0" indent="0">
              <a:buNone/>
            </a:pPr>
            <a:r>
              <a:rPr lang="en-US" sz="1400" b="1" dirty="0">
                <a:solidFill>
                  <a:schemeClr val="tx1"/>
                </a:solidFill>
              </a:rPr>
              <a:t>Route deviation detection</a:t>
            </a:r>
            <a:endParaRPr lang="en-US" sz="1400" dirty="0"/>
          </a:p>
        </p:txBody>
      </p:sp>
      <p:sp>
        <p:nvSpPr>
          <p:cNvPr id="34" name="Text 26"/>
          <p:cNvSpPr txBox="1"/>
          <p:nvPr/>
        </p:nvSpPr>
        <p:spPr>
          <a:xfrm>
            <a:off x="621792" y="4114800"/>
            <a:ext cx="1645920" cy="411480"/>
          </a:xfrm>
          <a:prstGeom prst="rect">
            <a:avLst/>
          </a:prstGeom>
          <a:noFill/>
          <a:ln/>
        </p:spPr>
        <p:txBody>
          <a:bodyPr wrap="square" lIns="0" tIns="0" rIns="0" bIns="0" rtlCol="0" anchor="t"/>
          <a:lstStyle/>
          <a:p>
            <a:pPr marL="0" indent="0">
              <a:buNone/>
            </a:pPr>
            <a:r>
              <a:rPr lang="en-US" sz="1150" dirty="0">
                <a:solidFill>
                  <a:schemeClr val="tx2"/>
                </a:solidFill>
              </a:rPr>
              <a:t>Flag riders who leave the planned route</a:t>
            </a:r>
            <a:endParaRPr lang="en-US" sz="1150" dirty="0"/>
          </a:p>
        </p:txBody>
      </p:sp>
      <p:sp>
        <p:nvSpPr>
          <p:cNvPr id="35" name="Shape 27"/>
          <p:cNvSpPr/>
          <p:nvPr/>
        </p:nvSpPr>
        <p:spPr>
          <a:xfrm>
            <a:off x="2560320" y="2971800"/>
            <a:ext cx="1920240" cy="1600200"/>
          </a:xfrm>
          <a:prstGeom prst="roundRect">
            <a:avLst>
              <a:gd name="adj" fmla="val 4571"/>
            </a:avLst>
          </a:prstGeom>
          <a:solidFill>
            <a:schemeClr val="bg1"/>
          </a:solidFill>
          <a:ln w="12700">
            <a:solidFill>
              <a:srgbClr val="D5DCE8"/>
            </a:solidFill>
            <a:prstDash val="solid"/>
          </a:ln>
        </p:spPr>
      </p:sp>
      <p:sp>
        <p:nvSpPr>
          <p:cNvPr id="36" name="Shape 28"/>
          <p:cNvSpPr/>
          <p:nvPr/>
        </p:nvSpPr>
        <p:spPr>
          <a:xfrm>
            <a:off x="2724912" y="3136392"/>
            <a:ext cx="457200" cy="457200"/>
          </a:xfrm>
          <a:prstGeom prst="ellipse">
            <a:avLst/>
          </a:prstGeom>
          <a:solidFill>
            <a:schemeClr val="accent1">
              <a:alpha val="12000"/>
            </a:schemeClr>
          </a:solidFill>
          <a:ln/>
        </p:spPr>
      </p:sp>
      <p:pic>
        <p:nvPicPr>
          <p:cNvPr id="37" name="Image 5" descr="preencoded.png"/>
          <p:cNvPicPr>
            <a:picLocks noChangeAspect="1"/>
          </p:cNvPicPr>
          <p:nvPr/>
        </p:nvPicPr>
        <p:blipFill>
          <a:blip r:embed="rId8"/>
          <a:stretch>
            <a:fillRect/>
          </a:stretch>
        </p:blipFill>
        <p:spPr>
          <a:xfrm>
            <a:off x="2843784" y="3255264"/>
            <a:ext cx="219456" cy="219456"/>
          </a:xfrm>
          <a:prstGeom prst="rect">
            <a:avLst/>
          </a:prstGeom>
        </p:spPr>
      </p:pic>
      <p:sp>
        <p:nvSpPr>
          <p:cNvPr id="38" name="Text 29"/>
          <p:cNvSpPr txBox="1"/>
          <p:nvPr/>
        </p:nvSpPr>
        <p:spPr>
          <a:xfrm>
            <a:off x="3886200" y="3154680"/>
            <a:ext cx="457200" cy="274320"/>
          </a:xfrm>
          <a:prstGeom prst="rect">
            <a:avLst/>
          </a:prstGeom>
          <a:noFill/>
          <a:ln/>
        </p:spPr>
        <p:txBody>
          <a:bodyPr wrap="square" lIns="0" tIns="0" rIns="0" bIns="0" rtlCol="0" anchor="t"/>
          <a:lstStyle/>
          <a:p>
            <a:pPr marL="0" indent="0" algn="r">
              <a:buNone/>
            </a:pPr>
            <a:r>
              <a:rPr lang="en-US" sz="1400" b="1" dirty="0">
                <a:solidFill>
                  <a:schemeClr val="accent3"/>
                </a:solidFill>
              </a:rPr>
              <a:t>06</a:t>
            </a:r>
            <a:endParaRPr lang="en-US" sz="1400" dirty="0"/>
          </a:p>
        </p:txBody>
      </p:sp>
      <p:sp>
        <p:nvSpPr>
          <p:cNvPr id="39" name="Text 30"/>
          <p:cNvSpPr txBox="1"/>
          <p:nvPr/>
        </p:nvSpPr>
        <p:spPr>
          <a:xfrm>
            <a:off x="2724912" y="3721608"/>
            <a:ext cx="1645920" cy="411480"/>
          </a:xfrm>
          <a:prstGeom prst="rect">
            <a:avLst/>
          </a:prstGeom>
          <a:noFill/>
          <a:ln/>
        </p:spPr>
        <p:txBody>
          <a:bodyPr wrap="square" lIns="0" tIns="0" rIns="0" bIns="0" rtlCol="0" anchor="t"/>
          <a:lstStyle/>
          <a:p>
            <a:pPr marL="0" indent="0">
              <a:buNone/>
            </a:pPr>
            <a:r>
              <a:rPr lang="en-US" sz="1400" b="1" dirty="0">
                <a:solidFill>
                  <a:schemeClr val="tx1"/>
                </a:solidFill>
              </a:rPr>
              <a:t>SOS alert</a:t>
            </a:r>
            <a:endParaRPr lang="en-US" sz="1400" dirty="0"/>
          </a:p>
        </p:txBody>
      </p:sp>
      <p:sp>
        <p:nvSpPr>
          <p:cNvPr id="40" name="Text 31"/>
          <p:cNvSpPr txBox="1"/>
          <p:nvPr/>
        </p:nvSpPr>
        <p:spPr>
          <a:xfrm>
            <a:off x="2724912" y="4114800"/>
            <a:ext cx="1645920" cy="411480"/>
          </a:xfrm>
          <a:prstGeom prst="rect">
            <a:avLst/>
          </a:prstGeom>
          <a:noFill/>
          <a:ln/>
        </p:spPr>
        <p:txBody>
          <a:bodyPr wrap="square" lIns="0" tIns="0" rIns="0" bIns="0" rtlCol="0" anchor="t"/>
          <a:lstStyle/>
          <a:p>
            <a:pPr marL="0" indent="0">
              <a:buNone/>
            </a:pPr>
            <a:r>
              <a:rPr lang="en-US" sz="1150" dirty="0">
                <a:solidFill>
                  <a:schemeClr val="tx2"/>
                </a:solidFill>
              </a:rPr>
              <a:t>One action notifies the ride group</a:t>
            </a:r>
            <a:endParaRPr lang="en-US" sz="1150" dirty="0"/>
          </a:p>
        </p:txBody>
      </p:sp>
      <p:sp>
        <p:nvSpPr>
          <p:cNvPr id="41" name="Shape 32"/>
          <p:cNvSpPr/>
          <p:nvPr/>
        </p:nvSpPr>
        <p:spPr>
          <a:xfrm>
            <a:off x="4663440" y="2971800"/>
            <a:ext cx="1920240" cy="1600200"/>
          </a:xfrm>
          <a:prstGeom prst="roundRect">
            <a:avLst>
              <a:gd name="adj" fmla="val 4571"/>
            </a:avLst>
          </a:prstGeom>
          <a:solidFill>
            <a:schemeClr val="bg1"/>
          </a:solidFill>
          <a:ln w="12700">
            <a:solidFill>
              <a:srgbClr val="D5DCE8"/>
            </a:solidFill>
            <a:prstDash val="solid"/>
          </a:ln>
        </p:spPr>
      </p:sp>
      <p:sp>
        <p:nvSpPr>
          <p:cNvPr id="42" name="Shape 33"/>
          <p:cNvSpPr/>
          <p:nvPr/>
        </p:nvSpPr>
        <p:spPr>
          <a:xfrm>
            <a:off x="4828032" y="3136392"/>
            <a:ext cx="457200" cy="457200"/>
          </a:xfrm>
          <a:prstGeom prst="ellipse">
            <a:avLst/>
          </a:prstGeom>
          <a:solidFill>
            <a:schemeClr val="accent1">
              <a:alpha val="12000"/>
            </a:schemeClr>
          </a:solidFill>
          <a:ln/>
        </p:spPr>
      </p:sp>
      <p:pic>
        <p:nvPicPr>
          <p:cNvPr id="43" name="Image 6" descr="preencoded.png"/>
          <p:cNvPicPr>
            <a:picLocks noChangeAspect="1"/>
          </p:cNvPicPr>
          <p:nvPr/>
        </p:nvPicPr>
        <p:blipFill>
          <a:blip r:embed="rId9"/>
          <a:stretch>
            <a:fillRect/>
          </a:stretch>
        </p:blipFill>
        <p:spPr>
          <a:xfrm>
            <a:off x="4946904" y="3255264"/>
            <a:ext cx="219456" cy="219456"/>
          </a:xfrm>
          <a:prstGeom prst="rect">
            <a:avLst/>
          </a:prstGeom>
        </p:spPr>
      </p:pic>
      <p:sp>
        <p:nvSpPr>
          <p:cNvPr id="44" name="Text 34"/>
          <p:cNvSpPr txBox="1"/>
          <p:nvPr/>
        </p:nvSpPr>
        <p:spPr>
          <a:xfrm>
            <a:off x="5989320" y="3154680"/>
            <a:ext cx="457200" cy="274320"/>
          </a:xfrm>
          <a:prstGeom prst="rect">
            <a:avLst/>
          </a:prstGeom>
          <a:noFill/>
          <a:ln/>
        </p:spPr>
        <p:txBody>
          <a:bodyPr wrap="square" lIns="0" tIns="0" rIns="0" bIns="0" rtlCol="0" anchor="t"/>
          <a:lstStyle/>
          <a:p>
            <a:pPr marL="0" indent="0" algn="r">
              <a:buNone/>
            </a:pPr>
            <a:r>
              <a:rPr lang="en-US" sz="1400" b="1" dirty="0">
                <a:solidFill>
                  <a:schemeClr val="accent3"/>
                </a:solidFill>
              </a:rPr>
              <a:t>07</a:t>
            </a:r>
            <a:endParaRPr lang="en-US" sz="1400" dirty="0"/>
          </a:p>
        </p:txBody>
      </p:sp>
      <p:sp>
        <p:nvSpPr>
          <p:cNvPr id="45" name="Text 35"/>
          <p:cNvSpPr txBox="1"/>
          <p:nvPr/>
        </p:nvSpPr>
        <p:spPr>
          <a:xfrm>
            <a:off x="4828032" y="3721608"/>
            <a:ext cx="1645920" cy="411480"/>
          </a:xfrm>
          <a:prstGeom prst="rect">
            <a:avLst/>
          </a:prstGeom>
          <a:noFill/>
          <a:ln/>
        </p:spPr>
        <p:txBody>
          <a:bodyPr wrap="square" lIns="0" tIns="0" rIns="0" bIns="0" rtlCol="0" anchor="t"/>
          <a:lstStyle/>
          <a:p>
            <a:pPr marL="0" indent="0">
              <a:buNone/>
            </a:pPr>
            <a:r>
              <a:rPr lang="en-US" sz="1400" b="1" dirty="0">
                <a:solidFill>
                  <a:schemeClr val="tx1"/>
                </a:solidFill>
              </a:rPr>
              <a:t>History, login and admin</a:t>
            </a:r>
            <a:endParaRPr lang="en-US" sz="1400" dirty="0"/>
          </a:p>
        </p:txBody>
      </p:sp>
      <p:sp>
        <p:nvSpPr>
          <p:cNvPr id="46" name="Text 36"/>
          <p:cNvSpPr txBox="1"/>
          <p:nvPr/>
        </p:nvSpPr>
        <p:spPr>
          <a:xfrm>
            <a:off x="4828032" y="4114800"/>
            <a:ext cx="1645920" cy="411480"/>
          </a:xfrm>
          <a:prstGeom prst="rect">
            <a:avLst/>
          </a:prstGeom>
          <a:noFill/>
          <a:ln/>
        </p:spPr>
        <p:txBody>
          <a:bodyPr wrap="square" lIns="0" tIns="0" rIns="0" bIns="0" rtlCol="0" anchor="t"/>
          <a:lstStyle/>
          <a:p>
            <a:pPr marL="0" indent="0">
              <a:buNone/>
            </a:pPr>
            <a:r>
              <a:rPr lang="en-US" sz="1150" dirty="0">
                <a:solidFill>
                  <a:schemeClr val="tx2"/>
                </a:solidFill>
              </a:rPr>
              <a:t>Completed rides, secure authentication, administration</a:t>
            </a:r>
            <a:endParaRPr lang="en-US" sz="1150" dirty="0"/>
          </a:p>
        </p:txBody>
      </p:sp>
      <p:sp>
        <p:nvSpPr>
          <p:cNvPr id="47" name="Shape 37"/>
          <p:cNvSpPr/>
          <p:nvPr/>
        </p:nvSpPr>
        <p:spPr>
          <a:xfrm>
            <a:off x="6766560" y="2971800"/>
            <a:ext cx="1920240" cy="1600200"/>
          </a:xfrm>
          <a:prstGeom prst="roundRect">
            <a:avLst>
              <a:gd name="adj" fmla="val 4571"/>
            </a:avLst>
          </a:prstGeom>
          <a:solidFill>
            <a:schemeClr val="tx1"/>
          </a:solidFill>
          <a:ln/>
        </p:spPr>
      </p:sp>
      <p:sp>
        <p:nvSpPr>
          <p:cNvPr id="48" name="Text 38"/>
          <p:cNvSpPr txBox="1"/>
          <p:nvPr/>
        </p:nvSpPr>
        <p:spPr>
          <a:xfrm>
            <a:off x="6931152" y="3127248"/>
            <a:ext cx="1645920" cy="182880"/>
          </a:xfrm>
          <a:prstGeom prst="rect">
            <a:avLst/>
          </a:prstGeom>
          <a:noFill/>
          <a:ln/>
        </p:spPr>
        <p:txBody>
          <a:bodyPr wrap="square" lIns="0" tIns="0" rIns="0" bIns="0" rtlCol="0" anchor="t"/>
          <a:lstStyle/>
          <a:p>
            <a:pPr marL="0" indent="0">
              <a:buNone/>
            </a:pPr>
            <a:r>
              <a:rPr lang="en-US" sz="1000" b="1" kern="0" spc="100" dirty="0">
                <a:solidFill>
                  <a:schemeClr val="bg1"/>
                </a:solidFill>
              </a:rPr>
              <a:t>MAIN OBJECTIVE</a:t>
            </a:r>
            <a:endParaRPr lang="en-US" sz="1000" dirty="0"/>
          </a:p>
        </p:txBody>
      </p:sp>
      <p:sp>
        <p:nvSpPr>
          <p:cNvPr id="49" name="Text 39"/>
          <p:cNvSpPr txBox="1"/>
          <p:nvPr/>
        </p:nvSpPr>
        <p:spPr>
          <a:xfrm>
            <a:off x="6931152" y="3401568"/>
            <a:ext cx="1645920" cy="1097280"/>
          </a:xfrm>
          <a:prstGeom prst="rect">
            <a:avLst/>
          </a:prstGeom>
          <a:noFill/>
          <a:ln/>
        </p:spPr>
        <p:txBody>
          <a:bodyPr wrap="square" lIns="0" tIns="0" rIns="0" bIns="0" rtlCol="0" anchor="t"/>
          <a:lstStyle/>
          <a:p>
            <a:pPr marL="0" indent="0">
              <a:buNone/>
            </a:pPr>
            <a:r>
              <a:rPr lang="en-US" sz="1500" b="1" dirty="0">
                <a:solidFill>
                  <a:schemeClr val="bg1"/>
                </a:solidFill>
              </a:rPr>
              <a:t>One shared, real-time view of the whole ride</a:t>
            </a:r>
            <a:endParaRPr lang="en-US" sz="1500" dirty="0"/>
          </a:p>
        </p:txBody>
      </p:sp>
      <p:sp>
        <p:nvSpPr>
          <p:cNvPr id="4" name="Slide Number Placeholder 0"/>
          <p:cNvSpPr>
            <a:spLocks noGrp="1"/>
          </p:cNvSpPr>
          <p:nvPr>
            <p:ph type="sldNum" sz="quarter" idx="4294967295"/>
          </p:nvPr>
        </p:nvSpPr>
        <p:spPr>
          <a:xfrm>
            <a:off x="8138160" y="4791456"/>
            <a:ext cx="548640" cy="228600"/>
          </a:xfrm>
          <a:prstGeom prst="rect">
            <a:avLst/>
          </a:prstGeom>
          <a:extLst>
            <a:ext uri="{C572A759-6A51-4108-AA02-DFA0A04FC94B}">
              <ma14:wrappingTextBoxFlag xmlns:ma14="http://schemas.microsoft.com/office/mac/drawingml/2011/main" xmlns="" val="0"/>
            </a:ext>
          </a:extLst>
        </p:spPr>
        <p:txBody>
          <a:bodyPr/>
          <a:lstStyle>
            <a:lvl1pPr>
              <a:defRPr sz="1000">
                <a:solidFill>
                  <a:srgbClr val="475569"/>
                </a:solidFill>
              </a:defRPr>
            </a:lvl1pPr>
          </a:lstStyle>
          <a:p>
            <a:pPr algn="r"/>
            <a:fld id="{F7021451-1387-4CA6-816F-3879F97B5CBC}" type="slidenum">
              <a:rPr lang="en-US" b="0"/>
              <a:t>5</a:t>
            </a:fld>
            <a:endParaRPr lang="en-US"/>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457200" y="420624"/>
            <a:ext cx="8229600" cy="566928"/>
          </a:xfrm>
          <a:prstGeom prst="rect">
            <a:avLst/>
          </a:prstGeom>
          <a:noFill/>
          <a:ln/>
        </p:spPr>
        <p:txBody>
          <a:bodyPr wrap="square" lIns="0" tIns="0" rIns="0" bIns="0" rtlCol="0" anchor="ctr"/>
          <a:lstStyle/>
          <a:p>
            <a:pPr marL="0" indent="0" algn="l">
              <a:buNone/>
            </a:pPr>
            <a:r>
              <a:rPr lang="en-US" sz="2800" b="1" dirty="0">
                <a:solidFill>
                  <a:schemeClr val="tx1"/>
                </a:solidFill>
              </a:rPr>
              <a:t>How riding groups coordinate today</a:t>
            </a:r>
            <a:endParaRPr lang="en-US" sz="2800" dirty="0"/>
          </a:p>
        </p:txBody>
      </p:sp>
      <p:sp>
        <p:nvSpPr>
          <p:cNvPr id="3" name="Text 1"/>
          <p:cNvSpPr txBox="1"/>
          <p:nvPr/>
        </p:nvSpPr>
        <p:spPr>
          <a:xfrm>
            <a:off x="457200" y="219456"/>
            <a:ext cx="5486400" cy="182880"/>
          </a:xfrm>
          <a:prstGeom prst="rect">
            <a:avLst/>
          </a:prstGeom>
          <a:noFill/>
          <a:ln/>
        </p:spPr>
        <p:txBody>
          <a:bodyPr wrap="square" lIns="0" tIns="0" rIns="0" bIns="0" rtlCol="0" anchor="t"/>
          <a:lstStyle/>
          <a:p>
            <a:pPr marL="0" indent="0">
              <a:buNone/>
            </a:pPr>
            <a:r>
              <a:rPr lang="en-US" sz="1000" b="1" kern="0" spc="200" dirty="0">
                <a:solidFill>
                  <a:schemeClr val="accent1"/>
                </a:solidFill>
              </a:rPr>
              <a:t>EXISTING SYSTEM</a:t>
            </a:r>
            <a:endParaRPr lang="en-US" sz="1000" dirty="0"/>
          </a:p>
        </p:txBody>
      </p:sp>
      <p:sp>
        <p:nvSpPr>
          <p:cNvPr id="5" name="Shape 2"/>
          <p:cNvSpPr/>
          <p:nvPr/>
        </p:nvSpPr>
        <p:spPr>
          <a:xfrm>
            <a:off x="457200" y="1188720"/>
            <a:ext cx="2651760" cy="1143000"/>
          </a:xfrm>
          <a:prstGeom prst="roundRect">
            <a:avLst>
              <a:gd name="adj" fmla="val 6400"/>
            </a:avLst>
          </a:prstGeom>
          <a:solidFill>
            <a:schemeClr val="bg1"/>
          </a:solidFill>
          <a:ln w="12700">
            <a:solidFill>
              <a:srgbClr val="D5DCE8"/>
            </a:solidFill>
            <a:prstDash val="solid"/>
          </a:ln>
        </p:spPr>
      </p:sp>
      <p:sp>
        <p:nvSpPr>
          <p:cNvPr id="6" name="Shape 3"/>
          <p:cNvSpPr/>
          <p:nvPr/>
        </p:nvSpPr>
        <p:spPr>
          <a:xfrm>
            <a:off x="621792" y="1325880"/>
            <a:ext cx="457200" cy="457200"/>
          </a:xfrm>
          <a:prstGeom prst="ellipse">
            <a:avLst/>
          </a:prstGeom>
          <a:solidFill>
            <a:schemeClr val="accent1">
              <a:alpha val="12000"/>
            </a:schemeClr>
          </a:solidFill>
          <a:ln/>
        </p:spPr>
      </p:sp>
      <p:pic>
        <p:nvPicPr>
          <p:cNvPr id="7" name="Image 0" descr="preencoded.png"/>
          <p:cNvPicPr>
            <a:picLocks noChangeAspect="1"/>
          </p:cNvPicPr>
          <p:nvPr/>
        </p:nvPicPr>
        <p:blipFill>
          <a:blip r:embed="rId3"/>
          <a:stretch>
            <a:fillRect/>
          </a:stretch>
        </p:blipFill>
        <p:spPr>
          <a:xfrm>
            <a:off x="740664" y="1444752"/>
            <a:ext cx="219456" cy="219456"/>
          </a:xfrm>
          <a:prstGeom prst="rect">
            <a:avLst/>
          </a:prstGeom>
        </p:spPr>
      </p:pic>
      <p:sp>
        <p:nvSpPr>
          <p:cNvPr id="8" name="Text 4"/>
          <p:cNvSpPr txBox="1"/>
          <p:nvPr/>
        </p:nvSpPr>
        <p:spPr>
          <a:xfrm>
            <a:off x="1188720" y="1325880"/>
            <a:ext cx="1828800" cy="457200"/>
          </a:xfrm>
          <a:prstGeom prst="rect">
            <a:avLst/>
          </a:prstGeom>
          <a:noFill/>
          <a:ln/>
        </p:spPr>
        <p:txBody>
          <a:bodyPr wrap="square" lIns="0" tIns="0" rIns="0" bIns="0" rtlCol="0" anchor="ctr"/>
          <a:lstStyle/>
          <a:p>
            <a:pPr marL="0" indent="0">
              <a:buNone/>
            </a:pPr>
            <a:r>
              <a:rPr lang="en-US" sz="1400" b="1" dirty="0">
                <a:solidFill>
                  <a:schemeClr val="tx1"/>
                </a:solidFill>
              </a:rPr>
              <a:t>WhatsApp / Telegram</a:t>
            </a:r>
            <a:endParaRPr lang="en-US" sz="1400" dirty="0"/>
          </a:p>
        </p:txBody>
      </p:sp>
      <p:sp>
        <p:nvSpPr>
          <p:cNvPr id="9" name="Text 5"/>
          <p:cNvSpPr txBox="1"/>
          <p:nvPr/>
        </p:nvSpPr>
        <p:spPr>
          <a:xfrm>
            <a:off x="621792" y="1828800"/>
            <a:ext cx="2377440" cy="457200"/>
          </a:xfrm>
          <a:prstGeom prst="rect">
            <a:avLst/>
          </a:prstGeom>
          <a:noFill/>
          <a:ln/>
        </p:spPr>
        <p:txBody>
          <a:bodyPr wrap="square" lIns="0" tIns="0" rIns="0" bIns="0" rtlCol="0" anchor="t"/>
          <a:lstStyle/>
          <a:p>
            <a:pPr marL="0" indent="0">
              <a:buNone/>
            </a:pPr>
            <a:r>
              <a:rPr lang="en-US" sz="1150" dirty="0">
                <a:solidFill>
                  <a:schemeClr val="tx2"/>
                </a:solidFill>
              </a:rPr>
              <a:t>Live location shared into a chat for a limited time</a:t>
            </a:r>
            <a:endParaRPr lang="en-US" sz="1150" dirty="0"/>
          </a:p>
        </p:txBody>
      </p:sp>
      <p:sp>
        <p:nvSpPr>
          <p:cNvPr id="10" name="Shape 6"/>
          <p:cNvSpPr/>
          <p:nvPr/>
        </p:nvSpPr>
        <p:spPr>
          <a:xfrm>
            <a:off x="3246120" y="1188720"/>
            <a:ext cx="2651760" cy="1143000"/>
          </a:xfrm>
          <a:prstGeom prst="roundRect">
            <a:avLst>
              <a:gd name="adj" fmla="val 6400"/>
            </a:avLst>
          </a:prstGeom>
          <a:solidFill>
            <a:schemeClr val="bg1"/>
          </a:solidFill>
          <a:ln w="12700">
            <a:solidFill>
              <a:srgbClr val="D5DCE8"/>
            </a:solidFill>
            <a:prstDash val="solid"/>
          </a:ln>
        </p:spPr>
      </p:sp>
      <p:sp>
        <p:nvSpPr>
          <p:cNvPr id="11" name="Shape 7"/>
          <p:cNvSpPr/>
          <p:nvPr/>
        </p:nvSpPr>
        <p:spPr>
          <a:xfrm>
            <a:off x="3410712" y="1325880"/>
            <a:ext cx="457200" cy="457200"/>
          </a:xfrm>
          <a:prstGeom prst="ellipse">
            <a:avLst/>
          </a:prstGeom>
          <a:solidFill>
            <a:schemeClr val="accent1">
              <a:alpha val="12000"/>
            </a:schemeClr>
          </a:solidFill>
          <a:ln/>
        </p:spPr>
      </p:sp>
      <p:pic>
        <p:nvPicPr>
          <p:cNvPr id="12" name="Image 1" descr="preencoded.png"/>
          <p:cNvPicPr>
            <a:picLocks noChangeAspect="1"/>
          </p:cNvPicPr>
          <p:nvPr/>
        </p:nvPicPr>
        <p:blipFill>
          <a:blip r:embed="rId4"/>
          <a:stretch>
            <a:fillRect/>
          </a:stretch>
        </p:blipFill>
        <p:spPr>
          <a:xfrm>
            <a:off x="3529584" y="1444752"/>
            <a:ext cx="219456" cy="219456"/>
          </a:xfrm>
          <a:prstGeom prst="rect">
            <a:avLst/>
          </a:prstGeom>
        </p:spPr>
      </p:pic>
      <p:sp>
        <p:nvSpPr>
          <p:cNvPr id="13" name="Text 8"/>
          <p:cNvSpPr txBox="1"/>
          <p:nvPr/>
        </p:nvSpPr>
        <p:spPr>
          <a:xfrm>
            <a:off x="3977640" y="1325880"/>
            <a:ext cx="1828800" cy="457200"/>
          </a:xfrm>
          <a:prstGeom prst="rect">
            <a:avLst/>
          </a:prstGeom>
          <a:noFill/>
          <a:ln/>
        </p:spPr>
        <p:txBody>
          <a:bodyPr wrap="square" lIns="0" tIns="0" rIns="0" bIns="0" rtlCol="0" anchor="ctr"/>
          <a:lstStyle/>
          <a:p>
            <a:pPr marL="0" indent="0">
              <a:buNone/>
            </a:pPr>
            <a:r>
              <a:rPr lang="en-US" sz="1400" b="1" dirty="0">
                <a:solidFill>
                  <a:schemeClr val="tx1"/>
                </a:solidFill>
              </a:rPr>
              <a:t>Google Maps sharing</a:t>
            </a:r>
            <a:endParaRPr lang="en-US" sz="1400" dirty="0"/>
          </a:p>
        </p:txBody>
      </p:sp>
      <p:sp>
        <p:nvSpPr>
          <p:cNvPr id="14" name="Text 9"/>
          <p:cNvSpPr txBox="1"/>
          <p:nvPr/>
        </p:nvSpPr>
        <p:spPr>
          <a:xfrm>
            <a:off x="3410712" y="1828800"/>
            <a:ext cx="2377440" cy="457200"/>
          </a:xfrm>
          <a:prstGeom prst="rect">
            <a:avLst/>
          </a:prstGeom>
          <a:noFill/>
          <a:ln/>
        </p:spPr>
        <p:txBody>
          <a:bodyPr wrap="square" lIns="0" tIns="0" rIns="0" bIns="0" rtlCol="0" anchor="t"/>
          <a:lstStyle/>
          <a:p>
            <a:pPr marL="0" indent="0">
              <a:buNone/>
            </a:pPr>
            <a:r>
              <a:rPr lang="en-US" sz="1150" dirty="0">
                <a:solidFill>
                  <a:schemeClr val="tx2"/>
                </a:solidFill>
              </a:rPr>
              <a:t>Guides one user; shares position with selected contacts</a:t>
            </a:r>
            <a:endParaRPr lang="en-US" sz="1150" dirty="0"/>
          </a:p>
        </p:txBody>
      </p:sp>
      <p:sp>
        <p:nvSpPr>
          <p:cNvPr id="15" name="Shape 10"/>
          <p:cNvSpPr/>
          <p:nvPr/>
        </p:nvSpPr>
        <p:spPr>
          <a:xfrm>
            <a:off x="6035040" y="1188720"/>
            <a:ext cx="2651760" cy="1143000"/>
          </a:xfrm>
          <a:prstGeom prst="roundRect">
            <a:avLst>
              <a:gd name="adj" fmla="val 6400"/>
            </a:avLst>
          </a:prstGeom>
          <a:solidFill>
            <a:schemeClr val="bg1"/>
          </a:solidFill>
          <a:ln w="12700">
            <a:solidFill>
              <a:srgbClr val="D5DCE8"/>
            </a:solidFill>
            <a:prstDash val="solid"/>
          </a:ln>
        </p:spPr>
      </p:sp>
      <p:sp>
        <p:nvSpPr>
          <p:cNvPr id="16" name="Shape 11"/>
          <p:cNvSpPr/>
          <p:nvPr/>
        </p:nvSpPr>
        <p:spPr>
          <a:xfrm>
            <a:off x="6199632" y="1325880"/>
            <a:ext cx="457200" cy="457200"/>
          </a:xfrm>
          <a:prstGeom prst="ellipse">
            <a:avLst/>
          </a:prstGeom>
          <a:solidFill>
            <a:schemeClr val="accent1">
              <a:alpha val="12000"/>
            </a:schemeClr>
          </a:solidFill>
          <a:ln/>
        </p:spPr>
      </p:sp>
      <p:pic>
        <p:nvPicPr>
          <p:cNvPr id="17" name="Image 2" descr="preencoded.png"/>
          <p:cNvPicPr>
            <a:picLocks noChangeAspect="1"/>
          </p:cNvPicPr>
          <p:nvPr/>
        </p:nvPicPr>
        <p:blipFill>
          <a:blip r:embed="rId5"/>
          <a:stretch>
            <a:fillRect/>
          </a:stretch>
        </p:blipFill>
        <p:spPr>
          <a:xfrm>
            <a:off x="6318504" y="1444752"/>
            <a:ext cx="219456" cy="219456"/>
          </a:xfrm>
          <a:prstGeom prst="rect">
            <a:avLst/>
          </a:prstGeom>
        </p:spPr>
      </p:pic>
      <p:sp>
        <p:nvSpPr>
          <p:cNvPr id="18" name="Text 12"/>
          <p:cNvSpPr txBox="1"/>
          <p:nvPr/>
        </p:nvSpPr>
        <p:spPr>
          <a:xfrm>
            <a:off x="6766560" y="1325880"/>
            <a:ext cx="1828800" cy="457200"/>
          </a:xfrm>
          <a:prstGeom prst="rect">
            <a:avLst/>
          </a:prstGeom>
          <a:noFill/>
          <a:ln/>
        </p:spPr>
        <p:txBody>
          <a:bodyPr wrap="square" lIns="0" tIns="0" rIns="0" bIns="0" rtlCol="0" anchor="ctr"/>
          <a:lstStyle/>
          <a:p>
            <a:pPr marL="0" indent="0">
              <a:buNone/>
            </a:pPr>
            <a:r>
              <a:rPr lang="en-US" sz="1400" b="1" dirty="0">
                <a:solidFill>
                  <a:schemeClr val="tx1"/>
                </a:solidFill>
              </a:rPr>
              <a:t>Calls and messages</a:t>
            </a:r>
            <a:endParaRPr lang="en-US" sz="1400" dirty="0"/>
          </a:p>
        </p:txBody>
      </p:sp>
      <p:sp>
        <p:nvSpPr>
          <p:cNvPr id="19" name="Text 13"/>
          <p:cNvSpPr txBox="1"/>
          <p:nvPr/>
        </p:nvSpPr>
        <p:spPr>
          <a:xfrm>
            <a:off x="6199632" y="1828800"/>
            <a:ext cx="2377440" cy="457200"/>
          </a:xfrm>
          <a:prstGeom prst="rect">
            <a:avLst/>
          </a:prstGeom>
          <a:noFill/>
          <a:ln/>
        </p:spPr>
        <p:txBody>
          <a:bodyPr wrap="square" lIns="0" tIns="0" rIns="0" bIns="0" rtlCol="0" anchor="t"/>
          <a:lstStyle/>
          <a:p>
            <a:pPr marL="0" indent="0">
              <a:buNone/>
            </a:pPr>
            <a:r>
              <a:rPr lang="en-US" sz="1150" dirty="0">
                <a:solidFill>
                  <a:schemeClr val="tx2"/>
                </a:solidFill>
              </a:rPr>
              <a:t>Manual coordination, distracting while riding</a:t>
            </a:r>
            <a:endParaRPr lang="en-US" sz="1150" dirty="0"/>
          </a:p>
        </p:txBody>
      </p:sp>
      <p:sp>
        <p:nvSpPr>
          <p:cNvPr id="20" name="Text 14"/>
          <p:cNvSpPr txBox="1"/>
          <p:nvPr/>
        </p:nvSpPr>
        <p:spPr>
          <a:xfrm>
            <a:off x="457200" y="2560320"/>
            <a:ext cx="4572000" cy="182880"/>
          </a:xfrm>
          <a:prstGeom prst="rect">
            <a:avLst/>
          </a:prstGeom>
          <a:noFill/>
          <a:ln/>
        </p:spPr>
        <p:txBody>
          <a:bodyPr wrap="square" lIns="0" tIns="0" rIns="0" bIns="0" rtlCol="0" anchor="t"/>
          <a:lstStyle/>
          <a:p>
            <a:pPr marL="0" indent="0">
              <a:buNone/>
            </a:pPr>
            <a:r>
              <a:rPr lang="en-US" sz="1000" b="1" kern="0" spc="100" dirty="0">
                <a:solidFill>
                  <a:schemeClr val="accent4"/>
                </a:solidFill>
              </a:rPr>
              <a:t>LIMITATIONS FOR A GROUP RIDE</a:t>
            </a:r>
            <a:endParaRPr lang="en-US" sz="1000" dirty="0"/>
          </a:p>
        </p:txBody>
      </p:sp>
      <p:sp>
        <p:nvSpPr>
          <p:cNvPr id="21" name="Shape 15"/>
          <p:cNvSpPr/>
          <p:nvPr/>
        </p:nvSpPr>
        <p:spPr>
          <a:xfrm>
            <a:off x="457200" y="2834640"/>
            <a:ext cx="4069080" cy="475488"/>
          </a:xfrm>
          <a:prstGeom prst="roundRect">
            <a:avLst>
              <a:gd name="adj" fmla="val 15385"/>
            </a:avLst>
          </a:prstGeom>
          <a:solidFill>
            <a:schemeClr val="bg2"/>
          </a:solidFill>
          <a:ln/>
        </p:spPr>
      </p:sp>
      <p:pic>
        <p:nvPicPr>
          <p:cNvPr id="22" name="Image 3" descr="preencoded.png"/>
          <p:cNvPicPr>
            <a:picLocks noChangeAspect="1"/>
          </p:cNvPicPr>
          <p:nvPr/>
        </p:nvPicPr>
        <p:blipFill>
          <a:blip r:embed="rId6"/>
          <a:stretch>
            <a:fillRect/>
          </a:stretch>
        </p:blipFill>
        <p:spPr>
          <a:xfrm>
            <a:off x="612648" y="2962656"/>
            <a:ext cx="219456" cy="219456"/>
          </a:xfrm>
          <a:prstGeom prst="rect">
            <a:avLst/>
          </a:prstGeom>
        </p:spPr>
      </p:pic>
      <p:sp>
        <p:nvSpPr>
          <p:cNvPr id="23" name="Text 16"/>
          <p:cNvSpPr txBox="1"/>
          <p:nvPr/>
        </p:nvSpPr>
        <p:spPr>
          <a:xfrm>
            <a:off x="960120" y="2834640"/>
            <a:ext cx="3474720" cy="475488"/>
          </a:xfrm>
          <a:prstGeom prst="rect">
            <a:avLst/>
          </a:prstGeom>
          <a:noFill/>
          <a:ln/>
        </p:spPr>
        <p:txBody>
          <a:bodyPr wrap="square" lIns="0" tIns="0" rIns="0" bIns="0" rtlCol="0" anchor="ctr"/>
          <a:lstStyle/>
          <a:p>
            <a:pPr marL="0" indent="0">
              <a:buNone/>
            </a:pPr>
            <a:r>
              <a:rPr lang="en-US" sz="1300" dirty="0">
                <a:solidFill>
                  <a:schemeClr val="tx1"/>
                </a:solidFill>
              </a:rPr>
              <a:t>No single map that shows the whole group</a:t>
            </a:r>
            <a:endParaRPr lang="en-US" sz="1300" dirty="0"/>
          </a:p>
        </p:txBody>
      </p:sp>
      <p:sp>
        <p:nvSpPr>
          <p:cNvPr id="24" name="Shape 17"/>
          <p:cNvSpPr/>
          <p:nvPr/>
        </p:nvSpPr>
        <p:spPr>
          <a:xfrm>
            <a:off x="4617720" y="2834640"/>
            <a:ext cx="4069080" cy="475488"/>
          </a:xfrm>
          <a:prstGeom prst="roundRect">
            <a:avLst>
              <a:gd name="adj" fmla="val 15385"/>
            </a:avLst>
          </a:prstGeom>
          <a:solidFill>
            <a:schemeClr val="bg2"/>
          </a:solidFill>
          <a:ln/>
        </p:spPr>
      </p:sp>
      <p:pic>
        <p:nvPicPr>
          <p:cNvPr id="25" name="Image 4" descr="preencoded.png"/>
          <p:cNvPicPr>
            <a:picLocks noChangeAspect="1"/>
          </p:cNvPicPr>
          <p:nvPr/>
        </p:nvPicPr>
        <p:blipFill>
          <a:blip r:embed="rId6"/>
          <a:stretch>
            <a:fillRect/>
          </a:stretch>
        </p:blipFill>
        <p:spPr>
          <a:xfrm>
            <a:off x="4773168" y="2962656"/>
            <a:ext cx="219456" cy="219456"/>
          </a:xfrm>
          <a:prstGeom prst="rect">
            <a:avLst/>
          </a:prstGeom>
        </p:spPr>
      </p:pic>
      <p:sp>
        <p:nvSpPr>
          <p:cNvPr id="26" name="Text 18"/>
          <p:cNvSpPr txBox="1"/>
          <p:nvPr/>
        </p:nvSpPr>
        <p:spPr>
          <a:xfrm>
            <a:off x="5120640" y="2834640"/>
            <a:ext cx="3474720" cy="475488"/>
          </a:xfrm>
          <a:prstGeom prst="rect">
            <a:avLst/>
          </a:prstGeom>
          <a:noFill/>
          <a:ln/>
        </p:spPr>
        <p:txBody>
          <a:bodyPr wrap="square" lIns="0" tIns="0" rIns="0" bIns="0" rtlCol="0" anchor="ctr"/>
          <a:lstStyle/>
          <a:p>
            <a:pPr marL="0" indent="0">
              <a:buNone/>
            </a:pPr>
            <a:r>
              <a:rPr lang="en-US" sz="1300" dirty="0">
                <a:solidFill>
                  <a:schemeClr val="tx1"/>
                </a:solidFill>
              </a:rPr>
              <a:t>No ride concept: group code, leader, planned route</a:t>
            </a:r>
            <a:endParaRPr lang="en-US" sz="1300" dirty="0"/>
          </a:p>
        </p:txBody>
      </p:sp>
      <p:sp>
        <p:nvSpPr>
          <p:cNvPr id="27" name="Shape 19"/>
          <p:cNvSpPr/>
          <p:nvPr/>
        </p:nvSpPr>
        <p:spPr>
          <a:xfrm>
            <a:off x="457200" y="3401568"/>
            <a:ext cx="4069080" cy="475488"/>
          </a:xfrm>
          <a:prstGeom prst="roundRect">
            <a:avLst>
              <a:gd name="adj" fmla="val 15385"/>
            </a:avLst>
          </a:prstGeom>
          <a:solidFill>
            <a:schemeClr val="bg2"/>
          </a:solidFill>
          <a:ln/>
        </p:spPr>
      </p:sp>
      <p:pic>
        <p:nvPicPr>
          <p:cNvPr id="28" name="Image 5" descr="preencoded.png"/>
          <p:cNvPicPr>
            <a:picLocks noChangeAspect="1"/>
          </p:cNvPicPr>
          <p:nvPr/>
        </p:nvPicPr>
        <p:blipFill>
          <a:blip r:embed="rId6"/>
          <a:stretch>
            <a:fillRect/>
          </a:stretch>
        </p:blipFill>
        <p:spPr>
          <a:xfrm>
            <a:off x="612648" y="3529584"/>
            <a:ext cx="219456" cy="219456"/>
          </a:xfrm>
          <a:prstGeom prst="rect">
            <a:avLst/>
          </a:prstGeom>
        </p:spPr>
      </p:pic>
      <p:sp>
        <p:nvSpPr>
          <p:cNvPr id="29" name="Text 20"/>
          <p:cNvSpPr txBox="1"/>
          <p:nvPr/>
        </p:nvSpPr>
        <p:spPr>
          <a:xfrm>
            <a:off x="960120" y="3401568"/>
            <a:ext cx="3474720" cy="475488"/>
          </a:xfrm>
          <a:prstGeom prst="rect">
            <a:avLst/>
          </a:prstGeom>
          <a:noFill/>
          <a:ln/>
        </p:spPr>
        <p:txBody>
          <a:bodyPr wrap="square" lIns="0" tIns="0" rIns="0" bIns="0" rtlCol="0" anchor="ctr"/>
          <a:lstStyle/>
          <a:p>
            <a:pPr marL="0" indent="0">
              <a:buNone/>
            </a:pPr>
            <a:r>
              <a:rPr lang="en-US" sz="1300" dirty="0">
                <a:solidFill>
                  <a:schemeClr val="tx1"/>
                </a:solidFill>
              </a:rPr>
              <a:t>No built-in dropped-rider or off-route detection</a:t>
            </a:r>
            <a:endParaRPr lang="en-US" sz="1300" dirty="0"/>
          </a:p>
        </p:txBody>
      </p:sp>
      <p:sp>
        <p:nvSpPr>
          <p:cNvPr id="30" name="Shape 21"/>
          <p:cNvSpPr/>
          <p:nvPr/>
        </p:nvSpPr>
        <p:spPr>
          <a:xfrm>
            <a:off x="4617720" y="3401568"/>
            <a:ext cx="4069080" cy="475488"/>
          </a:xfrm>
          <a:prstGeom prst="roundRect">
            <a:avLst>
              <a:gd name="adj" fmla="val 15385"/>
            </a:avLst>
          </a:prstGeom>
          <a:solidFill>
            <a:schemeClr val="bg2"/>
          </a:solidFill>
          <a:ln/>
        </p:spPr>
      </p:sp>
      <p:pic>
        <p:nvPicPr>
          <p:cNvPr id="31" name="Image 6" descr="preencoded.png"/>
          <p:cNvPicPr>
            <a:picLocks noChangeAspect="1"/>
          </p:cNvPicPr>
          <p:nvPr/>
        </p:nvPicPr>
        <p:blipFill>
          <a:blip r:embed="rId6"/>
          <a:stretch>
            <a:fillRect/>
          </a:stretch>
        </p:blipFill>
        <p:spPr>
          <a:xfrm>
            <a:off x="4773168" y="3529584"/>
            <a:ext cx="219456" cy="219456"/>
          </a:xfrm>
          <a:prstGeom prst="rect">
            <a:avLst/>
          </a:prstGeom>
        </p:spPr>
      </p:pic>
      <p:sp>
        <p:nvSpPr>
          <p:cNvPr id="32" name="Text 22"/>
          <p:cNvSpPr txBox="1"/>
          <p:nvPr/>
        </p:nvSpPr>
        <p:spPr>
          <a:xfrm>
            <a:off x="5120640" y="3401568"/>
            <a:ext cx="3474720" cy="475488"/>
          </a:xfrm>
          <a:prstGeom prst="rect">
            <a:avLst/>
          </a:prstGeom>
          <a:noFill/>
          <a:ln/>
        </p:spPr>
        <p:txBody>
          <a:bodyPr wrap="square" lIns="0" tIns="0" rIns="0" bIns="0" rtlCol="0" anchor="ctr"/>
          <a:lstStyle/>
          <a:p>
            <a:pPr marL="0" indent="0">
              <a:buNone/>
            </a:pPr>
            <a:r>
              <a:rPr lang="en-US" sz="1300" dirty="0">
                <a:solidFill>
                  <a:schemeClr val="tx1"/>
                </a:solidFill>
              </a:rPr>
              <a:t>No one-action emergency alert to the group</a:t>
            </a:r>
            <a:endParaRPr lang="en-US" sz="1300" dirty="0"/>
          </a:p>
        </p:txBody>
      </p:sp>
      <p:sp>
        <p:nvSpPr>
          <p:cNvPr id="33" name="Shape 23"/>
          <p:cNvSpPr/>
          <p:nvPr/>
        </p:nvSpPr>
        <p:spPr>
          <a:xfrm>
            <a:off x="457200" y="3968496"/>
            <a:ext cx="4069080" cy="475488"/>
          </a:xfrm>
          <a:prstGeom prst="roundRect">
            <a:avLst>
              <a:gd name="adj" fmla="val 15385"/>
            </a:avLst>
          </a:prstGeom>
          <a:solidFill>
            <a:schemeClr val="bg2"/>
          </a:solidFill>
          <a:ln/>
        </p:spPr>
      </p:sp>
      <p:pic>
        <p:nvPicPr>
          <p:cNvPr id="34" name="Image 7" descr="preencoded.png"/>
          <p:cNvPicPr>
            <a:picLocks noChangeAspect="1"/>
          </p:cNvPicPr>
          <p:nvPr/>
        </p:nvPicPr>
        <p:blipFill>
          <a:blip r:embed="rId6"/>
          <a:stretch>
            <a:fillRect/>
          </a:stretch>
        </p:blipFill>
        <p:spPr>
          <a:xfrm>
            <a:off x="612648" y="4096512"/>
            <a:ext cx="219456" cy="219456"/>
          </a:xfrm>
          <a:prstGeom prst="rect">
            <a:avLst/>
          </a:prstGeom>
        </p:spPr>
      </p:pic>
      <p:sp>
        <p:nvSpPr>
          <p:cNvPr id="35" name="Text 24"/>
          <p:cNvSpPr txBox="1"/>
          <p:nvPr/>
        </p:nvSpPr>
        <p:spPr>
          <a:xfrm>
            <a:off x="960120" y="3968496"/>
            <a:ext cx="3474720" cy="475488"/>
          </a:xfrm>
          <a:prstGeom prst="rect">
            <a:avLst/>
          </a:prstGeom>
          <a:noFill/>
          <a:ln/>
        </p:spPr>
        <p:txBody>
          <a:bodyPr wrap="square" lIns="0" tIns="0" rIns="0" bIns="0" rtlCol="0" anchor="ctr"/>
          <a:lstStyle/>
          <a:p>
            <a:pPr marL="0" indent="0">
              <a:buNone/>
            </a:pPr>
            <a:r>
              <a:rPr lang="en-US" sz="1300" dirty="0">
                <a:solidFill>
                  <a:schemeClr val="tx1"/>
                </a:solidFill>
              </a:rPr>
              <a:t>No ride-specific history</a:t>
            </a:r>
            <a:endParaRPr lang="en-US" sz="1300" dirty="0"/>
          </a:p>
        </p:txBody>
      </p:sp>
      <p:sp>
        <p:nvSpPr>
          <p:cNvPr id="4" name="Slide Number Placeholder 0"/>
          <p:cNvSpPr>
            <a:spLocks noGrp="1"/>
          </p:cNvSpPr>
          <p:nvPr>
            <p:ph type="sldNum" sz="quarter" idx="4294967295"/>
          </p:nvPr>
        </p:nvSpPr>
        <p:spPr>
          <a:xfrm>
            <a:off x="8138160" y="4791456"/>
            <a:ext cx="548640" cy="228600"/>
          </a:xfrm>
          <a:prstGeom prst="rect">
            <a:avLst/>
          </a:prstGeom>
          <a:extLst>
            <a:ext uri="{C572A759-6A51-4108-AA02-DFA0A04FC94B}">
              <ma14:wrappingTextBoxFlag xmlns:ma14="http://schemas.microsoft.com/office/mac/drawingml/2011/main" xmlns="" val="0"/>
            </a:ext>
          </a:extLst>
        </p:spPr>
        <p:txBody>
          <a:bodyPr/>
          <a:lstStyle>
            <a:lvl1pPr>
              <a:defRPr sz="1000">
                <a:solidFill>
                  <a:srgbClr val="475569"/>
                </a:solidFill>
              </a:defRPr>
            </a:lvl1pPr>
          </a:lstStyle>
          <a:p>
            <a:pPr algn="r"/>
            <a:fld id="{F7021451-1387-4CA6-816F-3879F97B5CBC}" type="slidenum">
              <a:rPr lang="en-US" b="0"/>
              <a:t>6</a:t>
            </a:fld>
            <a:endParaRPr lang="en-US"/>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457200" y="420624"/>
            <a:ext cx="8229600" cy="566928"/>
          </a:xfrm>
          <a:prstGeom prst="rect">
            <a:avLst/>
          </a:prstGeom>
          <a:noFill/>
          <a:ln/>
        </p:spPr>
        <p:txBody>
          <a:bodyPr wrap="square" lIns="0" tIns="0" rIns="0" bIns="0" rtlCol="0" anchor="ctr"/>
          <a:lstStyle/>
          <a:p>
            <a:pPr marL="0" indent="0" algn="l">
              <a:buNone/>
            </a:pPr>
            <a:r>
              <a:rPr lang="en-US" sz="2800" b="1" dirty="0">
                <a:solidFill>
                  <a:schemeClr val="tx1"/>
                </a:solidFill>
              </a:rPr>
              <a:t>PackTrace: one ride, one map</a:t>
            </a:r>
            <a:endParaRPr lang="en-US" sz="2800" dirty="0"/>
          </a:p>
        </p:txBody>
      </p:sp>
      <p:sp>
        <p:nvSpPr>
          <p:cNvPr id="3" name="Text 1"/>
          <p:cNvSpPr txBox="1"/>
          <p:nvPr/>
        </p:nvSpPr>
        <p:spPr>
          <a:xfrm>
            <a:off x="457200" y="219456"/>
            <a:ext cx="5486400" cy="182880"/>
          </a:xfrm>
          <a:prstGeom prst="rect">
            <a:avLst/>
          </a:prstGeom>
          <a:noFill/>
          <a:ln/>
        </p:spPr>
        <p:txBody>
          <a:bodyPr wrap="square" lIns="0" tIns="0" rIns="0" bIns="0" rtlCol="0" anchor="t"/>
          <a:lstStyle/>
          <a:p>
            <a:pPr marL="0" indent="0">
              <a:buNone/>
            </a:pPr>
            <a:r>
              <a:rPr lang="en-US" sz="1000" b="1" kern="0" spc="200" dirty="0">
                <a:solidFill>
                  <a:schemeClr val="accent1"/>
                </a:solidFill>
              </a:rPr>
              <a:t>PROPOSED SYSTEM</a:t>
            </a:r>
            <a:endParaRPr lang="en-US" sz="1000" dirty="0"/>
          </a:p>
        </p:txBody>
      </p:sp>
      <p:sp>
        <p:nvSpPr>
          <p:cNvPr id="5" name="Shape 2"/>
          <p:cNvSpPr/>
          <p:nvPr/>
        </p:nvSpPr>
        <p:spPr>
          <a:xfrm>
            <a:off x="457200" y="1234440"/>
            <a:ext cx="1234440" cy="1097280"/>
          </a:xfrm>
          <a:prstGeom prst="roundRect">
            <a:avLst>
              <a:gd name="adj" fmla="val 6667"/>
            </a:avLst>
          </a:prstGeom>
          <a:solidFill>
            <a:schemeClr val="bg1"/>
          </a:solidFill>
          <a:ln w="12700">
            <a:solidFill>
              <a:srgbClr val="D5DCE8"/>
            </a:solidFill>
            <a:prstDash val="solid"/>
          </a:ln>
        </p:spPr>
      </p:sp>
      <p:pic>
        <p:nvPicPr>
          <p:cNvPr id="6" name="Image 0" descr="preencoded.png"/>
          <p:cNvPicPr>
            <a:picLocks noChangeAspect="1"/>
          </p:cNvPicPr>
          <p:nvPr/>
        </p:nvPicPr>
        <p:blipFill>
          <a:blip r:embed="rId3"/>
          <a:stretch>
            <a:fillRect/>
          </a:stretch>
        </p:blipFill>
        <p:spPr>
          <a:xfrm>
            <a:off x="891540" y="1371600"/>
            <a:ext cx="365760" cy="365760"/>
          </a:xfrm>
          <a:prstGeom prst="rect">
            <a:avLst/>
          </a:prstGeom>
        </p:spPr>
      </p:pic>
      <p:sp>
        <p:nvSpPr>
          <p:cNvPr id="7" name="Text 3"/>
          <p:cNvSpPr txBox="1"/>
          <p:nvPr/>
        </p:nvSpPr>
        <p:spPr>
          <a:xfrm>
            <a:off x="502920" y="1828800"/>
            <a:ext cx="1143000" cy="457200"/>
          </a:xfrm>
          <a:prstGeom prst="rect">
            <a:avLst/>
          </a:prstGeom>
          <a:noFill/>
          <a:ln/>
        </p:spPr>
        <p:txBody>
          <a:bodyPr wrap="square" lIns="0" tIns="0" rIns="0" bIns="0" rtlCol="0" anchor="t"/>
          <a:lstStyle/>
          <a:p>
            <a:pPr marL="0" indent="0" algn="ctr">
              <a:buNone/>
            </a:pPr>
            <a:r>
              <a:rPr lang="en-US" sz="1250" b="1" dirty="0">
                <a:solidFill>
                  <a:schemeClr val="tx1"/>
                </a:solidFill>
              </a:rPr>
              <a:t>Rider</a:t>
            </a:r>
            <a:endParaRPr lang="en-US" sz="1250" dirty="0"/>
          </a:p>
        </p:txBody>
      </p:sp>
      <p:sp>
        <p:nvSpPr>
          <p:cNvPr id="8" name="Shape 4"/>
          <p:cNvSpPr/>
          <p:nvPr/>
        </p:nvSpPr>
        <p:spPr>
          <a:xfrm>
            <a:off x="1700784" y="1783080"/>
            <a:ext cx="146304" cy="0"/>
          </a:xfrm>
          <a:prstGeom prst="line">
            <a:avLst/>
          </a:prstGeom>
          <a:noFill/>
          <a:ln w="22225">
            <a:solidFill>
              <a:schemeClr val="accent1"/>
            </a:solidFill>
            <a:prstDash val="solid"/>
            <a:tailEnd type="triangle"/>
          </a:ln>
        </p:spPr>
      </p:sp>
      <p:sp>
        <p:nvSpPr>
          <p:cNvPr id="9" name="Shape 5"/>
          <p:cNvSpPr/>
          <p:nvPr/>
        </p:nvSpPr>
        <p:spPr>
          <a:xfrm>
            <a:off x="1856232" y="1234440"/>
            <a:ext cx="1234440" cy="1097280"/>
          </a:xfrm>
          <a:prstGeom prst="roundRect">
            <a:avLst>
              <a:gd name="adj" fmla="val 6667"/>
            </a:avLst>
          </a:prstGeom>
          <a:solidFill>
            <a:schemeClr val="bg1"/>
          </a:solidFill>
          <a:ln w="12700">
            <a:solidFill>
              <a:srgbClr val="D5DCE8"/>
            </a:solidFill>
            <a:prstDash val="solid"/>
          </a:ln>
        </p:spPr>
      </p:sp>
      <p:pic>
        <p:nvPicPr>
          <p:cNvPr id="10" name="Image 1" descr="preencoded.png"/>
          <p:cNvPicPr>
            <a:picLocks noChangeAspect="1"/>
          </p:cNvPicPr>
          <p:nvPr/>
        </p:nvPicPr>
        <p:blipFill>
          <a:blip r:embed="rId4"/>
          <a:stretch>
            <a:fillRect/>
          </a:stretch>
        </p:blipFill>
        <p:spPr>
          <a:xfrm>
            <a:off x="2290572" y="1371600"/>
            <a:ext cx="365760" cy="365760"/>
          </a:xfrm>
          <a:prstGeom prst="rect">
            <a:avLst/>
          </a:prstGeom>
        </p:spPr>
      </p:pic>
      <p:sp>
        <p:nvSpPr>
          <p:cNvPr id="11" name="Text 6"/>
          <p:cNvSpPr txBox="1"/>
          <p:nvPr/>
        </p:nvSpPr>
        <p:spPr>
          <a:xfrm>
            <a:off x="1901952" y="1828800"/>
            <a:ext cx="1143000" cy="457200"/>
          </a:xfrm>
          <a:prstGeom prst="rect">
            <a:avLst/>
          </a:prstGeom>
          <a:noFill/>
          <a:ln/>
        </p:spPr>
        <p:txBody>
          <a:bodyPr wrap="square" lIns="0" tIns="0" rIns="0" bIns="0" rtlCol="0" anchor="t"/>
          <a:lstStyle/>
          <a:p>
            <a:pPr marL="0" indent="0" algn="ctr">
              <a:buNone/>
            </a:pPr>
            <a:r>
              <a:rPr lang="en-US" sz="1250" b="1" dirty="0">
                <a:solidFill>
                  <a:schemeClr val="tx1"/>
                </a:solidFill>
              </a:rPr>
              <a:t>GPS</a:t>
            </a:r>
            <a:endParaRPr lang="en-US" sz="1250" dirty="0"/>
          </a:p>
        </p:txBody>
      </p:sp>
      <p:sp>
        <p:nvSpPr>
          <p:cNvPr id="12" name="Shape 7"/>
          <p:cNvSpPr/>
          <p:nvPr/>
        </p:nvSpPr>
        <p:spPr>
          <a:xfrm>
            <a:off x="3099816" y="1783080"/>
            <a:ext cx="146304" cy="0"/>
          </a:xfrm>
          <a:prstGeom prst="line">
            <a:avLst/>
          </a:prstGeom>
          <a:noFill/>
          <a:ln w="22225">
            <a:solidFill>
              <a:schemeClr val="accent1"/>
            </a:solidFill>
            <a:prstDash val="solid"/>
            <a:tailEnd type="triangle"/>
          </a:ln>
        </p:spPr>
      </p:sp>
      <p:sp>
        <p:nvSpPr>
          <p:cNvPr id="13" name="Shape 8"/>
          <p:cNvSpPr/>
          <p:nvPr/>
        </p:nvSpPr>
        <p:spPr>
          <a:xfrm>
            <a:off x="3255264" y="1234440"/>
            <a:ext cx="1234440" cy="1097280"/>
          </a:xfrm>
          <a:prstGeom prst="roundRect">
            <a:avLst>
              <a:gd name="adj" fmla="val 6667"/>
            </a:avLst>
          </a:prstGeom>
          <a:solidFill>
            <a:schemeClr val="bg1"/>
          </a:solidFill>
          <a:ln w="12700">
            <a:solidFill>
              <a:srgbClr val="D5DCE8"/>
            </a:solidFill>
            <a:prstDash val="solid"/>
          </a:ln>
        </p:spPr>
      </p:sp>
      <p:pic>
        <p:nvPicPr>
          <p:cNvPr id="14" name="Image 2" descr="preencoded.png"/>
          <p:cNvPicPr>
            <a:picLocks noChangeAspect="1"/>
          </p:cNvPicPr>
          <p:nvPr/>
        </p:nvPicPr>
        <p:blipFill>
          <a:blip r:embed="rId5"/>
          <a:stretch>
            <a:fillRect/>
          </a:stretch>
        </p:blipFill>
        <p:spPr>
          <a:xfrm>
            <a:off x="3689604" y="1371600"/>
            <a:ext cx="365760" cy="365760"/>
          </a:xfrm>
          <a:prstGeom prst="rect">
            <a:avLst/>
          </a:prstGeom>
        </p:spPr>
      </p:pic>
      <p:sp>
        <p:nvSpPr>
          <p:cNvPr id="15" name="Text 9"/>
          <p:cNvSpPr txBox="1"/>
          <p:nvPr/>
        </p:nvSpPr>
        <p:spPr>
          <a:xfrm>
            <a:off x="3300984" y="1828800"/>
            <a:ext cx="1143000" cy="457200"/>
          </a:xfrm>
          <a:prstGeom prst="rect">
            <a:avLst/>
          </a:prstGeom>
          <a:noFill/>
          <a:ln/>
        </p:spPr>
        <p:txBody>
          <a:bodyPr wrap="square" lIns="0" tIns="0" rIns="0" bIns="0" rtlCol="0" anchor="t"/>
          <a:lstStyle/>
          <a:p>
            <a:pPr marL="0" indent="0" algn="ctr">
              <a:buNone/>
            </a:pPr>
            <a:r>
              <a:rPr lang="en-US" sz="1250" b="1" dirty="0">
                <a:solidFill>
                  <a:schemeClr val="tx1"/>
                </a:solidFill>
              </a:rPr>
              <a:t>Browser</a:t>
            </a:r>
            <a:endParaRPr lang="en-US" sz="1250" dirty="0"/>
          </a:p>
        </p:txBody>
      </p:sp>
      <p:sp>
        <p:nvSpPr>
          <p:cNvPr id="16" name="Shape 10"/>
          <p:cNvSpPr/>
          <p:nvPr/>
        </p:nvSpPr>
        <p:spPr>
          <a:xfrm>
            <a:off x="4498848" y="1783080"/>
            <a:ext cx="146304" cy="0"/>
          </a:xfrm>
          <a:prstGeom prst="line">
            <a:avLst/>
          </a:prstGeom>
          <a:noFill/>
          <a:ln w="22225">
            <a:solidFill>
              <a:schemeClr val="accent1"/>
            </a:solidFill>
            <a:prstDash val="solid"/>
            <a:tailEnd type="triangle"/>
          </a:ln>
        </p:spPr>
      </p:sp>
      <p:sp>
        <p:nvSpPr>
          <p:cNvPr id="17" name="Shape 11"/>
          <p:cNvSpPr/>
          <p:nvPr/>
        </p:nvSpPr>
        <p:spPr>
          <a:xfrm>
            <a:off x="4654296" y="1234440"/>
            <a:ext cx="1234440" cy="1097280"/>
          </a:xfrm>
          <a:prstGeom prst="roundRect">
            <a:avLst>
              <a:gd name="adj" fmla="val 6667"/>
            </a:avLst>
          </a:prstGeom>
          <a:solidFill>
            <a:schemeClr val="accent1">
              <a:alpha val="10000"/>
            </a:schemeClr>
          </a:solidFill>
          <a:ln w="15875">
            <a:solidFill>
              <a:schemeClr val="accent1"/>
            </a:solidFill>
            <a:prstDash val="solid"/>
          </a:ln>
        </p:spPr>
      </p:sp>
      <p:pic>
        <p:nvPicPr>
          <p:cNvPr id="18" name="Image 3" descr="preencoded.png"/>
          <p:cNvPicPr>
            <a:picLocks noChangeAspect="1"/>
          </p:cNvPicPr>
          <p:nvPr/>
        </p:nvPicPr>
        <p:blipFill>
          <a:blip r:embed="rId6"/>
          <a:stretch>
            <a:fillRect/>
          </a:stretch>
        </p:blipFill>
        <p:spPr>
          <a:xfrm>
            <a:off x="5088636" y="1371600"/>
            <a:ext cx="365760" cy="365760"/>
          </a:xfrm>
          <a:prstGeom prst="rect">
            <a:avLst/>
          </a:prstGeom>
        </p:spPr>
      </p:pic>
      <p:sp>
        <p:nvSpPr>
          <p:cNvPr id="19" name="Text 12"/>
          <p:cNvSpPr txBox="1"/>
          <p:nvPr/>
        </p:nvSpPr>
        <p:spPr>
          <a:xfrm>
            <a:off x="4700016" y="1828800"/>
            <a:ext cx="1143000" cy="457200"/>
          </a:xfrm>
          <a:prstGeom prst="rect">
            <a:avLst/>
          </a:prstGeom>
          <a:noFill/>
          <a:ln/>
        </p:spPr>
        <p:txBody>
          <a:bodyPr wrap="square" lIns="0" tIns="0" rIns="0" bIns="0" rtlCol="0" anchor="t"/>
          <a:lstStyle/>
          <a:p>
            <a:pPr marL="0" indent="0" algn="ctr">
              <a:buNone/>
            </a:pPr>
            <a:r>
              <a:rPr lang="en-US" sz="1250" b="1" dirty="0">
                <a:solidFill>
                  <a:schemeClr val="tx1"/>
                </a:solidFill>
              </a:rPr>
              <a:t>Django + WebSocket</a:t>
            </a:r>
            <a:endParaRPr lang="en-US" sz="1250" dirty="0"/>
          </a:p>
        </p:txBody>
      </p:sp>
      <p:sp>
        <p:nvSpPr>
          <p:cNvPr id="20" name="Shape 13"/>
          <p:cNvSpPr/>
          <p:nvPr/>
        </p:nvSpPr>
        <p:spPr>
          <a:xfrm>
            <a:off x="5897880" y="1783080"/>
            <a:ext cx="146304" cy="0"/>
          </a:xfrm>
          <a:prstGeom prst="line">
            <a:avLst/>
          </a:prstGeom>
          <a:noFill/>
          <a:ln w="22225">
            <a:solidFill>
              <a:schemeClr val="accent1"/>
            </a:solidFill>
            <a:prstDash val="solid"/>
            <a:tailEnd type="triangle"/>
          </a:ln>
        </p:spPr>
      </p:sp>
      <p:sp>
        <p:nvSpPr>
          <p:cNvPr id="21" name="Shape 14"/>
          <p:cNvSpPr/>
          <p:nvPr/>
        </p:nvSpPr>
        <p:spPr>
          <a:xfrm>
            <a:off x="6053328" y="1234440"/>
            <a:ext cx="1234440" cy="1097280"/>
          </a:xfrm>
          <a:prstGeom prst="roundRect">
            <a:avLst>
              <a:gd name="adj" fmla="val 6667"/>
            </a:avLst>
          </a:prstGeom>
          <a:solidFill>
            <a:schemeClr val="bg1"/>
          </a:solidFill>
          <a:ln w="12700">
            <a:solidFill>
              <a:srgbClr val="D5DCE8"/>
            </a:solidFill>
            <a:prstDash val="solid"/>
          </a:ln>
        </p:spPr>
      </p:sp>
      <p:pic>
        <p:nvPicPr>
          <p:cNvPr id="22" name="Image 4" descr="preencoded.png"/>
          <p:cNvPicPr>
            <a:picLocks noChangeAspect="1"/>
          </p:cNvPicPr>
          <p:nvPr/>
        </p:nvPicPr>
        <p:blipFill>
          <a:blip r:embed="rId7"/>
          <a:stretch>
            <a:fillRect/>
          </a:stretch>
        </p:blipFill>
        <p:spPr>
          <a:xfrm>
            <a:off x="6487668" y="1371600"/>
            <a:ext cx="365760" cy="365760"/>
          </a:xfrm>
          <a:prstGeom prst="rect">
            <a:avLst/>
          </a:prstGeom>
        </p:spPr>
      </p:pic>
      <p:sp>
        <p:nvSpPr>
          <p:cNvPr id="23" name="Text 15"/>
          <p:cNvSpPr txBox="1"/>
          <p:nvPr/>
        </p:nvSpPr>
        <p:spPr>
          <a:xfrm>
            <a:off x="6099048" y="1828800"/>
            <a:ext cx="1143000" cy="457200"/>
          </a:xfrm>
          <a:prstGeom prst="rect">
            <a:avLst/>
          </a:prstGeom>
          <a:noFill/>
          <a:ln/>
        </p:spPr>
        <p:txBody>
          <a:bodyPr wrap="square" lIns="0" tIns="0" rIns="0" bIns="0" rtlCol="0" anchor="t"/>
          <a:lstStyle/>
          <a:p>
            <a:pPr marL="0" indent="0" algn="ctr">
              <a:buNone/>
            </a:pPr>
            <a:r>
              <a:rPr lang="en-US" sz="1250" b="1" dirty="0">
                <a:solidFill>
                  <a:schemeClr val="tx1"/>
                </a:solidFill>
              </a:rPr>
              <a:t>Group dashboard</a:t>
            </a:r>
            <a:endParaRPr lang="en-US" sz="1250" dirty="0"/>
          </a:p>
        </p:txBody>
      </p:sp>
      <p:sp>
        <p:nvSpPr>
          <p:cNvPr id="24" name="Shape 16"/>
          <p:cNvSpPr/>
          <p:nvPr/>
        </p:nvSpPr>
        <p:spPr>
          <a:xfrm>
            <a:off x="7296912" y="1783080"/>
            <a:ext cx="146304" cy="0"/>
          </a:xfrm>
          <a:prstGeom prst="line">
            <a:avLst/>
          </a:prstGeom>
          <a:noFill/>
          <a:ln w="22225">
            <a:solidFill>
              <a:schemeClr val="accent1"/>
            </a:solidFill>
            <a:prstDash val="solid"/>
            <a:tailEnd type="triangle"/>
          </a:ln>
        </p:spPr>
      </p:sp>
      <p:sp>
        <p:nvSpPr>
          <p:cNvPr id="25" name="Shape 17"/>
          <p:cNvSpPr/>
          <p:nvPr/>
        </p:nvSpPr>
        <p:spPr>
          <a:xfrm>
            <a:off x="7452360" y="1234440"/>
            <a:ext cx="1234440" cy="1097280"/>
          </a:xfrm>
          <a:prstGeom prst="roundRect">
            <a:avLst>
              <a:gd name="adj" fmla="val 6667"/>
            </a:avLst>
          </a:prstGeom>
          <a:solidFill>
            <a:schemeClr val="bg1"/>
          </a:solidFill>
          <a:ln w="12700">
            <a:solidFill>
              <a:srgbClr val="D5DCE8"/>
            </a:solidFill>
            <a:prstDash val="solid"/>
          </a:ln>
        </p:spPr>
      </p:sp>
      <p:pic>
        <p:nvPicPr>
          <p:cNvPr id="26" name="Image 5" descr="preencoded.png"/>
          <p:cNvPicPr>
            <a:picLocks noChangeAspect="1"/>
          </p:cNvPicPr>
          <p:nvPr/>
        </p:nvPicPr>
        <p:blipFill>
          <a:blip r:embed="rId8"/>
          <a:stretch>
            <a:fillRect/>
          </a:stretch>
        </p:blipFill>
        <p:spPr>
          <a:xfrm>
            <a:off x="7886700" y="1371600"/>
            <a:ext cx="365760" cy="365760"/>
          </a:xfrm>
          <a:prstGeom prst="rect">
            <a:avLst/>
          </a:prstGeom>
        </p:spPr>
      </p:pic>
      <p:sp>
        <p:nvSpPr>
          <p:cNvPr id="27" name="Text 18"/>
          <p:cNvSpPr txBox="1"/>
          <p:nvPr/>
        </p:nvSpPr>
        <p:spPr>
          <a:xfrm>
            <a:off x="7498080" y="1828800"/>
            <a:ext cx="1143000" cy="457200"/>
          </a:xfrm>
          <a:prstGeom prst="rect">
            <a:avLst/>
          </a:prstGeom>
          <a:noFill/>
          <a:ln/>
        </p:spPr>
        <p:txBody>
          <a:bodyPr wrap="square" lIns="0" tIns="0" rIns="0" bIns="0" rtlCol="0" anchor="t"/>
          <a:lstStyle/>
          <a:p>
            <a:pPr marL="0" indent="0" algn="ctr">
              <a:buNone/>
            </a:pPr>
            <a:r>
              <a:rPr lang="en-US" sz="1250" b="1" dirty="0">
                <a:solidFill>
                  <a:schemeClr val="tx1"/>
                </a:solidFill>
              </a:rPr>
              <a:t>Map</a:t>
            </a:r>
            <a:endParaRPr lang="en-US" sz="1250" dirty="0"/>
          </a:p>
        </p:txBody>
      </p:sp>
      <p:sp>
        <p:nvSpPr>
          <p:cNvPr id="28" name="Text 19"/>
          <p:cNvSpPr txBox="1"/>
          <p:nvPr/>
        </p:nvSpPr>
        <p:spPr>
          <a:xfrm>
            <a:off x="457200" y="2651760"/>
            <a:ext cx="3657600" cy="182880"/>
          </a:xfrm>
          <a:prstGeom prst="rect">
            <a:avLst/>
          </a:prstGeom>
          <a:noFill/>
          <a:ln/>
        </p:spPr>
        <p:txBody>
          <a:bodyPr wrap="square" lIns="0" tIns="0" rIns="0" bIns="0" rtlCol="0" anchor="t"/>
          <a:lstStyle/>
          <a:p>
            <a:pPr marL="0" indent="0">
              <a:buNone/>
            </a:pPr>
            <a:r>
              <a:rPr lang="en-US" sz="1000" b="1" kern="0" spc="100" dirty="0">
                <a:solidFill>
                  <a:schemeClr val="accent1"/>
                </a:solidFill>
              </a:rPr>
              <a:t>MAIN ADVANTAGES</a:t>
            </a:r>
            <a:endParaRPr lang="en-US" sz="1000" dirty="0"/>
          </a:p>
        </p:txBody>
      </p:sp>
      <p:sp>
        <p:nvSpPr>
          <p:cNvPr id="29" name="Shape 20"/>
          <p:cNvSpPr/>
          <p:nvPr/>
        </p:nvSpPr>
        <p:spPr>
          <a:xfrm>
            <a:off x="457200" y="2926080"/>
            <a:ext cx="1517904" cy="1645920"/>
          </a:xfrm>
          <a:prstGeom prst="roundRect">
            <a:avLst>
              <a:gd name="adj" fmla="val 4819"/>
            </a:avLst>
          </a:prstGeom>
          <a:solidFill>
            <a:schemeClr val="bg2"/>
          </a:solidFill>
          <a:ln/>
        </p:spPr>
      </p:sp>
      <p:pic>
        <p:nvPicPr>
          <p:cNvPr id="30" name="Image 6" descr="preencoded.png"/>
          <p:cNvPicPr>
            <a:picLocks noChangeAspect="1"/>
          </p:cNvPicPr>
          <p:nvPr/>
        </p:nvPicPr>
        <p:blipFill>
          <a:blip r:embed="rId9"/>
          <a:stretch>
            <a:fillRect/>
          </a:stretch>
        </p:blipFill>
        <p:spPr>
          <a:xfrm>
            <a:off x="621792" y="3090672"/>
            <a:ext cx="310896" cy="310896"/>
          </a:xfrm>
          <a:prstGeom prst="rect">
            <a:avLst/>
          </a:prstGeom>
        </p:spPr>
      </p:pic>
      <p:sp>
        <p:nvSpPr>
          <p:cNvPr id="31" name="Text 21"/>
          <p:cNvSpPr txBox="1"/>
          <p:nvPr/>
        </p:nvSpPr>
        <p:spPr>
          <a:xfrm>
            <a:off x="621792" y="3520440"/>
            <a:ext cx="1243584" cy="457200"/>
          </a:xfrm>
          <a:prstGeom prst="rect">
            <a:avLst/>
          </a:prstGeom>
          <a:noFill/>
          <a:ln/>
        </p:spPr>
        <p:txBody>
          <a:bodyPr wrap="square" lIns="0" tIns="0" rIns="0" bIns="0" rtlCol="0" anchor="t"/>
          <a:lstStyle/>
          <a:p>
            <a:pPr marL="0" indent="0">
              <a:buNone/>
            </a:pPr>
            <a:r>
              <a:rPr lang="en-US" sz="1300" b="1" dirty="0">
                <a:solidFill>
                  <a:schemeClr val="tx1"/>
                </a:solidFill>
              </a:rPr>
              <a:t>Centralised monitoring</a:t>
            </a:r>
            <a:endParaRPr lang="en-US" sz="1300" dirty="0"/>
          </a:p>
        </p:txBody>
      </p:sp>
      <p:sp>
        <p:nvSpPr>
          <p:cNvPr id="32" name="Text 22"/>
          <p:cNvSpPr txBox="1"/>
          <p:nvPr/>
        </p:nvSpPr>
        <p:spPr>
          <a:xfrm>
            <a:off x="621792" y="4023360"/>
            <a:ext cx="1243584" cy="502920"/>
          </a:xfrm>
          <a:prstGeom prst="rect">
            <a:avLst/>
          </a:prstGeom>
          <a:noFill/>
          <a:ln/>
        </p:spPr>
        <p:txBody>
          <a:bodyPr wrap="square" lIns="0" tIns="0" rIns="0" bIns="0" rtlCol="0" anchor="t"/>
          <a:lstStyle/>
          <a:p>
            <a:pPr marL="0" indent="0">
              <a:buNone/>
            </a:pPr>
            <a:r>
              <a:rPr lang="en-US" sz="1150" dirty="0">
                <a:solidFill>
                  <a:schemeClr val="tx2"/>
                </a:solidFill>
              </a:rPr>
              <a:t>Whole group on one map</a:t>
            </a:r>
            <a:endParaRPr lang="en-US" sz="1150" dirty="0"/>
          </a:p>
        </p:txBody>
      </p:sp>
      <p:sp>
        <p:nvSpPr>
          <p:cNvPr id="33" name="Shape 23"/>
          <p:cNvSpPr/>
          <p:nvPr/>
        </p:nvSpPr>
        <p:spPr>
          <a:xfrm>
            <a:off x="2135124" y="2926080"/>
            <a:ext cx="1517904" cy="1645920"/>
          </a:xfrm>
          <a:prstGeom prst="roundRect">
            <a:avLst>
              <a:gd name="adj" fmla="val 4819"/>
            </a:avLst>
          </a:prstGeom>
          <a:solidFill>
            <a:schemeClr val="bg2"/>
          </a:solidFill>
          <a:ln/>
        </p:spPr>
      </p:sp>
      <p:pic>
        <p:nvPicPr>
          <p:cNvPr id="34" name="Image 7" descr="preencoded.png"/>
          <p:cNvPicPr>
            <a:picLocks noChangeAspect="1"/>
          </p:cNvPicPr>
          <p:nvPr/>
        </p:nvPicPr>
        <p:blipFill>
          <a:blip r:embed="rId10"/>
          <a:stretch>
            <a:fillRect/>
          </a:stretch>
        </p:blipFill>
        <p:spPr>
          <a:xfrm>
            <a:off x="2299716" y="3090672"/>
            <a:ext cx="310896" cy="310896"/>
          </a:xfrm>
          <a:prstGeom prst="rect">
            <a:avLst/>
          </a:prstGeom>
        </p:spPr>
      </p:pic>
      <p:sp>
        <p:nvSpPr>
          <p:cNvPr id="35" name="Text 24"/>
          <p:cNvSpPr txBox="1"/>
          <p:nvPr/>
        </p:nvSpPr>
        <p:spPr>
          <a:xfrm>
            <a:off x="2299716" y="3520440"/>
            <a:ext cx="1243584" cy="457200"/>
          </a:xfrm>
          <a:prstGeom prst="rect">
            <a:avLst/>
          </a:prstGeom>
          <a:noFill/>
          <a:ln/>
        </p:spPr>
        <p:txBody>
          <a:bodyPr wrap="square" lIns="0" tIns="0" rIns="0" bIns="0" rtlCol="0" anchor="t"/>
          <a:lstStyle/>
          <a:p>
            <a:pPr marL="0" indent="0">
              <a:buNone/>
            </a:pPr>
            <a:r>
              <a:rPr lang="en-US" sz="1300" b="1" dirty="0">
                <a:solidFill>
                  <a:schemeClr val="tx1"/>
                </a:solidFill>
              </a:rPr>
              <a:t>Real-time updates</a:t>
            </a:r>
            <a:endParaRPr lang="en-US" sz="1300" dirty="0"/>
          </a:p>
        </p:txBody>
      </p:sp>
      <p:sp>
        <p:nvSpPr>
          <p:cNvPr id="36" name="Text 25"/>
          <p:cNvSpPr txBox="1"/>
          <p:nvPr/>
        </p:nvSpPr>
        <p:spPr>
          <a:xfrm>
            <a:off x="2299716" y="4023360"/>
            <a:ext cx="1243584" cy="502920"/>
          </a:xfrm>
          <a:prstGeom prst="rect">
            <a:avLst/>
          </a:prstGeom>
          <a:noFill/>
          <a:ln/>
        </p:spPr>
        <p:txBody>
          <a:bodyPr wrap="square" lIns="0" tIns="0" rIns="0" bIns="0" rtlCol="0" anchor="t"/>
          <a:lstStyle/>
          <a:p>
            <a:pPr marL="0" indent="0">
              <a:buNone/>
            </a:pPr>
            <a:r>
              <a:rPr lang="en-US" sz="1150" dirty="0">
                <a:solidFill>
                  <a:schemeClr val="tx2"/>
                </a:solidFill>
              </a:rPr>
              <a:t>WebSocket push, no page reload</a:t>
            </a:r>
            <a:endParaRPr lang="en-US" sz="1150" dirty="0"/>
          </a:p>
        </p:txBody>
      </p:sp>
      <p:sp>
        <p:nvSpPr>
          <p:cNvPr id="37" name="Shape 26"/>
          <p:cNvSpPr/>
          <p:nvPr/>
        </p:nvSpPr>
        <p:spPr>
          <a:xfrm>
            <a:off x="3813048" y="2926080"/>
            <a:ext cx="1517904" cy="1645920"/>
          </a:xfrm>
          <a:prstGeom prst="roundRect">
            <a:avLst>
              <a:gd name="adj" fmla="val 4819"/>
            </a:avLst>
          </a:prstGeom>
          <a:solidFill>
            <a:schemeClr val="bg2"/>
          </a:solidFill>
          <a:ln/>
        </p:spPr>
      </p:sp>
      <p:pic>
        <p:nvPicPr>
          <p:cNvPr id="38" name="Image 8" descr="preencoded.png"/>
          <p:cNvPicPr>
            <a:picLocks noChangeAspect="1"/>
          </p:cNvPicPr>
          <p:nvPr/>
        </p:nvPicPr>
        <p:blipFill>
          <a:blip r:embed="rId11"/>
          <a:stretch>
            <a:fillRect/>
          </a:stretch>
        </p:blipFill>
        <p:spPr>
          <a:xfrm>
            <a:off x="3977640" y="3090672"/>
            <a:ext cx="310896" cy="310896"/>
          </a:xfrm>
          <a:prstGeom prst="rect">
            <a:avLst/>
          </a:prstGeom>
        </p:spPr>
      </p:pic>
      <p:sp>
        <p:nvSpPr>
          <p:cNvPr id="39" name="Text 27"/>
          <p:cNvSpPr txBox="1"/>
          <p:nvPr/>
        </p:nvSpPr>
        <p:spPr>
          <a:xfrm>
            <a:off x="3977640" y="3520440"/>
            <a:ext cx="1243584" cy="457200"/>
          </a:xfrm>
          <a:prstGeom prst="rect">
            <a:avLst/>
          </a:prstGeom>
          <a:noFill/>
          <a:ln/>
        </p:spPr>
        <p:txBody>
          <a:bodyPr wrap="square" lIns="0" tIns="0" rIns="0" bIns="0" rtlCol="0" anchor="t"/>
          <a:lstStyle/>
          <a:p>
            <a:pPr marL="0" indent="0">
              <a:buNone/>
            </a:pPr>
            <a:r>
              <a:rPr lang="en-US" sz="1300" b="1" dirty="0">
                <a:solidFill>
                  <a:schemeClr val="tx1"/>
                </a:solidFill>
              </a:rPr>
              <a:t>Group ride management</a:t>
            </a:r>
            <a:endParaRPr lang="en-US" sz="1300" dirty="0"/>
          </a:p>
        </p:txBody>
      </p:sp>
      <p:sp>
        <p:nvSpPr>
          <p:cNvPr id="40" name="Text 28"/>
          <p:cNvSpPr txBox="1"/>
          <p:nvPr/>
        </p:nvSpPr>
        <p:spPr>
          <a:xfrm>
            <a:off x="3977640" y="4023360"/>
            <a:ext cx="1243584" cy="502920"/>
          </a:xfrm>
          <a:prstGeom prst="rect">
            <a:avLst/>
          </a:prstGeom>
          <a:noFill/>
          <a:ln/>
        </p:spPr>
        <p:txBody>
          <a:bodyPr wrap="square" lIns="0" tIns="0" rIns="0" bIns="0" rtlCol="0" anchor="t"/>
          <a:lstStyle/>
          <a:p>
            <a:pPr marL="0" indent="0">
              <a:buNone/>
            </a:pPr>
            <a:r>
              <a:rPr lang="en-US" sz="1150" dirty="0">
                <a:solidFill>
                  <a:schemeClr val="tx2"/>
                </a:solidFill>
              </a:rPr>
              <a:t>Join code, leader, members</a:t>
            </a:r>
            <a:endParaRPr lang="en-US" sz="1150" dirty="0"/>
          </a:p>
        </p:txBody>
      </p:sp>
      <p:sp>
        <p:nvSpPr>
          <p:cNvPr id="41" name="Shape 29"/>
          <p:cNvSpPr/>
          <p:nvPr/>
        </p:nvSpPr>
        <p:spPr>
          <a:xfrm>
            <a:off x="5490972" y="2926080"/>
            <a:ext cx="1517904" cy="1645920"/>
          </a:xfrm>
          <a:prstGeom prst="roundRect">
            <a:avLst>
              <a:gd name="adj" fmla="val 4819"/>
            </a:avLst>
          </a:prstGeom>
          <a:solidFill>
            <a:schemeClr val="bg2"/>
          </a:solidFill>
          <a:ln/>
        </p:spPr>
      </p:sp>
      <p:pic>
        <p:nvPicPr>
          <p:cNvPr id="42" name="Image 9" descr="preencoded.png"/>
          <p:cNvPicPr>
            <a:picLocks noChangeAspect="1"/>
          </p:cNvPicPr>
          <p:nvPr/>
        </p:nvPicPr>
        <p:blipFill>
          <a:blip r:embed="rId12"/>
          <a:stretch>
            <a:fillRect/>
          </a:stretch>
        </p:blipFill>
        <p:spPr>
          <a:xfrm>
            <a:off x="5655564" y="3090672"/>
            <a:ext cx="310896" cy="310896"/>
          </a:xfrm>
          <a:prstGeom prst="rect">
            <a:avLst/>
          </a:prstGeom>
        </p:spPr>
      </p:pic>
      <p:sp>
        <p:nvSpPr>
          <p:cNvPr id="43" name="Text 30"/>
          <p:cNvSpPr txBox="1"/>
          <p:nvPr/>
        </p:nvSpPr>
        <p:spPr>
          <a:xfrm>
            <a:off x="5655564" y="3520440"/>
            <a:ext cx="1243584" cy="457200"/>
          </a:xfrm>
          <a:prstGeom prst="rect">
            <a:avLst/>
          </a:prstGeom>
          <a:noFill/>
          <a:ln/>
        </p:spPr>
        <p:txBody>
          <a:bodyPr wrap="square" lIns="0" tIns="0" rIns="0" bIns="0" rtlCol="0" anchor="t"/>
          <a:lstStyle/>
          <a:p>
            <a:pPr marL="0" indent="0">
              <a:buNone/>
            </a:pPr>
            <a:r>
              <a:rPr lang="en-US" sz="1300" b="1" dirty="0">
                <a:solidFill>
                  <a:schemeClr val="tx1"/>
                </a:solidFill>
              </a:rPr>
              <a:t>Safety alerts</a:t>
            </a:r>
            <a:endParaRPr lang="en-US" sz="1300" dirty="0"/>
          </a:p>
        </p:txBody>
      </p:sp>
      <p:sp>
        <p:nvSpPr>
          <p:cNvPr id="44" name="Text 31"/>
          <p:cNvSpPr txBox="1"/>
          <p:nvPr/>
        </p:nvSpPr>
        <p:spPr>
          <a:xfrm>
            <a:off x="5655564" y="4023360"/>
            <a:ext cx="1243584" cy="502920"/>
          </a:xfrm>
          <a:prstGeom prst="rect">
            <a:avLst/>
          </a:prstGeom>
          <a:noFill/>
          <a:ln/>
        </p:spPr>
        <p:txBody>
          <a:bodyPr wrap="square" lIns="0" tIns="0" rIns="0" bIns="0" rtlCol="0" anchor="t"/>
          <a:lstStyle/>
          <a:p>
            <a:pPr marL="0" indent="0">
              <a:buNone/>
            </a:pPr>
            <a:r>
              <a:rPr lang="en-US" sz="1150" dirty="0">
                <a:solidFill>
                  <a:schemeClr val="tx2"/>
                </a:solidFill>
              </a:rPr>
              <a:t>Disconnect, off-route, SOS</a:t>
            </a:r>
            <a:endParaRPr lang="en-US" sz="1150" dirty="0"/>
          </a:p>
        </p:txBody>
      </p:sp>
      <p:sp>
        <p:nvSpPr>
          <p:cNvPr id="45" name="Shape 32"/>
          <p:cNvSpPr/>
          <p:nvPr/>
        </p:nvSpPr>
        <p:spPr>
          <a:xfrm>
            <a:off x="7168896" y="2926080"/>
            <a:ext cx="1517904" cy="1645920"/>
          </a:xfrm>
          <a:prstGeom prst="roundRect">
            <a:avLst>
              <a:gd name="adj" fmla="val 4819"/>
            </a:avLst>
          </a:prstGeom>
          <a:solidFill>
            <a:schemeClr val="bg2"/>
          </a:solidFill>
          <a:ln/>
        </p:spPr>
      </p:sp>
      <p:pic>
        <p:nvPicPr>
          <p:cNvPr id="46" name="Image 10" descr="preencoded.png"/>
          <p:cNvPicPr>
            <a:picLocks noChangeAspect="1"/>
          </p:cNvPicPr>
          <p:nvPr/>
        </p:nvPicPr>
        <p:blipFill>
          <a:blip r:embed="rId13"/>
          <a:stretch>
            <a:fillRect/>
          </a:stretch>
        </p:blipFill>
        <p:spPr>
          <a:xfrm>
            <a:off x="7333488" y="3090672"/>
            <a:ext cx="310896" cy="310896"/>
          </a:xfrm>
          <a:prstGeom prst="rect">
            <a:avLst/>
          </a:prstGeom>
        </p:spPr>
      </p:pic>
      <p:sp>
        <p:nvSpPr>
          <p:cNvPr id="47" name="Text 33"/>
          <p:cNvSpPr txBox="1"/>
          <p:nvPr/>
        </p:nvSpPr>
        <p:spPr>
          <a:xfrm>
            <a:off x="7333488" y="3520440"/>
            <a:ext cx="1243584" cy="457200"/>
          </a:xfrm>
          <a:prstGeom prst="rect">
            <a:avLst/>
          </a:prstGeom>
          <a:noFill/>
          <a:ln/>
        </p:spPr>
        <p:txBody>
          <a:bodyPr wrap="square" lIns="0" tIns="0" rIns="0" bIns="0" rtlCol="0" anchor="t"/>
          <a:lstStyle/>
          <a:p>
            <a:pPr marL="0" indent="0">
              <a:buNone/>
            </a:pPr>
            <a:r>
              <a:rPr lang="en-US" sz="1300" b="1" dirty="0">
                <a:solidFill>
                  <a:schemeClr val="tx1"/>
                </a:solidFill>
              </a:rPr>
              <a:t>Ride history</a:t>
            </a:r>
            <a:endParaRPr lang="en-US" sz="1300" dirty="0"/>
          </a:p>
        </p:txBody>
      </p:sp>
      <p:sp>
        <p:nvSpPr>
          <p:cNvPr id="48" name="Text 34"/>
          <p:cNvSpPr txBox="1"/>
          <p:nvPr/>
        </p:nvSpPr>
        <p:spPr>
          <a:xfrm>
            <a:off x="7333488" y="4023360"/>
            <a:ext cx="1243584" cy="502920"/>
          </a:xfrm>
          <a:prstGeom prst="rect">
            <a:avLst/>
          </a:prstGeom>
          <a:noFill/>
          <a:ln/>
        </p:spPr>
        <p:txBody>
          <a:bodyPr wrap="square" lIns="0" tIns="0" rIns="0" bIns="0" rtlCol="0" anchor="t"/>
          <a:lstStyle/>
          <a:p>
            <a:pPr marL="0" indent="0">
              <a:buNone/>
            </a:pPr>
            <a:r>
              <a:rPr lang="en-US" sz="1150" dirty="0">
                <a:solidFill>
                  <a:schemeClr val="tx2"/>
                </a:solidFill>
              </a:rPr>
              <a:t>Review completed rides</a:t>
            </a:r>
            <a:endParaRPr lang="en-US" sz="1150" dirty="0"/>
          </a:p>
        </p:txBody>
      </p:sp>
      <p:sp>
        <p:nvSpPr>
          <p:cNvPr id="4" name="Slide Number Placeholder 0"/>
          <p:cNvSpPr>
            <a:spLocks noGrp="1"/>
          </p:cNvSpPr>
          <p:nvPr>
            <p:ph type="sldNum" sz="quarter" idx="4294967295"/>
          </p:nvPr>
        </p:nvSpPr>
        <p:spPr>
          <a:xfrm>
            <a:off x="8138160" y="4791456"/>
            <a:ext cx="548640" cy="228600"/>
          </a:xfrm>
          <a:prstGeom prst="rect">
            <a:avLst/>
          </a:prstGeom>
          <a:extLst>
            <a:ext uri="{C572A759-6A51-4108-AA02-DFA0A04FC94B}">
              <ma14:wrappingTextBoxFlag xmlns:ma14="http://schemas.microsoft.com/office/mac/drawingml/2011/main" xmlns="" val="0"/>
            </a:ext>
          </a:extLst>
        </p:spPr>
        <p:txBody>
          <a:bodyPr/>
          <a:lstStyle>
            <a:lvl1pPr>
              <a:defRPr sz="1000">
                <a:solidFill>
                  <a:srgbClr val="475569"/>
                </a:solidFill>
              </a:defRPr>
            </a:lvl1pPr>
          </a:lstStyle>
          <a:p>
            <a:pPr algn="r"/>
            <a:fld id="{F7021451-1387-4CA6-816F-3879F97B5CBC}" type="slidenum">
              <a:rPr lang="en-US" b="0"/>
              <a:t>7</a:t>
            </a:fld>
            <a:endParaRPr lang="en-US"/>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457200" y="420624"/>
            <a:ext cx="8229600" cy="566928"/>
          </a:xfrm>
          <a:prstGeom prst="rect">
            <a:avLst/>
          </a:prstGeom>
          <a:noFill/>
          <a:ln/>
        </p:spPr>
        <p:txBody>
          <a:bodyPr wrap="square" lIns="0" tIns="0" rIns="0" bIns="0" rtlCol="0" anchor="ctr"/>
          <a:lstStyle/>
          <a:p>
            <a:pPr marL="0" indent="0" algn="l">
              <a:buNone/>
            </a:pPr>
            <a:r>
              <a:rPr lang="en-US" sz="2800" b="1" dirty="0">
                <a:solidFill>
                  <a:schemeClr val="tx1"/>
                </a:solidFill>
              </a:rPr>
              <a:t>Scope of the project</a:t>
            </a:r>
            <a:endParaRPr lang="en-US" sz="2800" dirty="0"/>
          </a:p>
        </p:txBody>
      </p:sp>
      <p:sp>
        <p:nvSpPr>
          <p:cNvPr id="3" name="Text 1"/>
          <p:cNvSpPr txBox="1"/>
          <p:nvPr/>
        </p:nvSpPr>
        <p:spPr>
          <a:xfrm>
            <a:off x="457200" y="219456"/>
            <a:ext cx="5486400" cy="182880"/>
          </a:xfrm>
          <a:prstGeom prst="rect">
            <a:avLst/>
          </a:prstGeom>
          <a:noFill/>
          <a:ln/>
        </p:spPr>
        <p:txBody>
          <a:bodyPr wrap="square" lIns="0" tIns="0" rIns="0" bIns="0" rtlCol="0" anchor="t"/>
          <a:lstStyle/>
          <a:p>
            <a:pPr marL="0" indent="0">
              <a:buNone/>
            </a:pPr>
            <a:r>
              <a:rPr lang="en-US" sz="1000" b="1" kern="0" spc="200" dirty="0">
                <a:solidFill>
                  <a:schemeClr val="accent1"/>
                </a:solidFill>
              </a:rPr>
              <a:t>SCOPE</a:t>
            </a:r>
            <a:endParaRPr lang="en-US" sz="1000" dirty="0"/>
          </a:p>
        </p:txBody>
      </p:sp>
      <p:sp>
        <p:nvSpPr>
          <p:cNvPr id="5" name="Shape 2"/>
          <p:cNvSpPr/>
          <p:nvPr/>
        </p:nvSpPr>
        <p:spPr>
          <a:xfrm>
            <a:off x="457200" y="1188720"/>
            <a:ext cx="5486400" cy="3429000"/>
          </a:xfrm>
          <a:prstGeom prst="roundRect">
            <a:avLst>
              <a:gd name="adj" fmla="val 2133"/>
            </a:avLst>
          </a:prstGeom>
          <a:solidFill>
            <a:schemeClr val="bg1"/>
          </a:solidFill>
          <a:ln w="12700">
            <a:solidFill>
              <a:srgbClr val="D5DCE8"/>
            </a:solidFill>
            <a:prstDash val="solid"/>
          </a:ln>
        </p:spPr>
      </p:sp>
      <p:sp>
        <p:nvSpPr>
          <p:cNvPr id="6" name="Text 3"/>
          <p:cNvSpPr txBox="1"/>
          <p:nvPr/>
        </p:nvSpPr>
        <p:spPr>
          <a:xfrm>
            <a:off x="685800" y="1325880"/>
            <a:ext cx="2743200" cy="182880"/>
          </a:xfrm>
          <a:prstGeom prst="rect">
            <a:avLst/>
          </a:prstGeom>
          <a:noFill/>
          <a:ln/>
        </p:spPr>
        <p:txBody>
          <a:bodyPr wrap="square" lIns="0" tIns="0" rIns="0" bIns="0" rtlCol="0" anchor="t"/>
          <a:lstStyle/>
          <a:p>
            <a:pPr marL="0" indent="0">
              <a:buNone/>
            </a:pPr>
            <a:r>
              <a:rPr lang="en-US" sz="1000" b="1" kern="0" spc="100" dirty="0">
                <a:solidFill>
                  <a:schemeClr val="accent5"/>
                </a:solidFill>
              </a:rPr>
              <a:t>CURRENT SCOPE</a:t>
            </a:r>
            <a:endParaRPr lang="en-US" sz="1000" dirty="0"/>
          </a:p>
        </p:txBody>
      </p:sp>
      <p:sp>
        <p:nvSpPr>
          <p:cNvPr id="7" name="Text 4"/>
          <p:cNvSpPr txBox="1"/>
          <p:nvPr/>
        </p:nvSpPr>
        <p:spPr>
          <a:xfrm>
            <a:off x="685800" y="1572768"/>
            <a:ext cx="5029200" cy="457200"/>
          </a:xfrm>
          <a:prstGeom prst="rect">
            <a:avLst/>
          </a:prstGeom>
          <a:noFill/>
          <a:ln/>
        </p:spPr>
        <p:txBody>
          <a:bodyPr wrap="square" lIns="0" tIns="0" rIns="0" bIns="0" rtlCol="0" anchor="t"/>
          <a:lstStyle/>
          <a:p>
            <a:pPr marL="0" indent="0">
              <a:buNone/>
            </a:pPr>
            <a:r>
              <a:rPr lang="en-US" sz="1200" dirty="0">
                <a:solidFill>
                  <a:schemeClr val="tx2"/>
                </a:solidFill>
              </a:rPr>
              <a:t>Target users: groups of riders (motorcycle, bicycle, car) using a laptop or smartphone browser</a:t>
            </a:r>
            <a:endParaRPr lang="en-US" sz="1200" dirty="0"/>
          </a:p>
        </p:txBody>
      </p:sp>
      <p:pic>
        <p:nvPicPr>
          <p:cNvPr id="8" name="Image 0" descr="preencoded.png"/>
          <p:cNvPicPr>
            <a:picLocks noChangeAspect="1"/>
          </p:cNvPicPr>
          <p:nvPr/>
        </p:nvPicPr>
        <p:blipFill>
          <a:blip r:embed="rId3"/>
          <a:stretch>
            <a:fillRect/>
          </a:stretch>
        </p:blipFill>
        <p:spPr>
          <a:xfrm>
            <a:off x="685800" y="2176272"/>
            <a:ext cx="201168" cy="201168"/>
          </a:xfrm>
          <a:prstGeom prst="rect">
            <a:avLst/>
          </a:prstGeom>
        </p:spPr>
      </p:pic>
      <p:sp>
        <p:nvSpPr>
          <p:cNvPr id="9" name="Text 5"/>
          <p:cNvSpPr txBox="1"/>
          <p:nvPr/>
        </p:nvSpPr>
        <p:spPr>
          <a:xfrm>
            <a:off x="987552" y="2103120"/>
            <a:ext cx="2194560" cy="347472"/>
          </a:xfrm>
          <a:prstGeom prst="rect">
            <a:avLst/>
          </a:prstGeom>
          <a:noFill/>
          <a:ln/>
        </p:spPr>
        <p:txBody>
          <a:bodyPr wrap="square" lIns="0" tIns="0" rIns="0" bIns="0" rtlCol="0" anchor="ctr"/>
          <a:lstStyle/>
          <a:p>
            <a:pPr marL="0" indent="0">
              <a:buNone/>
            </a:pPr>
            <a:r>
              <a:rPr lang="en-US" sz="1300" dirty="0">
                <a:solidFill>
                  <a:schemeClr val="tx1"/>
                </a:solidFill>
              </a:rPr>
              <a:t>Rider registration and login</a:t>
            </a:r>
            <a:endParaRPr lang="en-US" sz="1300" dirty="0"/>
          </a:p>
        </p:txBody>
      </p:sp>
      <p:pic>
        <p:nvPicPr>
          <p:cNvPr id="10" name="Image 1" descr="preencoded.png"/>
          <p:cNvPicPr>
            <a:picLocks noChangeAspect="1"/>
          </p:cNvPicPr>
          <p:nvPr/>
        </p:nvPicPr>
        <p:blipFill>
          <a:blip r:embed="rId3"/>
          <a:stretch>
            <a:fillRect/>
          </a:stretch>
        </p:blipFill>
        <p:spPr>
          <a:xfrm>
            <a:off x="3246120" y="2176272"/>
            <a:ext cx="201168" cy="201168"/>
          </a:xfrm>
          <a:prstGeom prst="rect">
            <a:avLst/>
          </a:prstGeom>
        </p:spPr>
      </p:pic>
      <p:sp>
        <p:nvSpPr>
          <p:cNvPr id="11" name="Text 6"/>
          <p:cNvSpPr txBox="1"/>
          <p:nvPr/>
        </p:nvSpPr>
        <p:spPr>
          <a:xfrm>
            <a:off x="3547872" y="2103120"/>
            <a:ext cx="2194560" cy="347472"/>
          </a:xfrm>
          <a:prstGeom prst="rect">
            <a:avLst/>
          </a:prstGeom>
          <a:noFill/>
          <a:ln/>
        </p:spPr>
        <p:txBody>
          <a:bodyPr wrap="square" lIns="0" tIns="0" rIns="0" bIns="0" rtlCol="0" anchor="ctr"/>
          <a:lstStyle/>
          <a:p>
            <a:pPr marL="0" indent="0">
              <a:buNone/>
            </a:pPr>
            <a:r>
              <a:rPr lang="en-US" sz="1300" dirty="0">
                <a:solidFill>
                  <a:schemeClr val="tx1"/>
                </a:solidFill>
              </a:rPr>
              <a:t>Ride creation</a:t>
            </a:r>
            <a:endParaRPr lang="en-US" sz="1300" dirty="0"/>
          </a:p>
        </p:txBody>
      </p:sp>
      <p:pic>
        <p:nvPicPr>
          <p:cNvPr id="12" name="Image 2" descr="preencoded.png"/>
          <p:cNvPicPr>
            <a:picLocks noChangeAspect="1"/>
          </p:cNvPicPr>
          <p:nvPr/>
        </p:nvPicPr>
        <p:blipFill>
          <a:blip r:embed="rId3"/>
          <a:stretch>
            <a:fillRect/>
          </a:stretch>
        </p:blipFill>
        <p:spPr>
          <a:xfrm>
            <a:off x="685800" y="2660904"/>
            <a:ext cx="201168" cy="201168"/>
          </a:xfrm>
          <a:prstGeom prst="rect">
            <a:avLst/>
          </a:prstGeom>
        </p:spPr>
      </p:pic>
      <p:sp>
        <p:nvSpPr>
          <p:cNvPr id="13" name="Text 7"/>
          <p:cNvSpPr txBox="1"/>
          <p:nvPr/>
        </p:nvSpPr>
        <p:spPr>
          <a:xfrm>
            <a:off x="987552" y="2587752"/>
            <a:ext cx="2194560" cy="347472"/>
          </a:xfrm>
          <a:prstGeom prst="rect">
            <a:avLst/>
          </a:prstGeom>
          <a:noFill/>
          <a:ln/>
        </p:spPr>
        <p:txBody>
          <a:bodyPr wrap="square" lIns="0" tIns="0" rIns="0" bIns="0" rtlCol="0" anchor="ctr"/>
          <a:lstStyle/>
          <a:p>
            <a:pPr marL="0" indent="0">
              <a:buNone/>
            </a:pPr>
            <a:r>
              <a:rPr lang="en-US" sz="1300" dirty="0">
                <a:solidFill>
                  <a:schemeClr val="tx1"/>
                </a:solidFill>
              </a:rPr>
              <a:t>Join ride with code</a:t>
            </a:r>
            <a:endParaRPr lang="en-US" sz="1300" dirty="0"/>
          </a:p>
        </p:txBody>
      </p:sp>
      <p:pic>
        <p:nvPicPr>
          <p:cNvPr id="14" name="Image 3" descr="preencoded.png"/>
          <p:cNvPicPr>
            <a:picLocks noChangeAspect="1"/>
          </p:cNvPicPr>
          <p:nvPr/>
        </p:nvPicPr>
        <p:blipFill>
          <a:blip r:embed="rId3"/>
          <a:stretch>
            <a:fillRect/>
          </a:stretch>
        </p:blipFill>
        <p:spPr>
          <a:xfrm>
            <a:off x="3246120" y="2660904"/>
            <a:ext cx="201168" cy="201168"/>
          </a:xfrm>
          <a:prstGeom prst="rect">
            <a:avLst/>
          </a:prstGeom>
        </p:spPr>
      </p:pic>
      <p:sp>
        <p:nvSpPr>
          <p:cNvPr id="15" name="Text 8"/>
          <p:cNvSpPr txBox="1"/>
          <p:nvPr/>
        </p:nvSpPr>
        <p:spPr>
          <a:xfrm>
            <a:off x="3547872" y="2587752"/>
            <a:ext cx="2194560" cy="347472"/>
          </a:xfrm>
          <a:prstGeom prst="rect">
            <a:avLst/>
          </a:prstGeom>
          <a:noFill/>
          <a:ln/>
        </p:spPr>
        <p:txBody>
          <a:bodyPr wrap="square" lIns="0" tIns="0" rIns="0" bIns="0" rtlCol="0" anchor="ctr"/>
          <a:lstStyle/>
          <a:p>
            <a:pPr marL="0" indent="0">
              <a:buNone/>
            </a:pPr>
            <a:r>
              <a:rPr lang="en-US" sz="1300" dirty="0">
                <a:solidFill>
                  <a:schemeClr val="tx1"/>
                </a:solidFill>
              </a:rPr>
              <a:t>Live location sharing</a:t>
            </a:r>
            <a:endParaRPr lang="en-US" sz="1300" dirty="0"/>
          </a:p>
        </p:txBody>
      </p:sp>
      <p:pic>
        <p:nvPicPr>
          <p:cNvPr id="16" name="Image 4" descr="preencoded.png"/>
          <p:cNvPicPr>
            <a:picLocks noChangeAspect="1"/>
          </p:cNvPicPr>
          <p:nvPr/>
        </p:nvPicPr>
        <p:blipFill>
          <a:blip r:embed="rId3"/>
          <a:stretch>
            <a:fillRect/>
          </a:stretch>
        </p:blipFill>
        <p:spPr>
          <a:xfrm>
            <a:off x="685800" y="3145536"/>
            <a:ext cx="201168" cy="201168"/>
          </a:xfrm>
          <a:prstGeom prst="rect">
            <a:avLst/>
          </a:prstGeom>
        </p:spPr>
      </p:pic>
      <p:sp>
        <p:nvSpPr>
          <p:cNvPr id="17" name="Text 9"/>
          <p:cNvSpPr txBox="1"/>
          <p:nvPr/>
        </p:nvSpPr>
        <p:spPr>
          <a:xfrm>
            <a:off x="987552" y="3072384"/>
            <a:ext cx="2194560" cy="347472"/>
          </a:xfrm>
          <a:prstGeom prst="rect">
            <a:avLst/>
          </a:prstGeom>
          <a:noFill/>
          <a:ln/>
        </p:spPr>
        <p:txBody>
          <a:bodyPr wrap="square" lIns="0" tIns="0" rIns="0" bIns="0" rtlCol="0" anchor="ctr"/>
          <a:lstStyle/>
          <a:p>
            <a:pPr marL="0" indent="0">
              <a:buNone/>
            </a:pPr>
            <a:r>
              <a:rPr lang="en-US" sz="1300" dirty="0">
                <a:solidFill>
                  <a:schemeClr val="tx1"/>
                </a:solidFill>
              </a:rPr>
              <a:t>Map visualisation</a:t>
            </a:r>
            <a:endParaRPr lang="en-US" sz="1300" dirty="0"/>
          </a:p>
        </p:txBody>
      </p:sp>
      <p:pic>
        <p:nvPicPr>
          <p:cNvPr id="18" name="Image 5" descr="preencoded.png"/>
          <p:cNvPicPr>
            <a:picLocks noChangeAspect="1"/>
          </p:cNvPicPr>
          <p:nvPr/>
        </p:nvPicPr>
        <p:blipFill>
          <a:blip r:embed="rId3"/>
          <a:stretch>
            <a:fillRect/>
          </a:stretch>
        </p:blipFill>
        <p:spPr>
          <a:xfrm>
            <a:off x="3246120" y="3145536"/>
            <a:ext cx="201168" cy="201168"/>
          </a:xfrm>
          <a:prstGeom prst="rect">
            <a:avLst/>
          </a:prstGeom>
        </p:spPr>
      </p:pic>
      <p:sp>
        <p:nvSpPr>
          <p:cNvPr id="19" name="Text 10"/>
          <p:cNvSpPr txBox="1"/>
          <p:nvPr/>
        </p:nvSpPr>
        <p:spPr>
          <a:xfrm>
            <a:off x="3547872" y="3072384"/>
            <a:ext cx="2194560" cy="347472"/>
          </a:xfrm>
          <a:prstGeom prst="rect">
            <a:avLst/>
          </a:prstGeom>
          <a:noFill/>
          <a:ln/>
        </p:spPr>
        <p:txBody>
          <a:bodyPr wrap="square" lIns="0" tIns="0" rIns="0" bIns="0" rtlCol="0" anchor="ctr"/>
          <a:lstStyle/>
          <a:p>
            <a:pPr marL="0" indent="0">
              <a:buNone/>
            </a:pPr>
            <a:r>
              <a:rPr lang="en-US" sz="1300" dirty="0">
                <a:solidFill>
                  <a:schemeClr val="tx1"/>
                </a:solidFill>
              </a:rPr>
              <a:t>Route monitoring</a:t>
            </a:r>
            <a:endParaRPr lang="en-US" sz="1300" dirty="0"/>
          </a:p>
        </p:txBody>
      </p:sp>
      <p:pic>
        <p:nvPicPr>
          <p:cNvPr id="20" name="Image 6" descr="preencoded.png"/>
          <p:cNvPicPr>
            <a:picLocks noChangeAspect="1"/>
          </p:cNvPicPr>
          <p:nvPr/>
        </p:nvPicPr>
        <p:blipFill>
          <a:blip r:embed="rId3"/>
          <a:stretch>
            <a:fillRect/>
          </a:stretch>
        </p:blipFill>
        <p:spPr>
          <a:xfrm>
            <a:off x="685800" y="3630168"/>
            <a:ext cx="201168" cy="201168"/>
          </a:xfrm>
          <a:prstGeom prst="rect">
            <a:avLst/>
          </a:prstGeom>
        </p:spPr>
      </p:pic>
      <p:sp>
        <p:nvSpPr>
          <p:cNvPr id="21" name="Text 11"/>
          <p:cNvSpPr txBox="1"/>
          <p:nvPr/>
        </p:nvSpPr>
        <p:spPr>
          <a:xfrm>
            <a:off x="987552" y="3557016"/>
            <a:ext cx="2194560" cy="347472"/>
          </a:xfrm>
          <a:prstGeom prst="rect">
            <a:avLst/>
          </a:prstGeom>
          <a:noFill/>
          <a:ln/>
        </p:spPr>
        <p:txBody>
          <a:bodyPr wrap="square" lIns="0" tIns="0" rIns="0" bIns="0" rtlCol="0" anchor="ctr"/>
          <a:lstStyle/>
          <a:p>
            <a:pPr marL="0" indent="0">
              <a:buNone/>
            </a:pPr>
            <a:r>
              <a:rPr lang="en-US" sz="1300" dirty="0">
                <a:solidFill>
                  <a:schemeClr val="tx1"/>
                </a:solidFill>
              </a:rPr>
              <a:t>SOS alert</a:t>
            </a:r>
            <a:endParaRPr lang="en-US" sz="1300" dirty="0"/>
          </a:p>
        </p:txBody>
      </p:sp>
      <p:pic>
        <p:nvPicPr>
          <p:cNvPr id="22" name="Image 7" descr="preencoded.png"/>
          <p:cNvPicPr>
            <a:picLocks noChangeAspect="1"/>
          </p:cNvPicPr>
          <p:nvPr/>
        </p:nvPicPr>
        <p:blipFill>
          <a:blip r:embed="rId3"/>
          <a:stretch>
            <a:fillRect/>
          </a:stretch>
        </p:blipFill>
        <p:spPr>
          <a:xfrm>
            <a:off x="3246120" y="3630168"/>
            <a:ext cx="201168" cy="201168"/>
          </a:xfrm>
          <a:prstGeom prst="rect">
            <a:avLst/>
          </a:prstGeom>
        </p:spPr>
      </p:pic>
      <p:sp>
        <p:nvSpPr>
          <p:cNvPr id="23" name="Text 12"/>
          <p:cNvSpPr txBox="1"/>
          <p:nvPr/>
        </p:nvSpPr>
        <p:spPr>
          <a:xfrm>
            <a:off x="3547872" y="3557016"/>
            <a:ext cx="2194560" cy="347472"/>
          </a:xfrm>
          <a:prstGeom prst="rect">
            <a:avLst/>
          </a:prstGeom>
          <a:noFill/>
          <a:ln/>
        </p:spPr>
        <p:txBody>
          <a:bodyPr wrap="square" lIns="0" tIns="0" rIns="0" bIns="0" rtlCol="0" anchor="ctr"/>
          <a:lstStyle/>
          <a:p>
            <a:pPr marL="0" indent="0">
              <a:buNone/>
            </a:pPr>
            <a:r>
              <a:rPr lang="en-US" sz="1300" dirty="0">
                <a:solidFill>
                  <a:schemeClr val="tx1"/>
                </a:solidFill>
              </a:rPr>
              <a:t>Disconnect handling</a:t>
            </a:r>
            <a:endParaRPr lang="en-US" sz="1300" dirty="0"/>
          </a:p>
        </p:txBody>
      </p:sp>
      <p:pic>
        <p:nvPicPr>
          <p:cNvPr id="24" name="Image 8" descr="preencoded.png"/>
          <p:cNvPicPr>
            <a:picLocks noChangeAspect="1"/>
          </p:cNvPicPr>
          <p:nvPr/>
        </p:nvPicPr>
        <p:blipFill>
          <a:blip r:embed="rId3"/>
          <a:stretch>
            <a:fillRect/>
          </a:stretch>
        </p:blipFill>
        <p:spPr>
          <a:xfrm>
            <a:off x="685800" y="4114800"/>
            <a:ext cx="201168" cy="201168"/>
          </a:xfrm>
          <a:prstGeom prst="rect">
            <a:avLst/>
          </a:prstGeom>
        </p:spPr>
      </p:pic>
      <p:sp>
        <p:nvSpPr>
          <p:cNvPr id="25" name="Text 13"/>
          <p:cNvSpPr txBox="1"/>
          <p:nvPr/>
        </p:nvSpPr>
        <p:spPr>
          <a:xfrm>
            <a:off x="987552" y="4041648"/>
            <a:ext cx="2194560" cy="347472"/>
          </a:xfrm>
          <a:prstGeom prst="rect">
            <a:avLst/>
          </a:prstGeom>
          <a:noFill/>
          <a:ln/>
        </p:spPr>
        <p:txBody>
          <a:bodyPr wrap="square" lIns="0" tIns="0" rIns="0" bIns="0" rtlCol="0" anchor="ctr"/>
          <a:lstStyle/>
          <a:p>
            <a:pPr marL="0" indent="0">
              <a:buNone/>
            </a:pPr>
            <a:r>
              <a:rPr lang="en-US" sz="1300" dirty="0">
                <a:solidFill>
                  <a:schemeClr val="tx1"/>
                </a:solidFill>
              </a:rPr>
              <a:t>Ride history</a:t>
            </a:r>
            <a:endParaRPr lang="en-US" sz="1300" dirty="0"/>
          </a:p>
        </p:txBody>
      </p:sp>
      <p:pic>
        <p:nvPicPr>
          <p:cNvPr id="26" name="Image 9" descr="preencoded.png"/>
          <p:cNvPicPr>
            <a:picLocks noChangeAspect="1"/>
          </p:cNvPicPr>
          <p:nvPr/>
        </p:nvPicPr>
        <p:blipFill>
          <a:blip r:embed="rId3"/>
          <a:stretch>
            <a:fillRect/>
          </a:stretch>
        </p:blipFill>
        <p:spPr>
          <a:xfrm>
            <a:off x="3246120" y="4114800"/>
            <a:ext cx="201168" cy="201168"/>
          </a:xfrm>
          <a:prstGeom prst="rect">
            <a:avLst/>
          </a:prstGeom>
        </p:spPr>
      </p:pic>
      <p:sp>
        <p:nvSpPr>
          <p:cNvPr id="27" name="Text 14"/>
          <p:cNvSpPr txBox="1"/>
          <p:nvPr/>
        </p:nvSpPr>
        <p:spPr>
          <a:xfrm>
            <a:off x="3547872" y="4041648"/>
            <a:ext cx="2194560" cy="347472"/>
          </a:xfrm>
          <a:prstGeom prst="rect">
            <a:avLst/>
          </a:prstGeom>
          <a:noFill/>
          <a:ln/>
        </p:spPr>
        <p:txBody>
          <a:bodyPr wrap="square" lIns="0" tIns="0" rIns="0" bIns="0" rtlCol="0" anchor="ctr"/>
          <a:lstStyle/>
          <a:p>
            <a:pPr marL="0" indent="0">
              <a:buNone/>
            </a:pPr>
            <a:r>
              <a:rPr lang="en-US" sz="1300" dirty="0">
                <a:solidFill>
                  <a:schemeClr val="tx1"/>
                </a:solidFill>
              </a:rPr>
              <a:t>Administration</a:t>
            </a:r>
            <a:endParaRPr lang="en-US" sz="1300" dirty="0"/>
          </a:p>
        </p:txBody>
      </p:sp>
      <p:sp>
        <p:nvSpPr>
          <p:cNvPr id="28" name="Shape 15"/>
          <p:cNvSpPr/>
          <p:nvPr/>
        </p:nvSpPr>
        <p:spPr>
          <a:xfrm>
            <a:off x="6172200" y="1188720"/>
            <a:ext cx="2514600" cy="3429000"/>
          </a:xfrm>
          <a:prstGeom prst="roundRect">
            <a:avLst>
              <a:gd name="adj" fmla="val 2909"/>
            </a:avLst>
          </a:prstGeom>
          <a:solidFill>
            <a:schemeClr val="bg2"/>
          </a:solidFill>
          <a:ln/>
        </p:spPr>
      </p:sp>
      <p:sp>
        <p:nvSpPr>
          <p:cNvPr id="29" name="Text 16"/>
          <p:cNvSpPr txBox="1"/>
          <p:nvPr/>
        </p:nvSpPr>
        <p:spPr>
          <a:xfrm>
            <a:off x="6400800" y="1325880"/>
            <a:ext cx="2103120" cy="182880"/>
          </a:xfrm>
          <a:prstGeom prst="rect">
            <a:avLst/>
          </a:prstGeom>
          <a:noFill/>
          <a:ln/>
        </p:spPr>
        <p:txBody>
          <a:bodyPr wrap="square" lIns="0" tIns="0" rIns="0" bIns="0" rtlCol="0" anchor="t"/>
          <a:lstStyle/>
          <a:p>
            <a:pPr marL="0" indent="0">
              <a:buNone/>
            </a:pPr>
            <a:r>
              <a:rPr lang="en-US" sz="1000" b="1" kern="0" spc="100" dirty="0">
                <a:solidFill>
                  <a:schemeClr val="accent6"/>
                </a:solidFill>
              </a:rPr>
              <a:t>FUTURE SCOPE</a:t>
            </a:r>
            <a:endParaRPr lang="en-US" sz="1000" dirty="0"/>
          </a:p>
        </p:txBody>
      </p:sp>
      <p:sp>
        <p:nvSpPr>
          <p:cNvPr id="30" name="Text 17"/>
          <p:cNvSpPr txBox="1"/>
          <p:nvPr/>
        </p:nvSpPr>
        <p:spPr>
          <a:xfrm>
            <a:off x="6400800" y="1627632"/>
            <a:ext cx="2148840" cy="2926080"/>
          </a:xfrm>
          <a:prstGeom prst="rect">
            <a:avLst/>
          </a:prstGeom>
          <a:noFill/>
          <a:ln/>
        </p:spPr>
        <p:txBody>
          <a:bodyPr wrap="square" lIns="0" tIns="0" rIns="0" bIns="0" rtlCol="0" anchor="t"/>
          <a:lstStyle/>
          <a:p>
            <a:pPr marL="177800" indent="-177800">
              <a:spcAft>
                <a:spcPts val="700"/>
              </a:spcAft>
              <a:buSzPct val="100000"/>
              <a:buChar char="•"/>
            </a:pPr>
            <a:r>
              <a:rPr lang="en-US" sz="1250" dirty="0">
                <a:solidFill>
                  <a:schemeClr val="tx1"/>
                </a:solidFill>
              </a:rPr>
              <a:t>Native Android / iOS app</a:t>
            </a:r>
            <a:endParaRPr lang="en-US" sz="1400" dirty="0"/>
          </a:p>
          <a:p>
            <a:pPr marL="177800" indent="-177800">
              <a:spcAft>
                <a:spcPts val="700"/>
              </a:spcAft>
              <a:buSzPct val="100000"/>
              <a:buChar char="•"/>
            </a:pPr>
            <a:r>
              <a:rPr lang="en-US" sz="1250" dirty="0">
                <a:solidFill>
                  <a:schemeClr val="tx1"/>
                </a:solidFill>
              </a:rPr>
              <a:t>Offline tracking, SMS fallback</a:t>
            </a:r>
            <a:endParaRPr lang="en-US" sz="1400" dirty="0"/>
          </a:p>
          <a:p>
            <a:pPr marL="177800" indent="-177800">
              <a:spcAft>
                <a:spcPts val="700"/>
              </a:spcAft>
              <a:buSzPct val="100000"/>
              <a:buChar char="•"/>
            </a:pPr>
            <a:r>
              <a:rPr lang="en-US" sz="1250" dirty="0">
                <a:solidFill>
                  <a:schemeClr val="tx1"/>
                </a:solidFill>
              </a:rPr>
              <a:t>Geofencing, low-battery, no-movement alerts</a:t>
            </a:r>
            <a:endParaRPr lang="en-US" sz="1400" dirty="0"/>
          </a:p>
          <a:p>
            <a:pPr marL="177800" indent="-177800">
              <a:spcAft>
                <a:spcPts val="700"/>
              </a:spcAft>
              <a:buSzPct val="100000"/>
              <a:buChar char="•"/>
            </a:pPr>
            <a:r>
              <a:rPr lang="en-US" sz="1250" dirty="0">
                <a:solidFill>
                  <a:schemeClr val="tx1"/>
                </a:solidFill>
              </a:rPr>
              <a:t>Push, SMS, email, audio emergency</a:t>
            </a:r>
            <a:endParaRPr lang="en-US" sz="1400" dirty="0"/>
          </a:p>
          <a:p>
            <a:pPr marL="177800" indent="-177800">
              <a:spcAft>
                <a:spcPts val="700"/>
              </a:spcAft>
              <a:buSzPct val="100000"/>
              <a:buChar char="•"/>
            </a:pPr>
            <a:r>
              <a:rPr lang="en-US" sz="1250" dirty="0">
                <a:solidFill>
                  <a:schemeClr val="tx1"/>
                </a:solidFill>
              </a:rPr>
              <a:t>Automatic accident detection</a:t>
            </a:r>
            <a:endParaRPr lang="en-US" sz="1400" dirty="0"/>
          </a:p>
          <a:p>
            <a:pPr marL="177800" indent="-177800">
              <a:spcAft>
                <a:spcPts val="700"/>
              </a:spcAft>
              <a:buSzPct val="100000"/>
              <a:buChar char="•"/>
            </a:pPr>
            <a:r>
              <a:rPr lang="en-US" sz="1250" dirty="0">
                <a:solidFill>
                  <a:schemeClr val="tx1"/>
                </a:solidFill>
              </a:rPr>
              <a:t>Ride analytics, cloud scaling</a:t>
            </a:r>
            <a:endParaRPr lang="en-US" sz="1400" dirty="0"/>
          </a:p>
        </p:txBody>
      </p:sp>
      <p:sp>
        <p:nvSpPr>
          <p:cNvPr id="4" name="Slide Number Placeholder 0"/>
          <p:cNvSpPr>
            <a:spLocks noGrp="1"/>
          </p:cNvSpPr>
          <p:nvPr>
            <p:ph type="sldNum" sz="quarter" idx="4294967295"/>
          </p:nvPr>
        </p:nvSpPr>
        <p:spPr>
          <a:xfrm>
            <a:off x="8138160" y="4791456"/>
            <a:ext cx="548640" cy="228600"/>
          </a:xfrm>
          <a:prstGeom prst="rect">
            <a:avLst/>
          </a:prstGeom>
          <a:extLst>
            <a:ext uri="{C572A759-6A51-4108-AA02-DFA0A04FC94B}">
              <ma14:wrappingTextBoxFlag xmlns:ma14="http://schemas.microsoft.com/office/mac/drawingml/2011/main" xmlns="" val="0"/>
            </a:ext>
          </a:extLst>
        </p:spPr>
        <p:txBody>
          <a:bodyPr/>
          <a:lstStyle>
            <a:lvl1pPr>
              <a:defRPr sz="1000">
                <a:solidFill>
                  <a:srgbClr val="475569"/>
                </a:solidFill>
              </a:defRPr>
            </a:lvl1pPr>
          </a:lstStyle>
          <a:p>
            <a:pPr algn="r"/>
            <a:fld id="{F7021451-1387-4CA6-816F-3879F97B5CBC}" type="slidenum">
              <a:rPr lang="en-US" b="0"/>
              <a:t>8</a:t>
            </a:fld>
            <a:endParaRPr lang="en-US"/>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457200" y="420624"/>
            <a:ext cx="8229600" cy="566928"/>
          </a:xfrm>
          <a:prstGeom prst="rect">
            <a:avLst/>
          </a:prstGeom>
          <a:noFill/>
          <a:ln/>
        </p:spPr>
        <p:txBody>
          <a:bodyPr wrap="square" lIns="0" tIns="0" rIns="0" bIns="0" rtlCol="0" anchor="ctr"/>
          <a:lstStyle/>
          <a:p>
            <a:pPr marL="0" indent="0" algn="l">
              <a:buNone/>
            </a:pPr>
            <a:r>
              <a:rPr lang="en-US" sz="2800" b="1" dirty="0">
                <a:solidFill>
                  <a:schemeClr val="tx1"/>
                </a:solidFill>
              </a:rPr>
              <a:t>Recent studies on GPS tracking and safety</a:t>
            </a:r>
            <a:endParaRPr lang="en-US" sz="2800" dirty="0"/>
          </a:p>
        </p:txBody>
      </p:sp>
      <p:sp>
        <p:nvSpPr>
          <p:cNvPr id="3" name="Text 1"/>
          <p:cNvSpPr txBox="1"/>
          <p:nvPr/>
        </p:nvSpPr>
        <p:spPr>
          <a:xfrm>
            <a:off x="457200" y="219456"/>
            <a:ext cx="5486400" cy="182880"/>
          </a:xfrm>
          <a:prstGeom prst="rect">
            <a:avLst/>
          </a:prstGeom>
          <a:noFill/>
          <a:ln/>
        </p:spPr>
        <p:txBody>
          <a:bodyPr wrap="square" lIns="0" tIns="0" rIns="0" bIns="0" rtlCol="0" anchor="t"/>
          <a:lstStyle/>
          <a:p>
            <a:pPr marL="0" indent="0">
              <a:buNone/>
            </a:pPr>
            <a:r>
              <a:rPr lang="en-US" sz="1000" b="1" kern="0" spc="200" dirty="0">
                <a:solidFill>
                  <a:schemeClr val="accent1"/>
                </a:solidFill>
              </a:rPr>
              <a:t>LITERATURE REVIEW  (1 OF 2)</a:t>
            </a:r>
            <a:endParaRPr lang="en-US" sz="1000" dirty="0"/>
          </a:p>
        </p:txBody>
      </p:sp>
      <p:graphicFrame>
        <p:nvGraphicFramePr>
          <p:cNvPr id="10" name="Table 0"/>
          <p:cNvGraphicFramePr>
            <a:graphicFrameLocks noGrp="1"/>
          </p:cNvGraphicFramePr>
          <p:nvPr>
            <p:extLst>
              <p:ext uri="{D42A27DB-BD31-4B8C-83A1-F6EECF244321}">
                <p14:modId xmlns:p14="http://schemas.microsoft.com/office/powerpoint/2010/main" val="3363793579"/>
              </p:ext>
            </p:extLst>
          </p:nvPr>
        </p:nvGraphicFramePr>
        <p:xfrm>
          <a:off x="350520" y="1083564"/>
          <a:ext cx="8229600" cy="3639312"/>
        </p:xfrm>
        <a:graphic>
          <a:graphicData uri="http://schemas.openxmlformats.org/drawingml/2006/table">
            <a:tbl>
              <a:tblPr/>
              <a:tblGrid>
                <a:gridCol w="1097280">
                  <a:extLst>
                    <a:ext uri="{9D8B030D-6E8A-4147-A177-3AD203B41FA5}">
                      <a16:colId xmlns:a16="http://schemas.microsoft.com/office/drawing/2014/main" val="20000"/>
                    </a:ext>
                  </a:extLst>
                </a:gridCol>
                <a:gridCol w="1691640">
                  <a:extLst>
                    <a:ext uri="{9D8B030D-6E8A-4147-A177-3AD203B41FA5}">
                      <a16:colId xmlns:a16="http://schemas.microsoft.com/office/drawing/2014/main" val="20001"/>
                    </a:ext>
                  </a:extLst>
                </a:gridCol>
                <a:gridCol w="1783080">
                  <a:extLst>
                    <a:ext uri="{9D8B030D-6E8A-4147-A177-3AD203B41FA5}">
                      <a16:colId xmlns:a16="http://schemas.microsoft.com/office/drawing/2014/main" val="20002"/>
                    </a:ext>
                  </a:extLst>
                </a:gridCol>
                <a:gridCol w="1874520">
                  <a:extLst>
                    <a:ext uri="{9D8B030D-6E8A-4147-A177-3AD203B41FA5}">
                      <a16:colId xmlns:a16="http://schemas.microsoft.com/office/drawing/2014/main" val="20003"/>
                    </a:ext>
                  </a:extLst>
                </a:gridCol>
                <a:gridCol w="1783080">
                  <a:extLst>
                    <a:ext uri="{9D8B030D-6E8A-4147-A177-3AD203B41FA5}">
                      <a16:colId xmlns:a16="http://schemas.microsoft.com/office/drawing/2014/main" val="20004"/>
                    </a:ext>
                  </a:extLst>
                </a:gridCol>
              </a:tblGrid>
              <a:tr h="292608">
                <a:tc>
                  <a:txBody>
                    <a:bodyPr/>
                    <a:lstStyle/>
                    <a:p>
                      <a:pPr marL="0" indent="0">
                        <a:buNone/>
                      </a:pPr>
                      <a:r>
                        <a:rPr lang="en-US" sz="1100" b="1" dirty="0">
                          <a:solidFill>
                            <a:schemeClr val="bg1"/>
                          </a:solidFill>
                        </a:rPr>
                        <a:t>Author &amp; Year</a:t>
                      </a:r>
                      <a:endParaRPr lang="en-US" sz="1100" dirty="0"/>
                    </a:p>
                  </a:txBody>
                  <a:tcPr marL="64008" marR="64008" marT="36576" marB="36576" anchor="ctr">
                    <a:lnL w="6350" cap="flat" cmpd="sng" algn="ctr">
                      <a:solidFill>
                        <a:srgbClr val="D5DCE8"/>
                      </a:solidFill>
                      <a:prstDash val="solid"/>
                      <a:round/>
                      <a:headEnd type="none" w="med" len="med"/>
                      <a:tailEnd type="none" w="med" len="med"/>
                    </a:lnL>
                    <a:lnR w="6350" cap="flat" cmpd="sng" algn="ctr">
                      <a:solidFill>
                        <a:srgbClr val="D5DCE8"/>
                      </a:solidFill>
                      <a:prstDash val="solid"/>
                      <a:round/>
                      <a:headEnd type="none" w="med" len="med"/>
                      <a:tailEnd type="none" w="med" len="med"/>
                    </a:lnR>
                    <a:lnT w="6350" cap="flat" cmpd="sng" algn="ctr">
                      <a:solidFill>
                        <a:srgbClr val="D5DCE8"/>
                      </a:solidFill>
                      <a:prstDash val="solid"/>
                      <a:round/>
                      <a:headEnd type="none" w="med" len="med"/>
                      <a:tailEnd type="none" w="med" len="med"/>
                    </a:lnT>
                    <a:lnB w="6350" cap="flat" cmpd="sng" algn="ctr">
                      <a:solidFill>
                        <a:srgbClr val="D5DCE8"/>
                      </a:solidFill>
                      <a:prstDash val="solid"/>
                      <a:round/>
                      <a:headEnd type="none" w="med" len="med"/>
                      <a:tailEnd type="none" w="med" len="med"/>
                    </a:lnB>
                    <a:solidFill>
                      <a:schemeClr val="tx1"/>
                    </a:solidFill>
                  </a:tcPr>
                </a:tc>
                <a:tc>
                  <a:txBody>
                    <a:bodyPr/>
                    <a:lstStyle/>
                    <a:p>
                      <a:pPr marL="0" indent="0">
                        <a:buNone/>
                      </a:pPr>
                      <a:r>
                        <a:rPr lang="en-US" sz="1100" b="1" dirty="0">
                          <a:solidFill>
                            <a:schemeClr val="bg1"/>
                          </a:solidFill>
                        </a:rPr>
                        <a:t>Topic</a:t>
                      </a:r>
                      <a:endParaRPr lang="en-US" sz="1100" dirty="0"/>
                    </a:p>
                  </a:txBody>
                  <a:tcPr marL="64008" marR="64008" marT="36576" marB="36576" anchor="ctr">
                    <a:lnL w="6350" cap="flat" cmpd="sng" algn="ctr">
                      <a:solidFill>
                        <a:srgbClr val="D5DCE8"/>
                      </a:solidFill>
                      <a:prstDash val="solid"/>
                      <a:round/>
                      <a:headEnd type="none" w="med" len="med"/>
                      <a:tailEnd type="none" w="med" len="med"/>
                    </a:lnL>
                    <a:lnR w="6350" cap="flat" cmpd="sng" algn="ctr">
                      <a:solidFill>
                        <a:srgbClr val="D5DCE8"/>
                      </a:solidFill>
                      <a:prstDash val="solid"/>
                      <a:round/>
                      <a:headEnd type="none" w="med" len="med"/>
                      <a:tailEnd type="none" w="med" len="med"/>
                    </a:lnR>
                    <a:lnT w="6350" cap="flat" cmpd="sng" algn="ctr">
                      <a:solidFill>
                        <a:srgbClr val="D5DCE8"/>
                      </a:solidFill>
                      <a:prstDash val="solid"/>
                      <a:round/>
                      <a:headEnd type="none" w="med" len="med"/>
                      <a:tailEnd type="none" w="med" len="med"/>
                    </a:lnT>
                    <a:lnB w="6350" cap="flat" cmpd="sng" algn="ctr">
                      <a:solidFill>
                        <a:srgbClr val="D5DCE8"/>
                      </a:solidFill>
                      <a:prstDash val="solid"/>
                      <a:round/>
                      <a:headEnd type="none" w="med" len="med"/>
                      <a:tailEnd type="none" w="med" len="med"/>
                    </a:lnB>
                    <a:solidFill>
                      <a:schemeClr val="tx1"/>
                    </a:solidFill>
                  </a:tcPr>
                </a:tc>
                <a:tc>
                  <a:txBody>
                    <a:bodyPr/>
                    <a:lstStyle/>
                    <a:p>
                      <a:pPr marL="0" indent="0">
                        <a:buNone/>
                      </a:pPr>
                      <a:r>
                        <a:rPr lang="en-US" sz="1100" b="1" dirty="0">
                          <a:solidFill>
                            <a:schemeClr val="bg1"/>
                          </a:solidFill>
                        </a:rPr>
                        <a:t>Method / Technology</a:t>
                      </a:r>
                      <a:endParaRPr lang="en-US" sz="1100" dirty="0"/>
                    </a:p>
                  </a:txBody>
                  <a:tcPr marL="64008" marR="64008" marT="36576" marB="36576" anchor="ctr">
                    <a:lnL w="6350" cap="flat" cmpd="sng" algn="ctr">
                      <a:solidFill>
                        <a:srgbClr val="D5DCE8"/>
                      </a:solidFill>
                      <a:prstDash val="solid"/>
                      <a:round/>
                      <a:headEnd type="none" w="med" len="med"/>
                      <a:tailEnd type="none" w="med" len="med"/>
                    </a:lnL>
                    <a:lnR w="6350" cap="flat" cmpd="sng" algn="ctr">
                      <a:solidFill>
                        <a:srgbClr val="D5DCE8"/>
                      </a:solidFill>
                      <a:prstDash val="solid"/>
                      <a:round/>
                      <a:headEnd type="none" w="med" len="med"/>
                      <a:tailEnd type="none" w="med" len="med"/>
                    </a:lnR>
                    <a:lnT w="6350" cap="flat" cmpd="sng" algn="ctr">
                      <a:solidFill>
                        <a:srgbClr val="D5DCE8"/>
                      </a:solidFill>
                      <a:prstDash val="solid"/>
                      <a:round/>
                      <a:headEnd type="none" w="med" len="med"/>
                      <a:tailEnd type="none" w="med" len="med"/>
                    </a:lnT>
                    <a:lnB w="6350" cap="flat" cmpd="sng" algn="ctr">
                      <a:solidFill>
                        <a:srgbClr val="D5DCE8"/>
                      </a:solidFill>
                      <a:prstDash val="solid"/>
                      <a:round/>
                      <a:headEnd type="none" w="med" len="med"/>
                      <a:tailEnd type="none" w="med" len="med"/>
                    </a:lnB>
                    <a:solidFill>
                      <a:schemeClr val="tx1"/>
                    </a:solidFill>
                  </a:tcPr>
                </a:tc>
                <a:tc>
                  <a:txBody>
                    <a:bodyPr/>
                    <a:lstStyle/>
                    <a:p>
                      <a:pPr marL="0" indent="0">
                        <a:buNone/>
                      </a:pPr>
                      <a:r>
                        <a:rPr lang="en-US" sz="1100" b="1" dirty="0">
                          <a:solidFill>
                            <a:schemeClr val="bg1"/>
                          </a:solidFill>
                        </a:rPr>
                        <a:t>Key finding</a:t>
                      </a:r>
                      <a:endParaRPr lang="en-US" sz="1100" dirty="0"/>
                    </a:p>
                  </a:txBody>
                  <a:tcPr marL="64008" marR="64008" marT="36576" marB="36576" anchor="ctr">
                    <a:lnL w="6350" cap="flat" cmpd="sng" algn="ctr">
                      <a:solidFill>
                        <a:srgbClr val="D5DCE8"/>
                      </a:solidFill>
                      <a:prstDash val="solid"/>
                      <a:round/>
                      <a:headEnd type="none" w="med" len="med"/>
                      <a:tailEnd type="none" w="med" len="med"/>
                    </a:lnL>
                    <a:lnR w="6350" cap="flat" cmpd="sng" algn="ctr">
                      <a:solidFill>
                        <a:srgbClr val="D5DCE8"/>
                      </a:solidFill>
                      <a:prstDash val="solid"/>
                      <a:round/>
                      <a:headEnd type="none" w="med" len="med"/>
                      <a:tailEnd type="none" w="med" len="med"/>
                    </a:lnR>
                    <a:lnT w="6350" cap="flat" cmpd="sng" algn="ctr">
                      <a:solidFill>
                        <a:srgbClr val="D5DCE8"/>
                      </a:solidFill>
                      <a:prstDash val="solid"/>
                      <a:round/>
                      <a:headEnd type="none" w="med" len="med"/>
                      <a:tailEnd type="none" w="med" len="med"/>
                    </a:lnT>
                    <a:lnB w="6350" cap="flat" cmpd="sng" algn="ctr">
                      <a:solidFill>
                        <a:srgbClr val="D5DCE8"/>
                      </a:solidFill>
                      <a:prstDash val="solid"/>
                      <a:round/>
                      <a:headEnd type="none" w="med" len="med"/>
                      <a:tailEnd type="none" w="med" len="med"/>
                    </a:lnB>
                    <a:solidFill>
                      <a:schemeClr val="tx1"/>
                    </a:solidFill>
                  </a:tcPr>
                </a:tc>
                <a:tc>
                  <a:txBody>
                    <a:bodyPr/>
                    <a:lstStyle/>
                    <a:p>
                      <a:pPr marL="0" indent="0">
                        <a:buNone/>
                      </a:pPr>
                      <a:r>
                        <a:rPr lang="en-US" sz="1100" b="1" dirty="0">
                          <a:solidFill>
                            <a:schemeClr val="bg1"/>
                          </a:solidFill>
                        </a:rPr>
                        <a:t>Relevance to PackTrace</a:t>
                      </a:r>
                      <a:endParaRPr lang="en-US" sz="1100" dirty="0"/>
                    </a:p>
                  </a:txBody>
                  <a:tcPr marL="64008" marR="64008" marT="36576" marB="36576" anchor="ctr">
                    <a:lnL w="6350" cap="flat" cmpd="sng" algn="ctr">
                      <a:solidFill>
                        <a:srgbClr val="D5DCE8"/>
                      </a:solidFill>
                      <a:prstDash val="solid"/>
                      <a:round/>
                      <a:headEnd type="none" w="med" len="med"/>
                      <a:tailEnd type="none" w="med" len="med"/>
                    </a:lnL>
                    <a:lnR w="6350" cap="flat" cmpd="sng" algn="ctr">
                      <a:solidFill>
                        <a:srgbClr val="D5DCE8"/>
                      </a:solidFill>
                      <a:prstDash val="solid"/>
                      <a:round/>
                      <a:headEnd type="none" w="med" len="med"/>
                      <a:tailEnd type="none" w="med" len="med"/>
                    </a:lnR>
                    <a:lnT w="6350" cap="flat" cmpd="sng" algn="ctr">
                      <a:solidFill>
                        <a:srgbClr val="D5DCE8"/>
                      </a:solidFill>
                      <a:prstDash val="solid"/>
                      <a:round/>
                      <a:headEnd type="none" w="med" len="med"/>
                      <a:tailEnd type="none" w="med" len="med"/>
                    </a:lnT>
                    <a:lnB w="6350" cap="flat" cmpd="sng" algn="ctr">
                      <a:solidFill>
                        <a:srgbClr val="D5DCE8"/>
                      </a:solidFill>
                      <a:prstDash val="solid"/>
                      <a:round/>
                      <a:headEnd type="none" w="med" len="med"/>
                      <a:tailEnd type="none" w="med" len="med"/>
                    </a:lnB>
                    <a:solidFill>
                      <a:schemeClr val="tx1"/>
                    </a:solidFill>
                  </a:tcPr>
                </a:tc>
                <a:extLst>
                  <a:ext uri="{0D108BD9-81ED-4DB2-BD59-A6C34878D82A}">
                    <a16:rowId xmlns:a16="http://schemas.microsoft.com/office/drawing/2014/main" val="10000"/>
                  </a:ext>
                </a:extLst>
              </a:tr>
              <a:tr h="658368">
                <a:tc>
                  <a:txBody>
                    <a:bodyPr/>
                    <a:lstStyle/>
                    <a:p>
                      <a:pPr marL="0" indent="0">
                        <a:buNone/>
                      </a:pPr>
                      <a:r>
                        <a:rPr lang="en-US" sz="1050" b="1" dirty="0">
                          <a:solidFill>
                            <a:schemeClr val="tx1"/>
                          </a:solidFill>
                        </a:rPr>
                        <a:t>Aldhahri et al., 2025 [1]</a:t>
                      </a:r>
                      <a:endParaRPr lang="en-US" sz="1050" dirty="0"/>
                    </a:p>
                  </a:txBody>
                  <a:tcPr marL="64008" marR="64008" marT="36576" marB="36576" anchor="ctr">
                    <a:lnL w="6350" cap="flat" cmpd="sng" algn="ctr">
                      <a:solidFill>
                        <a:srgbClr val="D5DCE8"/>
                      </a:solidFill>
                      <a:prstDash val="solid"/>
                      <a:round/>
                      <a:headEnd type="none" w="med" len="med"/>
                      <a:tailEnd type="none" w="med" len="med"/>
                    </a:lnL>
                    <a:lnR w="6350" cap="flat" cmpd="sng" algn="ctr">
                      <a:solidFill>
                        <a:srgbClr val="D5DCE8"/>
                      </a:solidFill>
                      <a:prstDash val="solid"/>
                      <a:round/>
                      <a:headEnd type="none" w="med" len="med"/>
                      <a:tailEnd type="none" w="med" len="med"/>
                    </a:lnR>
                    <a:lnT w="6350" cap="flat" cmpd="sng" algn="ctr">
                      <a:solidFill>
                        <a:srgbClr val="D5DCE8"/>
                      </a:solidFill>
                      <a:prstDash val="solid"/>
                      <a:round/>
                      <a:headEnd type="none" w="med" len="med"/>
                      <a:tailEnd type="none" w="med" len="med"/>
                    </a:lnT>
                    <a:lnB w="6350" cap="flat" cmpd="sng" algn="ctr">
                      <a:solidFill>
                        <a:srgbClr val="D5DCE8"/>
                      </a:solidFill>
                      <a:prstDash val="solid"/>
                      <a:round/>
                      <a:headEnd type="none" w="med" len="med"/>
                      <a:tailEnd type="none" w="med" len="med"/>
                    </a:lnB>
                  </a:tcPr>
                </a:tc>
                <a:tc>
                  <a:txBody>
                    <a:bodyPr/>
                    <a:lstStyle/>
                    <a:p>
                      <a:pPr marL="0" indent="0">
                        <a:buNone/>
                      </a:pPr>
                      <a:r>
                        <a:rPr lang="en-US" sz="1050" dirty="0">
                          <a:solidFill>
                            <a:schemeClr val="tx1"/>
                          </a:solidFill>
                        </a:rPr>
                        <a:t>GNN-RMNet: GPS analytics for driver behaviour and route optimisation</a:t>
                      </a:r>
                      <a:endParaRPr lang="en-US" sz="1050" dirty="0"/>
                    </a:p>
                  </a:txBody>
                  <a:tcPr marL="64008" marR="64008" marT="36576" marB="36576" anchor="ctr">
                    <a:lnL w="6350" cap="flat" cmpd="sng" algn="ctr">
                      <a:solidFill>
                        <a:srgbClr val="D5DCE8"/>
                      </a:solidFill>
                      <a:prstDash val="solid"/>
                      <a:round/>
                      <a:headEnd type="none" w="med" len="med"/>
                      <a:tailEnd type="none" w="med" len="med"/>
                    </a:lnL>
                    <a:lnR w="6350" cap="flat" cmpd="sng" algn="ctr">
                      <a:solidFill>
                        <a:srgbClr val="D5DCE8"/>
                      </a:solidFill>
                      <a:prstDash val="solid"/>
                      <a:round/>
                      <a:headEnd type="none" w="med" len="med"/>
                      <a:tailEnd type="none" w="med" len="med"/>
                    </a:lnR>
                    <a:lnT w="6350" cap="flat" cmpd="sng" algn="ctr">
                      <a:solidFill>
                        <a:srgbClr val="D5DCE8"/>
                      </a:solidFill>
                      <a:prstDash val="solid"/>
                      <a:round/>
                      <a:headEnd type="none" w="med" len="med"/>
                      <a:tailEnd type="none" w="med" len="med"/>
                    </a:lnT>
                    <a:lnB w="6350" cap="flat" cmpd="sng" algn="ctr">
                      <a:solidFill>
                        <a:srgbClr val="D5DCE8"/>
                      </a:solidFill>
                      <a:prstDash val="solid"/>
                      <a:round/>
                      <a:headEnd type="none" w="med" len="med"/>
                      <a:tailEnd type="none" w="med" len="med"/>
                    </a:lnB>
                  </a:tcPr>
                </a:tc>
                <a:tc>
                  <a:txBody>
                    <a:bodyPr/>
                    <a:lstStyle/>
                    <a:p>
                      <a:pPr marL="0" indent="0">
                        <a:buNone/>
                      </a:pPr>
                      <a:r>
                        <a:rPr lang="en-US" sz="1050" dirty="0">
                          <a:solidFill>
                            <a:schemeClr val="tx1"/>
                          </a:solidFill>
                        </a:rPr>
                        <a:t>Graph neural network with ResNet / MobileNet on GPS trajectories and sensor data</a:t>
                      </a:r>
                      <a:endParaRPr lang="en-US" sz="1050" dirty="0"/>
                    </a:p>
                  </a:txBody>
                  <a:tcPr marL="64008" marR="64008" marT="36576" marB="36576" anchor="ctr">
                    <a:lnL w="6350" cap="flat" cmpd="sng" algn="ctr">
                      <a:solidFill>
                        <a:srgbClr val="D5DCE8"/>
                      </a:solidFill>
                      <a:prstDash val="solid"/>
                      <a:round/>
                      <a:headEnd type="none" w="med" len="med"/>
                      <a:tailEnd type="none" w="med" len="med"/>
                    </a:lnL>
                    <a:lnR w="6350" cap="flat" cmpd="sng" algn="ctr">
                      <a:solidFill>
                        <a:srgbClr val="D5DCE8"/>
                      </a:solidFill>
                      <a:prstDash val="solid"/>
                      <a:round/>
                      <a:headEnd type="none" w="med" len="med"/>
                      <a:tailEnd type="none" w="med" len="med"/>
                    </a:lnR>
                    <a:lnT w="6350" cap="flat" cmpd="sng" algn="ctr">
                      <a:solidFill>
                        <a:srgbClr val="D5DCE8"/>
                      </a:solidFill>
                      <a:prstDash val="solid"/>
                      <a:round/>
                      <a:headEnd type="none" w="med" len="med"/>
                      <a:tailEnd type="none" w="med" len="med"/>
                    </a:lnT>
                    <a:lnB w="6350" cap="flat" cmpd="sng" algn="ctr">
                      <a:solidFill>
                        <a:srgbClr val="D5DCE8"/>
                      </a:solidFill>
                      <a:prstDash val="solid"/>
                      <a:round/>
                      <a:headEnd type="none" w="med" len="med"/>
                      <a:tailEnd type="none" w="med" len="med"/>
                    </a:lnB>
                  </a:tcPr>
                </a:tc>
                <a:tc>
                  <a:txBody>
                    <a:bodyPr/>
                    <a:lstStyle/>
                    <a:p>
                      <a:pPr marL="0" indent="0">
                        <a:buNone/>
                      </a:pPr>
                      <a:r>
                        <a:rPr lang="en-US" sz="1050" dirty="0">
                          <a:solidFill>
                            <a:schemeClr val="tx1"/>
                          </a:solidFill>
                        </a:rPr>
                        <a:t>Detects abnormal routes from GPS with high accuracy and low latency</a:t>
                      </a:r>
                      <a:endParaRPr lang="en-US" sz="1050" dirty="0"/>
                    </a:p>
                  </a:txBody>
                  <a:tcPr marL="64008" marR="64008" marT="36576" marB="36576" anchor="ctr">
                    <a:lnL w="6350" cap="flat" cmpd="sng" algn="ctr">
                      <a:solidFill>
                        <a:srgbClr val="D5DCE8"/>
                      </a:solidFill>
                      <a:prstDash val="solid"/>
                      <a:round/>
                      <a:headEnd type="none" w="med" len="med"/>
                      <a:tailEnd type="none" w="med" len="med"/>
                    </a:lnL>
                    <a:lnR w="6350" cap="flat" cmpd="sng" algn="ctr">
                      <a:solidFill>
                        <a:srgbClr val="D5DCE8"/>
                      </a:solidFill>
                      <a:prstDash val="solid"/>
                      <a:round/>
                      <a:headEnd type="none" w="med" len="med"/>
                      <a:tailEnd type="none" w="med" len="med"/>
                    </a:lnR>
                    <a:lnT w="6350" cap="flat" cmpd="sng" algn="ctr">
                      <a:solidFill>
                        <a:srgbClr val="D5DCE8"/>
                      </a:solidFill>
                      <a:prstDash val="solid"/>
                      <a:round/>
                      <a:headEnd type="none" w="med" len="med"/>
                      <a:tailEnd type="none" w="med" len="med"/>
                    </a:lnT>
                    <a:lnB w="6350" cap="flat" cmpd="sng" algn="ctr">
                      <a:solidFill>
                        <a:srgbClr val="D5DCE8"/>
                      </a:solidFill>
                      <a:prstDash val="solid"/>
                      <a:round/>
                      <a:headEnd type="none" w="med" len="med"/>
                      <a:tailEnd type="none" w="med" len="med"/>
                    </a:lnB>
                  </a:tcPr>
                </a:tc>
                <a:tc>
                  <a:txBody>
                    <a:bodyPr/>
                    <a:lstStyle/>
                    <a:p>
                      <a:pPr marL="0" indent="0">
                        <a:buNone/>
                      </a:pPr>
                      <a:r>
                        <a:rPr lang="en-US" sz="1050" dirty="0">
                          <a:solidFill>
                            <a:schemeClr val="tx1"/>
                          </a:solidFill>
                        </a:rPr>
                        <a:t>Supports detecting deviation from a planned route using GPS</a:t>
                      </a:r>
                      <a:endParaRPr lang="en-US" sz="1050" dirty="0"/>
                    </a:p>
                  </a:txBody>
                  <a:tcPr marL="64008" marR="64008" marT="36576" marB="36576" anchor="ctr">
                    <a:lnL w="6350" cap="flat" cmpd="sng" algn="ctr">
                      <a:solidFill>
                        <a:srgbClr val="D5DCE8"/>
                      </a:solidFill>
                      <a:prstDash val="solid"/>
                      <a:round/>
                      <a:headEnd type="none" w="med" len="med"/>
                      <a:tailEnd type="none" w="med" len="med"/>
                    </a:lnL>
                    <a:lnR w="6350" cap="flat" cmpd="sng" algn="ctr">
                      <a:solidFill>
                        <a:srgbClr val="D5DCE8"/>
                      </a:solidFill>
                      <a:prstDash val="solid"/>
                      <a:round/>
                      <a:headEnd type="none" w="med" len="med"/>
                      <a:tailEnd type="none" w="med" len="med"/>
                    </a:lnR>
                    <a:lnT w="6350" cap="flat" cmpd="sng" algn="ctr">
                      <a:solidFill>
                        <a:srgbClr val="D5DCE8"/>
                      </a:solidFill>
                      <a:prstDash val="solid"/>
                      <a:round/>
                      <a:headEnd type="none" w="med" len="med"/>
                      <a:tailEnd type="none" w="med" len="med"/>
                    </a:lnT>
                    <a:lnB w="6350" cap="flat" cmpd="sng" algn="ctr">
                      <a:solidFill>
                        <a:srgbClr val="D5DCE8"/>
                      </a:solidFill>
                      <a:prstDash val="solid"/>
                      <a:round/>
                      <a:headEnd type="none" w="med" len="med"/>
                      <a:tailEnd type="none" w="med" len="med"/>
                    </a:lnB>
                  </a:tcPr>
                </a:tc>
                <a:extLst>
                  <a:ext uri="{0D108BD9-81ED-4DB2-BD59-A6C34878D82A}">
                    <a16:rowId xmlns:a16="http://schemas.microsoft.com/office/drawing/2014/main" val="10001"/>
                  </a:ext>
                </a:extLst>
              </a:tr>
              <a:tr h="658368">
                <a:tc>
                  <a:txBody>
                    <a:bodyPr/>
                    <a:lstStyle/>
                    <a:p>
                      <a:pPr marL="0" indent="0">
                        <a:buNone/>
                      </a:pPr>
                      <a:r>
                        <a:rPr lang="en-US" sz="1050" b="1" dirty="0">
                          <a:solidFill>
                            <a:schemeClr val="tx1"/>
                          </a:solidFill>
                        </a:rPr>
                        <a:t>M.A Al </a:t>
                      </a:r>
                      <a:r>
                        <a:rPr lang="en-US" sz="1050" b="1" dirty="0" err="1">
                          <a:solidFill>
                            <a:schemeClr val="tx1"/>
                          </a:solidFill>
                        </a:rPr>
                        <a:t>Rashed,O</a:t>
                      </a:r>
                      <a:r>
                        <a:rPr lang="en-US" sz="1050" b="1" dirty="0">
                          <a:solidFill>
                            <a:schemeClr val="tx1"/>
                          </a:solidFill>
                        </a:rPr>
                        <a:t> A </a:t>
                      </a:r>
                      <a:r>
                        <a:rPr lang="en-US" sz="1050" b="1" dirty="0" err="1">
                          <a:solidFill>
                            <a:schemeClr val="tx1"/>
                          </a:solidFill>
                        </a:rPr>
                        <a:t>Oumar,D.Singh</a:t>
                      </a:r>
                      <a:r>
                        <a:rPr lang="en-US" sz="1050" b="1" dirty="0">
                          <a:solidFill>
                            <a:schemeClr val="tx1"/>
                          </a:solidFill>
                        </a:rPr>
                        <a:t>(,2013 [2]</a:t>
                      </a:r>
                      <a:endParaRPr lang="en-US" sz="1050" dirty="0"/>
                    </a:p>
                  </a:txBody>
                  <a:tcPr marL="64008" marR="64008" marT="36576" marB="36576" anchor="ctr">
                    <a:lnL w="6350" cap="flat" cmpd="sng" algn="ctr">
                      <a:solidFill>
                        <a:srgbClr val="D5DCE8"/>
                      </a:solidFill>
                      <a:prstDash val="solid"/>
                      <a:round/>
                      <a:headEnd type="none" w="med" len="med"/>
                      <a:tailEnd type="none" w="med" len="med"/>
                    </a:lnL>
                    <a:lnR w="6350" cap="flat" cmpd="sng" algn="ctr">
                      <a:solidFill>
                        <a:srgbClr val="D5DCE8"/>
                      </a:solidFill>
                      <a:prstDash val="solid"/>
                      <a:round/>
                      <a:headEnd type="none" w="med" len="med"/>
                      <a:tailEnd type="none" w="med" len="med"/>
                    </a:lnR>
                    <a:lnT w="6350" cap="flat" cmpd="sng" algn="ctr">
                      <a:solidFill>
                        <a:srgbClr val="D5DCE8"/>
                      </a:solidFill>
                      <a:prstDash val="solid"/>
                      <a:round/>
                      <a:headEnd type="none" w="med" len="med"/>
                      <a:tailEnd type="none" w="med" len="med"/>
                    </a:lnT>
                    <a:lnB w="6350" cap="flat" cmpd="sng" algn="ctr">
                      <a:solidFill>
                        <a:srgbClr val="D5DCE8"/>
                      </a:solidFill>
                      <a:prstDash val="solid"/>
                      <a:round/>
                      <a:headEnd type="none" w="med" len="med"/>
                      <a:tailEnd type="none" w="med" len="med"/>
                    </a:lnB>
                  </a:tcPr>
                </a:tc>
                <a:tc>
                  <a:txBody>
                    <a:bodyPr/>
                    <a:lstStyle/>
                    <a:p>
                      <a:pPr marL="0" indent="0">
                        <a:buNone/>
                      </a:pPr>
                      <a:r>
                        <a:rPr lang="en-US" sz="1050" dirty="0">
                          <a:solidFill>
                            <a:schemeClr val="tx1"/>
                          </a:solidFill>
                        </a:rPr>
                        <a:t>Real-time GPS tracking for IoT-enabled connected vehicles</a:t>
                      </a:r>
                      <a:endParaRPr lang="en-US" sz="1050" dirty="0"/>
                    </a:p>
                  </a:txBody>
                  <a:tcPr marL="64008" marR="64008" marT="36576" marB="36576" anchor="ctr">
                    <a:lnL w="6350" cap="flat" cmpd="sng" algn="ctr">
                      <a:solidFill>
                        <a:srgbClr val="D5DCE8"/>
                      </a:solidFill>
                      <a:prstDash val="solid"/>
                      <a:round/>
                      <a:headEnd type="none" w="med" len="med"/>
                      <a:tailEnd type="none" w="med" len="med"/>
                    </a:lnL>
                    <a:lnR w="6350" cap="flat" cmpd="sng" algn="ctr">
                      <a:solidFill>
                        <a:srgbClr val="D5DCE8"/>
                      </a:solidFill>
                      <a:prstDash val="solid"/>
                      <a:round/>
                      <a:headEnd type="none" w="med" len="med"/>
                      <a:tailEnd type="none" w="med" len="med"/>
                    </a:lnR>
                    <a:lnT w="6350" cap="flat" cmpd="sng" algn="ctr">
                      <a:solidFill>
                        <a:srgbClr val="D5DCE8"/>
                      </a:solidFill>
                      <a:prstDash val="solid"/>
                      <a:round/>
                      <a:headEnd type="none" w="med" len="med"/>
                      <a:tailEnd type="none" w="med" len="med"/>
                    </a:lnT>
                    <a:lnB w="6350" cap="flat" cmpd="sng" algn="ctr">
                      <a:solidFill>
                        <a:srgbClr val="D5DCE8"/>
                      </a:solidFill>
                      <a:prstDash val="solid"/>
                      <a:round/>
                      <a:headEnd type="none" w="med" len="med"/>
                      <a:tailEnd type="none" w="med" len="med"/>
                    </a:lnB>
                  </a:tcPr>
                </a:tc>
                <a:tc>
                  <a:txBody>
                    <a:bodyPr/>
                    <a:lstStyle/>
                    <a:p>
                      <a:pPr marL="0" indent="0">
                        <a:buNone/>
                      </a:pPr>
                      <a:r>
                        <a:rPr lang="en-US" sz="1050" dirty="0">
                          <a:solidFill>
                            <a:schemeClr val="tx1"/>
                          </a:solidFill>
                        </a:rPr>
                        <a:t>Microcontroller, GSM and GPS modules; server and web interface</a:t>
                      </a:r>
                      <a:endParaRPr lang="en-US" sz="1050" dirty="0"/>
                    </a:p>
                  </a:txBody>
                  <a:tcPr marL="64008" marR="64008" marT="36576" marB="36576" anchor="ctr">
                    <a:lnL w="6350" cap="flat" cmpd="sng" algn="ctr">
                      <a:solidFill>
                        <a:srgbClr val="D5DCE8"/>
                      </a:solidFill>
                      <a:prstDash val="solid"/>
                      <a:round/>
                      <a:headEnd type="none" w="med" len="med"/>
                      <a:tailEnd type="none" w="med" len="med"/>
                    </a:lnL>
                    <a:lnR w="6350" cap="flat" cmpd="sng" algn="ctr">
                      <a:solidFill>
                        <a:srgbClr val="D5DCE8"/>
                      </a:solidFill>
                      <a:prstDash val="solid"/>
                      <a:round/>
                      <a:headEnd type="none" w="med" len="med"/>
                      <a:tailEnd type="none" w="med" len="med"/>
                    </a:lnR>
                    <a:lnT w="6350" cap="flat" cmpd="sng" algn="ctr">
                      <a:solidFill>
                        <a:srgbClr val="D5DCE8"/>
                      </a:solidFill>
                      <a:prstDash val="solid"/>
                      <a:round/>
                      <a:headEnd type="none" w="med" len="med"/>
                      <a:tailEnd type="none" w="med" len="med"/>
                    </a:lnT>
                    <a:lnB w="6350" cap="flat" cmpd="sng" algn="ctr">
                      <a:solidFill>
                        <a:srgbClr val="D5DCE8"/>
                      </a:solidFill>
                      <a:prstDash val="solid"/>
                      <a:round/>
                      <a:headEnd type="none" w="med" len="med"/>
                      <a:tailEnd type="none" w="med" len="med"/>
                    </a:lnB>
                  </a:tcPr>
                </a:tc>
                <a:tc>
                  <a:txBody>
                    <a:bodyPr/>
                    <a:lstStyle/>
                    <a:p>
                      <a:pPr marL="0" indent="0">
                        <a:buNone/>
                      </a:pPr>
                      <a:r>
                        <a:rPr lang="en-US" sz="1050" dirty="0">
                          <a:solidFill>
                            <a:schemeClr val="tx1"/>
                          </a:solidFill>
                        </a:rPr>
                        <a:t>Acquire, transmit, store and display positions in a web page</a:t>
                      </a:r>
                      <a:endParaRPr lang="en-US" sz="1050" dirty="0"/>
                    </a:p>
                  </a:txBody>
                  <a:tcPr marL="64008" marR="64008" marT="36576" marB="36576" anchor="ctr">
                    <a:lnL w="6350" cap="flat" cmpd="sng" algn="ctr">
                      <a:solidFill>
                        <a:srgbClr val="D5DCE8"/>
                      </a:solidFill>
                      <a:prstDash val="solid"/>
                      <a:round/>
                      <a:headEnd type="none" w="med" len="med"/>
                      <a:tailEnd type="none" w="med" len="med"/>
                    </a:lnL>
                    <a:lnR w="6350" cap="flat" cmpd="sng" algn="ctr">
                      <a:solidFill>
                        <a:srgbClr val="D5DCE8"/>
                      </a:solidFill>
                      <a:prstDash val="solid"/>
                      <a:round/>
                      <a:headEnd type="none" w="med" len="med"/>
                      <a:tailEnd type="none" w="med" len="med"/>
                    </a:lnR>
                    <a:lnT w="6350" cap="flat" cmpd="sng" algn="ctr">
                      <a:solidFill>
                        <a:srgbClr val="D5DCE8"/>
                      </a:solidFill>
                      <a:prstDash val="solid"/>
                      <a:round/>
                      <a:headEnd type="none" w="med" len="med"/>
                      <a:tailEnd type="none" w="med" len="med"/>
                    </a:lnT>
                    <a:lnB w="6350" cap="flat" cmpd="sng" algn="ctr">
                      <a:solidFill>
                        <a:srgbClr val="D5DCE8"/>
                      </a:solidFill>
                      <a:prstDash val="solid"/>
                      <a:round/>
                      <a:headEnd type="none" w="med" len="med"/>
                      <a:tailEnd type="none" w="med" len="med"/>
                    </a:lnB>
                  </a:tcPr>
                </a:tc>
                <a:tc>
                  <a:txBody>
                    <a:bodyPr/>
                    <a:lstStyle/>
                    <a:p>
                      <a:pPr marL="0" indent="0">
                        <a:buNone/>
                      </a:pPr>
                      <a:r>
                        <a:rPr lang="en-US" sz="1050" dirty="0">
                          <a:solidFill>
                            <a:schemeClr val="tx1"/>
                          </a:solidFill>
                        </a:rPr>
                        <a:t>Same pipeline, but PackTrace uses the rider's phone browser, no extra hardware</a:t>
                      </a:r>
                      <a:endParaRPr lang="en-US" sz="1050" dirty="0"/>
                    </a:p>
                  </a:txBody>
                  <a:tcPr marL="64008" marR="64008" marT="36576" marB="36576" anchor="ctr">
                    <a:lnL w="6350" cap="flat" cmpd="sng" algn="ctr">
                      <a:solidFill>
                        <a:srgbClr val="D5DCE8"/>
                      </a:solidFill>
                      <a:prstDash val="solid"/>
                      <a:round/>
                      <a:headEnd type="none" w="med" len="med"/>
                      <a:tailEnd type="none" w="med" len="med"/>
                    </a:lnL>
                    <a:lnR w="6350" cap="flat" cmpd="sng" algn="ctr">
                      <a:solidFill>
                        <a:srgbClr val="D5DCE8"/>
                      </a:solidFill>
                      <a:prstDash val="solid"/>
                      <a:round/>
                      <a:headEnd type="none" w="med" len="med"/>
                      <a:tailEnd type="none" w="med" len="med"/>
                    </a:lnR>
                    <a:lnT w="6350" cap="flat" cmpd="sng" algn="ctr">
                      <a:solidFill>
                        <a:srgbClr val="D5DCE8"/>
                      </a:solidFill>
                      <a:prstDash val="solid"/>
                      <a:round/>
                      <a:headEnd type="none" w="med" len="med"/>
                      <a:tailEnd type="none" w="med" len="med"/>
                    </a:lnT>
                    <a:lnB w="6350" cap="flat" cmpd="sng" algn="ctr">
                      <a:solidFill>
                        <a:srgbClr val="D5DCE8"/>
                      </a:solidFill>
                      <a:prstDash val="solid"/>
                      <a:round/>
                      <a:headEnd type="none" w="med" len="med"/>
                      <a:tailEnd type="none" w="med" len="med"/>
                    </a:lnB>
                  </a:tcPr>
                </a:tc>
                <a:extLst>
                  <a:ext uri="{0D108BD9-81ED-4DB2-BD59-A6C34878D82A}">
                    <a16:rowId xmlns:a16="http://schemas.microsoft.com/office/drawing/2014/main" val="10002"/>
                  </a:ext>
                </a:extLst>
              </a:tr>
              <a:tr h="658368">
                <a:tc>
                  <a:txBody>
                    <a:bodyPr/>
                    <a:lstStyle/>
                    <a:p>
                      <a:pPr marL="0" indent="0">
                        <a:buNone/>
                      </a:pPr>
                      <a:r>
                        <a:rPr lang="en-US" sz="1050" b="1" dirty="0">
                          <a:solidFill>
                            <a:schemeClr val="tx1"/>
                          </a:solidFill>
                        </a:rPr>
                        <a:t>Boronat et al., 2021 [3]</a:t>
                      </a:r>
                      <a:endParaRPr lang="en-US" sz="1050" dirty="0"/>
                    </a:p>
                  </a:txBody>
                  <a:tcPr marL="64008" marR="64008" marT="36576" marB="36576" anchor="ctr">
                    <a:lnL w="6350" cap="flat" cmpd="sng" algn="ctr">
                      <a:solidFill>
                        <a:srgbClr val="D5DCE8"/>
                      </a:solidFill>
                      <a:prstDash val="solid"/>
                      <a:round/>
                      <a:headEnd type="none" w="med" len="med"/>
                      <a:tailEnd type="none" w="med" len="med"/>
                    </a:lnL>
                    <a:lnR w="6350" cap="flat" cmpd="sng" algn="ctr">
                      <a:solidFill>
                        <a:srgbClr val="D5DCE8"/>
                      </a:solidFill>
                      <a:prstDash val="solid"/>
                      <a:round/>
                      <a:headEnd type="none" w="med" len="med"/>
                      <a:tailEnd type="none" w="med" len="med"/>
                    </a:lnR>
                    <a:lnT w="6350" cap="flat" cmpd="sng" algn="ctr">
                      <a:solidFill>
                        <a:srgbClr val="D5DCE8"/>
                      </a:solidFill>
                      <a:prstDash val="solid"/>
                      <a:round/>
                      <a:headEnd type="none" w="med" len="med"/>
                      <a:tailEnd type="none" w="med" len="med"/>
                    </a:lnT>
                    <a:lnB w="6350" cap="flat" cmpd="sng" algn="ctr">
                      <a:solidFill>
                        <a:srgbClr val="D5DCE8"/>
                      </a:solidFill>
                      <a:prstDash val="solid"/>
                      <a:round/>
                      <a:headEnd type="none" w="med" len="med"/>
                      <a:tailEnd type="none" w="med" len="med"/>
                    </a:lnB>
                  </a:tcPr>
                </a:tc>
                <a:tc>
                  <a:txBody>
                    <a:bodyPr/>
                    <a:lstStyle/>
                    <a:p>
                      <a:pPr marL="0" indent="0">
                        <a:buNone/>
                      </a:pPr>
                      <a:r>
                        <a:rPr lang="en-US" sz="1050" dirty="0">
                          <a:solidFill>
                            <a:schemeClr val="tx1"/>
                          </a:solidFill>
                        </a:rPr>
                        <a:t>Cyclist safety through a mobile sensing application</a:t>
                      </a:r>
                      <a:endParaRPr lang="en-US" sz="1050" dirty="0"/>
                    </a:p>
                  </a:txBody>
                  <a:tcPr marL="64008" marR="64008" marT="36576" marB="36576" anchor="ctr">
                    <a:lnL w="6350" cap="flat" cmpd="sng" algn="ctr">
                      <a:solidFill>
                        <a:srgbClr val="D5DCE8"/>
                      </a:solidFill>
                      <a:prstDash val="solid"/>
                      <a:round/>
                      <a:headEnd type="none" w="med" len="med"/>
                      <a:tailEnd type="none" w="med" len="med"/>
                    </a:lnL>
                    <a:lnR w="6350" cap="flat" cmpd="sng" algn="ctr">
                      <a:solidFill>
                        <a:srgbClr val="D5DCE8"/>
                      </a:solidFill>
                      <a:prstDash val="solid"/>
                      <a:round/>
                      <a:headEnd type="none" w="med" len="med"/>
                      <a:tailEnd type="none" w="med" len="med"/>
                    </a:lnR>
                    <a:lnT w="6350" cap="flat" cmpd="sng" algn="ctr">
                      <a:solidFill>
                        <a:srgbClr val="D5DCE8"/>
                      </a:solidFill>
                      <a:prstDash val="solid"/>
                      <a:round/>
                      <a:headEnd type="none" w="med" len="med"/>
                      <a:tailEnd type="none" w="med" len="med"/>
                    </a:lnT>
                    <a:lnB w="6350" cap="flat" cmpd="sng" algn="ctr">
                      <a:solidFill>
                        <a:srgbClr val="D5DCE8"/>
                      </a:solidFill>
                      <a:prstDash val="solid"/>
                      <a:round/>
                      <a:headEnd type="none" w="med" len="med"/>
                      <a:tailEnd type="none" w="med" len="med"/>
                    </a:lnB>
                  </a:tcPr>
                </a:tc>
                <a:tc>
                  <a:txBody>
                    <a:bodyPr/>
                    <a:lstStyle/>
                    <a:p>
                      <a:pPr marL="0" indent="0">
                        <a:buNone/>
                      </a:pPr>
                      <a:r>
                        <a:rPr lang="en-US" sz="1050" dirty="0">
                          <a:solidFill>
                            <a:schemeClr val="tx1"/>
                          </a:solidFill>
                        </a:rPr>
                        <a:t>Android app reports position; server returns alarms</a:t>
                      </a:r>
                      <a:endParaRPr lang="en-US" sz="1050" dirty="0"/>
                    </a:p>
                  </a:txBody>
                  <a:tcPr marL="64008" marR="64008" marT="36576" marB="36576" anchor="ctr">
                    <a:lnL w="6350" cap="flat" cmpd="sng" algn="ctr">
                      <a:solidFill>
                        <a:srgbClr val="D5DCE8"/>
                      </a:solidFill>
                      <a:prstDash val="solid"/>
                      <a:round/>
                      <a:headEnd type="none" w="med" len="med"/>
                      <a:tailEnd type="none" w="med" len="med"/>
                    </a:lnL>
                    <a:lnR w="6350" cap="flat" cmpd="sng" algn="ctr">
                      <a:solidFill>
                        <a:srgbClr val="D5DCE8"/>
                      </a:solidFill>
                      <a:prstDash val="solid"/>
                      <a:round/>
                      <a:headEnd type="none" w="med" len="med"/>
                      <a:tailEnd type="none" w="med" len="med"/>
                    </a:lnR>
                    <a:lnT w="6350" cap="flat" cmpd="sng" algn="ctr">
                      <a:solidFill>
                        <a:srgbClr val="D5DCE8"/>
                      </a:solidFill>
                      <a:prstDash val="solid"/>
                      <a:round/>
                      <a:headEnd type="none" w="med" len="med"/>
                      <a:tailEnd type="none" w="med" len="med"/>
                    </a:lnT>
                    <a:lnB w="6350" cap="flat" cmpd="sng" algn="ctr">
                      <a:solidFill>
                        <a:srgbClr val="D5DCE8"/>
                      </a:solidFill>
                      <a:prstDash val="solid"/>
                      <a:round/>
                      <a:headEnd type="none" w="med" len="med"/>
                      <a:tailEnd type="none" w="med" len="med"/>
                    </a:lnB>
                  </a:tcPr>
                </a:tc>
                <a:tc>
                  <a:txBody>
                    <a:bodyPr/>
                    <a:lstStyle/>
                    <a:p>
                      <a:pPr marL="0" indent="0">
                        <a:buNone/>
                      </a:pPr>
                      <a:r>
                        <a:rPr lang="en-US" sz="1050" dirty="0">
                          <a:solidFill>
                            <a:schemeClr val="tx1"/>
                          </a:solidFill>
                        </a:rPr>
                        <a:t>Periodic position reporting from a phone suits road-safety use</a:t>
                      </a:r>
                      <a:endParaRPr lang="en-US" sz="1050" dirty="0"/>
                    </a:p>
                  </a:txBody>
                  <a:tcPr marL="64008" marR="64008" marT="36576" marB="36576" anchor="ctr">
                    <a:lnL w="6350" cap="flat" cmpd="sng" algn="ctr">
                      <a:solidFill>
                        <a:srgbClr val="D5DCE8"/>
                      </a:solidFill>
                      <a:prstDash val="solid"/>
                      <a:round/>
                      <a:headEnd type="none" w="med" len="med"/>
                      <a:tailEnd type="none" w="med" len="med"/>
                    </a:lnL>
                    <a:lnR w="6350" cap="flat" cmpd="sng" algn="ctr">
                      <a:solidFill>
                        <a:srgbClr val="D5DCE8"/>
                      </a:solidFill>
                      <a:prstDash val="solid"/>
                      <a:round/>
                      <a:headEnd type="none" w="med" len="med"/>
                      <a:tailEnd type="none" w="med" len="med"/>
                    </a:lnR>
                    <a:lnT w="6350" cap="flat" cmpd="sng" algn="ctr">
                      <a:solidFill>
                        <a:srgbClr val="D5DCE8"/>
                      </a:solidFill>
                      <a:prstDash val="solid"/>
                      <a:round/>
                      <a:headEnd type="none" w="med" len="med"/>
                      <a:tailEnd type="none" w="med" len="med"/>
                    </a:lnT>
                    <a:lnB w="6350" cap="flat" cmpd="sng" algn="ctr">
                      <a:solidFill>
                        <a:srgbClr val="D5DCE8"/>
                      </a:solidFill>
                      <a:prstDash val="solid"/>
                      <a:round/>
                      <a:headEnd type="none" w="med" len="med"/>
                      <a:tailEnd type="none" w="med" len="med"/>
                    </a:lnB>
                  </a:tcPr>
                </a:tc>
                <a:tc>
                  <a:txBody>
                    <a:bodyPr/>
                    <a:lstStyle/>
                    <a:p>
                      <a:pPr marL="0" indent="0">
                        <a:buNone/>
                      </a:pPr>
                      <a:r>
                        <a:rPr lang="en-US" sz="1050" dirty="0">
                          <a:solidFill>
                            <a:schemeClr val="tx1"/>
                          </a:solidFill>
                        </a:rPr>
                        <a:t>Supports phone as tracker and a server that sends alerts</a:t>
                      </a:r>
                      <a:endParaRPr lang="en-US" sz="1050" dirty="0"/>
                    </a:p>
                  </a:txBody>
                  <a:tcPr marL="64008" marR="64008" marT="36576" marB="36576" anchor="ctr">
                    <a:lnL w="6350" cap="flat" cmpd="sng" algn="ctr">
                      <a:solidFill>
                        <a:srgbClr val="D5DCE8"/>
                      </a:solidFill>
                      <a:prstDash val="solid"/>
                      <a:round/>
                      <a:headEnd type="none" w="med" len="med"/>
                      <a:tailEnd type="none" w="med" len="med"/>
                    </a:lnL>
                    <a:lnR w="6350" cap="flat" cmpd="sng" algn="ctr">
                      <a:solidFill>
                        <a:srgbClr val="D5DCE8"/>
                      </a:solidFill>
                      <a:prstDash val="solid"/>
                      <a:round/>
                      <a:headEnd type="none" w="med" len="med"/>
                      <a:tailEnd type="none" w="med" len="med"/>
                    </a:lnR>
                    <a:lnT w="6350" cap="flat" cmpd="sng" algn="ctr">
                      <a:solidFill>
                        <a:srgbClr val="D5DCE8"/>
                      </a:solidFill>
                      <a:prstDash val="solid"/>
                      <a:round/>
                      <a:headEnd type="none" w="med" len="med"/>
                      <a:tailEnd type="none" w="med" len="med"/>
                    </a:lnT>
                    <a:lnB w="6350" cap="flat" cmpd="sng" algn="ctr">
                      <a:solidFill>
                        <a:srgbClr val="D5DCE8"/>
                      </a:solidFill>
                      <a:prstDash val="solid"/>
                      <a:round/>
                      <a:headEnd type="none" w="med" len="med"/>
                      <a:tailEnd type="none" w="med" len="med"/>
                    </a:lnB>
                  </a:tcPr>
                </a:tc>
                <a:extLst>
                  <a:ext uri="{0D108BD9-81ED-4DB2-BD59-A6C34878D82A}">
                    <a16:rowId xmlns:a16="http://schemas.microsoft.com/office/drawing/2014/main" val="10003"/>
                  </a:ext>
                </a:extLst>
              </a:tr>
              <a:tr h="658368">
                <a:tc>
                  <a:txBody>
                    <a:bodyPr/>
                    <a:lstStyle/>
                    <a:p>
                      <a:pPr marL="0" indent="0">
                        <a:buNone/>
                      </a:pPr>
                      <a:r>
                        <a:rPr lang="en-US" sz="1050" b="1" dirty="0">
                          <a:solidFill>
                            <a:schemeClr val="tx1"/>
                          </a:solidFill>
                        </a:rPr>
                        <a:t>Pimentel &amp; Nickerson, 2012 [4]</a:t>
                      </a:r>
                      <a:endParaRPr lang="en-US" sz="1050" dirty="0"/>
                    </a:p>
                  </a:txBody>
                  <a:tcPr marL="64008" marR="64008" marT="36576" marB="36576" anchor="ctr">
                    <a:lnL w="6350" cap="flat" cmpd="sng" algn="ctr">
                      <a:solidFill>
                        <a:srgbClr val="D5DCE8"/>
                      </a:solidFill>
                      <a:prstDash val="solid"/>
                      <a:round/>
                      <a:headEnd type="none" w="med" len="med"/>
                      <a:tailEnd type="none" w="med" len="med"/>
                    </a:lnL>
                    <a:lnR w="6350" cap="flat" cmpd="sng" algn="ctr">
                      <a:solidFill>
                        <a:srgbClr val="D5DCE8"/>
                      </a:solidFill>
                      <a:prstDash val="solid"/>
                      <a:round/>
                      <a:headEnd type="none" w="med" len="med"/>
                      <a:tailEnd type="none" w="med" len="med"/>
                    </a:lnR>
                    <a:lnT w="6350" cap="flat" cmpd="sng" algn="ctr">
                      <a:solidFill>
                        <a:srgbClr val="D5DCE8"/>
                      </a:solidFill>
                      <a:prstDash val="solid"/>
                      <a:round/>
                      <a:headEnd type="none" w="med" len="med"/>
                      <a:tailEnd type="none" w="med" len="med"/>
                    </a:lnT>
                    <a:lnB w="6350" cap="flat" cmpd="sng" algn="ctr">
                      <a:solidFill>
                        <a:srgbClr val="D5DCE8"/>
                      </a:solidFill>
                      <a:prstDash val="solid"/>
                      <a:round/>
                      <a:headEnd type="none" w="med" len="med"/>
                      <a:tailEnd type="none" w="med" len="med"/>
                    </a:lnB>
                  </a:tcPr>
                </a:tc>
                <a:tc>
                  <a:txBody>
                    <a:bodyPr/>
                    <a:lstStyle/>
                    <a:p>
                      <a:pPr marL="0" indent="0">
                        <a:buNone/>
                      </a:pPr>
                      <a:r>
                        <a:rPr lang="en-US" sz="1050" dirty="0">
                          <a:solidFill>
                            <a:schemeClr val="tx1"/>
                          </a:solidFill>
                        </a:rPr>
                        <a:t>Communicating and displaying real-time data with WebSocket</a:t>
                      </a:r>
                      <a:endParaRPr lang="en-US" sz="1050" dirty="0"/>
                    </a:p>
                  </a:txBody>
                  <a:tcPr marL="64008" marR="64008" marT="36576" marB="36576" anchor="ctr">
                    <a:lnL w="6350" cap="flat" cmpd="sng" algn="ctr">
                      <a:solidFill>
                        <a:srgbClr val="D5DCE8"/>
                      </a:solidFill>
                      <a:prstDash val="solid"/>
                      <a:round/>
                      <a:headEnd type="none" w="med" len="med"/>
                      <a:tailEnd type="none" w="med" len="med"/>
                    </a:lnL>
                    <a:lnR w="6350" cap="flat" cmpd="sng" algn="ctr">
                      <a:solidFill>
                        <a:srgbClr val="D5DCE8"/>
                      </a:solidFill>
                      <a:prstDash val="solid"/>
                      <a:round/>
                      <a:headEnd type="none" w="med" len="med"/>
                      <a:tailEnd type="none" w="med" len="med"/>
                    </a:lnR>
                    <a:lnT w="6350" cap="flat" cmpd="sng" algn="ctr">
                      <a:solidFill>
                        <a:srgbClr val="D5DCE8"/>
                      </a:solidFill>
                      <a:prstDash val="solid"/>
                      <a:round/>
                      <a:headEnd type="none" w="med" len="med"/>
                      <a:tailEnd type="none" w="med" len="med"/>
                    </a:lnT>
                    <a:lnB w="6350" cap="flat" cmpd="sng" algn="ctr">
                      <a:solidFill>
                        <a:srgbClr val="D5DCE8"/>
                      </a:solidFill>
                      <a:prstDash val="solid"/>
                      <a:round/>
                      <a:headEnd type="none" w="med" len="med"/>
                      <a:tailEnd type="none" w="med" len="med"/>
                    </a:lnB>
                  </a:tcPr>
                </a:tc>
                <a:tc>
                  <a:txBody>
                    <a:bodyPr/>
                    <a:lstStyle/>
                    <a:p>
                      <a:pPr marL="0" indent="0">
                        <a:buNone/>
                      </a:pPr>
                      <a:r>
                        <a:rPr lang="en-US" sz="1050" dirty="0">
                          <a:solidFill>
                            <a:schemeClr val="tx1"/>
                          </a:solidFill>
                        </a:rPr>
                        <a:t>WebSocket compared with HTTP polling</a:t>
                      </a:r>
                      <a:endParaRPr lang="en-US" sz="1050" dirty="0"/>
                    </a:p>
                  </a:txBody>
                  <a:tcPr marL="64008" marR="64008" marT="36576" marB="36576" anchor="ctr">
                    <a:lnL w="6350" cap="flat" cmpd="sng" algn="ctr">
                      <a:solidFill>
                        <a:srgbClr val="D5DCE8"/>
                      </a:solidFill>
                      <a:prstDash val="solid"/>
                      <a:round/>
                      <a:headEnd type="none" w="med" len="med"/>
                      <a:tailEnd type="none" w="med" len="med"/>
                    </a:lnL>
                    <a:lnR w="6350" cap="flat" cmpd="sng" algn="ctr">
                      <a:solidFill>
                        <a:srgbClr val="D5DCE8"/>
                      </a:solidFill>
                      <a:prstDash val="solid"/>
                      <a:round/>
                      <a:headEnd type="none" w="med" len="med"/>
                      <a:tailEnd type="none" w="med" len="med"/>
                    </a:lnR>
                    <a:lnT w="6350" cap="flat" cmpd="sng" algn="ctr">
                      <a:solidFill>
                        <a:srgbClr val="D5DCE8"/>
                      </a:solidFill>
                      <a:prstDash val="solid"/>
                      <a:round/>
                      <a:headEnd type="none" w="med" len="med"/>
                      <a:tailEnd type="none" w="med" len="med"/>
                    </a:lnT>
                    <a:lnB w="6350" cap="flat" cmpd="sng" algn="ctr">
                      <a:solidFill>
                        <a:srgbClr val="D5DCE8"/>
                      </a:solidFill>
                      <a:prstDash val="solid"/>
                      <a:round/>
                      <a:headEnd type="none" w="med" len="med"/>
                      <a:tailEnd type="none" w="med" len="med"/>
                    </a:lnB>
                  </a:tcPr>
                </a:tc>
                <a:tc>
                  <a:txBody>
                    <a:bodyPr/>
                    <a:lstStyle/>
                    <a:p>
                      <a:pPr marL="0" indent="0">
                        <a:buNone/>
                      </a:pPr>
                      <a:r>
                        <a:rPr lang="en-US" sz="1050" dirty="0">
                          <a:solidFill>
                            <a:schemeClr val="tx1"/>
                          </a:solidFill>
                        </a:rPr>
                        <a:t>Persistent connection lowers overhead for frequent updates</a:t>
                      </a:r>
                      <a:endParaRPr lang="en-US" sz="1050" dirty="0"/>
                    </a:p>
                  </a:txBody>
                  <a:tcPr marL="64008" marR="64008" marT="36576" marB="36576" anchor="ctr">
                    <a:lnL w="6350" cap="flat" cmpd="sng" algn="ctr">
                      <a:solidFill>
                        <a:srgbClr val="D5DCE8"/>
                      </a:solidFill>
                      <a:prstDash val="solid"/>
                      <a:round/>
                      <a:headEnd type="none" w="med" len="med"/>
                      <a:tailEnd type="none" w="med" len="med"/>
                    </a:lnL>
                    <a:lnR w="6350" cap="flat" cmpd="sng" algn="ctr">
                      <a:solidFill>
                        <a:srgbClr val="D5DCE8"/>
                      </a:solidFill>
                      <a:prstDash val="solid"/>
                      <a:round/>
                      <a:headEnd type="none" w="med" len="med"/>
                      <a:tailEnd type="none" w="med" len="med"/>
                    </a:lnR>
                    <a:lnT w="6350" cap="flat" cmpd="sng" algn="ctr">
                      <a:solidFill>
                        <a:srgbClr val="D5DCE8"/>
                      </a:solidFill>
                      <a:prstDash val="solid"/>
                      <a:round/>
                      <a:headEnd type="none" w="med" len="med"/>
                      <a:tailEnd type="none" w="med" len="med"/>
                    </a:lnT>
                    <a:lnB w="6350" cap="flat" cmpd="sng" algn="ctr">
                      <a:solidFill>
                        <a:srgbClr val="D5DCE8"/>
                      </a:solidFill>
                      <a:prstDash val="solid"/>
                      <a:round/>
                      <a:headEnd type="none" w="med" len="med"/>
                      <a:tailEnd type="none" w="med" len="med"/>
                    </a:lnB>
                  </a:tcPr>
                </a:tc>
                <a:tc>
                  <a:txBody>
                    <a:bodyPr/>
                    <a:lstStyle/>
                    <a:p>
                      <a:pPr marL="0" indent="0">
                        <a:buNone/>
                      </a:pPr>
                      <a:r>
                        <a:rPr lang="en-US" sz="1050" dirty="0">
                          <a:solidFill>
                            <a:schemeClr val="tx1"/>
                          </a:solidFill>
                        </a:rPr>
                        <a:t>Reason for WebSocket (Django Channels) for live positions</a:t>
                      </a:r>
                      <a:endParaRPr lang="en-US" sz="1050" dirty="0"/>
                    </a:p>
                  </a:txBody>
                  <a:tcPr marL="64008" marR="64008" marT="36576" marB="36576" anchor="ctr">
                    <a:lnL w="6350" cap="flat" cmpd="sng" algn="ctr">
                      <a:solidFill>
                        <a:srgbClr val="D5DCE8"/>
                      </a:solidFill>
                      <a:prstDash val="solid"/>
                      <a:round/>
                      <a:headEnd type="none" w="med" len="med"/>
                      <a:tailEnd type="none" w="med" len="med"/>
                    </a:lnL>
                    <a:lnR w="6350" cap="flat" cmpd="sng" algn="ctr">
                      <a:solidFill>
                        <a:srgbClr val="D5DCE8"/>
                      </a:solidFill>
                      <a:prstDash val="solid"/>
                      <a:round/>
                      <a:headEnd type="none" w="med" len="med"/>
                      <a:tailEnd type="none" w="med" len="med"/>
                    </a:lnR>
                    <a:lnT w="6350" cap="flat" cmpd="sng" algn="ctr">
                      <a:solidFill>
                        <a:srgbClr val="D5DCE8"/>
                      </a:solidFill>
                      <a:prstDash val="solid"/>
                      <a:round/>
                      <a:headEnd type="none" w="med" len="med"/>
                      <a:tailEnd type="none" w="med" len="med"/>
                    </a:lnT>
                    <a:lnB w="6350" cap="flat" cmpd="sng" algn="ctr">
                      <a:solidFill>
                        <a:srgbClr val="D5DCE8"/>
                      </a:solidFill>
                      <a:prstDash val="solid"/>
                      <a:round/>
                      <a:headEnd type="none" w="med" len="med"/>
                      <a:tailEnd type="none" w="med" len="med"/>
                    </a:lnB>
                  </a:tcPr>
                </a:tc>
                <a:extLst>
                  <a:ext uri="{0D108BD9-81ED-4DB2-BD59-A6C34878D82A}">
                    <a16:rowId xmlns:a16="http://schemas.microsoft.com/office/drawing/2014/main" val="10004"/>
                  </a:ext>
                </a:extLst>
              </a:tr>
              <a:tr h="658368">
                <a:tc>
                  <a:txBody>
                    <a:bodyPr/>
                    <a:lstStyle/>
                    <a:p>
                      <a:pPr marL="0" indent="0">
                        <a:buNone/>
                      </a:pPr>
                      <a:r>
                        <a:rPr lang="en-US" sz="1050" b="1" dirty="0">
                          <a:solidFill>
                            <a:schemeClr val="tx1"/>
                          </a:solidFill>
                        </a:rPr>
                        <a:t>White et al., 2011 [6]</a:t>
                      </a:r>
                      <a:endParaRPr lang="en-US" sz="1050" dirty="0"/>
                    </a:p>
                  </a:txBody>
                  <a:tcPr marL="64008" marR="64008" marT="36576" marB="36576" anchor="ctr">
                    <a:lnL w="6350" cap="flat" cmpd="sng" algn="ctr">
                      <a:solidFill>
                        <a:srgbClr val="D5DCE8"/>
                      </a:solidFill>
                      <a:prstDash val="solid"/>
                      <a:round/>
                      <a:headEnd type="none" w="med" len="med"/>
                      <a:tailEnd type="none" w="med" len="med"/>
                    </a:lnL>
                    <a:lnR w="6350" cap="flat" cmpd="sng" algn="ctr">
                      <a:solidFill>
                        <a:srgbClr val="D5DCE8"/>
                      </a:solidFill>
                      <a:prstDash val="solid"/>
                      <a:round/>
                      <a:headEnd type="none" w="med" len="med"/>
                      <a:tailEnd type="none" w="med" len="med"/>
                    </a:lnR>
                    <a:lnT w="6350" cap="flat" cmpd="sng" algn="ctr">
                      <a:solidFill>
                        <a:srgbClr val="D5DCE8"/>
                      </a:solidFill>
                      <a:prstDash val="solid"/>
                      <a:round/>
                      <a:headEnd type="none" w="med" len="med"/>
                      <a:tailEnd type="none" w="med" len="med"/>
                    </a:lnT>
                    <a:lnB w="6350" cap="flat" cmpd="sng" algn="ctr">
                      <a:solidFill>
                        <a:srgbClr val="D5DCE8"/>
                      </a:solidFill>
                      <a:prstDash val="solid"/>
                      <a:round/>
                      <a:headEnd type="none" w="med" len="med"/>
                      <a:tailEnd type="none" w="med" len="med"/>
                    </a:lnB>
                  </a:tcPr>
                </a:tc>
                <a:tc>
                  <a:txBody>
                    <a:bodyPr/>
                    <a:lstStyle/>
                    <a:p>
                      <a:pPr marL="0" indent="0">
                        <a:buNone/>
                      </a:pPr>
                      <a:r>
                        <a:rPr lang="en-US" sz="1050" dirty="0">
                          <a:solidFill>
                            <a:schemeClr val="tx1"/>
                          </a:solidFill>
                        </a:rPr>
                        <a:t>WreckWatch: automatic accident detection with smartphones</a:t>
                      </a:r>
                      <a:endParaRPr lang="en-US" sz="1050" dirty="0"/>
                    </a:p>
                  </a:txBody>
                  <a:tcPr marL="64008" marR="64008" marT="36576" marB="36576" anchor="ctr">
                    <a:lnL w="6350" cap="flat" cmpd="sng" algn="ctr">
                      <a:solidFill>
                        <a:srgbClr val="D5DCE8"/>
                      </a:solidFill>
                      <a:prstDash val="solid"/>
                      <a:round/>
                      <a:headEnd type="none" w="med" len="med"/>
                      <a:tailEnd type="none" w="med" len="med"/>
                    </a:lnL>
                    <a:lnR w="6350" cap="flat" cmpd="sng" algn="ctr">
                      <a:solidFill>
                        <a:srgbClr val="D5DCE8"/>
                      </a:solidFill>
                      <a:prstDash val="solid"/>
                      <a:round/>
                      <a:headEnd type="none" w="med" len="med"/>
                      <a:tailEnd type="none" w="med" len="med"/>
                    </a:lnR>
                    <a:lnT w="6350" cap="flat" cmpd="sng" algn="ctr">
                      <a:solidFill>
                        <a:srgbClr val="D5DCE8"/>
                      </a:solidFill>
                      <a:prstDash val="solid"/>
                      <a:round/>
                      <a:headEnd type="none" w="med" len="med"/>
                      <a:tailEnd type="none" w="med" len="med"/>
                    </a:lnT>
                    <a:lnB w="6350" cap="flat" cmpd="sng" algn="ctr">
                      <a:solidFill>
                        <a:srgbClr val="D5DCE8"/>
                      </a:solidFill>
                      <a:prstDash val="solid"/>
                      <a:round/>
                      <a:headEnd type="none" w="med" len="med"/>
                      <a:tailEnd type="none" w="med" len="med"/>
                    </a:lnB>
                  </a:tcPr>
                </a:tc>
                <a:tc>
                  <a:txBody>
                    <a:bodyPr/>
                    <a:lstStyle/>
                    <a:p>
                      <a:pPr marL="0" indent="0">
                        <a:buNone/>
                      </a:pPr>
                      <a:r>
                        <a:rPr lang="en-US" sz="1050" dirty="0">
                          <a:solidFill>
                            <a:schemeClr val="tx1"/>
                          </a:solidFill>
                        </a:rPr>
                        <a:t>Phone sensors detect crashes; web services notify contacts</a:t>
                      </a:r>
                      <a:endParaRPr lang="en-US" sz="1050" dirty="0"/>
                    </a:p>
                  </a:txBody>
                  <a:tcPr marL="64008" marR="64008" marT="36576" marB="36576" anchor="ctr">
                    <a:lnL w="6350" cap="flat" cmpd="sng" algn="ctr">
                      <a:solidFill>
                        <a:srgbClr val="D5DCE8"/>
                      </a:solidFill>
                      <a:prstDash val="solid"/>
                      <a:round/>
                      <a:headEnd type="none" w="med" len="med"/>
                      <a:tailEnd type="none" w="med" len="med"/>
                    </a:lnL>
                    <a:lnR w="6350" cap="flat" cmpd="sng" algn="ctr">
                      <a:solidFill>
                        <a:srgbClr val="D5DCE8"/>
                      </a:solidFill>
                      <a:prstDash val="solid"/>
                      <a:round/>
                      <a:headEnd type="none" w="med" len="med"/>
                      <a:tailEnd type="none" w="med" len="med"/>
                    </a:lnR>
                    <a:lnT w="6350" cap="flat" cmpd="sng" algn="ctr">
                      <a:solidFill>
                        <a:srgbClr val="D5DCE8"/>
                      </a:solidFill>
                      <a:prstDash val="solid"/>
                      <a:round/>
                      <a:headEnd type="none" w="med" len="med"/>
                      <a:tailEnd type="none" w="med" len="med"/>
                    </a:lnT>
                    <a:lnB w="6350" cap="flat" cmpd="sng" algn="ctr">
                      <a:solidFill>
                        <a:srgbClr val="D5DCE8"/>
                      </a:solidFill>
                      <a:prstDash val="solid"/>
                      <a:round/>
                      <a:headEnd type="none" w="med" len="med"/>
                      <a:tailEnd type="none" w="med" len="med"/>
                    </a:lnB>
                  </a:tcPr>
                </a:tc>
                <a:tc>
                  <a:txBody>
                    <a:bodyPr/>
                    <a:lstStyle/>
                    <a:p>
                      <a:pPr marL="0" indent="0">
                        <a:buNone/>
                      </a:pPr>
                      <a:r>
                        <a:rPr lang="en-US" sz="1050" dirty="0">
                          <a:solidFill>
                            <a:schemeClr val="tx1"/>
                          </a:solidFill>
                        </a:rPr>
                        <a:t>A phone can notify emergency contacts; false alarms must be managed</a:t>
                      </a:r>
                      <a:endParaRPr lang="en-US" sz="1050" dirty="0"/>
                    </a:p>
                  </a:txBody>
                  <a:tcPr marL="64008" marR="64008" marT="36576" marB="36576" anchor="ctr">
                    <a:lnL w="6350" cap="flat" cmpd="sng" algn="ctr">
                      <a:solidFill>
                        <a:srgbClr val="D5DCE8"/>
                      </a:solidFill>
                      <a:prstDash val="solid"/>
                      <a:round/>
                      <a:headEnd type="none" w="med" len="med"/>
                      <a:tailEnd type="none" w="med" len="med"/>
                    </a:lnL>
                    <a:lnR w="6350" cap="flat" cmpd="sng" algn="ctr">
                      <a:solidFill>
                        <a:srgbClr val="D5DCE8"/>
                      </a:solidFill>
                      <a:prstDash val="solid"/>
                      <a:round/>
                      <a:headEnd type="none" w="med" len="med"/>
                      <a:tailEnd type="none" w="med" len="med"/>
                    </a:lnR>
                    <a:lnT w="6350" cap="flat" cmpd="sng" algn="ctr">
                      <a:solidFill>
                        <a:srgbClr val="D5DCE8"/>
                      </a:solidFill>
                      <a:prstDash val="solid"/>
                      <a:round/>
                      <a:headEnd type="none" w="med" len="med"/>
                      <a:tailEnd type="none" w="med" len="med"/>
                    </a:lnT>
                    <a:lnB w="6350" cap="flat" cmpd="sng" algn="ctr">
                      <a:solidFill>
                        <a:srgbClr val="D5DCE8"/>
                      </a:solidFill>
                      <a:prstDash val="solid"/>
                      <a:round/>
                      <a:headEnd type="none" w="med" len="med"/>
                      <a:tailEnd type="none" w="med" len="med"/>
                    </a:lnB>
                  </a:tcPr>
                </a:tc>
                <a:tc>
                  <a:txBody>
                    <a:bodyPr/>
                    <a:lstStyle/>
                    <a:p>
                      <a:pPr marL="0" indent="0">
                        <a:buNone/>
                      </a:pPr>
                      <a:r>
                        <a:rPr lang="en-US" sz="1050" dirty="0">
                          <a:solidFill>
                            <a:schemeClr val="tx1"/>
                          </a:solidFill>
                        </a:rPr>
                        <a:t>PackTrace uses a manual SOS; automatic detection is future scope</a:t>
                      </a:r>
                      <a:endParaRPr lang="en-US" sz="1050" dirty="0"/>
                    </a:p>
                  </a:txBody>
                  <a:tcPr marL="64008" marR="64008" marT="36576" marB="36576" anchor="ctr">
                    <a:lnL w="6350" cap="flat" cmpd="sng" algn="ctr">
                      <a:solidFill>
                        <a:srgbClr val="D5DCE8"/>
                      </a:solidFill>
                      <a:prstDash val="solid"/>
                      <a:round/>
                      <a:headEnd type="none" w="med" len="med"/>
                      <a:tailEnd type="none" w="med" len="med"/>
                    </a:lnL>
                    <a:lnR w="6350" cap="flat" cmpd="sng" algn="ctr">
                      <a:solidFill>
                        <a:srgbClr val="D5DCE8"/>
                      </a:solidFill>
                      <a:prstDash val="solid"/>
                      <a:round/>
                      <a:headEnd type="none" w="med" len="med"/>
                      <a:tailEnd type="none" w="med" len="med"/>
                    </a:lnR>
                    <a:lnT w="6350" cap="flat" cmpd="sng" algn="ctr">
                      <a:solidFill>
                        <a:srgbClr val="D5DCE8"/>
                      </a:solidFill>
                      <a:prstDash val="solid"/>
                      <a:round/>
                      <a:headEnd type="none" w="med" len="med"/>
                      <a:tailEnd type="none" w="med" len="med"/>
                    </a:lnT>
                    <a:lnB w="6350" cap="flat" cmpd="sng" algn="ctr">
                      <a:solidFill>
                        <a:srgbClr val="D5DCE8"/>
                      </a:solidFill>
                      <a:prstDash val="solid"/>
                      <a:round/>
                      <a:headEnd type="none" w="med" len="med"/>
                      <a:tailEnd type="none" w="med" len="med"/>
                    </a:lnB>
                  </a:tcPr>
                </a:tc>
                <a:extLst>
                  <a:ext uri="{0D108BD9-81ED-4DB2-BD59-A6C34878D82A}">
                    <a16:rowId xmlns:a16="http://schemas.microsoft.com/office/drawing/2014/main" val="10005"/>
                  </a:ext>
                </a:extLst>
              </a:tr>
            </a:tbl>
          </a:graphicData>
        </a:graphic>
      </p:graphicFrame>
      <p:sp>
        <p:nvSpPr>
          <p:cNvPr id="25" name="Slide Number Placeholder 0"/>
          <p:cNvSpPr>
            <a:spLocks noGrp="1"/>
          </p:cNvSpPr>
          <p:nvPr>
            <p:ph type="sldNum" sz="quarter" idx="4294967295"/>
          </p:nvPr>
        </p:nvSpPr>
        <p:spPr>
          <a:xfrm>
            <a:off x="8138160" y="4791456"/>
            <a:ext cx="548640" cy="228600"/>
          </a:xfrm>
          <a:prstGeom prst="rect">
            <a:avLst/>
          </a:prstGeom>
          <a:extLst>
            <a:ext uri="{C572A759-6A51-4108-AA02-DFA0A04FC94B}">
              <ma14:wrappingTextBoxFlag xmlns:ma14="http://schemas.microsoft.com/office/mac/drawingml/2011/main" xmlns="" val="0"/>
            </a:ext>
          </a:extLst>
        </p:spPr>
        <p:txBody>
          <a:bodyPr/>
          <a:lstStyle>
            <a:lvl1pPr>
              <a:defRPr sz="1000">
                <a:solidFill>
                  <a:srgbClr val="475569"/>
                </a:solidFill>
              </a:defRPr>
            </a:lvl1pPr>
          </a:lstStyle>
          <a:p>
            <a:pPr algn="r"/>
            <a:fld id="{F7021451-1387-4CA6-816F-3879F97B5CBC}" type="slidenum">
              <a:rPr lang="en-US" b="0"/>
              <a:t>9</a:t>
            </a:fld>
            <a:endParaRPr lang="en-US"/>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457200" y="420624"/>
            <a:ext cx="8229600" cy="566928"/>
          </a:xfrm>
          <a:prstGeom prst="rect">
            <a:avLst/>
          </a:prstGeom>
          <a:noFill/>
          <a:ln/>
        </p:spPr>
        <p:txBody>
          <a:bodyPr wrap="square" lIns="0" tIns="0" rIns="0" bIns="0" rtlCol="0" anchor="ctr"/>
          <a:lstStyle/>
          <a:p>
            <a:pPr marL="0" indent="0" algn="l">
              <a:buNone/>
            </a:pPr>
            <a:r>
              <a:rPr lang="en-US" sz="2800" b="1" dirty="0">
                <a:solidFill>
                  <a:schemeClr val="tx1"/>
                </a:solidFill>
              </a:rPr>
              <a:t>Accuracy, privacy and distance foundations</a:t>
            </a:r>
            <a:endParaRPr lang="en-US" sz="2800" dirty="0"/>
          </a:p>
        </p:txBody>
      </p:sp>
      <p:sp>
        <p:nvSpPr>
          <p:cNvPr id="3" name="Text 1"/>
          <p:cNvSpPr txBox="1"/>
          <p:nvPr/>
        </p:nvSpPr>
        <p:spPr>
          <a:xfrm>
            <a:off x="457200" y="219456"/>
            <a:ext cx="5486400" cy="182880"/>
          </a:xfrm>
          <a:prstGeom prst="rect">
            <a:avLst/>
          </a:prstGeom>
          <a:noFill/>
          <a:ln/>
        </p:spPr>
        <p:txBody>
          <a:bodyPr wrap="square" lIns="0" tIns="0" rIns="0" bIns="0" rtlCol="0" anchor="t"/>
          <a:lstStyle/>
          <a:p>
            <a:pPr marL="0" indent="0">
              <a:buNone/>
            </a:pPr>
            <a:r>
              <a:rPr lang="en-US" sz="1000" b="1" kern="0" spc="200" dirty="0">
                <a:solidFill>
                  <a:schemeClr val="accent1"/>
                </a:solidFill>
              </a:rPr>
              <a:t>LITERATURE REVIEW  (2 OF 2)</a:t>
            </a:r>
            <a:endParaRPr lang="en-US" sz="1000" dirty="0"/>
          </a:p>
        </p:txBody>
      </p:sp>
      <p:graphicFrame>
        <p:nvGraphicFramePr>
          <p:cNvPr id="11" name="Table 0"/>
          <p:cNvGraphicFramePr>
            <a:graphicFrameLocks noGrp="1"/>
          </p:cNvGraphicFramePr>
          <p:nvPr>
            <p:extLst>
              <p:ext uri="{D42A27DB-BD31-4B8C-83A1-F6EECF244321}">
                <p14:modId xmlns:p14="http://schemas.microsoft.com/office/powerpoint/2010/main" val="3511493994"/>
              </p:ext>
            </p:extLst>
          </p:nvPr>
        </p:nvGraphicFramePr>
        <p:xfrm>
          <a:off x="457200" y="1188720"/>
          <a:ext cx="8229600" cy="2706624"/>
        </p:xfrm>
        <a:graphic>
          <a:graphicData uri="http://schemas.openxmlformats.org/drawingml/2006/table">
            <a:tbl>
              <a:tblPr/>
              <a:tblGrid>
                <a:gridCol w="1097280">
                  <a:extLst>
                    <a:ext uri="{9D8B030D-6E8A-4147-A177-3AD203B41FA5}">
                      <a16:colId xmlns:a16="http://schemas.microsoft.com/office/drawing/2014/main" val="20000"/>
                    </a:ext>
                  </a:extLst>
                </a:gridCol>
                <a:gridCol w="1691640">
                  <a:extLst>
                    <a:ext uri="{9D8B030D-6E8A-4147-A177-3AD203B41FA5}">
                      <a16:colId xmlns:a16="http://schemas.microsoft.com/office/drawing/2014/main" val="20001"/>
                    </a:ext>
                  </a:extLst>
                </a:gridCol>
                <a:gridCol w="1783080">
                  <a:extLst>
                    <a:ext uri="{9D8B030D-6E8A-4147-A177-3AD203B41FA5}">
                      <a16:colId xmlns:a16="http://schemas.microsoft.com/office/drawing/2014/main" val="20002"/>
                    </a:ext>
                  </a:extLst>
                </a:gridCol>
                <a:gridCol w="1874520">
                  <a:extLst>
                    <a:ext uri="{9D8B030D-6E8A-4147-A177-3AD203B41FA5}">
                      <a16:colId xmlns:a16="http://schemas.microsoft.com/office/drawing/2014/main" val="20003"/>
                    </a:ext>
                  </a:extLst>
                </a:gridCol>
                <a:gridCol w="1783080">
                  <a:extLst>
                    <a:ext uri="{9D8B030D-6E8A-4147-A177-3AD203B41FA5}">
                      <a16:colId xmlns:a16="http://schemas.microsoft.com/office/drawing/2014/main" val="20004"/>
                    </a:ext>
                  </a:extLst>
                </a:gridCol>
              </a:tblGrid>
              <a:tr h="292608">
                <a:tc>
                  <a:txBody>
                    <a:bodyPr/>
                    <a:lstStyle/>
                    <a:p>
                      <a:pPr marL="0" indent="0">
                        <a:buNone/>
                      </a:pPr>
                      <a:r>
                        <a:rPr lang="en-US" sz="1100" b="1" dirty="0">
                          <a:solidFill>
                            <a:schemeClr val="bg1"/>
                          </a:solidFill>
                        </a:rPr>
                        <a:t>Author &amp; Year</a:t>
                      </a:r>
                      <a:endParaRPr lang="en-US" sz="1100" dirty="0"/>
                    </a:p>
                  </a:txBody>
                  <a:tcPr marL="64008" marR="64008" marT="36576" marB="36576" anchor="ctr">
                    <a:lnL w="6350" cap="flat" cmpd="sng" algn="ctr">
                      <a:solidFill>
                        <a:srgbClr val="D5DCE8"/>
                      </a:solidFill>
                      <a:prstDash val="solid"/>
                      <a:round/>
                      <a:headEnd type="none" w="med" len="med"/>
                      <a:tailEnd type="none" w="med" len="med"/>
                    </a:lnL>
                    <a:lnR w="6350" cap="flat" cmpd="sng" algn="ctr">
                      <a:solidFill>
                        <a:srgbClr val="D5DCE8"/>
                      </a:solidFill>
                      <a:prstDash val="solid"/>
                      <a:round/>
                      <a:headEnd type="none" w="med" len="med"/>
                      <a:tailEnd type="none" w="med" len="med"/>
                    </a:lnR>
                    <a:lnT w="6350" cap="flat" cmpd="sng" algn="ctr">
                      <a:solidFill>
                        <a:srgbClr val="D5DCE8"/>
                      </a:solidFill>
                      <a:prstDash val="solid"/>
                      <a:round/>
                      <a:headEnd type="none" w="med" len="med"/>
                      <a:tailEnd type="none" w="med" len="med"/>
                    </a:lnT>
                    <a:lnB w="6350" cap="flat" cmpd="sng" algn="ctr">
                      <a:solidFill>
                        <a:srgbClr val="D5DCE8"/>
                      </a:solidFill>
                      <a:prstDash val="solid"/>
                      <a:round/>
                      <a:headEnd type="none" w="med" len="med"/>
                      <a:tailEnd type="none" w="med" len="med"/>
                    </a:lnB>
                    <a:solidFill>
                      <a:schemeClr val="tx1"/>
                    </a:solidFill>
                  </a:tcPr>
                </a:tc>
                <a:tc>
                  <a:txBody>
                    <a:bodyPr/>
                    <a:lstStyle/>
                    <a:p>
                      <a:pPr marL="0" indent="0">
                        <a:buNone/>
                      </a:pPr>
                      <a:r>
                        <a:rPr lang="en-US" sz="1100" b="1" dirty="0">
                          <a:solidFill>
                            <a:schemeClr val="bg1"/>
                          </a:solidFill>
                        </a:rPr>
                        <a:t>Topic</a:t>
                      </a:r>
                      <a:endParaRPr lang="en-US" sz="1100" dirty="0"/>
                    </a:p>
                  </a:txBody>
                  <a:tcPr marL="64008" marR="64008" marT="36576" marB="36576" anchor="ctr">
                    <a:lnL w="6350" cap="flat" cmpd="sng" algn="ctr">
                      <a:solidFill>
                        <a:srgbClr val="D5DCE8"/>
                      </a:solidFill>
                      <a:prstDash val="solid"/>
                      <a:round/>
                      <a:headEnd type="none" w="med" len="med"/>
                      <a:tailEnd type="none" w="med" len="med"/>
                    </a:lnL>
                    <a:lnR w="6350" cap="flat" cmpd="sng" algn="ctr">
                      <a:solidFill>
                        <a:srgbClr val="D5DCE8"/>
                      </a:solidFill>
                      <a:prstDash val="solid"/>
                      <a:round/>
                      <a:headEnd type="none" w="med" len="med"/>
                      <a:tailEnd type="none" w="med" len="med"/>
                    </a:lnR>
                    <a:lnT w="6350" cap="flat" cmpd="sng" algn="ctr">
                      <a:solidFill>
                        <a:srgbClr val="D5DCE8"/>
                      </a:solidFill>
                      <a:prstDash val="solid"/>
                      <a:round/>
                      <a:headEnd type="none" w="med" len="med"/>
                      <a:tailEnd type="none" w="med" len="med"/>
                    </a:lnT>
                    <a:lnB w="6350" cap="flat" cmpd="sng" algn="ctr">
                      <a:solidFill>
                        <a:srgbClr val="D5DCE8"/>
                      </a:solidFill>
                      <a:prstDash val="solid"/>
                      <a:round/>
                      <a:headEnd type="none" w="med" len="med"/>
                      <a:tailEnd type="none" w="med" len="med"/>
                    </a:lnB>
                    <a:solidFill>
                      <a:schemeClr val="tx1"/>
                    </a:solidFill>
                  </a:tcPr>
                </a:tc>
                <a:tc>
                  <a:txBody>
                    <a:bodyPr/>
                    <a:lstStyle/>
                    <a:p>
                      <a:pPr marL="0" indent="0">
                        <a:buNone/>
                      </a:pPr>
                      <a:r>
                        <a:rPr lang="en-US" sz="1100" b="1" dirty="0">
                          <a:solidFill>
                            <a:schemeClr val="bg1"/>
                          </a:solidFill>
                        </a:rPr>
                        <a:t>Method / Technology</a:t>
                      </a:r>
                      <a:endParaRPr lang="en-US" sz="1100" dirty="0"/>
                    </a:p>
                  </a:txBody>
                  <a:tcPr marL="64008" marR="64008" marT="36576" marB="36576" anchor="ctr">
                    <a:lnL w="6350" cap="flat" cmpd="sng" algn="ctr">
                      <a:solidFill>
                        <a:srgbClr val="D5DCE8"/>
                      </a:solidFill>
                      <a:prstDash val="solid"/>
                      <a:round/>
                      <a:headEnd type="none" w="med" len="med"/>
                      <a:tailEnd type="none" w="med" len="med"/>
                    </a:lnL>
                    <a:lnR w="6350" cap="flat" cmpd="sng" algn="ctr">
                      <a:solidFill>
                        <a:srgbClr val="D5DCE8"/>
                      </a:solidFill>
                      <a:prstDash val="solid"/>
                      <a:round/>
                      <a:headEnd type="none" w="med" len="med"/>
                      <a:tailEnd type="none" w="med" len="med"/>
                    </a:lnR>
                    <a:lnT w="6350" cap="flat" cmpd="sng" algn="ctr">
                      <a:solidFill>
                        <a:srgbClr val="D5DCE8"/>
                      </a:solidFill>
                      <a:prstDash val="solid"/>
                      <a:round/>
                      <a:headEnd type="none" w="med" len="med"/>
                      <a:tailEnd type="none" w="med" len="med"/>
                    </a:lnT>
                    <a:lnB w="6350" cap="flat" cmpd="sng" algn="ctr">
                      <a:solidFill>
                        <a:srgbClr val="D5DCE8"/>
                      </a:solidFill>
                      <a:prstDash val="solid"/>
                      <a:round/>
                      <a:headEnd type="none" w="med" len="med"/>
                      <a:tailEnd type="none" w="med" len="med"/>
                    </a:lnB>
                    <a:solidFill>
                      <a:schemeClr val="tx1"/>
                    </a:solidFill>
                  </a:tcPr>
                </a:tc>
                <a:tc>
                  <a:txBody>
                    <a:bodyPr/>
                    <a:lstStyle/>
                    <a:p>
                      <a:pPr marL="0" indent="0">
                        <a:buNone/>
                      </a:pPr>
                      <a:r>
                        <a:rPr lang="en-US" sz="1100" b="1" dirty="0">
                          <a:solidFill>
                            <a:schemeClr val="bg1"/>
                          </a:solidFill>
                        </a:rPr>
                        <a:t>Key finding</a:t>
                      </a:r>
                      <a:endParaRPr lang="en-US" sz="1100" dirty="0"/>
                    </a:p>
                  </a:txBody>
                  <a:tcPr marL="64008" marR="64008" marT="36576" marB="36576" anchor="ctr">
                    <a:lnL w="6350" cap="flat" cmpd="sng" algn="ctr">
                      <a:solidFill>
                        <a:srgbClr val="D5DCE8"/>
                      </a:solidFill>
                      <a:prstDash val="solid"/>
                      <a:round/>
                      <a:headEnd type="none" w="med" len="med"/>
                      <a:tailEnd type="none" w="med" len="med"/>
                    </a:lnL>
                    <a:lnR w="6350" cap="flat" cmpd="sng" algn="ctr">
                      <a:solidFill>
                        <a:srgbClr val="D5DCE8"/>
                      </a:solidFill>
                      <a:prstDash val="solid"/>
                      <a:round/>
                      <a:headEnd type="none" w="med" len="med"/>
                      <a:tailEnd type="none" w="med" len="med"/>
                    </a:lnR>
                    <a:lnT w="6350" cap="flat" cmpd="sng" algn="ctr">
                      <a:solidFill>
                        <a:srgbClr val="D5DCE8"/>
                      </a:solidFill>
                      <a:prstDash val="solid"/>
                      <a:round/>
                      <a:headEnd type="none" w="med" len="med"/>
                      <a:tailEnd type="none" w="med" len="med"/>
                    </a:lnT>
                    <a:lnB w="6350" cap="flat" cmpd="sng" algn="ctr">
                      <a:solidFill>
                        <a:srgbClr val="D5DCE8"/>
                      </a:solidFill>
                      <a:prstDash val="solid"/>
                      <a:round/>
                      <a:headEnd type="none" w="med" len="med"/>
                      <a:tailEnd type="none" w="med" len="med"/>
                    </a:lnB>
                    <a:solidFill>
                      <a:schemeClr val="tx1"/>
                    </a:solidFill>
                  </a:tcPr>
                </a:tc>
                <a:tc>
                  <a:txBody>
                    <a:bodyPr/>
                    <a:lstStyle/>
                    <a:p>
                      <a:pPr marL="0" indent="0">
                        <a:buNone/>
                      </a:pPr>
                      <a:r>
                        <a:rPr lang="en-US" sz="1100" b="1" dirty="0">
                          <a:solidFill>
                            <a:schemeClr val="bg1"/>
                          </a:solidFill>
                        </a:rPr>
                        <a:t>Relevance to PackTrace</a:t>
                      </a:r>
                      <a:endParaRPr lang="en-US" sz="1100" dirty="0"/>
                    </a:p>
                  </a:txBody>
                  <a:tcPr marL="64008" marR="64008" marT="36576" marB="36576" anchor="ctr">
                    <a:lnL w="6350" cap="flat" cmpd="sng" algn="ctr">
                      <a:solidFill>
                        <a:srgbClr val="D5DCE8"/>
                      </a:solidFill>
                      <a:prstDash val="solid"/>
                      <a:round/>
                      <a:headEnd type="none" w="med" len="med"/>
                      <a:tailEnd type="none" w="med" len="med"/>
                    </a:lnL>
                    <a:lnR w="6350" cap="flat" cmpd="sng" algn="ctr">
                      <a:solidFill>
                        <a:srgbClr val="D5DCE8"/>
                      </a:solidFill>
                      <a:prstDash val="solid"/>
                      <a:round/>
                      <a:headEnd type="none" w="med" len="med"/>
                      <a:tailEnd type="none" w="med" len="med"/>
                    </a:lnR>
                    <a:lnT w="6350" cap="flat" cmpd="sng" algn="ctr">
                      <a:solidFill>
                        <a:srgbClr val="D5DCE8"/>
                      </a:solidFill>
                      <a:prstDash val="solid"/>
                      <a:round/>
                      <a:headEnd type="none" w="med" len="med"/>
                      <a:tailEnd type="none" w="med" len="med"/>
                    </a:lnT>
                    <a:lnB w="6350" cap="flat" cmpd="sng" algn="ctr">
                      <a:solidFill>
                        <a:srgbClr val="D5DCE8"/>
                      </a:solidFill>
                      <a:prstDash val="solid"/>
                      <a:round/>
                      <a:headEnd type="none" w="med" len="med"/>
                      <a:tailEnd type="none" w="med" len="med"/>
                    </a:lnB>
                    <a:solidFill>
                      <a:schemeClr val="tx1"/>
                    </a:solidFill>
                  </a:tcPr>
                </a:tc>
                <a:extLst>
                  <a:ext uri="{0D108BD9-81ED-4DB2-BD59-A6C34878D82A}">
                    <a16:rowId xmlns:a16="http://schemas.microsoft.com/office/drawing/2014/main" val="10000"/>
                  </a:ext>
                </a:extLst>
              </a:tr>
              <a:tr h="658368">
                <a:tc>
                  <a:txBody>
                    <a:bodyPr/>
                    <a:lstStyle/>
                    <a:p>
                      <a:pPr marL="0" indent="0">
                        <a:buNone/>
                      </a:pPr>
                      <a:r>
                        <a:rPr lang="en-US" sz="1050" b="1" dirty="0">
                          <a:solidFill>
                            <a:schemeClr val="tx1"/>
                          </a:solidFill>
                        </a:rPr>
                        <a:t>Zandbergen &amp; Barbeau, 2011 [5]; Zandbergen, 2009 [7]</a:t>
                      </a:r>
                      <a:endParaRPr lang="en-US" sz="1050" dirty="0"/>
                    </a:p>
                  </a:txBody>
                  <a:tcPr marL="64008" marR="64008" marT="36576" marB="36576" anchor="ctr">
                    <a:lnL w="6350" cap="flat" cmpd="sng" algn="ctr">
                      <a:solidFill>
                        <a:srgbClr val="D5DCE8"/>
                      </a:solidFill>
                      <a:prstDash val="solid"/>
                      <a:round/>
                      <a:headEnd type="none" w="med" len="med"/>
                      <a:tailEnd type="none" w="med" len="med"/>
                    </a:lnL>
                    <a:lnR w="6350" cap="flat" cmpd="sng" algn="ctr">
                      <a:solidFill>
                        <a:srgbClr val="D5DCE8"/>
                      </a:solidFill>
                      <a:prstDash val="solid"/>
                      <a:round/>
                      <a:headEnd type="none" w="med" len="med"/>
                      <a:tailEnd type="none" w="med" len="med"/>
                    </a:lnR>
                    <a:lnT w="6350" cap="flat" cmpd="sng" algn="ctr">
                      <a:solidFill>
                        <a:srgbClr val="D5DCE8"/>
                      </a:solidFill>
                      <a:prstDash val="solid"/>
                      <a:round/>
                      <a:headEnd type="none" w="med" len="med"/>
                      <a:tailEnd type="none" w="med" len="med"/>
                    </a:lnT>
                    <a:lnB w="6350" cap="flat" cmpd="sng" algn="ctr">
                      <a:solidFill>
                        <a:srgbClr val="D5DCE8"/>
                      </a:solidFill>
                      <a:prstDash val="solid"/>
                      <a:round/>
                      <a:headEnd type="none" w="med" len="med"/>
                      <a:tailEnd type="none" w="med" len="med"/>
                    </a:lnB>
                  </a:tcPr>
                </a:tc>
                <a:tc>
                  <a:txBody>
                    <a:bodyPr/>
                    <a:lstStyle/>
                    <a:p>
                      <a:pPr marL="0" indent="0">
                        <a:buNone/>
                      </a:pPr>
                      <a:r>
                        <a:rPr lang="en-US" sz="1050" dirty="0">
                          <a:solidFill>
                            <a:schemeClr val="tx1"/>
                          </a:solidFill>
                        </a:rPr>
                        <a:t>Accuracy of phone-based GPS positioning</a:t>
                      </a:r>
                      <a:endParaRPr lang="en-US" sz="1050" dirty="0"/>
                    </a:p>
                  </a:txBody>
                  <a:tcPr marL="64008" marR="64008" marT="36576" marB="36576" anchor="ctr">
                    <a:lnL w="6350" cap="flat" cmpd="sng" algn="ctr">
                      <a:solidFill>
                        <a:srgbClr val="D5DCE8"/>
                      </a:solidFill>
                      <a:prstDash val="solid"/>
                      <a:round/>
                      <a:headEnd type="none" w="med" len="med"/>
                      <a:tailEnd type="none" w="med" len="med"/>
                    </a:lnL>
                    <a:lnR w="6350" cap="flat" cmpd="sng" algn="ctr">
                      <a:solidFill>
                        <a:srgbClr val="D5DCE8"/>
                      </a:solidFill>
                      <a:prstDash val="solid"/>
                      <a:round/>
                      <a:headEnd type="none" w="med" len="med"/>
                      <a:tailEnd type="none" w="med" len="med"/>
                    </a:lnR>
                    <a:lnT w="6350" cap="flat" cmpd="sng" algn="ctr">
                      <a:solidFill>
                        <a:srgbClr val="D5DCE8"/>
                      </a:solidFill>
                      <a:prstDash val="solid"/>
                      <a:round/>
                      <a:headEnd type="none" w="med" len="med"/>
                      <a:tailEnd type="none" w="med" len="med"/>
                    </a:lnT>
                    <a:lnB w="6350" cap="flat" cmpd="sng" algn="ctr">
                      <a:solidFill>
                        <a:srgbClr val="D5DCE8"/>
                      </a:solidFill>
                      <a:prstDash val="solid"/>
                      <a:round/>
                      <a:headEnd type="none" w="med" len="med"/>
                      <a:tailEnd type="none" w="med" len="med"/>
                    </a:lnB>
                  </a:tcPr>
                </a:tc>
                <a:tc>
                  <a:txBody>
                    <a:bodyPr/>
                    <a:lstStyle/>
                    <a:p>
                      <a:pPr marL="0" indent="0">
                        <a:buNone/>
                      </a:pPr>
                      <a:r>
                        <a:rPr lang="en-US" sz="1050" dirty="0">
                          <a:solidFill>
                            <a:schemeClr val="tx1"/>
                          </a:solidFill>
                        </a:rPr>
                        <a:t>Empirical comparison of assisted GPS, Wi-Fi and cellular positioning</a:t>
                      </a:r>
                      <a:endParaRPr lang="en-US" sz="1050" dirty="0"/>
                    </a:p>
                  </a:txBody>
                  <a:tcPr marL="64008" marR="64008" marT="36576" marB="36576" anchor="ctr">
                    <a:lnL w="6350" cap="flat" cmpd="sng" algn="ctr">
                      <a:solidFill>
                        <a:srgbClr val="D5DCE8"/>
                      </a:solidFill>
                      <a:prstDash val="solid"/>
                      <a:round/>
                      <a:headEnd type="none" w="med" len="med"/>
                      <a:tailEnd type="none" w="med" len="med"/>
                    </a:lnL>
                    <a:lnR w="6350" cap="flat" cmpd="sng" algn="ctr">
                      <a:solidFill>
                        <a:srgbClr val="D5DCE8"/>
                      </a:solidFill>
                      <a:prstDash val="solid"/>
                      <a:round/>
                      <a:headEnd type="none" w="med" len="med"/>
                      <a:tailEnd type="none" w="med" len="med"/>
                    </a:lnR>
                    <a:lnT w="6350" cap="flat" cmpd="sng" algn="ctr">
                      <a:solidFill>
                        <a:srgbClr val="D5DCE8"/>
                      </a:solidFill>
                      <a:prstDash val="solid"/>
                      <a:round/>
                      <a:headEnd type="none" w="med" len="med"/>
                      <a:tailEnd type="none" w="med" len="med"/>
                    </a:lnT>
                    <a:lnB w="6350" cap="flat" cmpd="sng" algn="ctr">
                      <a:solidFill>
                        <a:srgbClr val="D5DCE8"/>
                      </a:solidFill>
                      <a:prstDash val="solid"/>
                      <a:round/>
                      <a:headEnd type="none" w="med" len="med"/>
                      <a:tailEnd type="none" w="med" len="med"/>
                    </a:lnB>
                  </a:tcPr>
                </a:tc>
                <a:tc>
                  <a:txBody>
                    <a:bodyPr/>
                    <a:lstStyle/>
                    <a:p>
                      <a:pPr marL="0" indent="0">
                        <a:buNone/>
                      </a:pPr>
                      <a:r>
                        <a:rPr lang="en-US" sz="1050" dirty="0">
                          <a:solidFill>
                            <a:schemeClr val="tx1"/>
                          </a:solidFill>
                        </a:rPr>
                        <a:t>Assisted GPS is best; errors grow indoors and among tall buildings</a:t>
                      </a:r>
                      <a:endParaRPr lang="en-US" sz="1050" dirty="0"/>
                    </a:p>
                  </a:txBody>
                  <a:tcPr marL="64008" marR="64008" marT="36576" marB="36576" anchor="ctr">
                    <a:lnL w="6350" cap="flat" cmpd="sng" algn="ctr">
                      <a:solidFill>
                        <a:srgbClr val="D5DCE8"/>
                      </a:solidFill>
                      <a:prstDash val="solid"/>
                      <a:round/>
                      <a:headEnd type="none" w="med" len="med"/>
                      <a:tailEnd type="none" w="med" len="med"/>
                    </a:lnL>
                    <a:lnR w="6350" cap="flat" cmpd="sng" algn="ctr">
                      <a:solidFill>
                        <a:srgbClr val="D5DCE8"/>
                      </a:solidFill>
                      <a:prstDash val="solid"/>
                      <a:round/>
                      <a:headEnd type="none" w="med" len="med"/>
                      <a:tailEnd type="none" w="med" len="med"/>
                    </a:lnR>
                    <a:lnT w="6350" cap="flat" cmpd="sng" algn="ctr">
                      <a:solidFill>
                        <a:srgbClr val="D5DCE8"/>
                      </a:solidFill>
                      <a:prstDash val="solid"/>
                      <a:round/>
                      <a:headEnd type="none" w="med" len="med"/>
                      <a:tailEnd type="none" w="med" len="med"/>
                    </a:lnT>
                    <a:lnB w="6350" cap="flat" cmpd="sng" algn="ctr">
                      <a:solidFill>
                        <a:srgbClr val="D5DCE8"/>
                      </a:solidFill>
                      <a:prstDash val="solid"/>
                      <a:round/>
                      <a:headEnd type="none" w="med" len="med"/>
                      <a:tailEnd type="none" w="med" len="med"/>
                    </a:lnB>
                  </a:tcPr>
                </a:tc>
                <a:tc>
                  <a:txBody>
                    <a:bodyPr/>
                    <a:lstStyle/>
                    <a:p>
                      <a:pPr marL="0" indent="0">
                        <a:buNone/>
                      </a:pPr>
                      <a:r>
                        <a:rPr lang="en-US" sz="1050" dirty="0">
                          <a:solidFill>
                            <a:schemeClr val="tx1"/>
                          </a:solidFill>
                        </a:rPr>
                        <a:t>Explains approximate positions and the GPS-accuracy limitation</a:t>
                      </a:r>
                      <a:endParaRPr lang="en-US" sz="1050" dirty="0"/>
                    </a:p>
                  </a:txBody>
                  <a:tcPr marL="64008" marR="64008" marT="36576" marB="36576" anchor="ctr">
                    <a:lnL w="6350" cap="flat" cmpd="sng" algn="ctr">
                      <a:solidFill>
                        <a:srgbClr val="D5DCE8"/>
                      </a:solidFill>
                      <a:prstDash val="solid"/>
                      <a:round/>
                      <a:headEnd type="none" w="med" len="med"/>
                      <a:tailEnd type="none" w="med" len="med"/>
                    </a:lnL>
                    <a:lnR w="6350" cap="flat" cmpd="sng" algn="ctr">
                      <a:solidFill>
                        <a:srgbClr val="D5DCE8"/>
                      </a:solidFill>
                      <a:prstDash val="solid"/>
                      <a:round/>
                      <a:headEnd type="none" w="med" len="med"/>
                      <a:tailEnd type="none" w="med" len="med"/>
                    </a:lnR>
                    <a:lnT w="6350" cap="flat" cmpd="sng" algn="ctr">
                      <a:solidFill>
                        <a:srgbClr val="D5DCE8"/>
                      </a:solidFill>
                      <a:prstDash val="solid"/>
                      <a:round/>
                      <a:headEnd type="none" w="med" len="med"/>
                      <a:tailEnd type="none" w="med" len="med"/>
                    </a:lnT>
                    <a:lnB w="6350" cap="flat" cmpd="sng" algn="ctr">
                      <a:solidFill>
                        <a:srgbClr val="D5DCE8"/>
                      </a:solidFill>
                      <a:prstDash val="solid"/>
                      <a:round/>
                      <a:headEnd type="none" w="med" len="med"/>
                      <a:tailEnd type="none" w="med" len="med"/>
                    </a:lnB>
                  </a:tcPr>
                </a:tc>
                <a:extLst>
                  <a:ext uri="{0D108BD9-81ED-4DB2-BD59-A6C34878D82A}">
                    <a16:rowId xmlns:a16="http://schemas.microsoft.com/office/drawing/2014/main" val="10001"/>
                  </a:ext>
                </a:extLst>
              </a:tr>
              <a:tr h="566928">
                <a:tc>
                  <a:txBody>
                    <a:bodyPr/>
                    <a:lstStyle/>
                    <a:p>
                      <a:pPr marL="0" indent="0">
                        <a:buNone/>
                      </a:pPr>
                      <a:r>
                        <a:rPr lang="en-US" sz="1050" b="1" dirty="0">
                          <a:solidFill>
                            <a:schemeClr val="tx1"/>
                          </a:solidFill>
                        </a:rPr>
                        <a:t>Consolvo et al., 2005 [8]</a:t>
                      </a:r>
                      <a:endParaRPr lang="en-US" sz="1050" dirty="0"/>
                    </a:p>
                  </a:txBody>
                  <a:tcPr marL="64008" marR="64008" marT="36576" marB="36576" anchor="ctr">
                    <a:lnL w="6350" cap="flat" cmpd="sng" algn="ctr">
                      <a:solidFill>
                        <a:srgbClr val="D5DCE8"/>
                      </a:solidFill>
                      <a:prstDash val="solid"/>
                      <a:round/>
                      <a:headEnd type="none" w="med" len="med"/>
                      <a:tailEnd type="none" w="med" len="med"/>
                    </a:lnL>
                    <a:lnR w="6350" cap="flat" cmpd="sng" algn="ctr">
                      <a:solidFill>
                        <a:srgbClr val="D5DCE8"/>
                      </a:solidFill>
                      <a:prstDash val="solid"/>
                      <a:round/>
                      <a:headEnd type="none" w="med" len="med"/>
                      <a:tailEnd type="none" w="med" len="med"/>
                    </a:lnR>
                    <a:lnT w="6350" cap="flat" cmpd="sng" algn="ctr">
                      <a:solidFill>
                        <a:srgbClr val="D5DCE8"/>
                      </a:solidFill>
                      <a:prstDash val="solid"/>
                      <a:round/>
                      <a:headEnd type="none" w="med" len="med"/>
                      <a:tailEnd type="none" w="med" len="med"/>
                    </a:lnT>
                    <a:lnB w="6350" cap="flat" cmpd="sng" algn="ctr">
                      <a:solidFill>
                        <a:srgbClr val="D5DCE8"/>
                      </a:solidFill>
                      <a:prstDash val="solid"/>
                      <a:round/>
                      <a:headEnd type="none" w="med" len="med"/>
                      <a:tailEnd type="none" w="med" len="med"/>
                    </a:lnB>
                  </a:tcPr>
                </a:tc>
                <a:tc>
                  <a:txBody>
                    <a:bodyPr/>
                    <a:lstStyle/>
                    <a:p>
                      <a:pPr marL="0" indent="0">
                        <a:buNone/>
                      </a:pPr>
                      <a:r>
                        <a:rPr lang="en-US" sz="1050" dirty="0">
                          <a:solidFill>
                            <a:schemeClr val="tx1"/>
                          </a:solidFill>
                        </a:rPr>
                        <a:t>Location disclosure to social relations</a:t>
                      </a:r>
                      <a:endParaRPr lang="en-US" sz="1050" dirty="0"/>
                    </a:p>
                  </a:txBody>
                  <a:tcPr marL="64008" marR="64008" marT="36576" marB="36576" anchor="ctr">
                    <a:lnL w="6350" cap="flat" cmpd="sng" algn="ctr">
                      <a:solidFill>
                        <a:srgbClr val="D5DCE8"/>
                      </a:solidFill>
                      <a:prstDash val="solid"/>
                      <a:round/>
                      <a:headEnd type="none" w="med" len="med"/>
                      <a:tailEnd type="none" w="med" len="med"/>
                    </a:lnL>
                    <a:lnR w="6350" cap="flat" cmpd="sng" algn="ctr">
                      <a:solidFill>
                        <a:srgbClr val="D5DCE8"/>
                      </a:solidFill>
                      <a:prstDash val="solid"/>
                      <a:round/>
                      <a:headEnd type="none" w="med" len="med"/>
                      <a:tailEnd type="none" w="med" len="med"/>
                    </a:lnR>
                    <a:lnT w="6350" cap="flat" cmpd="sng" algn="ctr">
                      <a:solidFill>
                        <a:srgbClr val="D5DCE8"/>
                      </a:solidFill>
                      <a:prstDash val="solid"/>
                      <a:round/>
                      <a:headEnd type="none" w="med" len="med"/>
                      <a:tailEnd type="none" w="med" len="med"/>
                    </a:lnT>
                    <a:lnB w="6350" cap="flat" cmpd="sng" algn="ctr">
                      <a:solidFill>
                        <a:srgbClr val="D5DCE8"/>
                      </a:solidFill>
                      <a:prstDash val="solid"/>
                      <a:round/>
                      <a:headEnd type="none" w="med" len="med"/>
                      <a:tailEnd type="none" w="med" len="med"/>
                    </a:lnB>
                  </a:tcPr>
                </a:tc>
                <a:tc>
                  <a:txBody>
                    <a:bodyPr/>
                    <a:lstStyle/>
                    <a:p>
                      <a:pPr marL="0" indent="0">
                        <a:buNone/>
                      </a:pPr>
                      <a:r>
                        <a:rPr lang="en-US" sz="1050" dirty="0">
                          <a:solidFill>
                            <a:schemeClr val="tx1"/>
                          </a:solidFill>
                        </a:rPr>
                        <a:t>Field study and interviews</a:t>
                      </a:r>
                      <a:endParaRPr lang="en-US" sz="1050" dirty="0"/>
                    </a:p>
                  </a:txBody>
                  <a:tcPr marL="64008" marR="64008" marT="36576" marB="36576" anchor="ctr">
                    <a:lnL w="6350" cap="flat" cmpd="sng" algn="ctr">
                      <a:solidFill>
                        <a:srgbClr val="D5DCE8"/>
                      </a:solidFill>
                      <a:prstDash val="solid"/>
                      <a:round/>
                      <a:headEnd type="none" w="med" len="med"/>
                      <a:tailEnd type="none" w="med" len="med"/>
                    </a:lnL>
                    <a:lnR w="6350" cap="flat" cmpd="sng" algn="ctr">
                      <a:solidFill>
                        <a:srgbClr val="D5DCE8"/>
                      </a:solidFill>
                      <a:prstDash val="solid"/>
                      <a:round/>
                      <a:headEnd type="none" w="med" len="med"/>
                      <a:tailEnd type="none" w="med" len="med"/>
                    </a:lnR>
                    <a:lnT w="6350" cap="flat" cmpd="sng" algn="ctr">
                      <a:solidFill>
                        <a:srgbClr val="D5DCE8"/>
                      </a:solidFill>
                      <a:prstDash val="solid"/>
                      <a:round/>
                      <a:headEnd type="none" w="med" len="med"/>
                      <a:tailEnd type="none" w="med" len="med"/>
                    </a:lnT>
                    <a:lnB w="6350" cap="flat" cmpd="sng" algn="ctr">
                      <a:solidFill>
                        <a:srgbClr val="D5DCE8"/>
                      </a:solidFill>
                      <a:prstDash val="solid"/>
                      <a:round/>
                      <a:headEnd type="none" w="med" len="med"/>
                      <a:tailEnd type="none" w="med" len="med"/>
                    </a:lnB>
                  </a:tcPr>
                </a:tc>
                <a:tc>
                  <a:txBody>
                    <a:bodyPr/>
                    <a:lstStyle/>
                    <a:p>
                      <a:pPr marL="0" indent="0">
                        <a:buNone/>
                      </a:pPr>
                      <a:r>
                        <a:rPr lang="en-US" sz="1050" dirty="0">
                          <a:solidFill>
                            <a:schemeClr val="tx1"/>
                          </a:solidFill>
                        </a:rPr>
                        <a:t>People want control over who sees their location, and when</a:t>
                      </a:r>
                      <a:endParaRPr lang="en-US" sz="1050" dirty="0"/>
                    </a:p>
                  </a:txBody>
                  <a:tcPr marL="64008" marR="64008" marT="36576" marB="36576" anchor="ctr">
                    <a:lnL w="6350" cap="flat" cmpd="sng" algn="ctr">
                      <a:solidFill>
                        <a:srgbClr val="D5DCE8"/>
                      </a:solidFill>
                      <a:prstDash val="solid"/>
                      <a:round/>
                      <a:headEnd type="none" w="med" len="med"/>
                      <a:tailEnd type="none" w="med" len="med"/>
                    </a:lnL>
                    <a:lnR w="6350" cap="flat" cmpd="sng" algn="ctr">
                      <a:solidFill>
                        <a:srgbClr val="D5DCE8"/>
                      </a:solidFill>
                      <a:prstDash val="solid"/>
                      <a:round/>
                      <a:headEnd type="none" w="med" len="med"/>
                      <a:tailEnd type="none" w="med" len="med"/>
                    </a:lnR>
                    <a:lnT w="6350" cap="flat" cmpd="sng" algn="ctr">
                      <a:solidFill>
                        <a:srgbClr val="D5DCE8"/>
                      </a:solidFill>
                      <a:prstDash val="solid"/>
                      <a:round/>
                      <a:headEnd type="none" w="med" len="med"/>
                      <a:tailEnd type="none" w="med" len="med"/>
                    </a:lnT>
                    <a:lnB w="6350" cap="flat" cmpd="sng" algn="ctr">
                      <a:solidFill>
                        <a:srgbClr val="D5DCE8"/>
                      </a:solidFill>
                      <a:prstDash val="solid"/>
                      <a:round/>
                      <a:headEnd type="none" w="med" len="med"/>
                      <a:tailEnd type="none" w="med" len="med"/>
                    </a:lnB>
                  </a:tcPr>
                </a:tc>
                <a:tc>
                  <a:txBody>
                    <a:bodyPr/>
                    <a:lstStyle/>
                    <a:p>
                      <a:pPr marL="0" indent="0">
                        <a:buNone/>
                      </a:pPr>
                      <a:r>
                        <a:rPr lang="en-US" sz="1050" dirty="0">
                          <a:solidFill>
                            <a:schemeClr val="tx1"/>
                          </a:solidFill>
                        </a:rPr>
                        <a:t>Basis for consent-based sharing within the ride group</a:t>
                      </a:r>
                      <a:endParaRPr lang="en-US" sz="1050" dirty="0"/>
                    </a:p>
                  </a:txBody>
                  <a:tcPr marL="64008" marR="64008" marT="36576" marB="36576" anchor="ctr">
                    <a:lnL w="6350" cap="flat" cmpd="sng" algn="ctr">
                      <a:solidFill>
                        <a:srgbClr val="D5DCE8"/>
                      </a:solidFill>
                      <a:prstDash val="solid"/>
                      <a:round/>
                      <a:headEnd type="none" w="med" len="med"/>
                      <a:tailEnd type="none" w="med" len="med"/>
                    </a:lnL>
                    <a:lnR w="6350" cap="flat" cmpd="sng" algn="ctr">
                      <a:solidFill>
                        <a:srgbClr val="D5DCE8"/>
                      </a:solidFill>
                      <a:prstDash val="solid"/>
                      <a:round/>
                      <a:headEnd type="none" w="med" len="med"/>
                      <a:tailEnd type="none" w="med" len="med"/>
                    </a:lnR>
                    <a:lnT w="6350" cap="flat" cmpd="sng" algn="ctr">
                      <a:solidFill>
                        <a:srgbClr val="D5DCE8"/>
                      </a:solidFill>
                      <a:prstDash val="solid"/>
                      <a:round/>
                      <a:headEnd type="none" w="med" len="med"/>
                      <a:tailEnd type="none" w="med" len="med"/>
                    </a:lnT>
                    <a:lnB w="6350" cap="flat" cmpd="sng" algn="ctr">
                      <a:solidFill>
                        <a:srgbClr val="D5DCE8"/>
                      </a:solidFill>
                      <a:prstDash val="solid"/>
                      <a:round/>
                      <a:headEnd type="none" w="med" len="med"/>
                      <a:tailEnd type="none" w="med" len="med"/>
                    </a:lnB>
                  </a:tcPr>
                </a:tc>
                <a:extLst>
                  <a:ext uri="{0D108BD9-81ED-4DB2-BD59-A6C34878D82A}">
                    <a16:rowId xmlns:a16="http://schemas.microsoft.com/office/drawing/2014/main" val="10002"/>
                  </a:ext>
                </a:extLst>
              </a:tr>
              <a:tr h="566928">
                <a:tc>
                  <a:txBody>
                    <a:bodyPr/>
                    <a:lstStyle/>
                    <a:p>
                      <a:pPr marL="0" indent="0">
                        <a:buNone/>
                      </a:pPr>
                      <a:r>
                        <a:rPr lang="en-US" sz="1050" b="1" dirty="0">
                          <a:solidFill>
                            <a:schemeClr val="tx1"/>
                          </a:solidFill>
                        </a:rPr>
                        <a:t>Beresford &amp; </a:t>
                      </a:r>
                      <a:r>
                        <a:rPr lang="en-US" sz="1050" b="1" dirty="0" err="1">
                          <a:solidFill>
                            <a:schemeClr val="tx1"/>
                          </a:solidFill>
                        </a:rPr>
                        <a:t>Stajano</a:t>
                      </a:r>
                      <a:r>
                        <a:rPr lang="en-US" sz="1050" b="1" dirty="0">
                          <a:solidFill>
                            <a:schemeClr val="tx1"/>
                          </a:solidFill>
                        </a:rPr>
                        <a:t>, 2003 [9]</a:t>
                      </a:r>
                      <a:endParaRPr lang="en-US" sz="1050" dirty="0"/>
                    </a:p>
                  </a:txBody>
                  <a:tcPr marL="64008" marR="64008" marT="36576" marB="36576" anchor="ctr">
                    <a:lnL w="6350" cap="flat" cmpd="sng" algn="ctr">
                      <a:solidFill>
                        <a:srgbClr val="D5DCE8"/>
                      </a:solidFill>
                      <a:prstDash val="solid"/>
                      <a:round/>
                      <a:headEnd type="none" w="med" len="med"/>
                      <a:tailEnd type="none" w="med" len="med"/>
                    </a:lnL>
                    <a:lnR w="6350" cap="flat" cmpd="sng" algn="ctr">
                      <a:solidFill>
                        <a:srgbClr val="D5DCE8"/>
                      </a:solidFill>
                      <a:prstDash val="solid"/>
                      <a:round/>
                      <a:headEnd type="none" w="med" len="med"/>
                      <a:tailEnd type="none" w="med" len="med"/>
                    </a:lnR>
                    <a:lnT w="6350" cap="flat" cmpd="sng" algn="ctr">
                      <a:solidFill>
                        <a:srgbClr val="D5DCE8"/>
                      </a:solidFill>
                      <a:prstDash val="solid"/>
                      <a:round/>
                      <a:headEnd type="none" w="med" len="med"/>
                      <a:tailEnd type="none" w="med" len="med"/>
                    </a:lnT>
                    <a:lnB w="6350" cap="flat" cmpd="sng" algn="ctr">
                      <a:solidFill>
                        <a:srgbClr val="D5DCE8"/>
                      </a:solidFill>
                      <a:prstDash val="solid"/>
                      <a:round/>
                      <a:headEnd type="none" w="med" len="med"/>
                      <a:tailEnd type="none" w="med" len="med"/>
                    </a:lnB>
                  </a:tcPr>
                </a:tc>
                <a:tc>
                  <a:txBody>
                    <a:bodyPr/>
                    <a:lstStyle/>
                    <a:p>
                      <a:pPr marL="0" indent="0">
                        <a:buNone/>
                      </a:pPr>
                      <a:r>
                        <a:rPr lang="en-US" sz="1050" dirty="0">
                          <a:solidFill>
                            <a:schemeClr val="tx1"/>
                          </a:solidFill>
                        </a:rPr>
                        <a:t>Location privacy in pervasive computing</a:t>
                      </a:r>
                      <a:endParaRPr lang="en-US" sz="1050" dirty="0"/>
                    </a:p>
                  </a:txBody>
                  <a:tcPr marL="64008" marR="64008" marT="36576" marB="36576" anchor="ctr">
                    <a:lnL w="6350" cap="flat" cmpd="sng" algn="ctr">
                      <a:solidFill>
                        <a:srgbClr val="D5DCE8"/>
                      </a:solidFill>
                      <a:prstDash val="solid"/>
                      <a:round/>
                      <a:headEnd type="none" w="med" len="med"/>
                      <a:tailEnd type="none" w="med" len="med"/>
                    </a:lnL>
                    <a:lnR w="6350" cap="flat" cmpd="sng" algn="ctr">
                      <a:solidFill>
                        <a:srgbClr val="D5DCE8"/>
                      </a:solidFill>
                      <a:prstDash val="solid"/>
                      <a:round/>
                      <a:headEnd type="none" w="med" len="med"/>
                      <a:tailEnd type="none" w="med" len="med"/>
                    </a:lnR>
                    <a:lnT w="6350" cap="flat" cmpd="sng" algn="ctr">
                      <a:solidFill>
                        <a:srgbClr val="D5DCE8"/>
                      </a:solidFill>
                      <a:prstDash val="solid"/>
                      <a:round/>
                      <a:headEnd type="none" w="med" len="med"/>
                      <a:tailEnd type="none" w="med" len="med"/>
                    </a:lnT>
                    <a:lnB w="6350" cap="flat" cmpd="sng" algn="ctr">
                      <a:solidFill>
                        <a:srgbClr val="D5DCE8"/>
                      </a:solidFill>
                      <a:prstDash val="solid"/>
                      <a:round/>
                      <a:headEnd type="none" w="med" len="med"/>
                      <a:tailEnd type="none" w="med" len="med"/>
                    </a:lnB>
                  </a:tcPr>
                </a:tc>
                <a:tc>
                  <a:txBody>
                    <a:bodyPr/>
                    <a:lstStyle/>
                    <a:p>
                      <a:pPr marL="0" indent="0">
                        <a:buNone/>
                      </a:pPr>
                      <a:r>
                        <a:rPr lang="en-US" sz="1050" dirty="0">
                          <a:solidFill>
                            <a:schemeClr val="tx1"/>
                          </a:solidFill>
                        </a:rPr>
                        <a:t>Risk analysis and mix-zone concept</a:t>
                      </a:r>
                      <a:endParaRPr lang="en-US" sz="1050" dirty="0"/>
                    </a:p>
                  </a:txBody>
                  <a:tcPr marL="64008" marR="64008" marT="36576" marB="36576" anchor="ctr">
                    <a:lnL w="6350" cap="flat" cmpd="sng" algn="ctr">
                      <a:solidFill>
                        <a:srgbClr val="D5DCE8"/>
                      </a:solidFill>
                      <a:prstDash val="solid"/>
                      <a:round/>
                      <a:headEnd type="none" w="med" len="med"/>
                      <a:tailEnd type="none" w="med" len="med"/>
                    </a:lnL>
                    <a:lnR w="6350" cap="flat" cmpd="sng" algn="ctr">
                      <a:solidFill>
                        <a:srgbClr val="D5DCE8"/>
                      </a:solidFill>
                      <a:prstDash val="solid"/>
                      <a:round/>
                      <a:headEnd type="none" w="med" len="med"/>
                      <a:tailEnd type="none" w="med" len="med"/>
                    </a:lnR>
                    <a:lnT w="6350" cap="flat" cmpd="sng" algn="ctr">
                      <a:solidFill>
                        <a:srgbClr val="D5DCE8"/>
                      </a:solidFill>
                      <a:prstDash val="solid"/>
                      <a:round/>
                      <a:headEnd type="none" w="med" len="med"/>
                      <a:tailEnd type="none" w="med" len="med"/>
                    </a:lnT>
                    <a:lnB w="6350" cap="flat" cmpd="sng" algn="ctr">
                      <a:solidFill>
                        <a:srgbClr val="D5DCE8"/>
                      </a:solidFill>
                      <a:prstDash val="solid"/>
                      <a:round/>
                      <a:headEnd type="none" w="med" len="med"/>
                      <a:tailEnd type="none" w="med" len="med"/>
                    </a:lnB>
                  </a:tcPr>
                </a:tc>
                <a:tc>
                  <a:txBody>
                    <a:bodyPr/>
                    <a:lstStyle/>
                    <a:p>
                      <a:pPr marL="0" indent="0">
                        <a:buNone/>
                      </a:pPr>
                      <a:r>
                        <a:rPr lang="en-US" sz="1050" dirty="0">
                          <a:solidFill>
                            <a:schemeClr val="tx1"/>
                          </a:solidFill>
                        </a:rPr>
                        <a:t>Stored location records are sensitive and should be limited</a:t>
                      </a:r>
                      <a:endParaRPr lang="en-US" sz="1050" dirty="0"/>
                    </a:p>
                  </a:txBody>
                  <a:tcPr marL="64008" marR="64008" marT="36576" marB="36576" anchor="ctr">
                    <a:lnL w="6350" cap="flat" cmpd="sng" algn="ctr">
                      <a:solidFill>
                        <a:srgbClr val="D5DCE8"/>
                      </a:solidFill>
                      <a:prstDash val="solid"/>
                      <a:round/>
                      <a:headEnd type="none" w="med" len="med"/>
                      <a:tailEnd type="none" w="med" len="med"/>
                    </a:lnL>
                    <a:lnR w="6350" cap="flat" cmpd="sng" algn="ctr">
                      <a:solidFill>
                        <a:srgbClr val="D5DCE8"/>
                      </a:solidFill>
                      <a:prstDash val="solid"/>
                      <a:round/>
                      <a:headEnd type="none" w="med" len="med"/>
                      <a:tailEnd type="none" w="med" len="med"/>
                    </a:lnR>
                    <a:lnT w="6350" cap="flat" cmpd="sng" algn="ctr">
                      <a:solidFill>
                        <a:srgbClr val="D5DCE8"/>
                      </a:solidFill>
                      <a:prstDash val="solid"/>
                      <a:round/>
                      <a:headEnd type="none" w="med" len="med"/>
                      <a:tailEnd type="none" w="med" len="med"/>
                    </a:lnT>
                    <a:lnB w="6350" cap="flat" cmpd="sng" algn="ctr">
                      <a:solidFill>
                        <a:srgbClr val="D5DCE8"/>
                      </a:solidFill>
                      <a:prstDash val="solid"/>
                      <a:round/>
                      <a:headEnd type="none" w="med" len="med"/>
                      <a:tailEnd type="none" w="med" len="med"/>
                    </a:lnB>
                  </a:tcPr>
                </a:tc>
                <a:tc>
                  <a:txBody>
                    <a:bodyPr/>
                    <a:lstStyle/>
                    <a:p>
                      <a:pPr marL="0" indent="0">
                        <a:buNone/>
                      </a:pPr>
                      <a:r>
                        <a:rPr lang="en-US" sz="1050" dirty="0">
                          <a:solidFill>
                            <a:schemeClr val="tx1"/>
                          </a:solidFill>
                        </a:rPr>
                        <a:t>Motivates limiting who sees and stores location data</a:t>
                      </a:r>
                      <a:endParaRPr lang="en-US" sz="1050" dirty="0"/>
                    </a:p>
                  </a:txBody>
                  <a:tcPr marL="64008" marR="64008" marT="36576" marB="36576" anchor="ctr">
                    <a:lnL w="6350" cap="flat" cmpd="sng" algn="ctr">
                      <a:solidFill>
                        <a:srgbClr val="D5DCE8"/>
                      </a:solidFill>
                      <a:prstDash val="solid"/>
                      <a:round/>
                      <a:headEnd type="none" w="med" len="med"/>
                      <a:tailEnd type="none" w="med" len="med"/>
                    </a:lnL>
                    <a:lnR w="6350" cap="flat" cmpd="sng" algn="ctr">
                      <a:solidFill>
                        <a:srgbClr val="D5DCE8"/>
                      </a:solidFill>
                      <a:prstDash val="solid"/>
                      <a:round/>
                      <a:headEnd type="none" w="med" len="med"/>
                      <a:tailEnd type="none" w="med" len="med"/>
                    </a:lnR>
                    <a:lnT w="6350" cap="flat" cmpd="sng" algn="ctr">
                      <a:solidFill>
                        <a:srgbClr val="D5DCE8"/>
                      </a:solidFill>
                      <a:prstDash val="solid"/>
                      <a:round/>
                      <a:headEnd type="none" w="med" len="med"/>
                      <a:tailEnd type="none" w="med" len="med"/>
                    </a:lnT>
                    <a:lnB w="6350" cap="flat" cmpd="sng" algn="ctr">
                      <a:solidFill>
                        <a:srgbClr val="D5DCE8"/>
                      </a:solidFill>
                      <a:prstDash val="solid"/>
                      <a:round/>
                      <a:headEnd type="none" w="med" len="med"/>
                      <a:tailEnd type="none" w="med" len="med"/>
                    </a:lnB>
                  </a:tcPr>
                </a:tc>
                <a:extLst>
                  <a:ext uri="{0D108BD9-81ED-4DB2-BD59-A6C34878D82A}">
                    <a16:rowId xmlns:a16="http://schemas.microsoft.com/office/drawing/2014/main" val="10003"/>
                  </a:ext>
                </a:extLst>
              </a:tr>
              <a:tr h="566928">
                <a:tc>
                  <a:txBody>
                    <a:bodyPr/>
                    <a:lstStyle/>
                    <a:p>
                      <a:pPr marL="0" indent="0">
                        <a:buNone/>
                      </a:pPr>
                      <a:r>
                        <a:rPr lang="en-US" sz="1050" b="1" dirty="0">
                          <a:solidFill>
                            <a:schemeClr val="tx1"/>
                          </a:solidFill>
                        </a:rPr>
                        <a:t>Sinnott, 1984 [10]</a:t>
                      </a:r>
                      <a:endParaRPr lang="en-US" sz="1050" dirty="0"/>
                    </a:p>
                  </a:txBody>
                  <a:tcPr marL="64008" marR="64008" marT="36576" marB="36576" anchor="ctr">
                    <a:lnL w="6350" cap="flat" cmpd="sng" algn="ctr">
                      <a:solidFill>
                        <a:srgbClr val="D5DCE8"/>
                      </a:solidFill>
                      <a:prstDash val="solid"/>
                      <a:round/>
                      <a:headEnd type="none" w="med" len="med"/>
                      <a:tailEnd type="none" w="med" len="med"/>
                    </a:lnL>
                    <a:lnR w="6350" cap="flat" cmpd="sng" algn="ctr">
                      <a:solidFill>
                        <a:srgbClr val="D5DCE8"/>
                      </a:solidFill>
                      <a:prstDash val="solid"/>
                      <a:round/>
                      <a:headEnd type="none" w="med" len="med"/>
                      <a:tailEnd type="none" w="med" len="med"/>
                    </a:lnR>
                    <a:lnT w="6350" cap="flat" cmpd="sng" algn="ctr">
                      <a:solidFill>
                        <a:srgbClr val="D5DCE8"/>
                      </a:solidFill>
                      <a:prstDash val="solid"/>
                      <a:round/>
                      <a:headEnd type="none" w="med" len="med"/>
                      <a:tailEnd type="none" w="med" len="med"/>
                    </a:lnT>
                    <a:lnB w="6350" cap="flat" cmpd="sng" algn="ctr">
                      <a:solidFill>
                        <a:srgbClr val="D5DCE8"/>
                      </a:solidFill>
                      <a:prstDash val="solid"/>
                      <a:round/>
                      <a:headEnd type="none" w="med" len="med"/>
                      <a:tailEnd type="none" w="med" len="med"/>
                    </a:lnB>
                  </a:tcPr>
                </a:tc>
                <a:tc>
                  <a:txBody>
                    <a:bodyPr/>
                    <a:lstStyle/>
                    <a:p>
                      <a:pPr marL="0" indent="0">
                        <a:buNone/>
                      </a:pPr>
                      <a:r>
                        <a:rPr lang="en-US" sz="1050" dirty="0">
                          <a:solidFill>
                            <a:schemeClr val="tx1"/>
                          </a:solidFill>
                        </a:rPr>
                        <a:t>Virtues of the Haversine</a:t>
                      </a:r>
                      <a:endParaRPr lang="en-US" sz="1050" dirty="0"/>
                    </a:p>
                  </a:txBody>
                  <a:tcPr marL="64008" marR="64008" marT="36576" marB="36576" anchor="ctr">
                    <a:lnL w="6350" cap="flat" cmpd="sng" algn="ctr">
                      <a:solidFill>
                        <a:srgbClr val="D5DCE8"/>
                      </a:solidFill>
                      <a:prstDash val="solid"/>
                      <a:round/>
                      <a:headEnd type="none" w="med" len="med"/>
                      <a:tailEnd type="none" w="med" len="med"/>
                    </a:lnL>
                    <a:lnR w="6350" cap="flat" cmpd="sng" algn="ctr">
                      <a:solidFill>
                        <a:srgbClr val="D5DCE8"/>
                      </a:solidFill>
                      <a:prstDash val="solid"/>
                      <a:round/>
                      <a:headEnd type="none" w="med" len="med"/>
                      <a:tailEnd type="none" w="med" len="med"/>
                    </a:lnR>
                    <a:lnT w="6350" cap="flat" cmpd="sng" algn="ctr">
                      <a:solidFill>
                        <a:srgbClr val="D5DCE8"/>
                      </a:solidFill>
                      <a:prstDash val="solid"/>
                      <a:round/>
                      <a:headEnd type="none" w="med" len="med"/>
                      <a:tailEnd type="none" w="med" len="med"/>
                    </a:lnT>
                    <a:lnB w="6350" cap="flat" cmpd="sng" algn="ctr">
                      <a:solidFill>
                        <a:srgbClr val="D5DCE8"/>
                      </a:solidFill>
                      <a:prstDash val="solid"/>
                      <a:round/>
                      <a:headEnd type="none" w="med" len="med"/>
                      <a:tailEnd type="none" w="med" len="med"/>
                    </a:lnB>
                  </a:tcPr>
                </a:tc>
                <a:tc>
                  <a:txBody>
                    <a:bodyPr/>
                    <a:lstStyle/>
                    <a:p>
                      <a:pPr marL="0" indent="0">
                        <a:buNone/>
                      </a:pPr>
                      <a:r>
                        <a:rPr lang="en-US" sz="1050" dirty="0">
                          <a:solidFill>
                            <a:schemeClr val="tx1"/>
                          </a:solidFill>
                        </a:rPr>
                        <a:t>Great-circle distance formula</a:t>
                      </a:r>
                      <a:endParaRPr lang="en-US" sz="1050" dirty="0"/>
                    </a:p>
                  </a:txBody>
                  <a:tcPr marL="64008" marR="64008" marT="36576" marB="36576" anchor="ctr">
                    <a:lnL w="6350" cap="flat" cmpd="sng" algn="ctr">
                      <a:solidFill>
                        <a:srgbClr val="D5DCE8"/>
                      </a:solidFill>
                      <a:prstDash val="solid"/>
                      <a:round/>
                      <a:headEnd type="none" w="med" len="med"/>
                      <a:tailEnd type="none" w="med" len="med"/>
                    </a:lnL>
                    <a:lnR w="6350" cap="flat" cmpd="sng" algn="ctr">
                      <a:solidFill>
                        <a:srgbClr val="D5DCE8"/>
                      </a:solidFill>
                      <a:prstDash val="solid"/>
                      <a:round/>
                      <a:headEnd type="none" w="med" len="med"/>
                      <a:tailEnd type="none" w="med" len="med"/>
                    </a:lnR>
                    <a:lnT w="6350" cap="flat" cmpd="sng" algn="ctr">
                      <a:solidFill>
                        <a:srgbClr val="D5DCE8"/>
                      </a:solidFill>
                      <a:prstDash val="solid"/>
                      <a:round/>
                      <a:headEnd type="none" w="med" len="med"/>
                      <a:tailEnd type="none" w="med" len="med"/>
                    </a:lnT>
                    <a:lnB w="6350" cap="flat" cmpd="sng" algn="ctr">
                      <a:solidFill>
                        <a:srgbClr val="D5DCE8"/>
                      </a:solidFill>
                      <a:prstDash val="solid"/>
                      <a:round/>
                      <a:headEnd type="none" w="med" len="med"/>
                      <a:tailEnd type="none" w="med" len="med"/>
                    </a:lnB>
                  </a:tcPr>
                </a:tc>
                <a:tc>
                  <a:txBody>
                    <a:bodyPr/>
                    <a:lstStyle/>
                    <a:p>
                      <a:pPr marL="0" indent="0">
                        <a:buNone/>
                      </a:pPr>
                      <a:r>
                        <a:rPr lang="en-US" sz="1050" dirty="0">
                          <a:solidFill>
                            <a:schemeClr val="tx1"/>
                          </a:solidFill>
                        </a:rPr>
                        <a:t>Simple and stable for short distances; assumes a spherical Earth</a:t>
                      </a:r>
                      <a:endParaRPr lang="en-US" sz="1050" dirty="0"/>
                    </a:p>
                  </a:txBody>
                  <a:tcPr marL="64008" marR="64008" marT="36576" marB="36576" anchor="ctr">
                    <a:lnL w="6350" cap="flat" cmpd="sng" algn="ctr">
                      <a:solidFill>
                        <a:srgbClr val="D5DCE8"/>
                      </a:solidFill>
                      <a:prstDash val="solid"/>
                      <a:round/>
                      <a:headEnd type="none" w="med" len="med"/>
                      <a:tailEnd type="none" w="med" len="med"/>
                    </a:lnL>
                    <a:lnR w="6350" cap="flat" cmpd="sng" algn="ctr">
                      <a:solidFill>
                        <a:srgbClr val="D5DCE8"/>
                      </a:solidFill>
                      <a:prstDash val="solid"/>
                      <a:round/>
                      <a:headEnd type="none" w="med" len="med"/>
                      <a:tailEnd type="none" w="med" len="med"/>
                    </a:lnR>
                    <a:lnT w="6350" cap="flat" cmpd="sng" algn="ctr">
                      <a:solidFill>
                        <a:srgbClr val="D5DCE8"/>
                      </a:solidFill>
                      <a:prstDash val="solid"/>
                      <a:round/>
                      <a:headEnd type="none" w="med" len="med"/>
                      <a:tailEnd type="none" w="med" len="med"/>
                    </a:lnT>
                    <a:lnB w="6350" cap="flat" cmpd="sng" algn="ctr">
                      <a:solidFill>
                        <a:srgbClr val="D5DCE8"/>
                      </a:solidFill>
                      <a:prstDash val="solid"/>
                      <a:round/>
                      <a:headEnd type="none" w="med" len="med"/>
                      <a:tailEnd type="none" w="med" len="med"/>
                    </a:lnB>
                  </a:tcPr>
                </a:tc>
                <a:tc>
                  <a:txBody>
                    <a:bodyPr/>
                    <a:lstStyle/>
                    <a:p>
                      <a:pPr marL="0" indent="0">
                        <a:buNone/>
                      </a:pPr>
                      <a:r>
                        <a:rPr lang="en-US" sz="1050" dirty="0">
                          <a:solidFill>
                            <a:schemeClr val="tx1"/>
                          </a:solidFill>
                        </a:rPr>
                        <a:t>Used for deviation, speed and travelled-distance calculations</a:t>
                      </a:r>
                      <a:endParaRPr lang="en-US" sz="1050" dirty="0"/>
                    </a:p>
                  </a:txBody>
                  <a:tcPr marL="64008" marR="64008" marT="36576" marB="36576" anchor="ctr">
                    <a:lnL w="6350" cap="flat" cmpd="sng" algn="ctr">
                      <a:solidFill>
                        <a:srgbClr val="D5DCE8"/>
                      </a:solidFill>
                      <a:prstDash val="solid"/>
                      <a:round/>
                      <a:headEnd type="none" w="med" len="med"/>
                      <a:tailEnd type="none" w="med" len="med"/>
                    </a:lnL>
                    <a:lnR w="6350" cap="flat" cmpd="sng" algn="ctr">
                      <a:solidFill>
                        <a:srgbClr val="D5DCE8"/>
                      </a:solidFill>
                      <a:prstDash val="solid"/>
                      <a:round/>
                      <a:headEnd type="none" w="med" len="med"/>
                      <a:tailEnd type="none" w="med" len="med"/>
                    </a:lnR>
                    <a:lnT w="6350" cap="flat" cmpd="sng" algn="ctr">
                      <a:solidFill>
                        <a:srgbClr val="D5DCE8"/>
                      </a:solidFill>
                      <a:prstDash val="solid"/>
                      <a:round/>
                      <a:headEnd type="none" w="med" len="med"/>
                      <a:tailEnd type="none" w="med" len="med"/>
                    </a:lnT>
                    <a:lnB w="6350" cap="flat" cmpd="sng" algn="ctr">
                      <a:solidFill>
                        <a:srgbClr val="D5DCE8"/>
                      </a:solidFill>
                      <a:prstDash val="solid"/>
                      <a:round/>
                      <a:headEnd type="none" w="med" len="med"/>
                      <a:tailEnd type="none" w="med" len="med"/>
                    </a:lnB>
                  </a:tcPr>
                </a:tc>
                <a:extLst>
                  <a:ext uri="{0D108BD9-81ED-4DB2-BD59-A6C34878D82A}">
                    <a16:rowId xmlns:a16="http://schemas.microsoft.com/office/drawing/2014/main" val="10004"/>
                  </a:ext>
                </a:extLst>
              </a:tr>
            </a:tbl>
          </a:graphicData>
        </a:graphic>
      </p:graphicFrame>
      <p:sp>
        <p:nvSpPr>
          <p:cNvPr id="6" name="Shape 2"/>
          <p:cNvSpPr/>
          <p:nvPr/>
        </p:nvSpPr>
        <p:spPr>
          <a:xfrm>
            <a:off x="457200" y="4023360"/>
            <a:ext cx="8229600" cy="566928"/>
          </a:xfrm>
          <a:prstGeom prst="roundRect">
            <a:avLst>
              <a:gd name="adj" fmla="val 12903"/>
            </a:avLst>
          </a:prstGeom>
          <a:solidFill>
            <a:schemeClr val="accent1">
              <a:alpha val="10000"/>
            </a:schemeClr>
          </a:solidFill>
          <a:ln w="9525">
            <a:solidFill>
              <a:schemeClr val="accent1">
                <a:alpha val="50000"/>
              </a:schemeClr>
            </a:solidFill>
            <a:prstDash val="solid"/>
          </a:ln>
        </p:spPr>
      </p:sp>
      <p:sp>
        <p:nvSpPr>
          <p:cNvPr id="7" name="Text 3"/>
          <p:cNvSpPr txBox="1"/>
          <p:nvPr/>
        </p:nvSpPr>
        <p:spPr>
          <a:xfrm>
            <a:off x="640080" y="4023360"/>
            <a:ext cx="7863840" cy="566928"/>
          </a:xfrm>
          <a:prstGeom prst="rect">
            <a:avLst/>
          </a:prstGeom>
          <a:noFill/>
          <a:ln/>
        </p:spPr>
        <p:txBody>
          <a:bodyPr wrap="square" lIns="0" tIns="0" rIns="0" bIns="0" rtlCol="0" anchor="ctr"/>
          <a:lstStyle/>
          <a:p>
            <a:pPr marL="0" indent="0">
              <a:buNone/>
            </a:pPr>
            <a:r>
              <a:rPr lang="en-US" sz="1250" b="1" dirty="0">
                <a:solidFill>
                  <a:schemeClr val="accent1"/>
                </a:solidFill>
              </a:rPr>
              <a:t>Takeaway: </a:t>
            </a:r>
            <a:r>
              <a:rPr lang="en-US" sz="1250" dirty="0">
                <a:solidFill>
                  <a:schemeClr val="tx1"/>
                </a:solidFill>
              </a:rPr>
              <a:t>the reviewed work covers GPS tracking, smartphone safety alerts, WebSocket delivery, accuracy, privacy and distance, but not a browser-based tool built around a riding group.</a:t>
            </a:r>
            <a:endParaRPr lang="en-US" sz="1250" dirty="0"/>
          </a:p>
        </p:txBody>
      </p:sp>
      <p:sp>
        <p:nvSpPr>
          <p:cNvPr id="25" name="Slide Number Placeholder 0"/>
          <p:cNvSpPr>
            <a:spLocks noGrp="1"/>
          </p:cNvSpPr>
          <p:nvPr>
            <p:ph type="sldNum" sz="quarter" idx="4294967295"/>
          </p:nvPr>
        </p:nvSpPr>
        <p:spPr>
          <a:xfrm>
            <a:off x="8138160" y="4791456"/>
            <a:ext cx="548640" cy="228600"/>
          </a:xfrm>
          <a:prstGeom prst="rect">
            <a:avLst/>
          </a:prstGeom>
          <a:extLst>
            <a:ext uri="{C572A759-6A51-4108-AA02-DFA0A04FC94B}">
              <ma14:wrappingTextBoxFlag xmlns:ma14="http://schemas.microsoft.com/office/mac/drawingml/2011/main" xmlns="" val="0"/>
            </a:ext>
          </a:extLst>
        </p:spPr>
        <p:txBody>
          <a:bodyPr/>
          <a:lstStyle>
            <a:lvl1pPr>
              <a:defRPr sz="1000">
                <a:solidFill>
                  <a:srgbClr val="475569"/>
                </a:solidFill>
              </a:defRPr>
            </a:lvl1pPr>
          </a:lstStyle>
          <a:p>
            <a:pPr algn="r"/>
            <a:fld id="{F7021451-1387-4CA6-816F-3879F97B5CBC}" type="slidenum">
              <a:rPr lang="en-US" b="0"/>
              <a:t>10</a:t>
            </a:fld>
            <a:endParaRPr lang="en-US"/>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457200" y="420624"/>
            <a:ext cx="8229600" cy="566928"/>
          </a:xfrm>
          <a:prstGeom prst="rect">
            <a:avLst/>
          </a:prstGeom>
          <a:noFill/>
          <a:ln/>
        </p:spPr>
        <p:txBody>
          <a:bodyPr wrap="square" lIns="0" tIns="0" rIns="0" bIns="0" rtlCol="0" anchor="ctr"/>
          <a:lstStyle/>
          <a:p>
            <a:pPr marL="0" indent="0" algn="l">
              <a:buNone/>
            </a:pPr>
            <a:r>
              <a:rPr lang="en-US" sz="2800" b="1" dirty="0">
                <a:solidFill>
                  <a:schemeClr val="tx1"/>
                </a:solidFill>
              </a:rPr>
              <a:t>Where PackTrace fits</a:t>
            </a:r>
            <a:endParaRPr lang="en-US" sz="2800" dirty="0"/>
          </a:p>
        </p:txBody>
      </p:sp>
      <p:sp>
        <p:nvSpPr>
          <p:cNvPr id="3" name="Text 1"/>
          <p:cNvSpPr txBox="1"/>
          <p:nvPr/>
        </p:nvSpPr>
        <p:spPr>
          <a:xfrm>
            <a:off x="457200" y="219456"/>
            <a:ext cx="5486400" cy="182880"/>
          </a:xfrm>
          <a:prstGeom prst="rect">
            <a:avLst/>
          </a:prstGeom>
          <a:noFill/>
          <a:ln/>
        </p:spPr>
        <p:txBody>
          <a:bodyPr wrap="square" lIns="0" tIns="0" rIns="0" bIns="0" rtlCol="0" anchor="t"/>
          <a:lstStyle/>
          <a:p>
            <a:pPr marL="0" indent="0">
              <a:buNone/>
            </a:pPr>
            <a:r>
              <a:rPr lang="en-US" sz="1000" b="1" kern="0" spc="200" dirty="0">
                <a:solidFill>
                  <a:schemeClr val="accent1"/>
                </a:solidFill>
              </a:rPr>
              <a:t>RESEARCH GAP</a:t>
            </a:r>
            <a:endParaRPr lang="en-US" sz="1000" dirty="0"/>
          </a:p>
        </p:txBody>
      </p:sp>
      <p:sp>
        <p:nvSpPr>
          <p:cNvPr id="5" name="Shape 2"/>
          <p:cNvSpPr/>
          <p:nvPr/>
        </p:nvSpPr>
        <p:spPr>
          <a:xfrm>
            <a:off x="457200" y="1188720"/>
            <a:ext cx="3566160" cy="2743200"/>
          </a:xfrm>
          <a:prstGeom prst="roundRect">
            <a:avLst>
              <a:gd name="adj" fmla="val 2667"/>
            </a:avLst>
          </a:prstGeom>
          <a:solidFill>
            <a:schemeClr val="bg2"/>
          </a:solidFill>
          <a:ln/>
        </p:spPr>
      </p:sp>
      <p:sp>
        <p:nvSpPr>
          <p:cNvPr id="6" name="Text 3"/>
          <p:cNvSpPr txBox="1"/>
          <p:nvPr/>
        </p:nvSpPr>
        <p:spPr>
          <a:xfrm>
            <a:off x="685800" y="1325880"/>
            <a:ext cx="3017520" cy="182880"/>
          </a:xfrm>
          <a:prstGeom prst="rect">
            <a:avLst/>
          </a:prstGeom>
          <a:noFill/>
          <a:ln/>
        </p:spPr>
        <p:txBody>
          <a:bodyPr wrap="square" lIns="0" tIns="0" rIns="0" bIns="0" rtlCol="0" anchor="t"/>
          <a:lstStyle/>
          <a:p>
            <a:pPr marL="0" indent="0">
              <a:buNone/>
            </a:pPr>
            <a:r>
              <a:rPr lang="en-US" sz="1000" b="1" kern="0" spc="100" dirty="0">
                <a:solidFill>
                  <a:schemeClr val="tx2"/>
                </a:solidFill>
              </a:rPr>
              <a:t>EXISTING RESEARCH</a:t>
            </a:r>
            <a:endParaRPr lang="en-US" sz="1000" dirty="0"/>
          </a:p>
        </p:txBody>
      </p:sp>
      <p:sp>
        <p:nvSpPr>
          <p:cNvPr id="7" name="Shape 4"/>
          <p:cNvSpPr/>
          <p:nvPr/>
        </p:nvSpPr>
        <p:spPr>
          <a:xfrm>
            <a:off x="685800" y="1645920"/>
            <a:ext cx="3108960" cy="420624"/>
          </a:xfrm>
          <a:prstGeom prst="roundRect">
            <a:avLst>
              <a:gd name="adj" fmla="val 17391"/>
            </a:avLst>
          </a:prstGeom>
          <a:solidFill>
            <a:schemeClr val="bg1"/>
          </a:solidFill>
          <a:ln w="12700">
            <a:solidFill>
              <a:srgbClr val="D5DCE8"/>
            </a:solidFill>
            <a:prstDash val="solid"/>
          </a:ln>
        </p:spPr>
      </p:sp>
      <p:sp>
        <p:nvSpPr>
          <p:cNvPr id="8" name="Text 5"/>
          <p:cNvSpPr txBox="1"/>
          <p:nvPr/>
        </p:nvSpPr>
        <p:spPr>
          <a:xfrm>
            <a:off x="822960" y="1645920"/>
            <a:ext cx="2880360" cy="420624"/>
          </a:xfrm>
          <a:prstGeom prst="rect">
            <a:avLst/>
          </a:prstGeom>
          <a:noFill/>
          <a:ln/>
        </p:spPr>
        <p:txBody>
          <a:bodyPr wrap="square" lIns="0" tIns="0" rIns="0" bIns="0" rtlCol="0" anchor="ctr"/>
          <a:lstStyle/>
          <a:p>
            <a:pPr marL="0" indent="0">
              <a:buNone/>
            </a:pPr>
            <a:r>
              <a:rPr lang="en-US" sz="1250" dirty="0">
                <a:solidFill>
                  <a:schemeClr val="tx1"/>
                </a:solidFill>
              </a:rPr>
              <a:t>Individual tracking</a:t>
            </a:r>
            <a:endParaRPr lang="en-US" sz="1250" dirty="0"/>
          </a:p>
        </p:txBody>
      </p:sp>
      <p:sp>
        <p:nvSpPr>
          <p:cNvPr id="9" name="Shape 6"/>
          <p:cNvSpPr/>
          <p:nvPr/>
        </p:nvSpPr>
        <p:spPr>
          <a:xfrm>
            <a:off x="685800" y="2176272"/>
            <a:ext cx="3108960" cy="420624"/>
          </a:xfrm>
          <a:prstGeom prst="roundRect">
            <a:avLst>
              <a:gd name="adj" fmla="val 17391"/>
            </a:avLst>
          </a:prstGeom>
          <a:solidFill>
            <a:schemeClr val="bg1"/>
          </a:solidFill>
          <a:ln w="12700">
            <a:solidFill>
              <a:srgbClr val="D5DCE8"/>
            </a:solidFill>
            <a:prstDash val="solid"/>
          </a:ln>
        </p:spPr>
      </p:sp>
      <p:sp>
        <p:nvSpPr>
          <p:cNvPr id="10" name="Text 7"/>
          <p:cNvSpPr txBox="1"/>
          <p:nvPr/>
        </p:nvSpPr>
        <p:spPr>
          <a:xfrm>
            <a:off x="822960" y="2176272"/>
            <a:ext cx="2880360" cy="420624"/>
          </a:xfrm>
          <a:prstGeom prst="rect">
            <a:avLst/>
          </a:prstGeom>
          <a:noFill/>
          <a:ln/>
        </p:spPr>
        <p:txBody>
          <a:bodyPr wrap="square" lIns="0" tIns="0" rIns="0" bIns="0" rtlCol="0" anchor="ctr"/>
          <a:lstStyle/>
          <a:p>
            <a:pPr marL="0" indent="0">
              <a:buNone/>
            </a:pPr>
            <a:r>
              <a:rPr lang="en-US" sz="1250" dirty="0">
                <a:solidFill>
                  <a:schemeClr val="tx1"/>
                </a:solidFill>
              </a:rPr>
              <a:t>Vehicle / fleet tracking with dedicated hardware</a:t>
            </a:r>
            <a:endParaRPr lang="en-US" sz="1250" dirty="0"/>
          </a:p>
        </p:txBody>
      </p:sp>
      <p:sp>
        <p:nvSpPr>
          <p:cNvPr id="11" name="Shape 8"/>
          <p:cNvSpPr/>
          <p:nvPr/>
        </p:nvSpPr>
        <p:spPr>
          <a:xfrm>
            <a:off x="685800" y="2706624"/>
            <a:ext cx="3108960" cy="420624"/>
          </a:xfrm>
          <a:prstGeom prst="roundRect">
            <a:avLst>
              <a:gd name="adj" fmla="val 17391"/>
            </a:avLst>
          </a:prstGeom>
          <a:solidFill>
            <a:schemeClr val="bg1"/>
          </a:solidFill>
          <a:ln w="12700">
            <a:solidFill>
              <a:srgbClr val="D5DCE8"/>
            </a:solidFill>
            <a:prstDash val="solid"/>
          </a:ln>
        </p:spPr>
      </p:sp>
      <p:sp>
        <p:nvSpPr>
          <p:cNvPr id="12" name="Text 9"/>
          <p:cNvSpPr txBox="1"/>
          <p:nvPr/>
        </p:nvSpPr>
        <p:spPr>
          <a:xfrm>
            <a:off x="822960" y="2706624"/>
            <a:ext cx="2880360" cy="420624"/>
          </a:xfrm>
          <a:prstGeom prst="rect">
            <a:avLst/>
          </a:prstGeom>
          <a:noFill/>
          <a:ln/>
        </p:spPr>
        <p:txBody>
          <a:bodyPr wrap="square" lIns="0" tIns="0" rIns="0" bIns="0" rtlCol="0" anchor="ctr"/>
          <a:lstStyle/>
          <a:p>
            <a:pPr marL="0" indent="0">
              <a:buNone/>
            </a:pPr>
            <a:r>
              <a:rPr lang="en-US" sz="1250" dirty="0">
                <a:solidFill>
                  <a:schemeClr val="tx1"/>
                </a:solidFill>
              </a:rPr>
              <a:t>Native-app safety alerts for hazards</a:t>
            </a:r>
            <a:endParaRPr lang="en-US" sz="1250" dirty="0"/>
          </a:p>
        </p:txBody>
      </p:sp>
      <p:sp>
        <p:nvSpPr>
          <p:cNvPr id="13" name="Shape 10"/>
          <p:cNvSpPr/>
          <p:nvPr/>
        </p:nvSpPr>
        <p:spPr>
          <a:xfrm>
            <a:off x="685800" y="3236976"/>
            <a:ext cx="3108960" cy="420624"/>
          </a:xfrm>
          <a:prstGeom prst="roundRect">
            <a:avLst>
              <a:gd name="adj" fmla="val 17391"/>
            </a:avLst>
          </a:prstGeom>
          <a:solidFill>
            <a:schemeClr val="bg1"/>
          </a:solidFill>
          <a:ln w="12700">
            <a:solidFill>
              <a:srgbClr val="D5DCE8"/>
            </a:solidFill>
            <a:prstDash val="solid"/>
          </a:ln>
        </p:spPr>
      </p:sp>
      <p:sp>
        <p:nvSpPr>
          <p:cNvPr id="14" name="Text 11"/>
          <p:cNvSpPr txBox="1"/>
          <p:nvPr/>
        </p:nvSpPr>
        <p:spPr>
          <a:xfrm>
            <a:off x="822960" y="3236976"/>
            <a:ext cx="2880360" cy="420624"/>
          </a:xfrm>
          <a:prstGeom prst="rect">
            <a:avLst/>
          </a:prstGeom>
          <a:noFill/>
          <a:ln/>
        </p:spPr>
        <p:txBody>
          <a:bodyPr wrap="square" lIns="0" tIns="0" rIns="0" bIns="0" rtlCol="0" anchor="ctr"/>
          <a:lstStyle/>
          <a:p>
            <a:pPr marL="0" indent="0">
              <a:buNone/>
            </a:pPr>
            <a:r>
              <a:rPr lang="en-US" sz="1250" dirty="0">
                <a:solidFill>
                  <a:schemeClr val="tx1"/>
                </a:solidFill>
              </a:rPr>
              <a:t>Privacy and GPS-accuracy studies</a:t>
            </a:r>
            <a:endParaRPr lang="en-US" sz="1250" dirty="0"/>
          </a:p>
        </p:txBody>
      </p:sp>
      <p:sp>
        <p:nvSpPr>
          <p:cNvPr id="15" name="Shape 12"/>
          <p:cNvSpPr/>
          <p:nvPr/>
        </p:nvSpPr>
        <p:spPr>
          <a:xfrm>
            <a:off x="4114800" y="2286000"/>
            <a:ext cx="914400" cy="548640"/>
          </a:xfrm>
          <a:prstGeom prst="rightArrow">
            <a:avLst/>
          </a:prstGeom>
          <a:solidFill>
            <a:schemeClr val="accent1"/>
          </a:solidFill>
          <a:ln/>
        </p:spPr>
      </p:sp>
      <p:sp>
        <p:nvSpPr>
          <p:cNvPr id="16" name="Text 13"/>
          <p:cNvSpPr txBox="1"/>
          <p:nvPr/>
        </p:nvSpPr>
        <p:spPr>
          <a:xfrm>
            <a:off x="4114800" y="2286000"/>
            <a:ext cx="777240" cy="548640"/>
          </a:xfrm>
          <a:prstGeom prst="rect">
            <a:avLst/>
          </a:prstGeom>
          <a:noFill/>
          <a:ln/>
        </p:spPr>
        <p:txBody>
          <a:bodyPr wrap="square" lIns="0" tIns="0" rIns="0" bIns="0" rtlCol="0" anchor="ctr"/>
          <a:lstStyle/>
          <a:p>
            <a:pPr marL="0" indent="0" algn="ctr">
              <a:buNone/>
            </a:pPr>
            <a:r>
              <a:rPr lang="en-US" sz="1200" b="1" dirty="0">
                <a:solidFill>
                  <a:schemeClr val="bg1"/>
                </a:solidFill>
              </a:rPr>
              <a:t>GAP</a:t>
            </a:r>
            <a:endParaRPr lang="en-US" sz="1200" dirty="0"/>
          </a:p>
        </p:txBody>
      </p:sp>
      <p:sp>
        <p:nvSpPr>
          <p:cNvPr id="17" name="Shape 14"/>
          <p:cNvSpPr/>
          <p:nvPr/>
        </p:nvSpPr>
        <p:spPr>
          <a:xfrm>
            <a:off x="5120640" y="1188720"/>
            <a:ext cx="3566160" cy="2743200"/>
          </a:xfrm>
          <a:prstGeom prst="roundRect">
            <a:avLst>
              <a:gd name="adj" fmla="val 2667"/>
            </a:avLst>
          </a:prstGeom>
          <a:solidFill>
            <a:schemeClr val="accent1">
              <a:alpha val="8000"/>
            </a:schemeClr>
          </a:solidFill>
          <a:ln w="19050">
            <a:solidFill>
              <a:schemeClr val="accent1"/>
            </a:solidFill>
            <a:prstDash val="solid"/>
          </a:ln>
        </p:spPr>
      </p:sp>
      <p:sp>
        <p:nvSpPr>
          <p:cNvPr id="18" name="Text 15"/>
          <p:cNvSpPr txBox="1"/>
          <p:nvPr/>
        </p:nvSpPr>
        <p:spPr>
          <a:xfrm>
            <a:off x="5349240" y="1325880"/>
            <a:ext cx="3017520" cy="182880"/>
          </a:xfrm>
          <a:prstGeom prst="rect">
            <a:avLst/>
          </a:prstGeom>
          <a:noFill/>
          <a:ln/>
        </p:spPr>
        <p:txBody>
          <a:bodyPr wrap="square" lIns="0" tIns="0" rIns="0" bIns="0" rtlCol="0" anchor="t"/>
          <a:lstStyle/>
          <a:p>
            <a:pPr marL="0" indent="0">
              <a:buNone/>
            </a:pPr>
            <a:r>
              <a:rPr lang="en-US" sz="1000" b="1" kern="0" spc="100" dirty="0">
                <a:solidFill>
                  <a:schemeClr val="accent1"/>
                </a:solidFill>
              </a:rPr>
              <a:t>PACKTRACE</a:t>
            </a:r>
            <a:endParaRPr lang="en-US" sz="1000" dirty="0"/>
          </a:p>
        </p:txBody>
      </p:sp>
      <p:sp>
        <p:nvSpPr>
          <p:cNvPr id="19" name="Shape 16"/>
          <p:cNvSpPr/>
          <p:nvPr/>
        </p:nvSpPr>
        <p:spPr>
          <a:xfrm>
            <a:off x="5349240" y="1691640"/>
            <a:ext cx="1508760" cy="384048"/>
          </a:xfrm>
          <a:prstGeom prst="roundRect">
            <a:avLst>
              <a:gd name="adj" fmla="val 50000"/>
            </a:avLst>
          </a:prstGeom>
          <a:solidFill>
            <a:schemeClr val="bg1"/>
          </a:solidFill>
          <a:ln w="12700">
            <a:solidFill>
              <a:schemeClr val="accent1"/>
            </a:solidFill>
            <a:prstDash val="solid"/>
          </a:ln>
        </p:spPr>
      </p:sp>
      <p:sp>
        <p:nvSpPr>
          <p:cNvPr id="20" name="Text 17"/>
          <p:cNvSpPr txBox="1"/>
          <p:nvPr/>
        </p:nvSpPr>
        <p:spPr>
          <a:xfrm>
            <a:off x="5349240" y="1691640"/>
            <a:ext cx="1508760" cy="384048"/>
          </a:xfrm>
          <a:prstGeom prst="rect">
            <a:avLst/>
          </a:prstGeom>
          <a:noFill/>
          <a:ln/>
        </p:spPr>
        <p:txBody>
          <a:bodyPr wrap="square" lIns="0" tIns="0" rIns="0" bIns="0" rtlCol="0" anchor="ctr"/>
          <a:lstStyle/>
          <a:p>
            <a:pPr marL="0" indent="0" algn="ctr">
              <a:buNone/>
            </a:pPr>
            <a:r>
              <a:rPr lang="en-US" sz="1150" b="1" dirty="0">
                <a:solidFill>
                  <a:schemeClr val="tx1"/>
                </a:solidFill>
              </a:rPr>
              <a:t>Group ride</a:t>
            </a:r>
            <a:endParaRPr lang="en-US" sz="1150" dirty="0"/>
          </a:p>
        </p:txBody>
      </p:sp>
      <p:sp>
        <p:nvSpPr>
          <p:cNvPr id="21" name="Shape 18"/>
          <p:cNvSpPr/>
          <p:nvPr/>
        </p:nvSpPr>
        <p:spPr>
          <a:xfrm>
            <a:off x="6949440" y="1691640"/>
            <a:ext cx="1508760" cy="384048"/>
          </a:xfrm>
          <a:prstGeom prst="roundRect">
            <a:avLst>
              <a:gd name="adj" fmla="val 50000"/>
            </a:avLst>
          </a:prstGeom>
          <a:solidFill>
            <a:schemeClr val="bg1"/>
          </a:solidFill>
          <a:ln w="12700">
            <a:solidFill>
              <a:schemeClr val="accent1"/>
            </a:solidFill>
            <a:prstDash val="solid"/>
          </a:ln>
        </p:spPr>
      </p:sp>
      <p:sp>
        <p:nvSpPr>
          <p:cNvPr id="22" name="Text 19"/>
          <p:cNvSpPr txBox="1"/>
          <p:nvPr/>
        </p:nvSpPr>
        <p:spPr>
          <a:xfrm>
            <a:off x="6949440" y="1691640"/>
            <a:ext cx="1508760" cy="384048"/>
          </a:xfrm>
          <a:prstGeom prst="rect">
            <a:avLst/>
          </a:prstGeom>
          <a:noFill/>
          <a:ln/>
        </p:spPr>
        <p:txBody>
          <a:bodyPr wrap="square" lIns="0" tIns="0" rIns="0" bIns="0" rtlCol="0" anchor="ctr"/>
          <a:lstStyle/>
          <a:p>
            <a:pPr marL="0" indent="0" algn="ctr">
              <a:buNone/>
            </a:pPr>
            <a:r>
              <a:rPr lang="en-US" sz="1150" b="1" dirty="0">
                <a:solidFill>
                  <a:schemeClr val="tx1"/>
                </a:solidFill>
              </a:rPr>
              <a:t>Common map</a:t>
            </a:r>
            <a:endParaRPr lang="en-US" sz="1150" dirty="0"/>
          </a:p>
        </p:txBody>
      </p:sp>
      <p:sp>
        <p:nvSpPr>
          <p:cNvPr id="23" name="Shape 20"/>
          <p:cNvSpPr/>
          <p:nvPr/>
        </p:nvSpPr>
        <p:spPr>
          <a:xfrm>
            <a:off x="5349240" y="2194560"/>
            <a:ext cx="1508760" cy="384048"/>
          </a:xfrm>
          <a:prstGeom prst="roundRect">
            <a:avLst>
              <a:gd name="adj" fmla="val 50000"/>
            </a:avLst>
          </a:prstGeom>
          <a:solidFill>
            <a:schemeClr val="bg1"/>
          </a:solidFill>
          <a:ln w="12700">
            <a:solidFill>
              <a:schemeClr val="accent1"/>
            </a:solidFill>
            <a:prstDash val="solid"/>
          </a:ln>
        </p:spPr>
      </p:sp>
      <p:sp>
        <p:nvSpPr>
          <p:cNvPr id="24" name="Text 21"/>
          <p:cNvSpPr txBox="1"/>
          <p:nvPr/>
        </p:nvSpPr>
        <p:spPr>
          <a:xfrm>
            <a:off x="5349240" y="2194560"/>
            <a:ext cx="1508760" cy="384048"/>
          </a:xfrm>
          <a:prstGeom prst="rect">
            <a:avLst/>
          </a:prstGeom>
          <a:noFill/>
          <a:ln/>
        </p:spPr>
        <p:txBody>
          <a:bodyPr wrap="square" lIns="0" tIns="0" rIns="0" bIns="0" rtlCol="0" anchor="ctr"/>
          <a:lstStyle/>
          <a:p>
            <a:pPr marL="0" indent="0" algn="ctr">
              <a:buNone/>
            </a:pPr>
            <a:r>
              <a:rPr lang="en-US" sz="1150" b="1" dirty="0">
                <a:solidFill>
                  <a:schemeClr val="tx1"/>
                </a:solidFill>
              </a:rPr>
              <a:t>Live tracking</a:t>
            </a:r>
            <a:endParaRPr lang="en-US" sz="1150" dirty="0"/>
          </a:p>
        </p:txBody>
      </p:sp>
      <p:sp>
        <p:nvSpPr>
          <p:cNvPr id="25" name="Shape 22"/>
          <p:cNvSpPr/>
          <p:nvPr/>
        </p:nvSpPr>
        <p:spPr>
          <a:xfrm>
            <a:off x="6949440" y="2194560"/>
            <a:ext cx="1508760" cy="384048"/>
          </a:xfrm>
          <a:prstGeom prst="roundRect">
            <a:avLst>
              <a:gd name="adj" fmla="val 50000"/>
            </a:avLst>
          </a:prstGeom>
          <a:solidFill>
            <a:schemeClr val="bg1"/>
          </a:solidFill>
          <a:ln w="12700">
            <a:solidFill>
              <a:schemeClr val="accent1"/>
            </a:solidFill>
            <a:prstDash val="solid"/>
          </a:ln>
        </p:spPr>
      </p:sp>
      <p:sp>
        <p:nvSpPr>
          <p:cNvPr id="26" name="Text 23"/>
          <p:cNvSpPr txBox="1"/>
          <p:nvPr/>
        </p:nvSpPr>
        <p:spPr>
          <a:xfrm>
            <a:off x="6949440" y="2194560"/>
            <a:ext cx="1508760" cy="384048"/>
          </a:xfrm>
          <a:prstGeom prst="rect">
            <a:avLst/>
          </a:prstGeom>
          <a:noFill/>
          <a:ln/>
        </p:spPr>
        <p:txBody>
          <a:bodyPr wrap="square" lIns="0" tIns="0" rIns="0" bIns="0" rtlCol="0" anchor="ctr"/>
          <a:lstStyle/>
          <a:p>
            <a:pPr marL="0" indent="0" algn="ctr">
              <a:buNone/>
            </a:pPr>
            <a:r>
              <a:rPr lang="en-US" sz="1150" b="1" dirty="0">
                <a:solidFill>
                  <a:schemeClr val="tx1"/>
                </a:solidFill>
              </a:rPr>
              <a:t>Disconnect handling</a:t>
            </a:r>
            <a:endParaRPr lang="en-US" sz="1150" dirty="0"/>
          </a:p>
        </p:txBody>
      </p:sp>
      <p:sp>
        <p:nvSpPr>
          <p:cNvPr id="27" name="Shape 24"/>
          <p:cNvSpPr/>
          <p:nvPr/>
        </p:nvSpPr>
        <p:spPr>
          <a:xfrm>
            <a:off x="5349240" y="2697480"/>
            <a:ext cx="1508760" cy="384048"/>
          </a:xfrm>
          <a:prstGeom prst="roundRect">
            <a:avLst>
              <a:gd name="adj" fmla="val 50000"/>
            </a:avLst>
          </a:prstGeom>
          <a:solidFill>
            <a:schemeClr val="bg1"/>
          </a:solidFill>
          <a:ln w="12700">
            <a:solidFill>
              <a:schemeClr val="accent1"/>
            </a:solidFill>
            <a:prstDash val="solid"/>
          </a:ln>
        </p:spPr>
      </p:sp>
      <p:sp>
        <p:nvSpPr>
          <p:cNvPr id="28" name="Text 25"/>
          <p:cNvSpPr txBox="1"/>
          <p:nvPr/>
        </p:nvSpPr>
        <p:spPr>
          <a:xfrm>
            <a:off x="5349240" y="2697480"/>
            <a:ext cx="1508760" cy="384048"/>
          </a:xfrm>
          <a:prstGeom prst="rect">
            <a:avLst/>
          </a:prstGeom>
          <a:noFill/>
          <a:ln/>
        </p:spPr>
        <p:txBody>
          <a:bodyPr wrap="square" lIns="0" tIns="0" rIns="0" bIns="0" rtlCol="0" anchor="ctr"/>
          <a:lstStyle/>
          <a:p>
            <a:pPr marL="0" indent="0" algn="ctr">
              <a:buNone/>
            </a:pPr>
            <a:r>
              <a:rPr lang="en-US" sz="1150" b="1" dirty="0">
                <a:solidFill>
                  <a:schemeClr val="tx1"/>
                </a:solidFill>
              </a:rPr>
              <a:t>Route deviation</a:t>
            </a:r>
            <a:endParaRPr lang="en-US" sz="1150" dirty="0"/>
          </a:p>
        </p:txBody>
      </p:sp>
      <p:sp>
        <p:nvSpPr>
          <p:cNvPr id="29" name="Shape 26"/>
          <p:cNvSpPr/>
          <p:nvPr/>
        </p:nvSpPr>
        <p:spPr>
          <a:xfrm>
            <a:off x="6949440" y="2697480"/>
            <a:ext cx="1508760" cy="384048"/>
          </a:xfrm>
          <a:prstGeom prst="roundRect">
            <a:avLst>
              <a:gd name="adj" fmla="val 50000"/>
            </a:avLst>
          </a:prstGeom>
          <a:solidFill>
            <a:schemeClr val="bg1"/>
          </a:solidFill>
          <a:ln w="12700">
            <a:solidFill>
              <a:schemeClr val="accent1"/>
            </a:solidFill>
            <a:prstDash val="solid"/>
          </a:ln>
        </p:spPr>
      </p:sp>
      <p:sp>
        <p:nvSpPr>
          <p:cNvPr id="30" name="Text 27"/>
          <p:cNvSpPr txBox="1"/>
          <p:nvPr/>
        </p:nvSpPr>
        <p:spPr>
          <a:xfrm>
            <a:off x="6949440" y="2697480"/>
            <a:ext cx="1508760" cy="384048"/>
          </a:xfrm>
          <a:prstGeom prst="rect">
            <a:avLst/>
          </a:prstGeom>
          <a:noFill/>
          <a:ln/>
        </p:spPr>
        <p:txBody>
          <a:bodyPr wrap="square" lIns="0" tIns="0" rIns="0" bIns="0" rtlCol="0" anchor="ctr"/>
          <a:lstStyle/>
          <a:p>
            <a:pPr marL="0" indent="0" algn="ctr">
              <a:buNone/>
            </a:pPr>
            <a:r>
              <a:rPr lang="en-US" sz="1150" b="1" dirty="0">
                <a:solidFill>
                  <a:schemeClr val="tx1"/>
                </a:solidFill>
              </a:rPr>
              <a:t>SOS alert</a:t>
            </a:r>
            <a:endParaRPr lang="en-US" sz="1150" dirty="0"/>
          </a:p>
        </p:txBody>
      </p:sp>
      <p:sp>
        <p:nvSpPr>
          <p:cNvPr id="31" name="Shape 28"/>
          <p:cNvSpPr/>
          <p:nvPr/>
        </p:nvSpPr>
        <p:spPr>
          <a:xfrm>
            <a:off x="5349240" y="3200400"/>
            <a:ext cx="1508760" cy="384048"/>
          </a:xfrm>
          <a:prstGeom prst="roundRect">
            <a:avLst>
              <a:gd name="adj" fmla="val 50000"/>
            </a:avLst>
          </a:prstGeom>
          <a:solidFill>
            <a:schemeClr val="bg1"/>
          </a:solidFill>
          <a:ln w="12700">
            <a:solidFill>
              <a:schemeClr val="accent1"/>
            </a:solidFill>
            <a:prstDash val="solid"/>
          </a:ln>
        </p:spPr>
      </p:sp>
      <p:sp>
        <p:nvSpPr>
          <p:cNvPr id="32" name="Text 29"/>
          <p:cNvSpPr txBox="1"/>
          <p:nvPr/>
        </p:nvSpPr>
        <p:spPr>
          <a:xfrm>
            <a:off x="5349240" y="3200400"/>
            <a:ext cx="1508760" cy="384048"/>
          </a:xfrm>
          <a:prstGeom prst="rect">
            <a:avLst/>
          </a:prstGeom>
          <a:noFill/>
          <a:ln/>
        </p:spPr>
        <p:txBody>
          <a:bodyPr wrap="square" lIns="0" tIns="0" rIns="0" bIns="0" rtlCol="0" anchor="ctr"/>
          <a:lstStyle/>
          <a:p>
            <a:pPr marL="0" indent="0" algn="ctr">
              <a:buNone/>
            </a:pPr>
            <a:r>
              <a:rPr lang="en-US" sz="1150" b="1" dirty="0">
                <a:solidFill>
                  <a:schemeClr val="tx1"/>
                </a:solidFill>
              </a:rPr>
              <a:t>Ride history</a:t>
            </a:r>
            <a:endParaRPr lang="en-US" sz="1150" dirty="0"/>
          </a:p>
        </p:txBody>
      </p:sp>
      <p:sp>
        <p:nvSpPr>
          <p:cNvPr id="33" name="Shape 30"/>
          <p:cNvSpPr/>
          <p:nvPr/>
        </p:nvSpPr>
        <p:spPr>
          <a:xfrm>
            <a:off x="457200" y="4114800"/>
            <a:ext cx="8229600" cy="502920"/>
          </a:xfrm>
          <a:prstGeom prst="roundRect">
            <a:avLst>
              <a:gd name="adj" fmla="val 14545"/>
            </a:avLst>
          </a:prstGeom>
          <a:solidFill>
            <a:schemeClr val="tx1"/>
          </a:solidFill>
          <a:ln/>
        </p:spPr>
      </p:sp>
      <p:sp>
        <p:nvSpPr>
          <p:cNvPr id="34" name="Text 31"/>
          <p:cNvSpPr txBox="1"/>
          <p:nvPr/>
        </p:nvSpPr>
        <p:spPr>
          <a:xfrm>
            <a:off x="640080" y="4114800"/>
            <a:ext cx="7863840" cy="502920"/>
          </a:xfrm>
          <a:prstGeom prst="rect">
            <a:avLst/>
          </a:prstGeom>
          <a:noFill/>
          <a:ln/>
        </p:spPr>
        <p:txBody>
          <a:bodyPr wrap="square" lIns="0" tIns="0" rIns="0" bIns="0" rtlCol="0" anchor="ctr"/>
          <a:lstStyle/>
          <a:p>
            <a:pPr marL="0" indent="0">
              <a:buNone/>
            </a:pPr>
            <a:r>
              <a:rPr lang="en-US" sz="1400" b="1" dirty="0">
                <a:solidFill>
                  <a:schemeClr val="bg1"/>
                </a:solidFill>
              </a:rPr>
              <a:t>No reviewed work combines these in a lightweight, browser-based tool built around a riding group.</a:t>
            </a:r>
            <a:endParaRPr lang="en-US" sz="1400" dirty="0"/>
          </a:p>
        </p:txBody>
      </p:sp>
      <p:sp>
        <p:nvSpPr>
          <p:cNvPr id="4" name="Slide Number Placeholder 0"/>
          <p:cNvSpPr>
            <a:spLocks noGrp="1"/>
          </p:cNvSpPr>
          <p:nvPr>
            <p:ph type="sldNum" sz="quarter" idx="4294967295"/>
          </p:nvPr>
        </p:nvSpPr>
        <p:spPr>
          <a:xfrm>
            <a:off x="8138160" y="4791456"/>
            <a:ext cx="548640" cy="228600"/>
          </a:xfrm>
          <a:prstGeom prst="rect">
            <a:avLst/>
          </a:prstGeom>
          <a:extLst>
            <a:ext uri="{C572A759-6A51-4108-AA02-DFA0A04FC94B}">
              <ma14:wrappingTextBoxFlag xmlns:ma14="http://schemas.microsoft.com/office/mac/drawingml/2011/main" xmlns="" val="0"/>
            </a:ext>
          </a:extLst>
        </p:spPr>
        <p:txBody>
          <a:bodyPr/>
          <a:lstStyle>
            <a:lvl1pPr>
              <a:defRPr sz="1000">
                <a:solidFill>
                  <a:srgbClr val="475569"/>
                </a:solidFill>
              </a:defRPr>
            </a:lvl1pPr>
          </a:lstStyle>
          <a:p>
            <a:pPr algn="r"/>
            <a:fld id="{F7021451-1387-4CA6-816F-3879F97B5CBC}" type="slidenum">
              <a:rPr lang="en-US" b="0"/>
              <a:t>11</a:t>
            </a:fld>
            <a:endParaRPr lang="en-US"/>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457200" y="420624"/>
            <a:ext cx="8229600" cy="566928"/>
          </a:xfrm>
          <a:prstGeom prst="rect">
            <a:avLst/>
          </a:prstGeom>
          <a:noFill/>
          <a:ln/>
        </p:spPr>
        <p:txBody>
          <a:bodyPr wrap="square" lIns="0" tIns="0" rIns="0" bIns="0" rtlCol="0" anchor="ctr"/>
          <a:lstStyle/>
          <a:p>
            <a:pPr marL="0" indent="0" algn="l">
              <a:buNone/>
            </a:pPr>
            <a:r>
              <a:rPr lang="en-US" sz="2800" b="1" dirty="0">
                <a:solidFill>
                  <a:schemeClr val="tx1"/>
                </a:solidFill>
              </a:rPr>
              <a:t>Technologies actually used</a:t>
            </a:r>
            <a:endParaRPr lang="en-US" sz="2800" dirty="0"/>
          </a:p>
        </p:txBody>
      </p:sp>
      <p:sp>
        <p:nvSpPr>
          <p:cNvPr id="3" name="Text 1"/>
          <p:cNvSpPr txBox="1"/>
          <p:nvPr/>
        </p:nvSpPr>
        <p:spPr>
          <a:xfrm>
            <a:off x="457200" y="219456"/>
            <a:ext cx="5486400" cy="182880"/>
          </a:xfrm>
          <a:prstGeom prst="rect">
            <a:avLst/>
          </a:prstGeom>
          <a:noFill/>
          <a:ln/>
        </p:spPr>
        <p:txBody>
          <a:bodyPr wrap="square" lIns="0" tIns="0" rIns="0" bIns="0" rtlCol="0" anchor="t"/>
          <a:lstStyle/>
          <a:p>
            <a:pPr marL="0" indent="0">
              <a:buNone/>
            </a:pPr>
            <a:r>
              <a:rPr lang="en-US" sz="1000" b="1" kern="0" spc="200" dirty="0">
                <a:solidFill>
                  <a:schemeClr val="accent1"/>
                </a:solidFill>
              </a:rPr>
              <a:t>TECHNOLOGY STACK</a:t>
            </a:r>
            <a:endParaRPr lang="en-US" sz="1000" dirty="0"/>
          </a:p>
        </p:txBody>
      </p:sp>
      <p:sp>
        <p:nvSpPr>
          <p:cNvPr id="5" name="Shape 2"/>
          <p:cNvSpPr/>
          <p:nvPr/>
        </p:nvSpPr>
        <p:spPr>
          <a:xfrm>
            <a:off x="457200" y="1188720"/>
            <a:ext cx="2624328" cy="1645920"/>
          </a:xfrm>
          <a:prstGeom prst="roundRect">
            <a:avLst>
              <a:gd name="adj" fmla="val 4444"/>
            </a:avLst>
          </a:prstGeom>
          <a:solidFill>
            <a:schemeClr val="bg1"/>
          </a:solidFill>
          <a:ln w="12700">
            <a:solidFill>
              <a:srgbClr val="D5DCE8"/>
            </a:solidFill>
            <a:prstDash val="solid"/>
          </a:ln>
        </p:spPr>
      </p:sp>
      <p:sp>
        <p:nvSpPr>
          <p:cNvPr id="6" name="Shape 3"/>
          <p:cNvSpPr/>
          <p:nvPr/>
        </p:nvSpPr>
        <p:spPr>
          <a:xfrm>
            <a:off x="621792" y="1325880"/>
            <a:ext cx="420624" cy="420624"/>
          </a:xfrm>
          <a:prstGeom prst="ellipse">
            <a:avLst/>
          </a:prstGeom>
          <a:solidFill>
            <a:schemeClr val="accent1">
              <a:alpha val="12000"/>
            </a:schemeClr>
          </a:solidFill>
          <a:ln/>
        </p:spPr>
      </p:sp>
      <p:pic>
        <p:nvPicPr>
          <p:cNvPr id="7" name="Image 0" descr="preencoded.png"/>
          <p:cNvPicPr>
            <a:picLocks noChangeAspect="1"/>
          </p:cNvPicPr>
          <p:nvPr/>
        </p:nvPicPr>
        <p:blipFill>
          <a:blip r:embed="rId3"/>
          <a:stretch>
            <a:fillRect/>
          </a:stretch>
        </p:blipFill>
        <p:spPr>
          <a:xfrm>
            <a:off x="731154" y="1435242"/>
            <a:ext cx="201900" cy="201900"/>
          </a:xfrm>
          <a:prstGeom prst="rect">
            <a:avLst/>
          </a:prstGeom>
        </p:spPr>
      </p:pic>
      <p:sp>
        <p:nvSpPr>
          <p:cNvPr id="8" name="Text 4"/>
          <p:cNvSpPr txBox="1"/>
          <p:nvPr/>
        </p:nvSpPr>
        <p:spPr>
          <a:xfrm>
            <a:off x="1188720" y="1325880"/>
            <a:ext cx="1801368" cy="420624"/>
          </a:xfrm>
          <a:prstGeom prst="rect">
            <a:avLst/>
          </a:prstGeom>
          <a:noFill/>
          <a:ln/>
        </p:spPr>
        <p:txBody>
          <a:bodyPr wrap="square" lIns="0" tIns="0" rIns="0" bIns="0" rtlCol="0" anchor="ctr"/>
          <a:lstStyle/>
          <a:p>
            <a:pPr marL="0" indent="0">
              <a:buNone/>
            </a:pPr>
            <a:r>
              <a:rPr lang="en-US" sz="1500" b="1" dirty="0">
                <a:solidFill>
                  <a:schemeClr val="tx1"/>
                </a:solidFill>
              </a:rPr>
              <a:t>Frontend</a:t>
            </a:r>
            <a:endParaRPr lang="en-US" sz="1500" dirty="0"/>
          </a:p>
        </p:txBody>
      </p:sp>
      <p:sp>
        <p:nvSpPr>
          <p:cNvPr id="9" name="Text 5"/>
          <p:cNvSpPr txBox="1"/>
          <p:nvPr/>
        </p:nvSpPr>
        <p:spPr>
          <a:xfrm>
            <a:off x="640080" y="1901952"/>
            <a:ext cx="2304288" cy="914400"/>
          </a:xfrm>
          <a:prstGeom prst="rect">
            <a:avLst/>
          </a:prstGeom>
          <a:noFill/>
          <a:ln/>
        </p:spPr>
        <p:txBody>
          <a:bodyPr wrap="square" lIns="0" tIns="0" rIns="0" bIns="0" rtlCol="0" anchor="t"/>
          <a:lstStyle/>
          <a:p>
            <a:pPr marL="177800" indent="-177800">
              <a:spcAft>
                <a:spcPts val="300"/>
              </a:spcAft>
              <a:buSzPct val="100000"/>
              <a:buChar char="•"/>
            </a:pPr>
            <a:r>
              <a:rPr lang="en-US" sz="1250" dirty="0">
                <a:solidFill>
                  <a:schemeClr val="tx1"/>
                </a:solidFill>
              </a:rPr>
              <a:t>HTML, CSS, JavaScript</a:t>
            </a:r>
            <a:endParaRPr lang="en-US" sz="1400" dirty="0"/>
          </a:p>
          <a:p>
            <a:pPr marL="177800" indent="-177800">
              <a:spcAft>
                <a:spcPts val="300"/>
              </a:spcAft>
              <a:buSzPct val="100000"/>
              <a:buChar char="•"/>
            </a:pPr>
            <a:r>
              <a:rPr lang="en-US" sz="1250" dirty="0">
                <a:solidFill>
                  <a:schemeClr val="tx1"/>
                </a:solidFill>
              </a:rPr>
              <a:t>Browser Geolocation API</a:t>
            </a:r>
            <a:endParaRPr lang="en-US" sz="1400" dirty="0"/>
          </a:p>
          <a:p>
            <a:pPr marL="177800" indent="-177800">
              <a:spcAft>
                <a:spcPts val="300"/>
              </a:spcAft>
              <a:buSzPct val="100000"/>
              <a:buChar char="•"/>
            </a:pPr>
            <a:r>
              <a:rPr lang="en-US" sz="1250" dirty="0">
                <a:solidFill>
                  <a:schemeClr val="tx1"/>
                </a:solidFill>
              </a:rPr>
              <a:t>WebSocket API</a:t>
            </a:r>
            <a:endParaRPr lang="en-US" sz="1400" dirty="0"/>
          </a:p>
        </p:txBody>
      </p:sp>
      <p:sp>
        <p:nvSpPr>
          <p:cNvPr id="10" name="Shape 6"/>
          <p:cNvSpPr/>
          <p:nvPr/>
        </p:nvSpPr>
        <p:spPr>
          <a:xfrm>
            <a:off x="3259836" y="1188720"/>
            <a:ext cx="2624328" cy="1645920"/>
          </a:xfrm>
          <a:prstGeom prst="roundRect">
            <a:avLst>
              <a:gd name="adj" fmla="val 4444"/>
            </a:avLst>
          </a:prstGeom>
          <a:solidFill>
            <a:schemeClr val="bg1"/>
          </a:solidFill>
          <a:ln w="12700">
            <a:solidFill>
              <a:srgbClr val="D5DCE8"/>
            </a:solidFill>
            <a:prstDash val="solid"/>
          </a:ln>
        </p:spPr>
      </p:sp>
      <p:sp>
        <p:nvSpPr>
          <p:cNvPr id="11" name="Shape 7"/>
          <p:cNvSpPr/>
          <p:nvPr/>
        </p:nvSpPr>
        <p:spPr>
          <a:xfrm>
            <a:off x="3424428" y="1325880"/>
            <a:ext cx="420624" cy="420624"/>
          </a:xfrm>
          <a:prstGeom prst="ellipse">
            <a:avLst/>
          </a:prstGeom>
          <a:solidFill>
            <a:schemeClr val="accent1">
              <a:alpha val="12000"/>
            </a:schemeClr>
          </a:solidFill>
          <a:ln/>
        </p:spPr>
      </p:sp>
      <p:pic>
        <p:nvPicPr>
          <p:cNvPr id="12" name="Image 1" descr="preencoded.png"/>
          <p:cNvPicPr>
            <a:picLocks noChangeAspect="1"/>
          </p:cNvPicPr>
          <p:nvPr/>
        </p:nvPicPr>
        <p:blipFill>
          <a:blip r:embed="rId4"/>
          <a:stretch>
            <a:fillRect/>
          </a:stretch>
        </p:blipFill>
        <p:spPr>
          <a:xfrm>
            <a:off x="3533790" y="1435242"/>
            <a:ext cx="201900" cy="201900"/>
          </a:xfrm>
          <a:prstGeom prst="rect">
            <a:avLst/>
          </a:prstGeom>
        </p:spPr>
      </p:pic>
      <p:sp>
        <p:nvSpPr>
          <p:cNvPr id="13" name="Text 8"/>
          <p:cNvSpPr txBox="1"/>
          <p:nvPr/>
        </p:nvSpPr>
        <p:spPr>
          <a:xfrm>
            <a:off x="3991356" y="1325880"/>
            <a:ext cx="1801368" cy="420624"/>
          </a:xfrm>
          <a:prstGeom prst="rect">
            <a:avLst/>
          </a:prstGeom>
          <a:noFill/>
          <a:ln/>
        </p:spPr>
        <p:txBody>
          <a:bodyPr wrap="square" lIns="0" tIns="0" rIns="0" bIns="0" rtlCol="0" anchor="ctr"/>
          <a:lstStyle/>
          <a:p>
            <a:pPr marL="0" indent="0">
              <a:buNone/>
            </a:pPr>
            <a:r>
              <a:rPr lang="en-US" sz="1500" b="1" dirty="0">
                <a:solidFill>
                  <a:schemeClr val="tx1"/>
                </a:solidFill>
              </a:rPr>
              <a:t>Backend</a:t>
            </a:r>
            <a:endParaRPr lang="en-US" sz="1500" dirty="0"/>
          </a:p>
        </p:txBody>
      </p:sp>
      <p:sp>
        <p:nvSpPr>
          <p:cNvPr id="14" name="Text 9"/>
          <p:cNvSpPr txBox="1"/>
          <p:nvPr/>
        </p:nvSpPr>
        <p:spPr>
          <a:xfrm>
            <a:off x="3442716" y="1901952"/>
            <a:ext cx="2304288" cy="914400"/>
          </a:xfrm>
          <a:prstGeom prst="rect">
            <a:avLst/>
          </a:prstGeom>
          <a:noFill/>
          <a:ln/>
        </p:spPr>
        <p:txBody>
          <a:bodyPr wrap="square" lIns="0" tIns="0" rIns="0" bIns="0" rtlCol="0" anchor="t"/>
          <a:lstStyle/>
          <a:p>
            <a:pPr marL="177800" indent="-177800">
              <a:spcAft>
                <a:spcPts val="300"/>
              </a:spcAft>
              <a:buSzPct val="100000"/>
              <a:buChar char="•"/>
            </a:pPr>
            <a:r>
              <a:rPr lang="en-US" sz="1250" dirty="0">
                <a:solidFill>
                  <a:schemeClr val="tx1"/>
                </a:solidFill>
              </a:rPr>
              <a:t>Python 3.14.0</a:t>
            </a:r>
            <a:endParaRPr lang="en-US" sz="1400" dirty="0"/>
          </a:p>
          <a:p>
            <a:pPr marL="177800" indent="-177800">
              <a:spcAft>
                <a:spcPts val="300"/>
              </a:spcAft>
              <a:buSzPct val="100000"/>
              <a:buChar char="•"/>
            </a:pPr>
            <a:r>
              <a:rPr lang="en-US" sz="1250" dirty="0">
                <a:solidFill>
                  <a:schemeClr val="tx1"/>
                </a:solidFill>
              </a:rPr>
              <a:t>Django 6.1.1</a:t>
            </a:r>
            <a:endParaRPr lang="en-US" sz="1400" dirty="0"/>
          </a:p>
          <a:p>
            <a:pPr marL="177800" indent="-177800">
              <a:spcAft>
                <a:spcPts val="300"/>
              </a:spcAft>
              <a:buSzPct val="100000"/>
              <a:buChar char="•"/>
            </a:pPr>
            <a:r>
              <a:rPr lang="en-US" sz="1250" dirty="0">
                <a:solidFill>
                  <a:schemeClr val="tx1"/>
                </a:solidFill>
              </a:rPr>
              <a:t>Django Channels 4.3.2</a:t>
            </a:r>
            <a:endParaRPr lang="en-US" sz="1400" dirty="0"/>
          </a:p>
          <a:p>
            <a:pPr marL="177800" indent="-177800">
              <a:spcAft>
                <a:spcPts val="300"/>
              </a:spcAft>
              <a:buSzPct val="100000"/>
              <a:buChar char="•"/>
            </a:pPr>
            <a:r>
              <a:rPr lang="en-US" sz="1250" dirty="0">
                <a:solidFill>
                  <a:schemeClr val="tx1"/>
                </a:solidFill>
              </a:rPr>
              <a:t>Daphne 4.2.3 (ASGI)</a:t>
            </a:r>
            <a:endParaRPr lang="en-US" sz="1400" dirty="0"/>
          </a:p>
        </p:txBody>
      </p:sp>
      <p:sp>
        <p:nvSpPr>
          <p:cNvPr id="15" name="Shape 10"/>
          <p:cNvSpPr/>
          <p:nvPr/>
        </p:nvSpPr>
        <p:spPr>
          <a:xfrm>
            <a:off x="6062472" y="1188720"/>
            <a:ext cx="2624328" cy="1645920"/>
          </a:xfrm>
          <a:prstGeom prst="roundRect">
            <a:avLst>
              <a:gd name="adj" fmla="val 4444"/>
            </a:avLst>
          </a:prstGeom>
          <a:solidFill>
            <a:schemeClr val="bg1"/>
          </a:solidFill>
          <a:ln w="12700">
            <a:solidFill>
              <a:srgbClr val="D5DCE8"/>
            </a:solidFill>
            <a:prstDash val="solid"/>
          </a:ln>
        </p:spPr>
      </p:sp>
      <p:sp>
        <p:nvSpPr>
          <p:cNvPr id="16" name="Shape 11"/>
          <p:cNvSpPr/>
          <p:nvPr/>
        </p:nvSpPr>
        <p:spPr>
          <a:xfrm>
            <a:off x="6227064" y="1325880"/>
            <a:ext cx="420624" cy="420624"/>
          </a:xfrm>
          <a:prstGeom prst="ellipse">
            <a:avLst/>
          </a:prstGeom>
          <a:solidFill>
            <a:schemeClr val="accent1">
              <a:alpha val="12000"/>
            </a:schemeClr>
          </a:solidFill>
          <a:ln/>
        </p:spPr>
      </p:sp>
      <p:pic>
        <p:nvPicPr>
          <p:cNvPr id="17" name="Image 2" descr="preencoded.png"/>
          <p:cNvPicPr>
            <a:picLocks noChangeAspect="1"/>
          </p:cNvPicPr>
          <p:nvPr/>
        </p:nvPicPr>
        <p:blipFill>
          <a:blip r:embed="rId5"/>
          <a:stretch>
            <a:fillRect/>
          </a:stretch>
        </p:blipFill>
        <p:spPr>
          <a:xfrm>
            <a:off x="6336426" y="1435242"/>
            <a:ext cx="201900" cy="201900"/>
          </a:xfrm>
          <a:prstGeom prst="rect">
            <a:avLst/>
          </a:prstGeom>
        </p:spPr>
      </p:pic>
      <p:sp>
        <p:nvSpPr>
          <p:cNvPr id="18" name="Text 12"/>
          <p:cNvSpPr txBox="1"/>
          <p:nvPr/>
        </p:nvSpPr>
        <p:spPr>
          <a:xfrm>
            <a:off x="6793992" y="1325880"/>
            <a:ext cx="1801368" cy="420624"/>
          </a:xfrm>
          <a:prstGeom prst="rect">
            <a:avLst/>
          </a:prstGeom>
          <a:noFill/>
          <a:ln/>
        </p:spPr>
        <p:txBody>
          <a:bodyPr wrap="square" lIns="0" tIns="0" rIns="0" bIns="0" rtlCol="0" anchor="ctr"/>
          <a:lstStyle/>
          <a:p>
            <a:pPr marL="0" indent="0">
              <a:buNone/>
            </a:pPr>
            <a:r>
              <a:rPr lang="en-US" sz="1500" b="1" dirty="0">
                <a:solidFill>
                  <a:schemeClr val="tx1"/>
                </a:solidFill>
              </a:rPr>
              <a:t>Maps and routing</a:t>
            </a:r>
            <a:endParaRPr lang="en-US" sz="1500" dirty="0"/>
          </a:p>
        </p:txBody>
      </p:sp>
      <p:sp>
        <p:nvSpPr>
          <p:cNvPr id="19" name="Text 13"/>
          <p:cNvSpPr txBox="1"/>
          <p:nvPr/>
        </p:nvSpPr>
        <p:spPr>
          <a:xfrm>
            <a:off x="6245352" y="1901952"/>
            <a:ext cx="2304288" cy="914400"/>
          </a:xfrm>
          <a:prstGeom prst="rect">
            <a:avLst/>
          </a:prstGeom>
          <a:noFill/>
          <a:ln/>
        </p:spPr>
        <p:txBody>
          <a:bodyPr wrap="square" lIns="0" tIns="0" rIns="0" bIns="0" rtlCol="0" anchor="t"/>
          <a:lstStyle/>
          <a:p>
            <a:pPr marL="177800" indent="-177800">
              <a:spcAft>
                <a:spcPts val="300"/>
              </a:spcAft>
              <a:buSzPct val="100000"/>
              <a:buChar char="•"/>
            </a:pPr>
            <a:r>
              <a:rPr lang="en-US" sz="1250" dirty="0">
                <a:solidFill>
                  <a:schemeClr val="tx1"/>
                </a:solidFill>
              </a:rPr>
              <a:t>Google Maps JavaScript API</a:t>
            </a:r>
            <a:endParaRPr lang="en-US" sz="1400" dirty="0"/>
          </a:p>
          <a:p>
            <a:pPr marL="177800" indent="-177800">
              <a:spcAft>
                <a:spcPts val="300"/>
              </a:spcAft>
              <a:buSzPct val="100000"/>
              <a:buChar char="•"/>
            </a:pPr>
            <a:r>
              <a:rPr lang="en-US" sz="1250" dirty="0">
                <a:solidFill>
                  <a:schemeClr val="tx1"/>
                </a:solidFill>
              </a:rPr>
              <a:t>OSRM routing service</a:t>
            </a:r>
            <a:endParaRPr lang="en-US" sz="1400" dirty="0"/>
          </a:p>
          <a:p>
            <a:pPr marL="177800" indent="-177800">
              <a:spcAft>
                <a:spcPts val="300"/>
              </a:spcAft>
              <a:buSzPct val="100000"/>
              <a:buChar char="•"/>
            </a:pPr>
            <a:r>
              <a:rPr lang="en-US" sz="1250" dirty="0">
                <a:solidFill>
                  <a:schemeClr val="tx1"/>
                </a:solidFill>
              </a:rPr>
              <a:t>OpenStreetMap Nominatim</a:t>
            </a:r>
            <a:endParaRPr lang="en-US" sz="1400" dirty="0"/>
          </a:p>
        </p:txBody>
      </p:sp>
      <p:sp>
        <p:nvSpPr>
          <p:cNvPr id="20" name="Shape 14"/>
          <p:cNvSpPr/>
          <p:nvPr/>
        </p:nvSpPr>
        <p:spPr>
          <a:xfrm>
            <a:off x="457200" y="2971800"/>
            <a:ext cx="2624328" cy="1645920"/>
          </a:xfrm>
          <a:prstGeom prst="roundRect">
            <a:avLst>
              <a:gd name="adj" fmla="val 4444"/>
            </a:avLst>
          </a:prstGeom>
          <a:solidFill>
            <a:schemeClr val="bg1"/>
          </a:solidFill>
          <a:ln w="12700">
            <a:solidFill>
              <a:srgbClr val="D5DCE8"/>
            </a:solidFill>
            <a:prstDash val="solid"/>
          </a:ln>
        </p:spPr>
      </p:sp>
      <p:sp>
        <p:nvSpPr>
          <p:cNvPr id="21" name="Shape 15"/>
          <p:cNvSpPr/>
          <p:nvPr/>
        </p:nvSpPr>
        <p:spPr>
          <a:xfrm>
            <a:off x="621792" y="3108960"/>
            <a:ext cx="420624" cy="420624"/>
          </a:xfrm>
          <a:prstGeom prst="ellipse">
            <a:avLst/>
          </a:prstGeom>
          <a:solidFill>
            <a:schemeClr val="accent1">
              <a:alpha val="12000"/>
            </a:schemeClr>
          </a:solidFill>
          <a:ln/>
        </p:spPr>
      </p:sp>
      <p:pic>
        <p:nvPicPr>
          <p:cNvPr id="22" name="Image 3" descr="preencoded.png"/>
          <p:cNvPicPr>
            <a:picLocks noChangeAspect="1"/>
          </p:cNvPicPr>
          <p:nvPr/>
        </p:nvPicPr>
        <p:blipFill>
          <a:blip r:embed="rId6"/>
          <a:stretch>
            <a:fillRect/>
          </a:stretch>
        </p:blipFill>
        <p:spPr>
          <a:xfrm>
            <a:off x="731154" y="3218322"/>
            <a:ext cx="201900" cy="201900"/>
          </a:xfrm>
          <a:prstGeom prst="rect">
            <a:avLst/>
          </a:prstGeom>
        </p:spPr>
      </p:pic>
      <p:sp>
        <p:nvSpPr>
          <p:cNvPr id="23" name="Text 16"/>
          <p:cNvSpPr txBox="1"/>
          <p:nvPr/>
        </p:nvSpPr>
        <p:spPr>
          <a:xfrm>
            <a:off x="1188720" y="3108960"/>
            <a:ext cx="1801368" cy="420624"/>
          </a:xfrm>
          <a:prstGeom prst="rect">
            <a:avLst/>
          </a:prstGeom>
          <a:noFill/>
          <a:ln/>
        </p:spPr>
        <p:txBody>
          <a:bodyPr wrap="square" lIns="0" tIns="0" rIns="0" bIns="0" rtlCol="0" anchor="ctr"/>
          <a:lstStyle/>
          <a:p>
            <a:pPr marL="0" indent="0">
              <a:buNone/>
            </a:pPr>
            <a:r>
              <a:rPr lang="en-US" sz="1500" b="1" dirty="0">
                <a:solidFill>
                  <a:schemeClr val="tx1"/>
                </a:solidFill>
              </a:rPr>
              <a:t>Database</a:t>
            </a:r>
            <a:endParaRPr lang="en-US" sz="1500" dirty="0"/>
          </a:p>
        </p:txBody>
      </p:sp>
      <p:sp>
        <p:nvSpPr>
          <p:cNvPr id="24" name="Text 17"/>
          <p:cNvSpPr txBox="1"/>
          <p:nvPr/>
        </p:nvSpPr>
        <p:spPr>
          <a:xfrm>
            <a:off x="640080" y="3685032"/>
            <a:ext cx="2304288" cy="914400"/>
          </a:xfrm>
          <a:prstGeom prst="rect">
            <a:avLst/>
          </a:prstGeom>
          <a:noFill/>
          <a:ln/>
        </p:spPr>
        <p:txBody>
          <a:bodyPr wrap="square" lIns="0" tIns="0" rIns="0" bIns="0" rtlCol="0" anchor="t"/>
          <a:lstStyle/>
          <a:p>
            <a:pPr marL="177800" indent="-177800">
              <a:spcAft>
                <a:spcPts val="300"/>
              </a:spcAft>
              <a:buSzPct val="100000"/>
              <a:buChar char="•"/>
            </a:pPr>
            <a:r>
              <a:rPr lang="en-US" sz="1250" dirty="0">
                <a:solidFill>
                  <a:schemeClr val="tx1"/>
                </a:solidFill>
              </a:rPr>
              <a:t>SQLite3 (db.sqlite3)</a:t>
            </a:r>
            <a:endParaRPr lang="en-US" sz="1400" dirty="0"/>
          </a:p>
          <a:p>
            <a:pPr marL="177800" indent="-177800">
              <a:spcAft>
                <a:spcPts val="300"/>
              </a:spcAft>
              <a:buSzPct val="100000"/>
              <a:buChar char="•"/>
            </a:pPr>
            <a:r>
              <a:rPr lang="en-US" sz="1250" dirty="0">
                <a:solidFill>
                  <a:schemeClr val="tx1"/>
                </a:solidFill>
              </a:rPr>
              <a:t>Django ORM</a:t>
            </a:r>
            <a:endParaRPr lang="en-US" sz="1400" dirty="0"/>
          </a:p>
          <a:p>
            <a:pPr marL="177800" indent="-177800">
              <a:spcAft>
                <a:spcPts val="300"/>
              </a:spcAft>
              <a:buSzPct val="100000"/>
              <a:buChar char="•"/>
            </a:pPr>
            <a:r>
              <a:rPr lang="en-US" sz="1250" dirty="0">
                <a:solidFill>
                  <a:schemeClr val="tx1"/>
                </a:solidFill>
              </a:rPr>
              <a:t>In-memory channel layer</a:t>
            </a:r>
            <a:endParaRPr lang="en-US" sz="1400" dirty="0"/>
          </a:p>
        </p:txBody>
      </p:sp>
      <p:sp>
        <p:nvSpPr>
          <p:cNvPr id="25" name="Shape 18"/>
          <p:cNvSpPr/>
          <p:nvPr/>
        </p:nvSpPr>
        <p:spPr>
          <a:xfrm>
            <a:off x="3259836" y="2971800"/>
            <a:ext cx="2624328" cy="1645920"/>
          </a:xfrm>
          <a:prstGeom prst="roundRect">
            <a:avLst>
              <a:gd name="adj" fmla="val 4444"/>
            </a:avLst>
          </a:prstGeom>
          <a:solidFill>
            <a:schemeClr val="bg1"/>
          </a:solidFill>
          <a:ln w="12700">
            <a:solidFill>
              <a:srgbClr val="D5DCE8"/>
            </a:solidFill>
            <a:prstDash val="solid"/>
          </a:ln>
        </p:spPr>
      </p:sp>
      <p:sp>
        <p:nvSpPr>
          <p:cNvPr id="26" name="Shape 19"/>
          <p:cNvSpPr/>
          <p:nvPr/>
        </p:nvSpPr>
        <p:spPr>
          <a:xfrm>
            <a:off x="3424428" y="3108960"/>
            <a:ext cx="420624" cy="420624"/>
          </a:xfrm>
          <a:prstGeom prst="ellipse">
            <a:avLst/>
          </a:prstGeom>
          <a:solidFill>
            <a:schemeClr val="accent1">
              <a:alpha val="12000"/>
            </a:schemeClr>
          </a:solidFill>
          <a:ln/>
        </p:spPr>
      </p:sp>
      <p:pic>
        <p:nvPicPr>
          <p:cNvPr id="27" name="Image 4" descr="preencoded.png"/>
          <p:cNvPicPr>
            <a:picLocks noChangeAspect="1"/>
          </p:cNvPicPr>
          <p:nvPr/>
        </p:nvPicPr>
        <p:blipFill>
          <a:blip r:embed="rId7"/>
          <a:stretch>
            <a:fillRect/>
          </a:stretch>
        </p:blipFill>
        <p:spPr>
          <a:xfrm>
            <a:off x="3533790" y="3218322"/>
            <a:ext cx="201900" cy="201900"/>
          </a:xfrm>
          <a:prstGeom prst="rect">
            <a:avLst/>
          </a:prstGeom>
        </p:spPr>
      </p:pic>
      <p:sp>
        <p:nvSpPr>
          <p:cNvPr id="28" name="Text 20"/>
          <p:cNvSpPr txBox="1"/>
          <p:nvPr/>
        </p:nvSpPr>
        <p:spPr>
          <a:xfrm>
            <a:off x="3991356" y="3108960"/>
            <a:ext cx="1801368" cy="420624"/>
          </a:xfrm>
          <a:prstGeom prst="rect">
            <a:avLst/>
          </a:prstGeom>
          <a:noFill/>
          <a:ln/>
        </p:spPr>
        <p:txBody>
          <a:bodyPr wrap="square" lIns="0" tIns="0" rIns="0" bIns="0" rtlCol="0" anchor="ctr"/>
          <a:lstStyle/>
          <a:p>
            <a:pPr marL="0" indent="0">
              <a:buNone/>
            </a:pPr>
            <a:r>
              <a:rPr lang="en-US" sz="1500" b="1" dirty="0">
                <a:solidFill>
                  <a:schemeClr val="tx1"/>
                </a:solidFill>
              </a:rPr>
              <a:t>Development tools</a:t>
            </a:r>
            <a:endParaRPr lang="en-US" sz="1500" dirty="0"/>
          </a:p>
        </p:txBody>
      </p:sp>
      <p:sp>
        <p:nvSpPr>
          <p:cNvPr id="29" name="Text 21"/>
          <p:cNvSpPr txBox="1"/>
          <p:nvPr/>
        </p:nvSpPr>
        <p:spPr>
          <a:xfrm>
            <a:off x="3442716" y="3685032"/>
            <a:ext cx="2304288" cy="914400"/>
          </a:xfrm>
          <a:prstGeom prst="rect">
            <a:avLst/>
          </a:prstGeom>
          <a:noFill/>
          <a:ln/>
        </p:spPr>
        <p:txBody>
          <a:bodyPr wrap="square" lIns="0" tIns="0" rIns="0" bIns="0" rtlCol="0" anchor="t"/>
          <a:lstStyle/>
          <a:p>
            <a:pPr marL="177800" indent="-177800">
              <a:spcAft>
                <a:spcPts val="300"/>
              </a:spcAft>
              <a:buSzPct val="100000"/>
              <a:buChar char="•"/>
            </a:pPr>
            <a:r>
              <a:rPr lang="en-US" sz="1250" dirty="0">
                <a:solidFill>
                  <a:schemeClr val="tx1"/>
                </a:solidFill>
              </a:rPr>
              <a:t>VS Code</a:t>
            </a:r>
            <a:endParaRPr lang="en-US" sz="1400" dirty="0"/>
          </a:p>
          <a:p>
            <a:pPr marL="177800" indent="-177800">
              <a:spcAft>
                <a:spcPts val="300"/>
              </a:spcAft>
              <a:buSzPct val="100000"/>
              <a:buChar char="•"/>
            </a:pPr>
            <a:r>
              <a:rPr lang="en-US" sz="1250" dirty="0">
                <a:solidFill>
                  <a:schemeClr val="tx1"/>
                </a:solidFill>
              </a:rPr>
              <a:t>StarUML, Draw.io</a:t>
            </a:r>
            <a:endParaRPr lang="en-US" sz="1400" dirty="0"/>
          </a:p>
          <a:p>
            <a:pPr marL="177800" indent="-177800">
              <a:spcAft>
                <a:spcPts val="300"/>
              </a:spcAft>
              <a:buSzPct val="100000"/>
              <a:buChar char="•"/>
            </a:pPr>
            <a:r>
              <a:rPr lang="en-US" sz="1250" dirty="0">
                <a:solidFill>
                  <a:schemeClr val="tx1"/>
                </a:solidFill>
              </a:rPr>
              <a:t>GitHub</a:t>
            </a:r>
            <a:endParaRPr lang="en-US" sz="1400" dirty="0"/>
          </a:p>
        </p:txBody>
      </p:sp>
      <p:sp>
        <p:nvSpPr>
          <p:cNvPr id="4" name="Slide Number Placeholder 0"/>
          <p:cNvSpPr>
            <a:spLocks noGrp="1"/>
          </p:cNvSpPr>
          <p:nvPr>
            <p:ph type="sldNum" sz="quarter" idx="4294967295"/>
          </p:nvPr>
        </p:nvSpPr>
        <p:spPr>
          <a:xfrm>
            <a:off x="8138160" y="4791456"/>
            <a:ext cx="548640" cy="228600"/>
          </a:xfrm>
          <a:prstGeom prst="rect">
            <a:avLst/>
          </a:prstGeom>
          <a:extLst>
            <a:ext uri="{C572A759-6A51-4108-AA02-DFA0A04FC94B}">
              <ma14:wrappingTextBoxFlag xmlns:ma14="http://schemas.microsoft.com/office/mac/drawingml/2011/main" xmlns="" val="0"/>
            </a:ext>
          </a:extLst>
        </p:spPr>
        <p:txBody>
          <a:bodyPr/>
          <a:lstStyle>
            <a:lvl1pPr>
              <a:defRPr sz="1000">
                <a:solidFill>
                  <a:srgbClr val="475569"/>
                </a:solidFill>
              </a:defRPr>
            </a:lvl1pPr>
          </a:lstStyle>
          <a:p>
            <a:pPr algn="r"/>
            <a:fld id="{F7021451-1387-4CA6-816F-3879F97B5CBC}" type="slidenum">
              <a:rPr lang="en-US" b="0"/>
              <a:t>12</a:t>
            </a:fld>
            <a:endParaRPr lang="en-US"/>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457200" y="420624"/>
            <a:ext cx="8229600" cy="566928"/>
          </a:xfrm>
          <a:prstGeom prst="rect">
            <a:avLst/>
          </a:prstGeom>
          <a:noFill/>
          <a:ln/>
        </p:spPr>
        <p:txBody>
          <a:bodyPr wrap="square" lIns="0" tIns="0" rIns="0" bIns="0" rtlCol="0" anchor="ctr"/>
          <a:lstStyle/>
          <a:p>
            <a:pPr marL="0" indent="0" algn="l">
              <a:buNone/>
            </a:pPr>
            <a:r>
              <a:rPr lang="en-US" sz="2800" b="1" dirty="0">
                <a:solidFill>
                  <a:schemeClr val="tx1"/>
                </a:solidFill>
              </a:rPr>
              <a:t>Hardware and software requirements</a:t>
            </a:r>
            <a:endParaRPr lang="en-US" sz="2800" dirty="0"/>
          </a:p>
        </p:txBody>
      </p:sp>
      <p:sp>
        <p:nvSpPr>
          <p:cNvPr id="3" name="Text 1"/>
          <p:cNvSpPr txBox="1"/>
          <p:nvPr/>
        </p:nvSpPr>
        <p:spPr>
          <a:xfrm>
            <a:off x="457200" y="219456"/>
            <a:ext cx="5486400" cy="182880"/>
          </a:xfrm>
          <a:prstGeom prst="rect">
            <a:avLst/>
          </a:prstGeom>
          <a:noFill/>
          <a:ln/>
        </p:spPr>
        <p:txBody>
          <a:bodyPr wrap="square" lIns="0" tIns="0" rIns="0" bIns="0" rtlCol="0" anchor="t"/>
          <a:lstStyle/>
          <a:p>
            <a:pPr marL="0" indent="0">
              <a:buNone/>
            </a:pPr>
            <a:r>
              <a:rPr lang="en-US" sz="1000" b="1" kern="0" spc="200" dirty="0">
                <a:solidFill>
                  <a:schemeClr val="accent1"/>
                </a:solidFill>
              </a:rPr>
              <a:t>REQUIREMENTS</a:t>
            </a:r>
            <a:endParaRPr lang="en-US" sz="1000" dirty="0"/>
          </a:p>
        </p:txBody>
      </p:sp>
      <p:sp>
        <p:nvSpPr>
          <p:cNvPr id="5" name="Text 2"/>
          <p:cNvSpPr txBox="1"/>
          <p:nvPr/>
        </p:nvSpPr>
        <p:spPr>
          <a:xfrm>
            <a:off x="457200" y="1170432"/>
            <a:ext cx="3657600" cy="182880"/>
          </a:xfrm>
          <a:prstGeom prst="rect">
            <a:avLst/>
          </a:prstGeom>
          <a:noFill/>
          <a:ln/>
        </p:spPr>
        <p:txBody>
          <a:bodyPr wrap="square" lIns="0" tIns="0" rIns="0" bIns="0" rtlCol="0" anchor="t"/>
          <a:lstStyle/>
          <a:p>
            <a:pPr marL="0" indent="0">
              <a:buNone/>
            </a:pPr>
            <a:r>
              <a:rPr lang="en-US" sz="1000" b="1" kern="0" spc="100" dirty="0">
                <a:solidFill>
                  <a:schemeClr val="accent1"/>
                </a:solidFill>
              </a:rPr>
              <a:t>HARDWARE</a:t>
            </a:r>
            <a:endParaRPr lang="en-US" sz="1000" dirty="0"/>
          </a:p>
        </p:txBody>
      </p:sp>
      <p:sp>
        <p:nvSpPr>
          <p:cNvPr id="6" name="Shape 3"/>
          <p:cNvSpPr/>
          <p:nvPr/>
        </p:nvSpPr>
        <p:spPr>
          <a:xfrm>
            <a:off x="457200" y="1444752"/>
            <a:ext cx="4023360" cy="914400"/>
          </a:xfrm>
          <a:prstGeom prst="roundRect">
            <a:avLst>
              <a:gd name="adj" fmla="val 8000"/>
            </a:avLst>
          </a:prstGeom>
          <a:solidFill>
            <a:schemeClr val="bg1"/>
          </a:solidFill>
          <a:ln w="12700">
            <a:solidFill>
              <a:srgbClr val="D5DCE8"/>
            </a:solidFill>
            <a:prstDash val="solid"/>
          </a:ln>
        </p:spPr>
      </p:sp>
      <p:sp>
        <p:nvSpPr>
          <p:cNvPr id="7" name="Shape 4"/>
          <p:cNvSpPr/>
          <p:nvPr/>
        </p:nvSpPr>
        <p:spPr>
          <a:xfrm>
            <a:off x="640080" y="1655064"/>
            <a:ext cx="493776" cy="493776"/>
          </a:xfrm>
          <a:prstGeom prst="ellipse">
            <a:avLst/>
          </a:prstGeom>
          <a:solidFill>
            <a:schemeClr val="accent1">
              <a:alpha val="12000"/>
            </a:schemeClr>
          </a:solidFill>
          <a:ln/>
        </p:spPr>
      </p:sp>
      <p:pic>
        <p:nvPicPr>
          <p:cNvPr id="8" name="Image 0" descr="preencoded.png"/>
          <p:cNvPicPr>
            <a:picLocks noChangeAspect="1"/>
          </p:cNvPicPr>
          <p:nvPr/>
        </p:nvPicPr>
        <p:blipFill>
          <a:blip r:embed="rId3"/>
          <a:stretch>
            <a:fillRect/>
          </a:stretch>
        </p:blipFill>
        <p:spPr>
          <a:xfrm>
            <a:off x="768462" y="1783446"/>
            <a:ext cx="237012" cy="237012"/>
          </a:xfrm>
          <a:prstGeom prst="rect">
            <a:avLst/>
          </a:prstGeom>
        </p:spPr>
      </p:pic>
      <p:sp>
        <p:nvSpPr>
          <p:cNvPr id="9" name="Text 5"/>
          <p:cNvSpPr txBox="1"/>
          <p:nvPr/>
        </p:nvSpPr>
        <p:spPr>
          <a:xfrm>
            <a:off x="1325880" y="1554480"/>
            <a:ext cx="3017520" cy="256032"/>
          </a:xfrm>
          <a:prstGeom prst="rect">
            <a:avLst/>
          </a:prstGeom>
          <a:noFill/>
          <a:ln/>
        </p:spPr>
        <p:txBody>
          <a:bodyPr wrap="square" lIns="0" tIns="0" rIns="0" bIns="0" rtlCol="0" anchor="t"/>
          <a:lstStyle/>
          <a:p>
            <a:pPr marL="0" indent="0">
              <a:buNone/>
            </a:pPr>
            <a:r>
              <a:rPr lang="en-US" sz="1400" b="1" dirty="0">
                <a:solidFill>
                  <a:schemeClr val="tx1"/>
                </a:solidFill>
              </a:rPr>
              <a:t>Laptop / PC</a:t>
            </a:r>
            <a:endParaRPr lang="en-US" sz="1400" dirty="0"/>
          </a:p>
        </p:txBody>
      </p:sp>
      <p:sp>
        <p:nvSpPr>
          <p:cNvPr id="10" name="Text 6"/>
          <p:cNvSpPr txBox="1"/>
          <p:nvPr/>
        </p:nvSpPr>
        <p:spPr>
          <a:xfrm>
            <a:off x="1325880" y="1828800"/>
            <a:ext cx="3017520" cy="475488"/>
          </a:xfrm>
          <a:prstGeom prst="rect">
            <a:avLst/>
          </a:prstGeom>
          <a:noFill/>
          <a:ln/>
        </p:spPr>
        <p:txBody>
          <a:bodyPr wrap="square" lIns="0" tIns="0" rIns="0" bIns="0" rtlCol="0" anchor="t"/>
          <a:lstStyle/>
          <a:p>
            <a:pPr marL="0" indent="0">
              <a:buNone/>
            </a:pPr>
            <a:r>
              <a:rPr lang="en-US" sz="1150" dirty="0">
                <a:solidFill>
                  <a:schemeClr val="tx2"/>
                </a:solidFill>
              </a:rPr>
              <a:t>Dual-core processor, 4 GB RAM, 5 GB free disk, 1366 × 768 display</a:t>
            </a:r>
            <a:endParaRPr lang="en-US" sz="1150" dirty="0"/>
          </a:p>
        </p:txBody>
      </p:sp>
      <p:sp>
        <p:nvSpPr>
          <p:cNvPr id="11" name="Shape 7"/>
          <p:cNvSpPr/>
          <p:nvPr/>
        </p:nvSpPr>
        <p:spPr>
          <a:xfrm>
            <a:off x="457200" y="2496312"/>
            <a:ext cx="4023360" cy="914400"/>
          </a:xfrm>
          <a:prstGeom prst="roundRect">
            <a:avLst>
              <a:gd name="adj" fmla="val 8000"/>
            </a:avLst>
          </a:prstGeom>
          <a:solidFill>
            <a:schemeClr val="bg1"/>
          </a:solidFill>
          <a:ln w="12700">
            <a:solidFill>
              <a:srgbClr val="D5DCE8"/>
            </a:solidFill>
            <a:prstDash val="solid"/>
          </a:ln>
        </p:spPr>
      </p:sp>
      <p:sp>
        <p:nvSpPr>
          <p:cNvPr id="12" name="Shape 8"/>
          <p:cNvSpPr/>
          <p:nvPr/>
        </p:nvSpPr>
        <p:spPr>
          <a:xfrm>
            <a:off x="640080" y="2706624"/>
            <a:ext cx="493776" cy="493776"/>
          </a:xfrm>
          <a:prstGeom prst="ellipse">
            <a:avLst/>
          </a:prstGeom>
          <a:solidFill>
            <a:schemeClr val="accent1">
              <a:alpha val="12000"/>
            </a:schemeClr>
          </a:solidFill>
          <a:ln/>
        </p:spPr>
      </p:sp>
      <p:pic>
        <p:nvPicPr>
          <p:cNvPr id="13" name="Image 1" descr="preencoded.png"/>
          <p:cNvPicPr>
            <a:picLocks noChangeAspect="1"/>
          </p:cNvPicPr>
          <p:nvPr/>
        </p:nvPicPr>
        <p:blipFill>
          <a:blip r:embed="rId4"/>
          <a:stretch>
            <a:fillRect/>
          </a:stretch>
        </p:blipFill>
        <p:spPr>
          <a:xfrm>
            <a:off x="768462" y="2835006"/>
            <a:ext cx="237012" cy="237012"/>
          </a:xfrm>
          <a:prstGeom prst="rect">
            <a:avLst/>
          </a:prstGeom>
        </p:spPr>
      </p:pic>
      <p:sp>
        <p:nvSpPr>
          <p:cNvPr id="14" name="Text 9"/>
          <p:cNvSpPr txBox="1"/>
          <p:nvPr/>
        </p:nvSpPr>
        <p:spPr>
          <a:xfrm>
            <a:off x="1325880" y="2606040"/>
            <a:ext cx="3017520" cy="256032"/>
          </a:xfrm>
          <a:prstGeom prst="rect">
            <a:avLst/>
          </a:prstGeom>
          <a:noFill/>
          <a:ln/>
        </p:spPr>
        <p:txBody>
          <a:bodyPr wrap="square" lIns="0" tIns="0" rIns="0" bIns="0" rtlCol="0" anchor="t"/>
          <a:lstStyle/>
          <a:p>
            <a:pPr marL="0" indent="0">
              <a:buNone/>
            </a:pPr>
            <a:r>
              <a:rPr lang="en-US" sz="1400" b="1" dirty="0">
                <a:solidFill>
                  <a:schemeClr val="tx1"/>
                </a:solidFill>
              </a:rPr>
              <a:t>Smartphone with GPS</a:t>
            </a:r>
            <a:endParaRPr lang="en-US" sz="1400" dirty="0"/>
          </a:p>
        </p:txBody>
      </p:sp>
      <p:sp>
        <p:nvSpPr>
          <p:cNvPr id="15" name="Text 10"/>
          <p:cNvSpPr txBox="1"/>
          <p:nvPr/>
        </p:nvSpPr>
        <p:spPr>
          <a:xfrm>
            <a:off x="1325880" y="2880360"/>
            <a:ext cx="3017520" cy="475488"/>
          </a:xfrm>
          <a:prstGeom prst="rect">
            <a:avLst/>
          </a:prstGeom>
          <a:noFill/>
          <a:ln/>
        </p:spPr>
        <p:txBody>
          <a:bodyPr wrap="square" lIns="0" tIns="0" rIns="0" bIns="0" rtlCol="0" anchor="t"/>
          <a:lstStyle/>
          <a:p>
            <a:pPr marL="0" indent="0">
              <a:buNone/>
            </a:pPr>
            <a:r>
              <a:rPr lang="en-US" sz="1150" dirty="0">
                <a:solidFill>
                  <a:schemeClr val="tx2"/>
                </a:solidFill>
              </a:rPr>
              <a:t>Modern web browser, location services enabled</a:t>
            </a:r>
            <a:endParaRPr lang="en-US" sz="1150" dirty="0"/>
          </a:p>
        </p:txBody>
      </p:sp>
      <p:sp>
        <p:nvSpPr>
          <p:cNvPr id="16" name="Shape 11"/>
          <p:cNvSpPr/>
          <p:nvPr/>
        </p:nvSpPr>
        <p:spPr>
          <a:xfrm>
            <a:off x="457200" y="3547872"/>
            <a:ext cx="4023360" cy="914400"/>
          </a:xfrm>
          <a:prstGeom prst="roundRect">
            <a:avLst>
              <a:gd name="adj" fmla="val 8000"/>
            </a:avLst>
          </a:prstGeom>
          <a:solidFill>
            <a:schemeClr val="bg1"/>
          </a:solidFill>
          <a:ln w="12700">
            <a:solidFill>
              <a:srgbClr val="D5DCE8"/>
            </a:solidFill>
            <a:prstDash val="solid"/>
          </a:ln>
        </p:spPr>
      </p:sp>
      <p:sp>
        <p:nvSpPr>
          <p:cNvPr id="17" name="Shape 12"/>
          <p:cNvSpPr/>
          <p:nvPr/>
        </p:nvSpPr>
        <p:spPr>
          <a:xfrm>
            <a:off x="640080" y="3758184"/>
            <a:ext cx="493776" cy="493776"/>
          </a:xfrm>
          <a:prstGeom prst="ellipse">
            <a:avLst/>
          </a:prstGeom>
          <a:solidFill>
            <a:schemeClr val="accent1">
              <a:alpha val="12000"/>
            </a:schemeClr>
          </a:solidFill>
          <a:ln/>
        </p:spPr>
      </p:sp>
      <p:pic>
        <p:nvPicPr>
          <p:cNvPr id="18" name="Image 2" descr="preencoded.png"/>
          <p:cNvPicPr>
            <a:picLocks noChangeAspect="1"/>
          </p:cNvPicPr>
          <p:nvPr/>
        </p:nvPicPr>
        <p:blipFill>
          <a:blip r:embed="rId5"/>
          <a:stretch>
            <a:fillRect/>
          </a:stretch>
        </p:blipFill>
        <p:spPr>
          <a:xfrm>
            <a:off x="768462" y="3886566"/>
            <a:ext cx="237012" cy="237012"/>
          </a:xfrm>
          <a:prstGeom prst="rect">
            <a:avLst/>
          </a:prstGeom>
        </p:spPr>
      </p:pic>
      <p:sp>
        <p:nvSpPr>
          <p:cNvPr id="19" name="Text 13"/>
          <p:cNvSpPr txBox="1"/>
          <p:nvPr/>
        </p:nvSpPr>
        <p:spPr>
          <a:xfrm>
            <a:off x="1325880" y="3657600"/>
            <a:ext cx="3017520" cy="256032"/>
          </a:xfrm>
          <a:prstGeom prst="rect">
            <a:avLst/>
          </a:prstGeom>
          <a:noFill/>
          <a:ln/>
        </p:spPr>
        <p:txBody>
          <a:bodyPr wrap="square" lIns="0" tIns="0" rIns="0" bIns="0" rtlCol="0" anchor="t"/>
          <a:lstStyle/>
          <a:p>
            <a:pPr marL="0" indent="0">
              <a:buNone/>
            </a:pPr>
            <a:r>
              <a:rPr lang="en-US" sz="1400" b="1" dirty="0">
                <a:solidFill>
                  <a:schemeClr val="tx1"/>
                </a:solidFill>
              </a:rPr>
              <a:t>Internet connection</a:t>
            </a:r>
            <a:endParaRPr lang="en-US" sz="1400" dirty="0"/>
          </a:p>
        </p:txBody>
      </p:sp>
      <p:sp>
        <p:nvSpPr>
          <p:cNvPr id="20" name="Text 14"/>
          <p:cNvSpPr txBox="1"/>
          <p:nvPr/>
        </p:nvSpPr>
        <p:spPr>
          <a:xfrm>
            <a:off x="1325880" y="3931920"/>
            <a:ext cx="3017520" cy="475488"/>
          </a:xfrm>
          <a:prstGeom prst="rect">
            <a:avLst/>
          </a:prstGeom>
          <a:noFill/>
          <a:ln/>
        </p:spPr>
        <p:txBody>
          <a:bodyPr wrap="square" lIns="0" tIns="0" rIns="0" bIns="0" rtlCol="0" anchor="t"/>
          <a:lstStyle/>
          <a:p>
            <a:pPr marL="0" indent="0">
              <a:buNone/>
            </a:pPr>
            <a:r>
              <a:rPr lang="en-US" sz="1150" dirty="0">
                <a:solidFill>
                  <a:schemeClr val="tx2"/>
                </a:solidFill>
              </a:rPr>
              <a:t>Mobile data or Wi-Fi for continuous location exchange</a:t>
            </a:r>
            <a:endParaRPr lang="en-US" sz="1150" dirty="0"/>
          </a:p>
        </p:txBody>
      </p:sp>
      <p:sp>
        <p:nvSpPr>
          <p:cNvPr id="21" name="Text 15"/>
          <p:cNvSpPr txBox="1"/>
          <p:nvPr/>
        </p:nvSpPr>
        <p:spPr>
          <a:xfrm>
            <a:off x="4663440" y="1170432"/>
            <a:ext cx="3657600" cy="182880"/>
          </a:xfrm>
          <a:prstGeom prst="rect">
            <a:avLst/>
          </a:prstGeom>
          <a:noFill/>
          <a:ln/>
        </p:spPr>
        <p:txBody>
          <a:bodyPr wrap="square" lIns="0" tIns="0" rIns="0" bIns="0" rtlCol="0" anchor="t"/>
          <a:lstStyle/>
          <a:p>
            <a:pPr marL="0" indent="0">
              <a:buNone/>
            </a:pPr>
            <a:r>
              <a:rPr lang="en-US" sz="1000" b="1" kern="0" spc="100" dirty="0">
                <a:solidFill>
                  <a:schemeClr val="accent1"/>
                </a:solidFill>
              </a:rPr>
              <a:t>SOFTWARE</a:t>
            </a:r>
            <a:endParaRPr lang="en-US" sz="1000" dirty="0"/>
          </a:p>
        </p:txBody>
      </p:sp>
      <p:sp>
        <p:nvSpPr>
          <p:cNvPr id="22" name="Shape 16"/>
          <p:cNvSpPr/>
          <p:nvPr/>
        </p:nvSpPr>
        <p:spPr>
          <a:xfrm>
            <a:off x="4663440" y="1444752"/>
            <a:ext cx="4023360" cy="338328"/>
          </a:xfrm>
          <a:prstGeom prst="roundRect">
            <a:avLst>
              <a:gd name="adj" fmla="val 13514"/>
            </a:avLst>
          </a:prstGeom>
          <a:solidFill>
            <a:schemeClr val="bg2"/>
          </a:solidFill>
          <a:ln/>
        </p:spPr>
      </p:sp>
      <p:sp>
        <p:nvSpPr>
          <p:cNvPr id="23" name="Text 17"/>
          <p:cNvSpPr txBox="1"/>
          <p:nvPr/>
        </p:nvSpPr>
        <p:spPr>
          <a:xfrm>
            <a:off x="4800600" y="1444752"/>
            <a:ext cx="1645920" cy="338328"/>
          </a:xfrm>
          <a:prstGeom prst="rect">
            <a:avLst/>
          </a:prstGeom>
          <a:noFill/>
          <a:ln/>
        </p:spPr>
        <p:txBody>
          <a:bodyPr wrap="square" lIns="0" tIns="0" rIns="0" bIns="0" rtlCol="0" anchor="ctr"/>
          <a:lstStyle/>
          <a:p>
            <a:pPr marL="0" indent="0">
              <a:buNone/>
            </a:pPr>
            <a:r>
              <a:rPr lang="en-US" sz="1200" b="1" dirty="0">
                <a:solidFill>
                  <a:schemeClr val="tx1"/>
                </a:solidFill>
              </a:rPr>
              <a:t>Python</a:t>
            </a:r>
            <a:endParaRPr lang="en-US" sz="1200" dirty="0"/>
          </a:p>
        </p:txBody>
      </p:sp>
      <p:sp>
        <p:nvSpPr>
          <p:cNvPr id="24" name="Text 18"/>
          <p:cNvSpPr txBox="1"/>
          <p:nvPr/>
        </p:nvSpPr>
        <p:spPr>
          <a:xfrm>
            <a:off x="6400800" y="1444752"/>
            <a:ext cx="2240280" cy="338328"/>
          </a:xfrm>
          <a:prstGeom prst="rect">
            <a:avLst/>
          </a:prstGeom>
          <a:noFill/>
          <a:ln/>
        </p:spPr>
        <p:txBody>
          <a:bodyPr wrap="square" lIns="0" tIns="0" rIns="0" bIns="0" rtlCol="0" anchor="ctr"/>
          <a:lstStyle/>
          <a:p>
            <a:pPr marL="0" indent="0">
              <a:buNone/>
            </a:pPr>
            <a:r>
              <a:rPr lang="en-US" sz="1200" dirty="0">
                <a:solidFill>
                  <a:schemeClr val="tx2"/>
                </a:solidFill>
              </a:rPr>
              <a:t>3.14.0</a:t>
            </a:r>
            <a:endParaRPr lang="en-US" sz="1200" dirty="0"/>
          </a:p>
        </p:txBody>
      </p:sp>
      <p:sp>
        <p:nvSpPr>
          <p:cNvPr id="25" name="Shape 19"/>
          <p:cNvSpPr/>
          <p:nvPr/>
        </p:nvSpPr>
        <p:spPr>
          <a:xfrm>
            <a:off x="4663440" y="1837944"/>
            <a:ext cx="4023360" cy="338328"/>
          </a:xfrm>
          <a:prstGeom prst="roundRect">
            <a:avLst>
              <a:gd name="adj" fmla="val 13514"/>
            </a:avLst>
          </a:prstGeom>
          <a:solidFill>
            <a:schemeClr val="bg1"/>
          </a:solidFill>
          <a:ln/>
        </p:spPr>
      </p:sp>
      <p:sp>
        <p:nvSpPr>
          <p:cNvPr id="26" name="Text 20"/>
          <p:cNvSpPr txBox="1"/>
          <p:nvPr/>
        </p:nvSpPr>
        <p:spPr>
          <a:xfrm>
            <a:off x="4800600" y="1837944"/>
            <a:ext cx="1645920" cy="338328"/>
          </a:xfrm>
          <a:prstGeom prst="rect">
            <a:avLst/>
          </a:prstGeom>
          <a:noFill/>
          <a:ln/>
        </p:spPr>
        <p:txBody>
          <a:bodyPr wrap="square" lIns="0" tIns="0" rIns="0" bIns="0" rtlCol="0" anchor="ctr"/>
          <a:lstStyle/>
          <a:p>
            <a:pPr marL="0" indent="0">
              <a:buNone/>
            </a:pPr>
            <a:r>
              <a:rPr lang="en-US" sz="1200" b="1" dirty="0">
                <a:solidFill>
                  <a:schemeClr val="tx1"/>
                </a:solidFill>
              </a:rPr>
              <a:t>Django</a:t>
            </a:r>
            <a:endParaRPr lang="en-US" sz="1200" dirty="0"/>
          </a:p>
        </p:txBody>
      </p:sp>
      <p:sp>
        <p:nvSpPr>
          <p:cNvPr id="27" name="Text 21"/>
          <p:cNvSpPr txBox="1"/>
          <p:nvPr/>
        </p:nvSpPr>
        <p:spPr>
          <a:xfrm>
            <a:off x="6400800" y="1837944"/>
            <a:ext cx="2240280" cy="338328"/>
          </a:xfrm>
          <a:prstGeom prst="rect">
            <a:avLst/>
          </a:prstGeom>
          <a:noFill/>
          <a:ln/>
        </p:spPr>
        <p:txBody>
          <a:bodyPr wrap="square" lIns="0" tIns="0" rIns="0" bIns="0" rtlCol="0" anchor="ctr"/>
          <a:lstStyle/>
          <a:p>
            <a:pPr marL="0" indent="0">
              <a:buNone/>
            </a:pPr>
            <a:r>
              <a:rPr lang="en-US" sz="1200" dirty="0">
                <a:solidFill>
                  <a:schemeClr val="tx2"/>
                </a:solidFill>
              </a:rPr>
              <a:t>6.1.1</a:t>
            </a:r>
            <a:endParaRPr lang="en-US" sz="1200" dirty="0"/>
          </a:p>
        </p:txBody>
      </p:sp>
      <p:sp>
        <p:nvSpPr>
          <p:cNvPr id="28" name="Shape 22"/>
          <p:cNvSpPr/>
          <p:nvPr/>
        </p:nvSpPr>
        <p:spPr>
          <a:xfrm>
            <a:off x="4663440" y="2231136"/>
            <a:ext cx="4023360" cy="338328"/>
          </a:xfrm>
          <a:prstGeom prst="roundRect">
            <a:avLst>
              <a:gd name="adj" fmla="val 13514"/>
            </a:avLst>
          </a:prstGeom>
          <a:solidFill>
            <a:schemeClr val="bg2"/>
          </a:solidFill>
          <a:ln/>
        </p:spPr>
      </p:sp>
      <p:sp>
        <p:nvSpPr>
          <p:cNvPr id="29" name="Text 23"/>
          <p:cNvSpPr txBox="1"/>
          <p:nvPr/>
        </p:nvSpPr>
        <p:spPr>
          <a:xfrm>
            <a:off x="4800600" y="2231136"/>
            <a:ext cx="1645920" cy="338328"/>
          </a:xfrm>
          <a:prstGeom prst="rect">
            <a:avLst/>
          </a:prstGeom>
          <a:noFill/>
          <a:ln/>
        </p:spPr>
        <p:txBody>
          <a:bodyPr wrap="square" lIns="0" tIns="0" rIns="0" bIns="0" rtlCol="0" anchor="ctr"/>
          <a:lstStyle/>
          <a:p>
            <a:pPr marL="0" indent="0">
              <a:buNone/>
            </a:pPr>
            <a:r>
              <a:rPr lang="en-US" sz="1200" b="1" dirty="0">
                <a:solidFill>
                  <a:schemeClr val="tx1"/>
                </a:solidFill>
              </a:rPr>
              <a:t>Django Channels</a:t>
            </a:r>
            <a:endParaRPr lang="en-US" sz="1200" dirty="0"/>
          </a:p>
        </p:txBody>
      </p:sp>
      <p:sp>
        <p:nvSpPr>
          <p:cNvPr id="30" name="Text 24"/>
          <p:cNvSpPr txBox="1"/>
          <p:nvPr/>
        </p:nvSpPr>
        <p:spPr>
          <a:xfrm>
            <a:off x="6400800" y="2231136"/>
            <a:ext cx="2240280" cy="338328"/>
          </a:xfrm>
          <a:prstGeom prst="rect">
            <a:avLst/>
          </a:prstGeom>
          <a:noFill/>
          <a:ln/>
        </p:spPr>
        <p:txBody>
          <a:bodyPr wrap="square" lIns="0" tIns="0" rIns="0" bIns="0" rtlCol="0" anchor="ctr"/>
          <a:lstStyle/>
          <a:p>
            <a:pPr marL="0" indent="0">
              <a:buNone/>
            </a:pPr>
            <a:r>
              <a:rPr lang="en-US" sz="1200" dirty="0">
                <a:solidFill>
                  <a:schemeClr val="tx2"/>
                </a:solidFill>
              </a:rPr>
              <a:t>4.3.2</a:t>
            </a:r>
            <a:endParaRPr lang="en-US" sz="1200" dirty="0"/>
          </a:p>
        </p:txBody>
      </p:sp>
      <p:sp>
        <p:nvSpPr>
          <p:cNvPr id="31" name="Shape 25"/>
          <p:cNvSpPr/>
          <p:nvPr/>
        </p:nvSpPr>
        <p:spPr>
          <a:xfrm>
            <a:off x="4663440" y="2624328"/>
            <a:ext cx="4023360" cy="338328"/>
          </a:xfrm>
          <a:prstGeom prst="roundRect">
            <a:avLst>
              <a:gd name="adj" fmla="val 13514"/>
            </a:avLst>
          </a:prstGeom>
          <a:solidFill>
            <a:schemeClr val="bg1"/>
          </a:solidFill>
          <a:ln/>
        </p:spPr>
      </p:sp>
      <p:sp>
        <p:nvSpPr>
          <p:cNvPr id="32" name="Text 26"/>
          <p:cNvSpPr txBox="1"/>
          <p:nvPr/>
        </p:nvSpPr>
        <p:spPr>
          <a:xfrm>
            <a:off x="4800600" y="2624328"/>
            <a:ext cx="1645920" cy="338328"/>
          </a:xfrm>
          <a:prstGeom prst="rect">
            <a:avLst/>
          </a:prstGeom>
          <a:noFill/>
          <a:ln/>
        </p:spPr>
        <p:txBody>
          <a:bodyPr wrap="square" lIns="0" tIns="0" rIns="0" bIns="0" rtlCol="0" anchor="ctr"/>
          <a:lstStyle/>
          <a:p>
            <a:pPr marL="0" indent="0">
              <a:buNone/>
            </a:pPr>
            <a:r>
              <a:rPr lang="en-US" sz="1200" b="1" dirty="0">
                <a:solidFill>
                  <a:schemeClr val="tx1"/>
                </a:solidFill>
              </a:rPr>
              <a:t>Daphne (ASGI server)</a:t>
            </a:r>
            <a:endParaRPr lang="en-US" sz="1200" dirty="0"/>
          </a:p>
        </p:txBody>
      </p:sp>
      <p:sp>
        <p:nvSpPr>
          <p:cNvPr id="33" name="Text 27"/>
          <p:cNvSpPr txBox="1"/>
          <p:nvPr/>
        </p:nvSpPr>
        <p:spPr>
          <a:xfrm>
            <a:off x="6400800" y="2624328"/>
            <a:ext cx="2240280" cy="338328"/>
          </a:xfrm>
          <a:prstGeom prst="rect">
            <a:avLst/>
          </a:prstGeom>
          <a:noFill/>
          <a:ln/>
        </p:spPr>
        <p:txBody>
          <a:bodyPr wrap="square" lIns="0" tIns="0" rIns="0" bIns="0" rtlCol="0" anchor="ctr"/>
          <a:lstStyle/>
          <a:p>
            <a:pPr marL="0" indent="0">
              <a:buNone/>
            </a:pPr>
            <a:r>
              <a:rPr lang="en-US" sz="1200" dirty="0">
                <a:solidFill>
                  <a:schemeClr val="tx2"/>
                </a:solidFill>
              </a:rPr>
              <a:t>4.2.3</a:t>
            </a:r>
            <a:endParaRPr lang="en-US" sz="1200" dirty="0"/>
          </a:p>
        </p:txBody>
      </p:sp>
      <p:sp>
        <p:nvSpPr>
          <p:cNvPr id="34" name="Shape 28"/>
          <p:cNvSpPr/>
          <p:nvPr/>
        </p:nvSpPr>
        <p:spPr>
          <a:xfrm>
            <a:off x="4663440" y="3017520"/>
            <a:ext cx="4023360" cy="338328"/>
          </a:xfrm>
          <a:prstGeom prst="roundRect">
            <a:avLst>
              <a:gd name="adj" fmla="val 13514"/>
            </a:avLst>
          </a:prstGeom>
          <a:solidFill>
            <a:schemeClr val="bg2"/>
          </a:solidFill>
          <a:ln/>
        </p:spPr>
      </p:sp>
      <p:sp>
        <p:nvSpPr>
          <p:cNvPr id="35" name="Text 29"/>
          <p:cNvSpPr txBox="1"/>
          <p:nvPr/>
        </p:nvSpPr>
        <p:spPr>
          <a:xfrm>
            <a:off x="4800600" y="3017520"/>
            <a:ext cx="1645920" cy="338328"/>
          </a:xfrm>
          <a:prstGeom prst="rect">
            <a:avLst/>
          </a:prstGeom>
          <a:noFill/>
          <a:ln/>
        </p:spPr>
        <p:txBody>
          <a:bodyPr wrap="square" lIns="0" tIns="0" rIns="0" bIns="0" rtlCol="0" anchor="ctr"/>
          <a:lstStyle/>
          <a:p>
            <a:pPr marL="0" indent="0">
              <a:buNone/>
            </a:pPr>
            <a:r>
              <a:rPr lang="en-US" sz="1200" b="1" dirty="0">
                <a:solidFill>
                  <a:schemeClr val="tx1"/>
                </a:solidFill>
              </a:rPr>
              <a:t>Database</a:t>
            </a:r>
            <a:endParaRPr lang="en-US" sz="1200" dirty="0"/>
          </a:p>
        </p:txBody>
      </p:sp>
      <p:sp>
        <p:nvSpPr>
          <p:cNvPr id="36" name="Text 30"/>
          <p:cNvSpPr txBox="1"/>
          <p:nvPr/>
        </p:nvSpPr>
        <p:spPr>
          <a:xfrm>
            <a:off x="6400800" y="3017520"/>
            <a:ext cx="2240280" cy="338328"/>
          </a:xfrm>
          <a:prstGeom prst="rect">
            <a:avLst/>
          </a:prstGeom>
          <a:noFill/>
          <a:ln/>
        </p:spPr>
        <p:txBody>
          <a:bodyPr wrap="square" lIns="0" tIns="0" rIns="0" bIns="0" rtlCol="0" anchor="ctr"/>
          <a:lstStyle/>
          <a:p>
            <a:pPr marL="0" indent="0">
              <a:buNone/>
            </a:pPr>
            <a:r>
              <a:rPr lang="en-US" sz="1200" dirty="0">
                <a:solidFill>
                  <a:schemeClr val="tx2"/>
                </a:solidFill>
              </a:rPr>
              <a:t>SQLite3</a:t>
            </a:r>
            <a:endParaRPr lang="en-US" sz="1200" dirty="0"/>
          </a:p>
        </p:txBody>
      </p:sp>
      <p:sp>
        <p:nvSpPr>
          <p:cNvPr id="37" name="Shape 31"/>
          <p:cNvSpPr/>
          <p:nvPr/>
        </p:nvSpPr>
        <p:spPr>
          <a:xfrm>
            <a:off x="4663440" y="3410712"/>
            <a:ext cx="4023360" cy="338328"/>
          </a:xfrm>
          <a:prstGeom prst="roundRect">
            <a:avLst>
              <a:gd name="adj" fmla="val 13514"/>
            </a:avLst>
          </a:prstGeom>
          <a:solidFill>
            <a:schemeClr val="bg1"/>
          </a:solidFill>
          <a:ln/>
        </p:spPr>
      </p:sp>
      <p:sp>
        <p:nvSpPr>
          <p:cNvPr id="38" name="Text 32"/>
          <p:cNvSpPr txBox="1"/>
          <p:nvPr/>
        </p:nvSpPr>
        <p:spPr>
          <a:xfrm>
            <a:off x="4800600" y="3410712"/>
            <a:ext cx="1645920" cy="338328"/>
          </a:xfrm>
          <a:prstGeom prst="rect">
            <a:avLst/>
          </a:prstGeom>
          <a:noFill/>
          <a:ln/>
        </p:spPr>
        <p:txBody>
          <a:bodyPr wrap="square" lIns="0" tIns="0" rIns="0" bIns="0" rtlCol="0" anchor="ctr"/>
          <a:lstStyle/>
          <a:p>
            <a:pPr marL="0" indent="0">
              <a:buNone/>
            </a:pPr>
            <a:r>
              <a:rPr lang="en-US" sz="1200" b="1" dirty="0">
                <a:solidFill>
                  <a:schemeClr val="tx1"/>
                </a:solidFill>
              </a:rPr>
              <a:t>Browser</a:t>
            </a:r>
            <a:endParaRPr lang="en-US" sz="1200" dirty="0"/>
          </a:p>
        </p:txBody>
      </p:sp>
      <p:sp>
        <p:nvSpPr>
          <p:cNvPr id="39" name="Text 33"/>
          <p:cNvSpPr txBox="1"/>
          <p:nvPr/>
        </p:nvSpPr>
        <p:spPr>
          <a:xfrm>
            <a:off x="6400800" y="3410712"/>
            <a:ext cx="2240280" cy="338328"/>
          </a:xfrm>
          <a:prstGeom prst="rect">
            <a:avLst/>
          </a:prstGeom>
          <a:noFill/>
          <a:ln/>
        </p:spPr>
        <p:txBody>
          <a:bodyPr wrap="square" lIns="0" tIns="0" rIns="0" bIns="0" rtlCol="0" anchor="ctr"/>
          <a:lstStyle/>
          <a:p>
            <a:pPr marL="0" indent="0">
              <a:buNone/>
            </a:pPr>
            <a:r>
              <a:rPr lang="en-US" sz="1200" dirty="0">
                <a:solidFill>
                  <a:schemeClr val="tx2"/>
                </a:solidFill>
              </a:rPr>
              <a:t>Current Chrome, Edge or Firefox</a:t>
            </a:r>
            <a:endParaRPr lang="en-US" sz="1200" dirty="0"/>
          </a:p>
        </p:txBody>
      </p:sp>
      <p:sp>
        <p:nvSpPr>
          <p:cNvPr id="40" name="Shape 34"/>
          <p:cNvSpPr/>
          <p:nvPr/>
        </p:nvSpPr>
        <p:spPr>
          <a:xfrm>
            <a:off x="4663440" y="3803904"/>
            <a:ext cx="4023360" cy="338328"/>
          </a:xfrm>
          <a:prstGeom prst="roundRect">
            <a:avLst>
              <a:gd name="adj" fmla="val 13514"/>
            </a:avLst>
          </a:prstGeom>
          <a:solidFill>
            <a:schemeClr val="bg2"/>
          </a:solidFill>
          <a:ln/>
        </p:spPr>
      </p:sp>
      <p:sp>
        <p:nvSpPr>
          <p:cNvPr id="41" name="Text 35"/>
          <p:cNvSpPr txBox="1"/>
          <p:nvPr/>
        </p:nvSpPr>
        <p:spPr>
          <a:xfrm>
            <a:off x="4800600" y="3803904"/>
            <a:ext cx="1645920" cy="338328"/>
          </a:xfrm>
          <a:prstGeom prst="rect">
            <a:avLst/>
          </a:prstGeom>
          <a:noFill/>
          <a:ln/>
        </p:spPr>
        <p:txBody>
          <a:bodyPr wrap="square" lIns="0" tIns="0" rIns="0" bIns="0" rtlCol="0" anchor="ctr"/>
          <a:lstStyle/>
          <a:p>
            <a:pPr marL="0" indent="0">
              <a:buNone/>
            </a:pPr>
            <a:r>
              <a:rPr lang="en-US" sz="1200" b="1" dirty="0">
                <a:solidFill>
                  <a:schemeClr val="tx1"/>
                </a:solidFill>
              </a:rPr>
              <a:t>Map service</a:t>
            </a:r>
            <a:endParaRPr lang="en-US" sz="1200" dirty="0"/>
          </a:p>
        </p:txBody>
      </p:sp>
      <p:sp>
        <p:nvSpPr>
          <p:cNvPr id="42" name="Text 36"/>
          <p:cNvSpPr txBox="1"/>
          <p:nvPr/>
        </p:nvSpPr>
        <p:spPr>
          <a:xfrm>
            <a:off x="6400800" y="3803904"/>
            <a:ext cx="2240280" cy="338328"/>
          </a:xfrm>
          <a:prstGeom prst="rect">
            <a:avLst/>
          </a:prstGeom>
          <a:noFill/>
          <a:ln/>
        </p:spPr>
        <p:txBody>
          <a:bodyPr wrap="square" lIns="0" tIns="0" rIns="0" bIns="0" rtlCol="0" anchor="ctr"/>
          <a:lstStyle/>
          <a:p>
            <a:pPr marL="0" indent="0">
              <a:buNone/>
            </a:pPr>
            <a:r>
              <a:rPr lang="en-US" sz="1200" dirty="0">
                <a:solidFill>
                  <a:schemeClr val="tx2"/>
                </a:solidFill>
              </a:rPr>
              <a:t>Google Maps API key</a:t>
            </a:r>
            <a:endParaRPr lang="en-US" sz="1200" dirty="0"/>
          </a:p>
        </p:txBody>
      </p:sp>
      <p:sp>
        <p:nvSpPr>
          <p:cNvPr id="43" name="Shape 37"/>
          <p:cNvSpPr/>
          <p:nvPr/>
        </p:nvSpPr>
        <p:spPr>
          <a:xfrm>
            <a:off x="4663440" y="4197096"/>
            <a:ext cx="4023360" cy="338328"/>
          </a:xfrm>
          <a:prstGeom prst="roundRect">
            <a:avLst>
              <a:gd name="adj" fmla="val 13514"/>
            </a:avLst>
          </a:prstGeom>
          <a:solidFill>
            <a:schemeClr val="bg1"/>
          </a:solidFill>
          <a:ln/>
        </p:spPr>
      </p:sp>
      <p:sp>
        <p:nvSpPr>
          <p:cNvPr id="44" name="Text 38"/>
          <p:cNvSpPr txBox="1"/>
          <p:nvPr/>
        </p:nvSpPr>
        <p:spPr>
          <a:xfrm>
            <a:off x="4800600" y="4197096"/>
            <a:ext cx="1645920" cy="338328"/>
          </a:xfrm>
          <a:prstGeom prst="rect">
            <a:avLst/>
          </a:prstGeom>
          <a:noFill/>
          <a:ln/>
        </p:spPr>
        <p:txBody>
          <a:bodyPr wrap="square" lIns="0" tIns="0" rIns="0" bIns="0" rtlCol="0" anchor="ctr"/>
          <a:lstStyle/>
          <a:p>
            <a:pPr marL="0" indent="0">
              <a:buNone/>
            </a:pPr>
            <a:r>
              <a:rPr lang="en-US" sz="1200" b="1" dirty="0">
                <a:solidFill>
                  <a:schemeClr val="tx1"/>
                </a:solidFill>
              </a:rPr>
              <a:t>Tools</a:t>
            </a:r>
            <a:endParaRPr lang="en-US" sz="1200" dirty="0"/>
          </a:p>
        </p:txBody>
      </p:sp>
      <p:sp>
        <p:nvSpPr>
          <p:cNvPr id="45" name="Text 39"/>
          <p:cNvSpPr txBox="1"/>
          <p:nvPr/>
        </p:nvSpPr>
        <p:spPr>
          <a:xfrm>
            <a:off x="6400800" y="4197096"/>
            <a:ext cx="2240280" cy="338328"/>
          </a:xfrm>
          <a:prstGeom prst="rect">
            <a:avLst/>
          </a:prstGeom>
          <a:noFill/>
          <a:ln/>
        </p:spPr>
        <p:txBody>
          <a:bodyPr wrap="square" lIns="0" tIns="0" rIns="0" bIns="0" rtlCol="0" anchor="ctr"/>
          <a:lstStyle/>
          <a:p>
            <a:pPr marL="0" indent="0">
              <a:buNone/>
            </a:pPr>
            <a:r>
              <a:rPr lang="en-US" sz="1200" dirty="0">
                <a:solidFill>
                  <a:schemeClr val="tx2"/>
                </a:solidFill>
              </a:rPr>
              <a:t>VS Code, StarUML, Draw.io, GitHub</a:t>
            </a:r>
            <a:endParaRPr lang="en-US" sz="1200" dirty="0"/>
          </a:p>
        </p:txBody>
      </p:sp>
      <p:sp>
        <p:nvSpPr>
          <p:cNvPr id="4" name="Slide Number Placeholder 0"/>
          <p:cNvSpPr>
            <a:spLocks noGrp="1"/>
          </p:cNvSpPr>
          <p:nvPr>
            <p:ph type="sldNum" sz="quarter" idx="4294967295"/>
          </p:nvPr>
        </p:nvSpPr>
        <p:spPr>
          <a:xfrm>
            <a:off x="8138160" y="4791456"/>
            <a:ext cx="548640" cy="228600"/>
          </a:xfrm>
          <a:prstGeom prst="rect">
            <a:avLst/>
          </a:prstGeom>
          <a:extLst>
            <a:ext uri="{C572A759-6A51-4108-AA02-DFA0A04FC94B}">
              <ma14:wrappingTextBoxFlag xmlns:ma14="http://schemas.microsoft.com/office/mac/drawingml/2011/main" xmlns="" val="0"/>
            </a:ext>
          </a:extLst>
        </p:spPr>
        <p:txBody>
          <a:bodyPr/>
          <a:lstStyle>
            <a:lvl1pPr>
              <a:defRPr sz="1000">
                <a:solidFill>
                  <a:srgbClr val="475569"/>
                </a:solidFill>
              </a:defRPr>
            </a:lvl1pPr>
          </a:lstStyle>
          <a:p>
            <a:pPr algn="r"/>
            <a:fld id="{F7021451-1387-4CA6-816F-3879F97B5CBC}" type="slidenum">
              <a:rPr lang="en-US" b="0"/>
              <a:t>13</a:t>
            </a:fld>
            <a:endParaRPr lang="en-US"/>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457200" y="420624"/>
            <a:ext cx="8229600" cy="566928"/>
          </a:xfrm>
          <a:prstGeom prst="rect">
            <a:avLst/>
          </a:prstGeom>
          <a:noFill/>
          <a:ln/>
        </p:spPr>
        <p:txBody>
          <a:bodyPr wrap="square" lIns="0" tIns="0" rIns="0" bIns="0" rtlCol="0" anchor="ctr"/>
          <a:lstStyle/>
          <a:p>
            <a:pPr marL="0" indent="0" algn="l">
              <a:buNone/>
            </a:pPr>
            <a:r>
              <a:rPr lang="en-US" sz="2800" b="1" dirty="0">
                <a:solidFill>
                  <a:schemeClr val="tx1"/>
                </a:solidFill>
              </a:rPr>
              <a:t>Layered architecture</a:t>
            </a:r>
            <a:endParaRPr lang="en-US" sz="2800" dirty="0"/>
          </a:p>
        </p:txBody>
      </p:sp>
      <p:sp>
        <p:nvSpPr>
          <p:cNvPr id="3" name="Text 1"/>
          <p:cNvSpPr txBox="1"/>
          <p:nvPr/>
        </p:nvSpPr>
        <p:spPr>
          <a:xfrm>
            <a:off x="457200" y="219456"/>
            <a:ext cx="5486400" cy="182880"/>
          </a:xfrm>
          <a:prstGeom prst="rect">
            <a:avLst/>
          </a:prstGeom>
          <a:noFill/>
          <a:ln/>
        </p:spPr>
        <p:txBody>
          <a:bodyPr wrap="square" lIns="0" tIns="0" rIns="0" bIns="0" rtlCol="0" anchor="t"/>
          <a:lstStyle/>
          <a:p>
            <a:pPr marL="0" indent="0">
              <a:buNone/>
            </a:pPr>
            <a:r>
              <a:rPr lang="en-US" sz="1000" b="1" kern="0" spc="200" dirty="0">
                <a:solidFill>
                  <a:schemeClr val="accent1"/>
                </a:solidFill>
              </a:rPr>
              <a:t>SYSTEM ARCHITECTURE</a:t>
            </a:r>
            <a:endParaRPr lang="en-US" sz="1000" dirty="0"/>
          </a:p>
        </p:txBody>
      </p:sp>
      <p:sp>
        <p:nvSpPr>
          <p:cNvPr id="5" name="Shape 2"/>
          <p:cNvSpPr/>
          <p:nvPr/>
        </p:nvSpPr>
        <p:spPr>
          <a:xfrm>
            <a:off x="457200" y="1170432"/>
            <a:ext cx="5989320" cy="475488"/>
          </a:xfrm>
          <a:prstGeom prst="roundRect">
            <a:avLst>
              <a:gd name="adj" fmla="val 15385"/>
            </a:avLst>
          </a:prstGeom>
          <a:solidFill>
            <a:schemeClr val="bg2"/>
          </a:solidFill>
          <a:ln/>
        </p:spPr>
      </p:sp>
      <p:sp>
        <p:nvSpPr>
          <p:cNvPr id="6" name="Text 3"/>
          <p:cNvSpPr txBox="1"/>
          <p:nvPr/>
        </p:nvSpPr>
        <p:spPr>
          <a:xfrm>
            <a:off x="594360" y="1234440"/>
            <a:ext cx="5715000" cy="201168"/>
          </a:xfrm>
          <a:prstGeom prst="rect">
            <a:avLst/>
          </a:prstGeom>
          <a:noFill/>
          <a:ln/>
        </p:spPr>
        <p:txBody>
          <a:bodyPr wrap="square" lIns="0" tIns="0" rIns="0" bIns="0" rtlCol="0" anchor="t"/>
          <a:lstStyle/>
          <a:p>
            <a:pPr marL="0" indent="0">
              <a:buNone/>
            </a:pPr>
            <a:r>
              <a:rPr lang="en-US" sz="1100" b="1" kern="0" spc="100" dirty="0">
                <a:solidFill>
                  <a:schemeClr val="accent1"/>
                </a:solidFill>
              </a:rPr>
              <a:t>RIDER / CLIENT</a:t>
            </a:r>
            <a:endParaRPr lang="en-US" sz="1100" dirty="0"/>
          </a:p>
        </p:txBody>
      </p:sp>
      <p:pic>
        <p:nvPicPr>
          <p:cNvPr id="7" name="Image 0" descr="preencoded.png"/>
          <p:cNvPicPr>
            <a:picLocks noChangeAspect="1"/>
          </p:cNvPicPr>
          <p:nvPr/>
        </p:nvPicPr>
        <p:blipFill>
          <a:blip r:embed="rId3"/>
          <a:stretch>
            <a:fillRect/>
          </a:stretch>
        </p:blipFill>
        <p:spPr>
          <a:xfrm>
            <a:off x="5989320" y="1252728"/>
            <a:ext cx="292608" cy="292608"/>
          </a:xfrm>
          <a:prstGeom prst="rect">
            <a:avLst/>
          </a:prstGeom>
        </p:spPr>
      </p:pic>
      <p:sp>
        <p:nvSpPr>
          <p:cNvPr id="8" name="Text 4"/>
          <p:cNvSpPr txBox="1"/>
          <p:nvPr/>
        </p:nvSpPr>
        <p:spPr>
          <a:xfrm>
            <a:off x="1920240" y="1170432"/>
            <a:ext cx="3657600" cy="475488"/>
          </a:xfrm>
          <a:prstGeom prst="rect">
            <a:avLst/>
          </a:prstGeom>
          <a:noFill/>
          <a:ln/>
        </p:spPr>
        <p:txBody>
          <a:bodyPr wrap="square" lIns="0" tIns="0" rIns="0" bIns="0" rtlCol="0" anchor="ctr"/>
          <a:lstStyle/>
          <a:p>
            <a:pPr marL="0" indent="0">
              <a:buNone/>
            </a:pPr>
            <a:r>
              <a:rPr lang="en-US" sz="1200" dirty="0">
                <a:solidFill>
                  <a:schemeClr val="tx2"/>
                </a:solidFill>
              </a:rPr>
              <a:t>Laptop or smartphone with GPS</a:t>
            </a:r>
            <a:endParaRPr lang="en-US" sz="1200" dirty="0"/>
          </a:p>
        </p:txBody>
      </p:sp>
      <p:sp>
        <p:nvSpPr>
          <p:cNvPr id="9" name="Shape 5"/>
          <p:cNvSpPr/>
          <p:nvPr/>
        </p:nvSpPr>
        <p:spPr>
          <a:xfrm>
            <a:off x="3451860" y="1645920"/>
            <a:ext cx="0" cy="118872"/>
          </a:xfrm>
          <a:prstGeom prst="line">
            <a:avLst/>
          </a:prstGeom>
          <a:noFill/>
          <a:ln w="19050">
            <a:solidFill>
              <a:schemeClr val="accent1"/>
            </a:solidFill>
            <a:prstDash val="solid"/>
            <a:tailEnd type="triangle"/>
          </a:ln>
        </p:spPr>
      </p:sp>
      <p:sp>
        <p:nvSpPr>
          <p:cNvPr id="10" name="Shape 6"/>
          <p:cNvSpPr/>
          <p:nvPr/>
        </p:nvSpPr>
        <p:spPr>
          <a:xfrm>
            <a:off x="457200" y="1764792"/>
            <a:ext cx="5989320" cy="841248"/>
          </a:xfrm>
          <a:prstGeom prst="roundRect">
            <a:avLst>
              <a:gd name="adj" fmla="val 8696"/>
            </a:avLst>
          </a:prstGeom>
          <a:solidFill>
            <a:schemeClr val="bg2"/>
          </a:solidFill>
          <a:ln/>
        </p:spPr>
      </p:sp>
      <p:sp>
        <p:nvSpPr>
          <p:cNvPr id="11" name="Text 7"/>
          <p:cNvSpPr txBox="1"/>
          <p:nvPr/>
        </p:nvSpPr>
        <p:spPr>
          <a:xfrm>
            <a:off x="594360" y="1828800"/>
            <a:ext cx="5715000" cy="201168"/>
          </a:xfrm>
          <a:prstGeom prst="rect">
            <a:avLst/>
          </a:prstGeom>
          <a:noFill/>
          <a:ln/>
        </p:spPr>
        <p:txBody>
          <a:bodyPr wrap="square" lIns="0" tIns="0" rIns="0" bIns="0" rtlCol="0" anchor="t"/>
          <a:lstStyle/>
          <a:p>
            <a:pPr marL="0" indent="0">
              <a:buNone/>
            </a:pPr>
            <a:r>
              <a:rPr lang="en-US" sz="1100" b="1" kern="0" spc="100" dirty="0">
                <a:solidFill>
                  <a:schemeClr val="accent1"/>
                </a:solidFill>
              </a:rPr>
              <a:t>BROWSER (CLIENT LAYER)</a:t>
            </a:r>
            <a:endParaRPr lang="en-US" sz="1100" dirty="0"/>
          </a:p>
        </p:txBody>
      </p:sp>
      <p:sp>
        <p:nvSpPr>
          <p:cNvPr id="12" name="Shape 8"/>
          <p:cNvSpPr/>
          <p:nvPr/>
        </p:nvSpPr>
        <p:spPr>
          <a:xfrm>
            <a:off x="594360" y="2093976"/>
            <a:ext cx="1069848" cy="274320"/>
          </a:xfrm>
          <a:prstGeom prst="roundRect">
            <a:avLst>
              <a:gd name="adj" fmla="val 20000"/>
            </a:avLst>
          </a:prstGeom>
          <a:solidFill>
            <a:schemeClr val="bg1"/>
          </a:solidFill>
          <a:ln w="9525">
            <a:solidFill>
              <a:srgbClr val="D5DCE8"/>
            </a:solidFill>
            <a:prstDash val="solid"/>
          </a:ln>
        </p:spPr>
      </p:sp>
      <p:sp>
        <p:nvSpPr>
          <p:cNvPr id="13" name="Text 9"/>
          <p:cNvSpPr txBox="1"/>
          <p:nvPr/>
        </p:nvSpPr>
        <p:spPr>
          <a:xfrm>
            <a:off x="594360" y="2093976"/>
            <a:ext cx="1069848" cy="274320"/>
          </a:xfrm>
          <a:prstGeom prst="rect">
            <a:avLst/>
          </a:prstGeom>
          <a:noFill/>
          <a:ln/>
        </p:spPr>
        <p:txBody>
          <a:bodyPr wrap="square" lIns="0" tIns="0" rIns="0" bIns="0" rtlCol="0" anchor="ctr"/>
          <a:lstStyle/>
          <a:p>
            <a:pPr marL="0" indent="0" algn="ctr">
              <a:buNone/>
            </a:pPr>
            <a:r>
              <a:rPr lang="en-US" sz="1050" dirty="0">
                <a:solidFill>
                  <a:schemeClr val="tx1"/>
                </a:solidFill>
              </a:rPr>
              <a:t>HTML</a:t>
            </a:r>
            <a:endParaRPr lang="en-US" sz="1050" dirty="0"/>
          </a:p>
        </p:txBody>
      </p:sp>
      <p:sp>
        <p:nvSpPr>
          <p:cNvPr id="14" name="Shape 10"/>
          <p:cNvSpPr/>
          <p:nvPr/>
        </p:nvSpPr>
        <p:spPr>
          <a:xfrm>
            <a:off x="1755648" y="2093976"/>
            <a:ext cx="1069848" cy="274320"/>
          </a:xfrm>
          <a:prstGeom prst="roundRect">
            <a:avLst>
              <a:gd name="adj" fmla="val 20000"/>
            </a:avLst>
          </a:prstGeom>
          <a:solidFill>
            <a:schemeClr val="bg1"/>
          </a:solidFill>
          <a:ln w="9525">
            <a:solidFill>
              <a:srgbClr val="D5DCE8"/>
            </a:solidFill>
            <a:prstDash val="solid"/>
          </a:ln>
        </p:spPr>
      </p:sp>
      <p:sp>
        <p:nvSpPr>
          <p:cNvPr id="15" name="Text 11"/>
          <p:cNvSpPr txBox="1"/>
          <p:nvPr/>
        </p:nvSpPr>
        <p:spPr>
          <a:xfrm>
            <a:off x="1755648" y="2093976"/>
            <a:ext cx="1069848" cy="274320"/>
          </a:xfrm>
          <a:prstGeom prst="rect">
            <a:avLst/>
          </a:prstGeom>
          <a:noFill/>
          <a:ln/>
        </p:spPr>
        <p:txBody>
          <a:bodyPr wrap="square" lIns="0" tIns="0" rIns="0" bIns="0" rtlCol="0" anchor="ctr"/>
          <a:lstStyle/>
          <a:p>
            <a:pPr marL="0" indent="0" algn="ctr">
              <a:buNone/>
            </a:pPr>
            <a:r>
              <a:rPr lang="en-US" sz="1050" dirty="0">
                <a:solidFill>
                  <a:schemeClr val="tx1"/>
                </a:solidFill>
              </a:rPr>
              <a:t>CSS</a:t>
            </a:r>
            <a:endParaRPr lang="en-US" sz="1050" dirty="0"/>
          </a:p>
        </p:txBody>
      </p:sp>
      <p:sp>
        <p:nvSpPr>
          <p:cNvPr id="16" name="Shape 12"/>
          <p:cNvSpPr/>
          <p:nvPr/>
        </p:nvSpPr>
        <p:spPr>
          <a:xfrm>
            <a:off x="2916936" y="2093976"/>
            <a:ext cx="1069848" cy="274320"/>
          </a:xfrm>
          <a:prstGeom prst="roundRect">
            <a:avLst>
              <a:gd name="adj" fmla="val 20000"/>
            </a:avLst>
          </a:prstGeom>
          <a:solidFill>
            <a:schemeClr val="bg1"/>
          </a:solidFill>
          <a:ln w="9525">
            <a:solidFill>
              <a:srgbClr val="D5DCE8"/>
            </a:solidFill>
            <a:prstDash val="solid"/>
          </a:ln>
        </p:spPr>
      </p:sp>
      <p:sp>
        <p:nvSpPr>
          <p:cNvPr id="17" name="Text 13"/>
          <p:cNvSpPr txBox="1"/>
          <p:nvPr/>
        </p:nvSpPr>
        <p:spPr>
          <a:xfrm>
            <a:off x="2916936" y="2093976"/>
            <a:ext cx="1069848" cy="274320"/>
          </a:xfrm>
          <a:prstGeom prst="rect">
            <a:avLst/>
          </a:prstGeom>
          <a:noFill/>
          <a:ln/>
        </p:spPr>
        <p:txBody>
          <a:bodyPr wrap="square" lIns="0" tIns="0" rIns="0" bIns="0" rtlCol="0" anchor="ctr"/>
          <a:lstStyle/>
          <a:p>
            <a:pPr marL="0" indent="0" algn="ctr">
              <a:buNone/>
            </a:pPr>
            <a:r>
              <a:rPr lang="en-US" sz="1050" dirty="0">
                <a:solidFill>
                  <a:schemeClr val="tx1"/>
                </a:solidFill>
              </a:rPr>
              <a:t>JavaScript</a:t>
            </a:r>
            <a:endParaRPr lang="en-US" sz="1050" dirty="0"/>
          </a:p>
        </p:txBody>
      </p:sp>
      <p:sp>
        <p:nvSpPr>
          <p:cNvPr id="18" name="Shape 14"/>
          <p:cNvSpPr/>
          <p:nvPr/>
        </p:nvSpPr>
        <p:spPr>
          <a:xfrm>
            <a:off x="4078224" y="2093976"/>
            <a:ext cx="1069848" cy="274320"/>
          </a:xfrm>
          <a:prstGeom prst="roundRect">
            <a:avLst>
              <a:gd name="adj" fmla="val 20000"/>
            </a:avLst>
          </a:prstGeom>
          <a:solidFill>
            <a:schemeClr val="bg1"/>
          </a:solidFill>
          <a:ln w="9525">
            <a:solidFill>
              <a:srgbClr val="D5DCE8"/>
            </a:solidFill>
            <a:prstDash val="solid"/>
          </a:ln>
        </p:spPr>
      </p:sp>
      <p:sp>
        <p:nvSpPr>
          <p:cNvPr id="19" name="Text 15"/>
          <p:cNvSpPr txBox="1"/>
          <p:nvPr/>
        </p:nvSpPr>
        <p:spPr>
          <a:xfrm>
            <a:off x="4078224" y="2093976"/>
            <a:ext cx="1069848" cy="274320"/>
          </a:xfrm>
          <a:prstGeom prst="rect">
            <a:avLst/>
          </a:prstGeom>
          <a:noFill/>
          <a:ln/>
        </p:spPr>
        <p:txBody>
          <a:bodyPr wrap="square" lIns="0" tIns="0" rIns="0" bIns="0" rtlCol="0" anchor="ctr"/>
          <a:lstStyle/>
          <a:p>
            <a:pPr marL="0" indent="0" algn="ctr">
              <a:buNone/>
            </a:pPr>
            <a:r>
              <a:rPr lang="en-US" sz="1050" dirty="0">
                <a:solidFill>
                  <a:schemeClr val="tx1"/>
                </a:solidFill>
              </a:rPr>
              <a:t>Geolocation API</a:t>
            </a:r>
            <a:endParaRPr lang="en-US" sz="1050" dirty="0"/>
          </a:p>
        </p:txBody>
      </p:sp>
      <p:sp>
        <p:nvSpPr>
          <p:cNvPr id="20" name="Shape 16"/>
          <p:cNvSpPr/>
          <p:nvPr/>
        </p:nvSpPr>
        <p:spPr>
          <a:xfrm>
            <a:off x="5239512" y="2093976"/>
            <a:ext cx="1069848" cy="274320"/>
          </a:xfrm>
          <a:prstGeom prst="roundRect">
            <a:avLst>
              <a:gd name="adj" fmla="val 20000"/>
            </a:avLst>
          </a:prstGeom>
          <a:solidFill>
            <a:schemeClr val="bg1"/>
          </a:solidFill>
          <a:ln w="9525">
            <a:solidFill>
              <a:srgbClr val="D5DCE8"/>
            </a:solidFill>
            <a:prstDash val="solid"/>
          </a:ln>
        </p:spPr>
      </p:sp>
      <p:sp>
        <p:nvSpPr>
          <p:cNvPr id="21" name="Text 17"/>
          <p:cNvSpPr txBox="1"/>
          <p:nvPr/>
        </p:nvSpPr>
        <p:spPr>
          <a:xfrm>
            <a:off x="5239512" y="2093976"/>
            <a:ext cx="1069848" cy="274320"/>
          </a:xfrm>
          <a:prstGeom prst="rect">
            <a:avLst/>
          </a:prstGeom>
          <a:noFill/>
          <a:ln/>
        </p:spPr>
        <p:txBody>
          <a:bodyPr wrap="square" lIns="0" tIns="0" rIns="0" bIns="0" rtlCol="0" anchor="ctr"/>
          <a:lstStyle/>
          <a:p>
            <a:pPr marL="0" indent="0" algn="ctr">
              <a:buNone/>
            </a:pPr>
            <a:r>
              <a:rPr lang="en-US" sz="1050" dirty="0">
                <a:solidFill>
                  <a:schemeClr val="tx1"/>
                </a:solidFill>
              </a:rPr>
              <a:t>WebSocket API</a:t>
            </a:r>
            <a:endParaRPr lang="en-US" sz="1050" dirty="0"/>
          </a:p>
        </p:txBody>
      </p:sp>
      <p:sp>
        <p:nvSpPr>
          <p:cNvPr id="22" name="Shape 18"/>
          <p:cNvSpPr/>
          <p:nvPr/>
        </p:nvSpPr>
        <p:spPr>
          <a:xfrm>
            <a:off x="3451860" y="2606040"/>
            <a:ext cx="0" cy="137160"/>
          </a:xfrm>
          <a:prstGeom prst="line">
            <a:avLst/>
          </a:prstGeom>
          <a:noFill/>
          <a:ln w="19050">
            <a:solidFill>
              <a:schemeClr val="accent1"/>
            </a:solidFill>
            <a:prstDash val="solid"/>
            <a:headEnd type="triangle"/>
            <a:tailEnd type="triangle"/>
          </a:ln>
        </p:spPr>
      </p:sp>
      <p:sp>
        <p:nvSpPr>
          <p:cNvPr id="23" name="Shape 19"/>
          <p:cNvSpPr/>
          <p:nvPr/>
        </p:nvSpPr>
        <p:spPr>
          <a:xfrm>
            <a:off x="457200" y="2743200"/>
            <a:ext cx="5989320" cy="1097280"/>
          </a:xfrm>
          <a:prstGeom prst="roundRect">
            <a:avLst>
              <a:gd name="adj" fmla="val 6667"/>
            </a:avLst>
          </a:prstGeom>
          <a:solidFill>
            <a:schemeClr val="accent1">
              <a:alpha val="8000"/>
            </a:schemeClr>
          </a:solidFill>
          <a:ln w="12700">
            <a:solidFill>
              <a:schemeClr val="accent1"/>
            </a:solidFill>
            <a:prstDash val="solid"/>
          </a:ln>
        </p:spPr>
      </p:sp>
      <p:sp>
        <p:nvSpPr>
          <p:cNvPr id="24" name="Text 20"/>
          <p:cNvSpPr txBox="1"/>
          <p:nvPr/>
        </p:nvSpPr>
        <p:spPr>
          <a:xfrm>
            <a:off x="594360" y="2807208"/>
            <a:ext cx="5715000" cy="201168"/>
          </a:xfrm>
          <a:prstGeom prst="rect">
            <a:avLst/>
          </a:prstGeom>
          <a:noFill/>
          <a:ln/>
        </p:spPr>
        <p:txBody>
          <a:bodyPr wrap="square" lIns="0" tIns="0" rIns="0" bIns="0" rtlCol="0" anchor="t"/>
          <a:lstStyle/>
          <a:p>
            <a:pPr marL="0" indent="0">
              <a:buNone/>
            </a:pPr>
            <a:r>
              <a:rPr lang="en-US" sz="1100" b="1" kern="0" spc="100" dirty="0">
                <a:solidFill>
                  <a:schemeClr val="accent1"/>
                </a:solidFill>
              </a:rPr>
              <a:t>DJANGO BACKEND (APPLICATION LAYER)</a:t>
            </a:r>
            <a:endParaRPr lang="en-US" sz="1100" dirty="0"/>
          </a:p>
        </p:txBody>
      </p:sp>
      <p:sp>
        <p:nvSpPr>
          <p:cNvPr id="25" name="Shape 21"/>
          <p:cNvSpPr/>
          <p:nvPr/>
        </p:nvSpPr>
        <p:spPr>
          <a:xfrm>
            <a:off x="594360" y="3072384"/>
            <a:ext cx="1360170" cy="274320"/>
          </a:xfrm>
          <a:prstGeom prst="roundRect">
            <a:avLst>
              <a:gd name="adj" fmla="val 20000"/>
            </a:avLst>
          </a:prstGeom>
          <a:solidFill>
            <a:schemeClr val="bg1"/>
          </a:solidFill>
          <a:ln w="9525">
            <a:solidFill>
              <a:srgbClr val="D5DCE8"/>
            </a:solidFill>
            <a:prstDash val="solid"/>
          </a:ln>
        </p:spPr>
      </p:sp>
      <p:sp>
        <p:nvSpPr>
          <p:cNvPr id="26" name="Text 22"/>
          <p:cNvSpPr txBox="1"/>
          <p:nvPr/>
        </p:nvSpPr>
        <p:spPr>
          <a:xfrm>
            <a:off x="594360" y="3072384"/>
            <a:ext cx="1360170" cy="274320"/>
          </a:xfrm>
          <a:prstGeom prst="rect">
            <a:avLst/>
          </a:prstGeom>
          <a:noFill/>
          <a:ln/>
        </p:spPr>
        <p:txBody>
          <a:bodyPr wrap="square" lIns="0" tIns="0" rIns="0" bIns="0" rtlCol="0" anchor="ctr"/>
          <a:lstStyle/>
          <a:p>
            <a:pPr marL="0" indent="0" algn="ctr">
              <a:buNone/>
            </a:pPr>
            <a:r>
              <a:rPr lang="en-US" sz="1050" dirty="0">
                <a:solidFill>
                  <a:schemeClr val="tx1"/>
                </a:solidFill>
              </a:rPr>
              <a:t>Authentication</a:t>
            </a:r>
            <a:endParaRPr lang="en-US" sz="1050" dirty="0"/>
          </a:p>
        </p:txBody>
      </p:sp>
      <p:sp>
        <p:nvSpPr>
          <p:cNvPr id="27" name="Shape 23"/>
          <p:cNvSpPr/>
          <p:nvPr/>
        </p:nvSpPr>
        <p:spPr>
          <a:xfrm>
            <a:off x="2045970" y="3072384"/>
            <a:ext cx="1360170" cy="274320"/>
          </a:xfrm>
          <a:prstGeom prst="roundRect">
            <a:avLst>
              <a:gd name="adj" fmla="val 20000"/>
            </a:avLst>
          </a:prstGeom>
          <a:solidFill>
            <a:schemeClr val="bg1"/>
          </a:solidFill>
          <a:ln w="9525">
            <a:solidFill>
              <a:srgbClr val="D5DCE8"/>
            </a:solidFill>
            <a:prstDash val="solid"/>
          </a:ln>
        </p:spPr>
      </p:sp>
      <p:sp>
        <p:nvSpPr>
          <p:cNvPr id="28" name="Text 24"/>
          <p:cNvSpPr txBox="1"/>
          <p:nvPr/>
        </p:nvSpPr>
        <p:spPr>
          <a:xfrm>
            <a:off x="2045970" y="3072384"/>
            <a:ext cx="1360170" cy="274320"/>
          </a:xfrm>
          <a:prstGeom prst="rect">
            <a:avLst/>
          </a:prstGeom>
          <a:noFill/>
          <a:ln/>
        </p:spPr>
        <p:txBody>
          <a:bodyPr wrap="square" lIns="0" tIns="0" rIns="0" bIns="0" rtlCol="0" anchor="ctr"/>
          <a:lstStyle/>
          <a:p>
            <a:pPr marL="0" indent="0" algn="ctr">
              <a:buNone/>
            </a:pPr>
            <a:r>
              <a:rPr lang="en-US" sz="1050" dirty="0">
                <a:solidFill>
                  <a:schemeClr val="tx1"/>
                </a:solidFill>
              </a:rPr>
              <a:t>Ride management</a:t>
            </a:r>
            <a:endParaRPr lang="en-US" sz="1050" dirty="0"/>
          </a:p>
        </p:txBody>
      </p:sp>
      <p:sp>
        <p:nvSpPr>
          <p:cNvPr id="29" name="Shape 25"/>
          <p:cNvSpPr/>
          <p:nvPr/>
        </p:nvSpPr>
        <p:spPr>
          <a:xfrm>
            <a:off x="3497580" y="3072384"/>
            <a:ext cx="1360170" cy="274320"/>
          </a:xfrm>
          <a:prstGeom prst="roundRect">
            <a:avLst>
              <a:gd name="adj" fmla="val 20000"/>
            </a:avLst>
          </a:prstGeom>
          <a:solidFill>
            <a:schemeClr val="bg1"/>
          </a:solidFill>
          <a:ln w="9525">
            <a:solidFill>
              <a:srgbClr val="D5DCE8"/>
            </a:solidFill>
            <a:prstDash val="solid"/>
          </a:ln>
        </p:spPr>
      </p:sp>
      <p:sp>
        <p:nvSpPr>
          <p:cNvPr id="30" name="Text 26"/>
          <p:cNvSpPr txBox="1"/>
          <p:nvPr/>
        </p:nvSpPr>
        <p:spPr>
          <a:xfrm>
            <a:off x="3497580" y="3072384"/>
            <a:ext cx="1360170" cy="274320"/>
          </a:xfrm>
          <a:prstGeom prst="rect">
            <a:avLst/>
          </a:prstGeom>
          <a:noFill/>
          <a:ln/>
        </p:spPr>
        <p:txBody>
          <a:bodyPr wrap="square" lIns="0" tIns="0" rIns="0" bIns="0" rtlCol="0" anchor="ctr"/>
          <a:lstStyle/>
          <a:p>
            <a:pPr marL="0" indent="0" algn="ctr">
              <a:buNone/>
            </a:pPr>
            <a:r>
              <a:rPr lang="en-US" sz="1050" dirty="0">
                <a:solidFill>
                  <a:schemeClr val="tx1"/>
                </a:solidFill>
              </a:rPr>
              <a:t>GPS processing</a:t>
            </a:r>
            <a:endParaRPr lang="en-US" sz="1050" dirty="0"/>
          </a:p>
        </p:txBody>
      </p:sp>
      <p:sp>
        <p:nvSpPr>
          <p:cNvPr id="31" name="Shape 27"/>
          <p:cNvSpPr/>
          <p:nvPr/>
        </p:nvSpPr>
        <p:spPr>
          <a:xfrm>
            <a:off x="4949190" y="3072384"/>
            <a:ext cx="1360170" cy="274320"/>
          </a:xfrm>
          <a:prstGeom prst="roundRect">
            <a:avLst>
              <a:gd name="adj" fmla="val 20000"/>
            </a:avLst>
          </a:prstGeom>
          <a:solidFill>
            <a:schemeClr val="bg1"/>
          </a:solidFill>
          <a:ln w="9525">
            <a:solidFill>
              <a:srgbClr val="D5DCE8"/>
            </a:solidFill>
            <a:prstDash val="solid"/>
          </a:ln>
        </p:spPr>
      </p:sp>
      <p:sp>
        <p:nvSpPr>
          <p:cNvPr id="32" name="Text 28"/>
          <p:cNvSpPr txBox="1"/>
          <p:nvPr/>
        </p:nvSpPr>
        <p:spPr>
          <a:xfrm>
            <a:off x="4949190" y="3072384"/>
            <a:ext cx="1360170" cy="274320"/>
          </a:xfrm>
          <a:prstGeom prst="rect">
            <a:avLst/>
          </a:prstGeom>
          <a:noFill/>
          <a:ln/>
        </p:spPr>
        <p:txBody>
          <a:bodyPr wrap="square" lIns="0" tIns="0" rIns="0" bIns="0" rtlCol="0" anchor="ctr"/>
          <a:lstStyle/>
          <a:p>
            <a:pPr marL="0" indent="0" algn="ctr">
              <a:buNone/>
            </a:pPr>
            <a:r>
              <a:rPr lang="en-US" sz="1050" dirty="0">
                <a:solidFill>
                  <a:schemeClr val="tx1"/>
                </a:solidFill>
              </a:rPr>
              <a:t>Channels (WebSocket)</a:t>
            </a:r>
            <a:endParaRPr lang="en-US" sz="1050" dirty="0"/>
          </a:p>
        </p:txBody>
      </p:sp>
      <p:sp>
        <p:nvSpPr>
          <p:cNvPr id="33" name="Shape 29"/>
          <p:cNvSpPr/>
          <p:nvPr/>
        </p:nvSpPr>
        <p:spPr>
          <a:xfrm>
            <a:off x="594360" y="3419856"/>
            <a:ext cx="1360170" cy="274320"/>
          </a:xfrm>
          <a:prstGeom prst="roundRect">
            <a:avLst>
              <a:gd name="adj" fmla="val 20000"/>
            </a:avLst>
          </a:prstGeom>
          <a:solidFill>
            <a:schemeClr val="bg1"/>
          </a:solidFill>
          <a:ln w="9525">
            <a:solidFill>
              <a:srgbClr val="D5DCE8"/>
            </a:solidFill>
            <a:prstDash val="solid"/>
          </a:ln>
        </p:spPr>
      </p:sp>
      <p:sp>
        <p:nvSpPr>
          <p:cNvPr id="34" name="Text 30"/>
          <p:cNvSpPr txBox="1"/>
          <p:nvPr/>
        </p:nvSpPr>
        <p:spPr>
          <a:xfrm>
            <a:off x="594360" y="3419856"/>
            <a:ext cx="1360170" cy="274320"/>
          </a:xfrm>
          <a:prstGeom prst="rect">
            <a:avLst/>
          </a:prstGeom>
          <a:noFill/>
          <a:ln/>
        </p:spPr>
        <p:txBody>
          <a:bodyPr wrap="square" lIns="0" tIns="0" rIns="0" bIns="0" rtlCol="0" anchor="ctr"/>
          <a:lstStyle/>
          <a:p>
            <a:pPr marL="0" indent="0" algn="ctr">
              <a:buNone/>
            </a:pPr>
            <a:r>
              <a:rPr lang="en-US" sz="1050" dirty="0">
                <a:solidFill>
                  <a:schemeClr val="tx1"/>
                </a:solidFill>
              </a:rPr>
              <a:t>Route deviation</a:t>
            </a:r>
            <a:endParaRPr lang="en-US" sz="1050" dirty="0"/>
          </a:p>
        </p:txBody>
      </p:sp>
      <p:sp>
        <p:nvSpPr>
          <p:cNvPr id="35" name="Shape 31"/>
          <p:cNvSpPr/>
          <p:nvPr/>
        </p:nvSpPr>
        <p:spPr>
          <a:xfrm>
            <a:off x="2045970" y="3419856"/>
            <a:ext cx="1360170" cy="274320"/>
          </a:xfrm>
          <a:prstGeom prst="roundRect">
            <a:avLst>
              <a:gd name="adj" fmla="val 20000"/>
            </a:avLst>
          </a:prstGeom>
          <a:solidFill>
            <a:schemeClr val="bg1"/>
          </a:solidFill>
          <a:ln w="9525">
            <a:solidFill>
              <a:srgbClr val="D5DCE8"/>
            </a:solidFill>
            <a:prstDash val="solid"/>
          </a:ln>
        </p:spPr>
      </p:sp>
      <p:sp>
        <p:nvSpPr>
          <p:cNvPr id="36" name="Text 32"/>
          <p:cNvSpPr txBox="1"/>
          <p:nvPr/>
        </p:nvSpPr>
        <p:spPr>
          <a:xfrm>
            <a:off x="2045970" y="3419856"/>
            <a:ext cx="1360170" cy="274320"/>
          </a:xfrm>
          <a:prstGeom prst="rect">
            <a:avLst/>
          </a:prstGeom>
          <a:noFill/>
          <a:ln/>
        </p:spPr>
        <p:txBody>
          <a:bodyPr wrap="square" lIns="0" tIns="0" rIns="0" bIns="0" rtlCol="0" anchor="ctr"/>
          <a:lstStyle/>
          <a:p>
            <a:pPr marL="0" indent="0" algn="ctr">
              <a:buNone/>
            </a:pPr>
            <a:r>
              <a:rPr lang="en-US" sz="1050" dirty="0">
                <a:solidFill>
                  <a:schemeClr val="tx1"/>
                </a:solidFill>
              </a:rPr>
              <a:t>Disconnect handling</a:t>
            </a:r>
            <a:endParaRPr lang="en-US" sz="1050" dirty="0"/>
          </a:p>
        </p:txBody>
      </p:sp>
      <p:sp>
        <p:nvSpPr>
          <p:cNvPr id="37" name="Shape 33"/>
          <p:cNvSpPr/>
          <p:nvPr/>
        </p:nvSpPr>
        <p:spPr>
          <a:xfrm>
            <a:off x="3497580" y="3419856"/>
            <a:ext cx="1360170" cy="274320"/>
          </a:xfrm>
          <a:prstGeom prst="roundRect">
            <a:avLst>
              <a:gd name="adj" fmla="val 20000"/>
            </a:avLst>
          </a:prstGeom>
          <a:solidFill>
            <a:schemeClr val="bg1"/>
          </a:solidFill>
          <a:ln w="9525">
            <a:solidFill>
              <a:srgbClr val="D5DCE8"/>
            </a:solidFill>
            <a:prstDash val="solid"/>
          </a:ln>
        </p:spPr>
      </p:sp>
      <p:sp>
        <p:nvSpPr>
          <p:cNvPr id="38" name="Text 34"/>
          <p:cNvSpPr txBox="1"/>
          <p:nvPr/>
        </p:nvSpPr>
        <p:spPr>
          <a:xfrm>
            <a:off x="3497580" y="3419856"/>
            <a:ext cx="1360170" cy="274320"/>
          </a:xfrm>
          <a:prstGeom prst="rect">
            <a:avLst/>
          </a:prstGeom>
          <a:noFill/>
          <a:ln/>
        </p:spPr>
        <p:txBody>
          <a:bodyPr wrap="square" lIns="0" tIns="0" rIns="0" bIns="0" rtlCol="0" anchor="ctr"/>
          <a:lstStyle/>
          <a:p>
            <a:pPr marL="0" indent="0" algn="ctr">
              <a:buNone/>
            </a:pPr>
            <a:r>
              <a:rPr lang="en-US" sz="1050" dirty="0">
                <a:solidFill>
                  <a:schemeClr val="tx1"/>
                </a:solidFill>
              </a:rPr>
              <a:t>SOS alerts</a:t>
            </a:r>
            <a:endParaRPr lang="en-US" sz="1050" dirty="0"/>
          </a:p>
        </p:txBody>
      </p:sp>
      <p:sp>
        <p:nvSpPr>
          <p:cNvPr id="39" name="Shape 35"/>
          <p:cNvSpPr/>
          <p:nvPr/>
        </p:nvSpPr>
        <p:spPr>
          <a:xfrm>
            <a:off x="4949190" y="3419856"/>
            <a:ext cx="1360170" cy="274320"/>
          </a:xfrm>
          <a:prstGeom prst="roundRect">
            <a:avLst>
              <a:gd name="adj" fmla="val 20000"/>
            </a:avLst>
          </a:prstGeom>
          <a:solidFill>
            <a:schemeClr val="bg1"/>
          </a:solidFill>
          <a:ln w="9525">
            <a:solidFill>
              <a:srgbClr val="D5DCE8"/>
            </a:solidFill>
            <a:prstDash val="solid"/>
          </a:ln>
        </p:spPr>
      </p:sp>
      <p:sp>
        <p:nvSpPr>
          <p:cNvPr id="40" name="Text 36"/>
          <p:cNvSpPr txBox="1"/>
          <p:nvPr/>
        </p:nvSpPr>
        <p:spPr>
          <a:xfrm>
            <a:off x="4949190" y="3419856"/>
            <a:ext cx="1360170" cy="274320"/>
          </a:xfrm>
          <a:prstGeom prst="rect">
            <a:avLst/>
          </a:prstGeom>
          <a:noFill/>
          <a:ln/>
        </p:spPr>
        <p:txBody>
          <a:bodyPr wrap="square" lIns="0" tIns="0" rIns="0" bIns="0" rtlCol="0" anchor="ctr"/>
          <a:lstStyle/>
          <a:p>
            <a:pPr marL="0" indent="0" algn="ctr">
              <a:buNone/>
            </a:pPr>
            <a:r>
              <a:rPr lang="en-US" sz="1050" dirty="0">
                <a:solidFill>
                  <a:schemeClr val="tx1"/>
                </a:solidFill>
              </a:rPr>
              <a:t>Admin</a:t>
            </a:r>
            <a:endParaRPr lang="en-US" sz="1050" dirty="0"/>
          </a:p>
        </p:txBody>
      </p:sp>
      <p:sp>
        <p:nvSpPr>
          <p:cNvPr id="41" name="Shape 37"/>
          <p:cNvSpPr/>
          <p:nvPr/>
        </p:nvSpPr>
        <p:spPr>
          <a:xfrm>
            <a:off x="3451860" y="3840480"/>
            <a:ext cx="0" cy="118872"/>
          </a:xfrm>
          <a:prstGeom prst="line">
            <a:avLst/>
          </a:prstGeom>
          <a:noFill/>
          <a:ln w="19050">
            <a:solidFill>
              <a:schemeClr val="accent1"/>
            </a:solidFill>
            <a:prstDash val="solid"/>
            <a:headEnd type="triangle"/>
            <a:tailEnd type="triangle"/>
          </a:ln>
        </p:spPr>
      </p:sp>
      <p:sp>
        <p:nvSpPr>
          <p:cNvPr id="42" name="Shape 38"/>
          <p:cNvSpPr/>
          <p:nvPr/>
        </p:nvSpPr>
        <p:spPr>
          <a:xfrm>
            <a:off x="457200" y="3959352"/>
            <a:ext cx="5989320" cy="713232"/>
          </a:xfrm>
          <a:prstGeom prst="roundRect">
            <a:avLst>
              <a:gd name="adj" fmla="val 10256"/>
            </a:avLst>
          </a:prstGeom>
          <a:solidFill>
            <a:schemeClr val="bg2"/>
          </a:solidFill>
          <a:ln/>
        </p:spPr>
      </p:sp>
      <p:sp>
        <p:nvSpPr>
          <p:cNvPr id="43" name="Text 39"/>
          <p:cNvSpPr txBox="1"/>
          <p:nvPr/>
        </p:nvSpPr>
        <p:spPr>
          <a:xfrm>
            <a:off x="594360" y="4023360"/>
            <a:ext cx="5715000" cy="201168"/>
          </a:xfrm>
          <a:prstGeom prst="rect">
            <a:avLst/>
          </a:prstGeom>
          <a:noFill/>
          <a:ln/>
        </p:spPr>
        <p:txBody>
          <a:bodyPr wrap="square" lIns="0" tIns="0" rIns="0" bIns="0" rtlCol="0" anchor="t"/>
          <a:lstStyle/>
          <a:p>
            <a:pPr marL="0" indent="0">
              <a:buNone/>
            </a:pPr>
            <a:r>
              <a:rPr lang="en-US" sz="1100" b="1" kern="0" spc="100" dirty="0">
                <a:solidFill>
                  <a:schemeClr val="accent1"/>
                </a:solidFill>
              </a:rPr>
              <a:t>DATABASE (SQLITE VIA DJANGO ORM)</a:t>
            </a:r>
            <a:endParaRPr lang="en-US" sz="1100" dirty="0"/>
          </a:p>
        </p:txBody>
      </p:sp>
      <p:sp>
        <p:nvSpPr>
          <p:cNvPr id="44" name="Shape 40"/>
          <p:cNvSpPr/>
          <p:nvPr/>
        </p:nvSpPr>
        <p:spPr>
          <a:xfrm>
            <a:off x="594360" y="4288536"/>
            <a:ext cx="1069848" cy="256032"/>
          </a:xfrm>
          <a:prstGeom prst="roundRect">
            <a:avLst>
              <a:gd name="adj" fmla="val 21429"/>
            </a:avLst>
          </a:prstGeom>
          <a:solidFill>
            <a:schemeClr val="bg1"/>
          </a:solidFill>
          <a:ln w="9525">
            <a:solidFill>
              <a:srgbClr val="D5DCE8"/>
            </a:solidFill>
            <a:prstDash val="solid"/>
          </a:ln>
        </p:spPr>
      </p:sp>
      <p:sp>
        <p:nvSpPr>
          <p:cNvPr id="45" name="Text 41"/>
          <p:cNvSpPr txBox="1"/>
          <p:nvPr/>
        </p:nvSpPr>
        <p:spPr>
          <a:xfrm>
            <a:off x="594360" y="4288536"/>
            <a:ext cx="1069848" cy="256032"/>
          </a:xfrm>
          <a:prstGeom prst="rect">
            <a:avLst/>
          </a:prstGeom>
          <a:noFill/>
          <a:ln/>
        </p:spPr>
        <p:txBody>
          <a:bodyPr wrap="square" lIns="0" tIns="0" rIns="0" bIns="0" rtlCol="0" anchor="ctr"/>
          <a:lstStyle/>
          <a:p>
            <a:pPr marL="0" indent="0" algn="ctr">
              <a:buNone/>
            </a:pPr>
            <a:r>
              <a:rPr lang="en-US" sz="1000" dirty="0">
                <a:solidFill>
                  <a:schemeClr val="tx1"/>
                </a:solidFill>
              </a:rPr>
              <a:t>RiderProfile</a:t>
            </a:r>
            <a:endParaRPr lang="en-US" sz="1000" dirty="0"/>
          </a:p>
        </p:txBody>
      </p:sp>
      <p:sp>
        <p:nvSpPr>
          <p:cNvPr id="46" name="Shape 42"/>
          <p:cNvSpPr/>
          <p:nvPr/>
        </p:nvSpPr>
        <p:spPr>
          <a:xfrm>
            <a:off x="1755648" y="4288536"/>
            <a:ext cx="1069848" cy="256032"/>
          </a:xfrm>
          <a:prstGeom prst="roundRect">
            <a:avLst>
              <a:gd name="adj" fmla="val 21429"/>
            </a:avLst>
          </a:prstGeom>
          <a:solidFill>
            <a:schemeClr val="bg1"/>
          </a:solidFill>
          <a:ln w="9525">
            <a:solidFill>
              <a:srgbClr val="D5DCE8"/>
            </a:solidFill>
            <a:prstDash val="solid"/>
          </a:ln>
        </p:spPr>
      </p:sp>
      <p:sp>
        <p:nvSpPr>
          <p:cNvPr id="47" name="Text 43"/>
          <p:cNvSpPr txBox="1"/>
          <p:nvPr/>
        </p:nvSpPr>
        <p:spPr>
          <a:xfrm>
            <a:off x="1755648" y="4288536"/>
            <a:ext cx="1069848" cy="256032"/>
          </a:xfrm>
          <a:prstGeom prst="rect">
            <a:avLst/>
          </a:prstGeom>
          <a:noFill/>
          <a:ln/>
        </p:spPr>
        <p:txBody>
          <a:bodyPr wrap="square" lIns="0" tIns="0" rIns="0" bIns="0" rtlCol="0" anchor="ctr"/>
          <a:lstStyle/>
          <a:p>
            <a:pPr marL="0" indent="0" algn="ctr">
              <a:buNone/>
            </a:pPr>
            <a:r>
              <a:rPr lang="en-US" sz="1000" dirty="0">
                <a:solidFill>
                  <a:schemeClr val="tx1"/>
                </a:solidFill>
              </a:rPr>
              <a:t>RideGroup</a:t>
            </a:r>
            <a:endParaRPr lang="en-US" sz="1000" dirty="0"/>
          </a:p>
        </p:txBody>
      </p:sp>
      <p:sp>
        <p:nvSpPr>
          <p:cNvPr id="48" name="Shape 44"/>
          <p:cNvSpPr/>
          <p:nvPr/>
        </p:nvSpPr>
        <p:spPr>
          <a:xfrm>
            <a:off x="2916936" y="4288536"/>
            <a:ext cx="1069848" cy="256032"/>
          </a:xfrm>
          <a:prstGeom prst="roundRect">
            <a:avLst>
              <a:gd name="adj" fmla="val 21429"/>
            </a:avLst>
          </a:prstGeom>
          <a:solidFill>
            <a:schemeClr val="bg1"/>
          </a:solidFill>
          <a:ln w="9525">
            <a:solidFill>
              <a:srgbClr val="D5DCE8"/>
            </a:solidFill>
            <a:prstDash val="solid"/>
          </a:ln>
        </p:spPr>
      </p:sp>
      <p:sp>
        <p:nvSpPr>
          <p:cNvPr id="49" name="Text 45"/>
          <p:cNvSpPr txBox="1"/>
          <p:nvPr/>
        </p:nvSpPr>
        <p:spPr>
          <a:xfrm>
            <a:off x="2916936" y="4288536"/>
            <a:ext cx="1069848" cy="256032"/>
          </a:xfrm>
          <a:prstGeom prst="rect">
            <a:avLst/>
          </a:prstGeom>
          <a:noFill/>
          <a:ln/>
        </p:spPr>
        <p:txBody>
          <a:bodyPr wrap="square" lIns="0" tIns="0" rIns="0" bIns="0" rtlCol="0" anchor="ctr"/>
          <a:lstStyle/>
          <a:p>
            <a:pPr marL="0" indent="0" algn="ctr">
              <a:buNone/>
            </a:pPr>
            <a:r>
              <a:rPr lang="en-US" sz="1000" dirty="0">
                <a:solidFill>
                  <a:schemeClr val="tx1"/>
                </a:solidFill>
              </a:rPr>
              <a:t>RideMember</a:t>
            </a:r>
            <a:endParaRPr lang="en-US" sz="1000" dirty="0"/>
          </a:p>
        </p:txBody>
      </p:sp>
      <p:sp>
        <p:nvSpPr>
          <p:cNvPr id="50" name="Shape 46"/>
          <p:cNvSpPr/>
          <p:nvPr/>
        </p:nvSpPr>
        <p:spPr>
          <a:xfrm>
            <a:off x="4078224" y="4288536"/>
            <a:ext cx="1069848" cy="256032"/>
          </a:xfrm>
          <a:prstGeom prst="roundRect">
            <a:avLst>
              <a:gd name="adj" fmla="val 21429"/>
            </a:avLst>
          </a:prstGeom>
          <a:solidFill>
            <a:schemeClr val="bg1"/>
          </a:solidFill>
          <a:ln w="9525">
            <a:solidFill>
              <a:srgbClr val="D5DCE8"/>
            </a:solidFill>
            <a:prstDash val="solid"/>
          </a:ln>
        </p:spPr>
      </p:sp>
      <p:sp>
        <p:nvSpPr>
          <p:cNvPr id="51" name="Text 47"/>
          <p:cNvSpPr txBox="1"/>
          <p:nvPr/>
        </p:nvSpPr>
        <p:spPr>
          <a:xfrm>
            <a:off x="4078224" y="4288536"/>
            <a:ext cx="1069848" cy="256032"/>
          </a:xfrm>
          <a:prstGeom prst="rect">
            <a:avLst/>
          </a:prstGeom>
          <a:noFill/>
          <a:ln/>
        </p:spPr>
        <p:txBody>
          <a:bodyPr wrap="square" lIns="0" tIns="0" rIns="0" bIns="0" rtlCol="0" anchor="ctr"/>
          <a:lstStyle/>
          <a:p>
            <a:pPr marL="0" indent="0" algn="ctr">
              <a:buNone/>
            </a:pPr>
            <a:r>
              <a:rPr lang="en-US" sz="1000" dirty="0">
                <a:solidFill>
                  <a:schemeClr val="tx1"/>
                </a:solidFill>
              </a:rPr>
              <a:t>LocationLog</a:t>
            </a:r>
            <a:endParaRPr lang="en-US" sz="1000" dirty="0"/>
          </a:p>
        </p:txBody>
      </p:sp>
      <p:sp>
        <p:nvSpPr>
          <p:cNvPr id="52" name="Shape 48"/>
          <p:cNvSpPr/>
          <p:nvPr/>
        </p:nvSpPr>
        <p:spPr>
          <a:xfrm>
            <a:off x="5239512" y="4288536"/>
            <a:ext cx="1069848" cy="256032"/>
          </a:xfrm>
          <a:prstGeom prst="roundRect">
            <a:avLst>
              <a:gd name="adj" fmla="val 21429"/>
            </a:avLst>
          </a:prstGeom>
          <a:solidFill>
            <a:schemeClr val="bg1"/>
          </a:solidFill>
          <a:ln w="9525">
            <a:solidFill>
              <a:srgbClr val="D5DCE8"/>
            </a:solidFill>
            <a:prstDash val="solid"/>
          </a:ln>
        </p:spPr>
      </p:sp>
      <p:sp>
        <p:nvSpPr>
          <p:cNvPr id="53" name="Text 49"/>
          <p:cNvSpPr txBox="1"/>
          <p:nvPr/>
        </p:nvSpPr>
        <p:spPr>
          <a:xfrm>
            <a:off x="5239512" y="4288536"/>
            <a:ext cx="1069848" cy="256032"/>
          </a:xfrm>
          <a:prstGeom prst="rect">
            <a:avLst/>
          </a:prstGeom>
          <a:noFill/>
          <a:ln/>
        </p:spPr>
        <p:txBody>
          <a:bodyPr wrap="square" lIns="0" tIns="0" rIns="0" bIns="0" rtlCol="0" anchor="ctr"/>
          <a:lstStyle/>
          <a:p>
            <a:pPr marL="0" indent="0" algn="ctr">
              <a:buNone/>
            </a:pPr>
            <a:r>
              <a:rPr lang="en-US" sz="1000" dirty="0">
                <a:solidFill>
                  <a:schemeClr val="tx1"/>
                </a:solidFill>
              </a:rPr>
              <a:t>SOSAlert</a:t>
            </a:r>
            <a:endParaRPr lang="en-US" sz="1000" dirty="0"/>
          </a:p>
        </p:txBody>
      </p:sp>
      <p:sp>
        <p:nvSpPr>
          <p:cNvPr id="54" name="Text 50"/>
          <p:cNvSpPr txBox="1"/>
          <p:nvPr/>
        </p:nvSpPr>
        <p:spPr>
          <a:xfrm>
            <a:off x="6812280" y="1170432"/>
            <a:ext cx="1874520" cy="201168"/>
          </a:xfrm>
          <a:prstGeom prst="rect">
            <a:avLst/>
          </a:prstGeom>
          <a:noFill/>
          <a:ln/>
        </p:spPr>
        <p:txBody>
          <a:bodyPr wrap="square" lIns="0" tIns="0" rIns="0" bIns="0" rtlCol="0" anchor="t"/>
          <a:lstStyle/>
          <a:p>
            <a:pPr marL="0" indent="0">
              <a:buNone/>
            </a:pPr>
            <a:r>
              <a:rPr lang="en-US" sz="1100" b="1" kern="0" spc="100" dirty="0">
                <a:solidFill>
                  <a:schemeClr val="tx2"/>
                </a:solidFill>
              </a:rPr>
              <a:t>EXTERNAL SERVICES</a:t>
            </a:r>
            <a:endParaRPr lang="en-US" sz="1100" dirty="0"/>
          </a:p>
        </p:txBody>
      </p:sp>
      <p:sp>
        <p:nvSpPr>
          <p:cNvPr id="55" name="Shape 51"/>
          <p:cNvSpPr/>
          <p:nvPr/>
        </p:nvSpPr>
        <p:spPr>
          <a:xfrm>
            <a:off x="6812280" y="1764792"/>
            <a:ext cx="1874520" cy="841248"/>
          </a:xfrm>
          <a:prstGeom prst="roundRect">
            <a:avLst>
              <a:gd name="adj" fmla="val 8696"/>
            </a:avLst>
          </a:prstGeom>
          <a:solidFill>
            <a:schemeClr val="bg1"/>
          </a:solidFill>
          <a:ln w="15875">
            <a:solidFill>
              <a:schemeClr val="accent1"/>
            </a:solidFill>
            <a:prstDash val="solid"/>
          </a:ln>
        </p:spPr>
      </p:sp>
      <p:pic>
        <p:nvPicPr>
          <p:cNvPr id="56" name="Image 1" descr="preencoded.png"/>
          <p:cNvPicPr>
            <a:picLocks noChangeAspect="1"/>
          </p:cNvPicPr>
          <p:nvPr/>
        </p:nvPicPr>
        <p:blipFill>
          <a:blip r:embed="rId4"/>
          <a:stretch>
            <a:fillRect/>
          </a:stretch>
        </p:blipFill>
        <p:spPr>
          <a:xfrm>
            <a:off x="6903720" y="1828800"/>
            <a:ext cx="274320" cy="274320"/>
          </a:xfrm>
          <a:prstGeom prst="rect">
            <a:avLst/>
          </a:prstGeom>
        </p:spPr>
      </p:pic>
      <p:sp>
        <p:nvSpPr>
          <p:cNvPr id="57" name="Text 52"/>
          <p:cNvSpPr txBox="1"/>
          <p:nvPr/>
        </p:nvSpPr>
        <p:spPr>
          <a:xfrm>
            <a:off x="7251192" y="1828800"/>
            <a:ext cx="1371600" cy="274320"/>
          </a:xfrm>
          <a:prstGeom prst="rect">
            <a:avLst/>
          </a:prstGeom>
          <a:noFill/>
          <a:ln/>
        </p:spPr>
        <p:txBody>
          <a:bodyPr wrap="square" lIns="0" tIns="0" rIns="0" bIns="0" rtlCol="0" anchor="ctr"/>
          <a:lstStyle/>
          <a:p>
            <a:pPr marL="0" indent="0">
              <a:buNone/>
            </a:pPr>
            <a:r>
              <a:rPr lang="en-US" sz="1150" b="1" dirty="0">
                <a:solidFill>
                  <a:schemeClr val="tx1"/>
                </a:solidFill>
              </a:rPr>
              <a:t>Google Maps Platform</a:t>
            </a:r>
            <a:endParaRPr lang="en-US" sz="1150" dirty="0"/>
          </a:p>
        </p:txBody>
      </p:sp>
      <p:sp>
        <p:nvSpPr>
          <p:cNvPr id="58" name="Text 53"/>
          <p:cNvSpPr txBox="1"/>
          <p:nvPr/>
        </p:nvSpPr>
        <p:spPr>
          <a:xfrm>
            <a:off x="6903720" y="2157984"/>
            <a:ext cx="1691640" cy="411480"/>
          </a:xfrm>
          <a:prstGeom prst="rect">
            <a:avLst/>
          </a:prstGeom>
          <a:noFill/>
          <a:ln/>
        </p:spPr>
        <p:txBody>
          <a:bodyPr wrap="square" lIns="0" tIns="0" rIns="0" bIns="0" rtlCol="0" anchor="t"/>
          <a:lstStyle/>
          <a:p>
            <a:pPr marL="0" indent="0">
              <a:buNone/>
            </a:pPr>
            <a:r>
              <a:rPr lang="en-US" sz="1050" dirty="0">
                <a:solidFill>
                  <a:schemeClr val="tx2"/>
                </a:solidFill>
              </a:rPr>
              <a:t>Maps JavaScript API: map, markers, polylines</a:t>
            </a:r>
            <a:endParaRPr lang="en-US" sz="1050" dirty="0"/>
          </a:p>
        </p:txBody>
      </p:sp>
      <p:sp>
        <p:nvSpPr>
          <p:cNvPr id="59" name="Shape 54"/>
          <p:cNvSpPr/>
          <p:nvPr/>
        </p:nvSpPr>
        <p:spPr>
          <a:xfrm>
            <a:off x="6446520" y="2185416"/>
            <a:ext cx="365760" cy="0"/>
          </a:xfrm>
          <a:prstGeom prst="line">
            <a:avLst/>
          </a:prstGeom>
          <a:noFill/>
          <a:ln w="19050">
            <a:solidFill>
              <a:schemeClr val="accent1"/>
            </a:solidFill>
            <a:prstDash val="solid"/>
            <a:headEnd type="triangle"/>
            <a:tailEnd type="triangle"/>
          </a:ln>
        </p:spPr>
      </p:sp>
      <p:sp>
        <p:nvSpPr>
          <p:cNvPr id="60" name="Shape 55"/>
          <p:cNvSpPr/>
          <p:nvPr/>
        </p:nvSpPr>
        <p:spPr>
          <a:xfrm>
            <a:off x="6812280" y="2743200"/>
            <a:ext cx="1874520" cy="713232"/>
          </a:xfrm>
          <a:prstGeom prst="roundRect">
            <a:avLst>
              <a:gd name="adj" fmla="val 10256"/>
            </a:avLst>
          </a:prstGeom>
          <a:solidFill>
            <a:schemeClr val="bg1"/>
          </a:solidFill>
          <a:ln w="12700">
            <a:solidFill>
              <a:srgbClr val="D5DCE8"/>
            </a:solidFill>
            <a:prstDash val="solid"/>
          </a:ln>
        </p:spPr>
      </p:sp>
      <p:sp>
        <p:nvSpPr>
          <p:cNvPr id="61" name="Text 56"/>
          <p:cNvSpPr txBox="1"/>
          <p:nvPr/>
        </p:nvSpPr>
        <p:spPr>
          <a:xfrm>
            <a:off x="6903720" y="2798064"/>
            <a:ext cx="1691640" cy="256032"/>
          </a:xfrm>
          <a:prstGeom prst="rect">
            <a:avLst/>
          </a:prstGeom>
          <a:noFill/>
          <a:ln/>
        </p:spPr>
        <p:txBody>
          <a:bodyPr wrap="square" lIns="0" tIns="0" rIns="0" bIns="0" rtlCol="0" anchor="t"/>
          <a:lstStyle/>
          <a:p>
            <a:pPr marL="0" indent="0">
              <a:buNone/>
            </a:pPr>
            <a:r>
              <a:rPr lang="en-US" sz="1150" b="1" dirty="0">
                <a:solidFill>
                  <a:schemeClr val="tx1"/>
                </a:solidFill>
              </a:rPr>
              <a:t>OSRM routing service</a:t>
            </a:r>
            <a:endParaRPr lang="en-US" sz="1150" dirty="0"/>
          </a:p>
        </p:txBody>
      </p:sp>
      <p:sp>
        <p:nvSpPr>
          <p:cNvPr id="62" name="Text 57"/>
          <p:cNvSpPr txBox="1"/>
          <p:nvPr/>
        </p:nvSpPr>
        <p:spPr>
          <a:xfrm>
            <a:off x="6903720" y="3072384"/>
            <a:ext cx="1691640" cy="347472"/>
          </a:xfrm>
          <a:prstGeom prst="rect">
            <a:avLst/>
          </a:prstGeom>
          <a:noFill/>
          <a:ln/>
        </p:spPr>
        <p:txBody>
          <a:bodyPr wrap="square" lIns="0" tIns="0" rIns="0" bIns="0" rtlCol="0" anchor="t"/>
          <a:lstStyle/>
          <a:p>
            <a:pPr marL="0" indent="0">
              <a:buNone/>
            </a:pPr>
            <a:r>
              <a:rPr lang="en-US" sz="1050" dirty="0">
                <a:solidFill>
                  <a:schemeClr val="tx2"/>
                </a:solidFill>
              </a:rPr>
              <a:t>Road route, distance and duration</a:t>
            </a:r>
            <a:endParaRPr lang="en-US" sz="1050" dirty="0"/>
          </a:p>
        </p:txBody>
      </p:sp>
      <p:sp>
        <p:nvSpPr>
          <p:cNvPr id="63" name="Shape 58"/>
          <p:cNvSpPr/>
          <p:nvPr/>
        </p:nvSpPr>
        <p:spPr>
          <a:xfrm>
            <a:off x="6446520" y="3108960"/>
            <a:ext cx="365760" cy="0"/>
          </a:xfrm>
          <a:prstGeom prst="line">
            <a:avLst/>
          </a:prstGeom>
          <a:noFill/>
          <a:ln w="19050">
            <a:solidFill>
              <a:schemeClr val="accent3"/>
            </a:solidFill>
            <a:prstDash val="solid"/>
            <a:headEnd type="triangle"/>
            <a:tailEnd type="triangle"/>
          </a:ln>
        </p:spPr>
      </p:sp>
      <p:sp>
        <p:nvSpPr>
          <p:cNvPr id="64" name="Shape 59"/>
          <p:cNvSpPr/>
          <p:nvPr/>
        </p:nvSpPr>
        <p:spPr>
          <a:xfrm>
            <a:off x="6812280" y="3593592"/>
            <a:ext cx="1874520" cy="713232"/>
          </a:xfrm>
          <a:prstGeom prst="roundRect">
            <a:avLst>
              <a:gd name="adj" fmla="val 10256"/>
            </a:avLst>
          </a:prstGeom>
          <a:solidFill>
            <a:schemeClr val="bg1"/>
          </a:solidFill>
          <a:ln w="12700">
            <a:solidFill>
              <a:srgbClr val="D5DCE8"/>
            </a:solidFill>
            <a:prstDash val="solid"/>
          </a:ln>
        </p:spPr>
      </p:sp>
      <p:sp>
        <p:nvSpPr>
          <p:cNvPr id="65" name="Text 60"/>
          <p:cNvSpPr txBox="1"/>
          <p:nvPr/>
        </p:nvSpPr>
        <p:spPr>
          <a:xfrm>
            <a:off x="6903720" y="3648456"/>
            <a:ext cx="1691640" cy="256032"/>
          </a:xfrm>
          <a:prstGeom prst="rect">
            <a:avLst/>
          </a:prstGeom>
          <a:noFill/>
          <a:ln/>
        </p:spPr>
        <p:txBody>
          <a:bodyPr wrap="square" lIns="0" tIns="0" rIns="0" bIns="0" rtlCol="0" anchor="t"/>
          <a:lstStyle/>
          <a:p>
            <a:pPr marL="0" indent="0">
              <a:buNone/>
            </a:pPr>
            <a:r>
              <a:rPr lang="en-US" sz="1150" b="1" dirty="0">
                <a:solidFill>
                  <a:schemeClr val="tx1"/>
                </a:solidFill>
              </a:rPr>
              <a:t>OSM Nominatim</a:t>
            </a:r>
            <a:endParaRPr lang="en-US" sz="1150" dirty="0"/>
          </a:p>
        </p:txBody>
      </p:sp>
      <p:sp>
        <p:nvSpPr>
          <p:cNvPr id="66" name="Text 61"/>
          <p:cNvSpPr txBox="1"/>
          <p:nvPr/>
        </p:nvSpPr>
        <p:spPr>
          <a:xfrm>
            <a:off x="6903720" y="3922776"/>
            <a:ext cx="1691640" cy="347472"/>
          </a:xfrm>
          <a:prstGeom prst="rect">
            <a:avLst/>
          </a:prstGeom>
          <a:noFill/>
          <a:ln/>
        </p:spPr>
        <p:txBody>
          <a:bodyPr wrap="square" lIns="0" tIns="0" rIns="0" bIns="0" rtlCol="0" anchor="t"/>
          <a:lstStyle/>
          <a:p>
            <a:pPr marL="0" indent="0">
              <a:buNone/>
            </a:pPr>
            <a:r>
              <a:rPr lang="en-US" sz="1050" dirty="0">
                <a:solidFill>
                  <a:schemeClr val="tx2"/>
                </a:solidFill>
              </a:rPr>
              <a:t>Destination name lookup (from browser)</a:t>
            </a:r>
            <a:endParaRPr lang="en-US" sz="1050" dirty="0"/>
          </a:p>
        </p:txBody>
      </p:sp>
      <p:sp>
        <p:nvSpPr>
          <p:cNvPr id="4" name="Slide Number Placeholder 0"/>
          <p:cNvSpPr>
            <a:spLocks noGrp="1"/>
          </p:cNvSpPr>
          <p:nvPr>
            <p:ph type="sldNum" sz="quarter" idx="4294967295"/>
          </p:nvPr>
        </p:nvSpPr>
        <p:spPr>
          <a:xfrm>
            <a:off x="8138160" y="4791456"/>
            <a:ext cx="548640" cy="228600"/>
          </a:xfrm>
          <a:prstGeom prst="rect">
            <a:avLst/>
          </a:prstGeom>
          <a:extLst>
            <a:ext uri="{C572A759-6A51-4108-AA02-DFA0A04FC94B}">
              <ma14:wrappingTextBoxFlag xmlns:ma14="http://schemas.microsoft.com/office/mac/drawingml/2011/main" xmlns="" val="0"/>
            </a:ext>
          </a:extLst>
        </p:spPr>
        <p:txBody>
          <a:bodyPr/>
          <a:lstStyle>
            <a:lvl1pPr>
              <a:defRPr sz="1000">
                <a:solidFill>
                  <a:srgbClr val="475569"/>
                </a:solidFill>
              </a:defRPr>
            </a:lvl1pPr>
          </a:lstStyle>
          <a:p>
            <a:pPr algn="r"/>
            <a:fld id="{F7021451-1387-4CA6-816F-3879F97B5CBC}" type="slidenum">
              <a:rPr lang="en-US" b="0"/>
              <a:t>14</a:t>
            </a:fld>
            <a:endParaRPr lang="en-US"/>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457200" y="420624"/>
            <a:ext cx="8229600" cy="566928"/>
          </a:xfrm>
          <a:prstGeom prst="rect">
            <a:avLst/>
          </a:prstGeom>
          <a:noFill/>
          <a:ln/>
        </p:spPr>
        <p:txBody>
          <a:bodyPr wrap="square" lIns="0" tIns="0" rIns="0" bIns="0" rtlCol="0" anchor="ctr"/>
          <a:lstStyle/>
          <a:p>
            <a:pPr marL="0" indent="0" algn="l">
              <a:buNone/>
            </a:pPr>
            <a:r>
              <a:rPr lang="en-US" sz="2800" b="1" dirty="0">
                <a:solidFill>
                  <a:schemeClr val="tx1"/>
                </a:solidFill>
              </a:rPr>
              <a:t>From login to ride history</a:t>
            </a:r>
            <a:endParaRPr lang="en-US" sz="2800" dirty="0"/>
          </a:p>
        </p:txBody>
      </p:sp>
      <p:sp>
        <p:nvSpPr>
          <p:cNvPr id="3" name="Text 1"/>
          <p:cNvSpPr txBox="1"/>
          <p:nvPr/>
        </p:nvSpPr>
        <p:spPr>
          <a:xfrm>
            <a:off x="457200" y="219456"/>
            <a:ext cx="5486400" cy="182880"/>
          </a:xfrm>
          <a:prstGeom prst="rect">
            <a:avLst/>
          </a:prstGeom>
          <a:noFill/>
          <a:ln/>
        </p:spPr>
        <p:txBody>
          <a:bodyPr wrap="square" lIns="0" tIns="0" rIns="0" bIns="0" rtlCol="0" anchor="t"/>
          <a:lstStyle/>
          <a:p>
            <a:pPr marL="0" indent="0">
              <a:buNone/>
            </a:pPr>
            <a:r>
              <a:rPr lang="en-US" sz="1000" b="1" kern="0" spc="200" dirty="0">
                <a:solidFill>
                  <a:schemeClr val="accent1"/>
                </a:solidFill>
              </a:rPr>
              <a:t>METHODOLOGY/SYSTEM WORKFLOW</a:t>
            </a:r>
            <a:endParaRPr lang="en-US" sz="1000" dirty="0"/>
          </a:p>
        </p:txBody>
      </p:sp>
      <p:sp>
        <p:nvSpPr>
          <p:cNvPr id="5" name="Shape 2"/>
          <p:cNvSpPr/>
          <p:nvPr/>
        </p:nvSpPr>
        <p:spPr>
          <a:xfrm>
            <a:off x="457200" y="1188720"/>
            <a:ext cx="1234440" cy="822960"/>
          </a:xfrm>
          <a:prstGeom prst="roundRect">
            <a:avLst>
              <a:gd name="adj" fmla="val 8889"/>
            </a:avLst>
          </a:prstGeom>
          <a:solidFill>
            <a:schemeClr val="bg1"/>
          </a:solidFill>
          <a:ln w="12700">
            <a:solidFill>
              <a:srgbClr val="D5DCE8"/>
            </a:solidFill>
            <a:prstDash val="solid"/>
          </a:ln>
        </p:spPr>
      </p:sp>
      <p:sp>
        <p:nvSpPr>
          <p:cNvPr id="6" name="Shape 3"/>
          <p:cNvSpPr/>
          <p:nvPr/>
        </p:nvSpPr>
        <p:spPr>
          <a:xfrm>
            <a:off x="548640" y="1280160"/>
            <a:ext cx="256032" cy="256032"/>
          </a:xfrm>
          <a:prstGeom prst="ellipse">
            <a:avLst/>
          </a:prstGeom>
          <a:solidFill>
            <a:schemeClr val="accent1"/>
          </a:solidFill>
          <a:ln/>
        </p:spPr>
      </p:sp>
      <p:sp>
        <p:nvSpPr>
          <p:cNvPr id="7" name="Text 4"/>
          <p:cNvSpPr txBox="1"/>
          <p:nvPr/>
        </p:nvSpPr>
        <p:spPr>
          <a:xfrm>
            <a:off x="548640" y="1280160"/>
            <a:ext cx="256032" cy="256032"/>
          </a:xfrm>
          <a:prstGeom prst="rect">
            <a:avLst/>
          </a:prstGeom>
          <a:noFill/>
          <a:ln/>
        </p:spPr>
        <p:txBody>
          <a:bodyPr wrap="square" lIns="0" tIns="0" rIns="0" bIns="0" rtlCol="0" anchor="ctr"/>
          <a:lstStyle/>
          <a:p>
            <a:pPr marL="0" indent="0" algn="ctr">
              <a:buNone/>
            </a:pPr>
            <a:r>
              <a:rPr lang="en-US" sz="1050" b="1" dirty="0">
                <a:solidFill>
                  <a:schemeClr val="bg1"/>
                </a:solidFill>
              </a:rPr>
              <a:t>1</a:t>
            </a:r>
            <a:endParaRPr lang="en-US" sz="1050" dirty="0"/>
          </a:p>
        </p:txBody>
      </p:sp>
      <p:sp>
        <p:nvSpPr>
          <p:cNvPr id="8" name="Text 5"/>
          <p:cNvSpPr txBox="1"/>
          <p:nvPr/>
        </p:nvSpPr>
        <p:spPr>
          <a:xfrm>
            <a:off x="548640" y="1572768"/>
            <a:ext cx="1051560" cy="420624"/>
          </a:xfrm>
          <a:prstGeom prst="rect">
            <a:avLst/>
          </a:prstGeom>
          <a:noFill/>
          <a:ln/>
        </p:spPr>
        <p:txBody>
          <a:bodyPr wrap="square" lIns="0" tIns="0" rIns="0" bIns="0" rtlCol="0" anchor="ctr"/>
          <a:lstStyle/>
          <a:p>
            <a:pPr marL="0" indent="0">
              <a:buNone/>
            </a:pPr>
            <a:r>
              <a:rPr lang="en-US" sz="1150" b="1" dirty="0">
                <a:solidFill>
                  <a:schemeClr val="tx1"/>
                </a:solidFill>
              </a:rPr>
              <a:t>Register / Login</a:t>
            </a:r>
            <a:endParaRPr lang="en-US" sz="1150" dirty="0"/>
          </a:p>
        </p:txBody>
      </p:sp>
      <p:sp>
        <p:nvSpPr>
          <p:cNvPr id="9" name="Shape 6"/>
          <p:cNvSpPr/>
          <p:nvPr/>
        </p:nvSpPr>
        <p:spPr>
          <a:xfrm>
            <a:off x="1700784" y="1600200"/>
            <a:ext cx="149322" cy="0"/>
          </a:xfrm>
          <a:prstGeom prst="line">
            <a:avLst/>
          </a:prstGeom>
          <a:noFill/>
          <a:ln w="19050">
            <a:solidFill>
              <a:schemeClr val="accent1"/>
            </a:solidFill>
            <a:prstDash val="solid"/>
            <a:tailEnd type="triangle"/>
          </a:ln>
        </p:spPr>
      </p:sp>
      <p:sp>
        <p:nvSpPr>
          <p:cNvPr id="10" name="Shape 7"/>
          <p:cNvSpPr/>
          <p:nvPr/>
        </p:nvSpPr>
        <p:spPr>
          <a:xfrm>
            <a:off x="1859250" y="1188720"/>
            <a:ext cx="1234440" cy="822960"/>
          </a:xfrm>
          <a:prstGeom prst="roundRect">
            <a:avLst>
              <a:gd name="adj" fmla="val 8889"/>
            </a:avLst>
          </a:prstGeom>
          <a:solidFill>
            <a:schemeClr val="bg1"/>
          </a:solidFill>
          <a:ln w="12700">
            <a:solidFill>
              <a:srgbClr val="D5DCE8"/>
            </a:solidFill>
            <a:prstDash val="solid"/>
          </a:ln>
        </p:spPr>
      </p:sp>
      <p:sp>
        <p:nvSpPr>
          <p:cNvPr id="11" name="Shape 8"/>
          <p:cNvSpPr/>
          <p:nvPr/>
        </p:nvSpPr>
        <p:spPr>
          <a:xfrm>
            <a:off x="1950690" y="1280160"/>
            <a:ext cx="256032" cy="256032"/>
          </a:xfrm>
          <a:prstGeom prst="ellipse">
            <a:avLst/>
          </a:prstGeom>
          <a:solidFill>
            <a:schemeClr val="accent1"/>
          </a:solidFill>
          <a:ln/>
        </p:spPr>
      </p:sp>
      <p:sp>
        <p:nvSpPr>
          <p:cNvPr id="12" name="Text 9"/>
          <p:cNvSpPr txBox="1"/>
          <p:nvPr/>
        </p:nvSpPr>
        <p:spPr>
          <a:xfrm>
            <a:off x="1950690" y="1280160"/>
            <a:ext cx="256032" cy="256032"/>
          </a:xfrm>
          <a:prstGeom prst="rect">
            <a:avLst/>
          </a:prstGeom>
          <a:noFill/>
          <a:ln/>
        </p:spPr>
        <p:txBody>
          <a:bodyPr wrap="square" lIns="0" tIns="0" rIns="0" bIns="0" rtlCol="0" anchor="ctr"/>
          <a:lstStyle/>
          <a:p>
            <a:pPr marL="0" indent="0" algn="ctr">
              <a:buNone/>
            </a:pPr>
            <a:r>
              <a:rPr lang="en-US" sz="1050" b="1" dirty="0">
                <a:solidFill>
                  <a:schemeClr val="bg1"/>
                </a:solidFill>
              </a:rPr>
              <a:t>2</a:t>
            </a:r>
            <a:endParaRPr lang="en-US" sz="1050" dirty="0"/>
          </a:p>
        </p:txBody>
      </p:sp>
      <p:sp>
        <p:nvSpPr>
          <p:cNvPr id="13" name="Text 10"/>
          <p:cNvSpPr txBox="1"/>
          <p:nvPr/>
        </p:nvSpPr>
        <p:spPr>
          <a:xfrm>
            <a:off x="1950690" y="1572768"/>
            <a:ext cx="1051560" cy="420624"/>
          </a:xfrm>
          <a:prstGeom prst="rect">
            <a:avLst/>
          </a:prstGeom>
          <a:noFill/>
          <a:ln/>
        </p:spPr>
        <p:txBody>
          <a:bodyPr wrap="square" lIns="0" tIns="0" rIns="0" bIns="0" rtlCol="0" anchor="ctr"/>
          <a:lstStyle/>
          <a:p>
            <a:pPr marL="0" indent="0">
              <a:buNone/>
            </a:pPr>
            <a:r>
              <a:rPr lang="en-US" sz="1150" b="1" dirty="0">
                <a:solidFill>
                  <a:schemeClr val="tx1"/>
                </a:solidFill>
              </a:rPr>
              <a:t>Create or Join Ride</a:t>
            </a:r>
            <a:endParaRPr lang="en-US" sz="1150" dirty="0"/>
          </a:p>
        </p:txBody>
      </p:sp>
      <p:sp>
        <p:nvSpPr>
          <p:cNvPr id="14" name="Shape 11"/>
          <p:cNvSpPr/>
          <p:nvPr/>
        </p:nvSpPr>
        <p:spPr>
          <a:xfrm>
            <a:off x="3102834" y="1600200"/>
            <a:ext cx="149322" cy="0"/>
          </a:xfrm>
          <a:prstGeom prst="line">
            <a:avLst/>
          </a:prstGeom>
          <a:noFill/>
          <a:ln w="19050">
            <a:solidFill>
              <a:schemeClr val="accent1"/>
            </a:solidFill>
            <a:prstDash val="solid"/>
            <a:tailEnd type="triangle"/>
          </a:ln>
        </p:spPr>
      </p:sp>
      <p:sp>
        <p:nvSpPr>
          <p:cNvPr id="15" name="Shape 12"/>
          <p:cNvSpPr/>
          <p:nvPr/>
        </p:nvSpPr>
        <p:spPr>
          <a:xfrm>
            <a:off x="3261299" y="1188720"/>
            <a:ext cx="1234440" cy="822960"/>
          </a:xfrm>
          <a:prstGeom prst="roundRect">
            <a:avLst>
              <a:gd name="adj" fmla="val 8889"/>
            </a:avLst>
          </a:prstGeom>
          <a:solidFill>
            <a:schemeClr val="bg1"/>
          </a:solidFill>
          <a:ln w="12700">
            <a:solidFill>
              <a:srgbClr val="D5DCE8"/>
            </a:solidFill>
            <a:prstDash val="solid"/>
          </a:ln>
        </p:spPr>
      </p:sp>
      <p:sp>
        <p:nvSpPr>
          <p:cNvPr id="16" name="Shape 13"/>
          <p:cNvSpPr/>
          <p:nvPr/>
        </p:nvSpPr>
        <p:spPr>
          <a:xfrm>
            <a:off x="3352739" y="1280160"/>
            <a:ext cx="256032" cy="256032"/>
          </a:xfrm>
          <a:prstGeom prst="ellipse">
            <a:avLst/>
          </a:prstGeom>
          <a:solidFill>
            <a:schemeClr val="accent1"/>
          </a:solidFill>
          <a:ln/>
        </p:spPr>
      </p:sp>
      <p:sp>
        <p:nvSpPr>
          <p:cNvPr id="17" name="Text 14"/>
          <p:cNvSpPr txBox="1"/>
          <p:nvPr/>
        </p:nvSpPr>
        <p:spPr>
          <a:xfrm>
            <a:off x="3352739" y="1280160"/>
            <a:ext cx="256032" cy="256032"/>
          </a:xfrm>
          <a:prstGeom prst="rect">
            <a:avLst/>
          </a:prstGeom>
          <a:noFill/>
          <a:ln/>
        </p:spPr>
        <p:txBody>
          <a:bodyPr wrap="square" lIns="0" tIns="0" rIns="0" bIns="0" rtlCol="0" anchor="ctr"/>
          <a:lstStyle/>
          <a:p>
            <a:pPr marL="0" indent="0" algn="ctr">
              <a:buNone/>
            </a:pPr>
            <a:r>
              <a:rPr lang="en-US" sz="1050" b="1" dirty="0">
                <a:solidFill>
                  <a:schemeClr val="bg1"/>
                </a:solidFill>
              </a:rPr>
              <a:t>3</a:t>
            </a:r>
            <a:endParaRPr lang="en-US" sz="1050" dirty="0"/>
          </a:p>
        </p:txBody>
      </p:sp>
      <p:sp>
        <p:nvSpPr>
          <p:cNvPr id="18" name="Text 15"/>
          <p:cNvSpPr txBox="1"/>
          <p:nvPr/>
        </p:nvSpPr>
        <p:spPr>
          <a:xfrm>
            <a:off x="3352739" y="1572768"/>
            <a:ext cx="1051560" cy="420624"/>
          </a:xfrm>
          <a:prstGeom prst="rect">
            <a:avLst/>
          </a:prstGeom>
          <a:noFill/>
          <a:ln/>
        </p:spPr>
        <p:txBody>
          <a:bodyPr wrap="square" lIns="0" tIns="0" rIns="0" bIns="0" rtlCol="0" anchor="ctr"/>
          <a:lstStyle/>
          <a:p>
            <a:pPr marL="0" indent="0">
              <a:buNone/>
            </a:pPr>
            <a:r>
              <a:rPr lang="en-US" sz="1150" b="1" dirty="0">
                <a:solidFill>
                  <a:schemeClr val="tx1"/>
                </a:solidFill>
              </a:rPr>
              <a:t>Start Ride (leader)</a:t>
            </a:r>
            <a:endParaRPr lang="en-US" sz="1150" dirty="0"/>
          </a:p>
        </p:txBody>
      </p:sp>
      <p:sp>
        <p:nvSpPr>
          <p:cNvPr id="19" name="Shape 16"/>
          <p:cNvSpPr/>
          <p:nvPr/>
        </p:nvSpPr>
        <p:spPr>
          <a:xfrm>
            <a:off x="4504883" y="1600200"/>
            <a:ext cx="149322" cy="0"/>
          </a:xfrm>
          <a:prstGeom prst="line">
            <a:avLst/>
          </a:prstGeom>
          <a:noFill/>
          <a:ln w="19050">
            <a:solidFill>
              <a:schemeClr val="accent1"/>
            </a:solidFill>
            <a:prstDash val="solid"/>
            <a:tailEnd type="triangle"/>
          </a:ln>
        </p:spPr>
      </p:sp>
      <p:sp>
        <p:nvSpPr>
          <p:cNvPr id="20" name="Shape 17"/>
          <p:cNvSpPr/>
          <p:nvPr/>
        </p:nvSpPr>
        <p:spPr>
          <a:xfrm>
            <a:off x="4663349" y="1188720"/>
            <a:ext cx="1234440" cy="822960"/>
          </a:xfrm>
          <a:prstGeom prst="roundRect">
            <a:avLst>
              <a:gd name="adj" fmla="val 8889"/>
            </a:avLst>
          </a:prstGeom>
          <a:solidFill>
            <a:schemeClr val="bg1"/>
          </a:solidFill>
          <a:ln w="12700">
            <a:solidFill>
              <a:srgbClr val="D5DCE8"/>
            </a:solidFill>
            <a:prstDash val="solid"/>
          </a:ln>
        </p:spPr>
      </p:sp>
      <p:sp>
        <p:nvSpPr>
          <p:cNvPr id="21" name="Shape 18"/>
          <p:cNvSpPr/>
          <p:nvPr/>
        </p:nvSpPr>
        <p:spPr>
          <a:xfrm>
            <a:off x="4754789" y="1280160"/>
            <a:ext cx="256032" cy="256032"/>
          </a:xfrm>
          <a:prstGeom prst="ellipse">
            <a:avLst/>
          </a:prstGeom>
          <a:solidFill>
            <a:schemeClr val="accent1"/>
          </a:solidFill>
          <a:ln/>
        </p:spPr>
      </p:sp>
      <p:sp>
        <p:nvSpPr>
          <p:cNvPr id="22" name="Text 19"/>
          <p:cNvSpPr txBox="1"/>
          <p:nvPr/>
        </p:nvSpPr>
        <p:spPr>
          <a:xfrm>
            <a:off x="4754789" y="1280160"/>
            <a:ext cx="256032" cy="256032"/>
          </a:xfrm>
          <a:prstGeom prst="rect">
            <a:avLst/>
          </a:prstGeom>
          <a:noFill/>
          <a:ln/>
        </p:spPr>
        <p:txBody>
          <a:bodyPr wrap="square" lIns="0" tIns="0" rIns="0" bIns="0" rtlCol="0" anchor="ctr"/>
          <a:lstStyle/>
          <a:p>
            <a:pPr marL="0" indent="0" algn="ctr">
              <a:buNone/>
            </a:pPr>
            <a:r>
              <a:rPr lang="en-US" sz="1050" b="1" dirty="0">
                <a:solidFill>
                  <a:schemeClr val="bg1"/>
                </a:solidFill>
              </a:rPr>
              <a:t>4</a:t>
            </a:r>
            <a:endParaRPr lang="en-US" sz="1050" dirty="0"/>
          </a:p>
        </p:txBody>
      </p:sp>
      <p:sp>
        <p:nvSpPr>
          <p:cNvPr id="23" name="Text 20"/>
          <p:cNvSpPr txBox="1"/>
          <p:nvPr/>
        </p:nvSpPr>
        <p:spPr>
          <a:xfrm>
            <a:off x="4754789" y="1572768"/>
            <a:ext cx="1051560" cy="420624"/>
          </a:xfrm>
          <a:prstGeom prst="rect">
            <a:avLst/>
          </a:prstGeom>
          <a:noFill/>
          <a:ln/>
        </p:spPr>
        <p:txBody>
          <a:bodyPr wrap="square" lIns="0" tIns="0" rIns="0" bIns="0" rtlCol="0" anchor="ctr"/>
          <a:lstStyle/>
          <a:p>
            <a:pPr marL="0" indent="0">
              <a:buNone/>
            </a:pPr>
            <a:r>
              <a:rPr lang="en-US" sz="1150" b="1" dirty="0">
                <a:solidFill>
                  <a:schemeClr val="tx1"/>
                </a:solidFill>
              </a:rPr>
              <a:t>Browser obtains GPS</a:t>
            </a:r>
            <a:endParaRPr lang="en-US" sz="1150" dirty="0"/>
          </a:p>
        </p:txBody>
      </p:sp>
      <p:sp>
        <p:nvSpPr>
          <p:cNvPr id="24" name="Shape 21"/>
          <p:cNvSpPr/>
          <p:nvPr/>
        </p:nvSpPr>
        <p:spPr>
          <a:xfrm>
            <a:off x="5906933" y="1600200"/>
            <a:ext cx="149322" cy="0"/>
          </a:xfrm>
          <a:prstGeom prst="line">
            <a:avLst/>
          </a:prstGeom>
          <a:noFill/>
          <a:ln w="19050">
            <a:solidFill>
              <a:schemeClr val="accent1"/>
            </a:solidFill>
            <a:prstDash val="solid"/>
            <a:tailEnd type="triangle"/>
          </a:ln>
        </p:spPr>
      </p:sp>
      <p:sp>
        <p:nvSpPr>
          <p:cNvPr id="25" name="Shape 22"/>
          <p:cNvSpPr/>
          <p:nvPr/>
        </p:nvSpPr>
        <p:spPr>
          <a:xfrm>
            <a:off x="6065398" y="1188720"/>
            <a:ext cx="1234440" cy="822960"/>
          </a:xfrm>
          <a:prstGeom prst="roundRect">
            <a:avLst>
              <a:gd name="adj" fmla="val 8889"/>
            </a:avLst>
          </a:prstGeom>
          <a:solidFill>
            <a:schemeClr val="bg1"/>
          </a:solidFill>
          <a:ln w="12700">
            <a:solidFill>
              <a:srgbClr val="D5DCE8"/>
            </a:solidFill>
            <a:prstDash val="solid"/>
          </a:ln>
        </p:spPr>
      </p:sp>
      <p:sp>
        <p:nvSpPr>
          <p:cNvPr id="26" name="Shape 23"/>
          <p:cNvSpPr/>
          <p:nvPr/>
        </p:nvSpPr>
        <p:spPr>
          <a:xfrm>
            <a:off x="6156838" y="1280160"/>
            <a:ext cx="256032" cy="256032"/>
          </a:xfrm>
          <a:prstGeom prst="ellipse">
            <a:avLst/>
          </a:prstGeom>
          <a:solidFill>
            <a:schemeClr val="accent1"/>
          </a:solidFill>
          <a:ln/>
        </p:spPr>
      </p:sp>
      <p:sp>
        <p:nvSpPr>
          <p:cNvPr id="27" name="Text 24"/>
          <p:cNvSpPr txBox="1"/>
          <p:nvPr/>
        </p:nvSpPr>
        <p:spPr>
          <a:xfrm>
            <a:off x="6156838" y="1280160"/>
            <a:ext cx="256032" cy="256032"/>
          </a:xfrm>
          <a:prstGeom prst="rect">
            <a:avLst/>
          </a:prstGeom>
          <a:noFill/>
          <a:ln/>
        </p:spPr>
        <p:txBody>
          <a:bodyPr wrap="square" lIns="0" tIns="0" rIns="0" bIns="0" rtlCol="0" anchor="ctr"/>
          <a:lstStyle/>
          <a:p>
            <a:pPr marL="0" indent="0" algn="ctr">
              <a:buNone/>
            </a:pPr>
            <a:r>
              <a:rPr lang="en-US" sz="1050" b="1" dirty="0">
                <a:solidFill>
                  <a:schemeClr val="bg1"/>
                </a:solidFill>
              </a:rPr>
              <a:t>5</a:t>
            </a:r>
            <a:endParaRPr lang="en-US" sz="1050" dirty="0"/>
          </a:p>
        </p:txBody>
      </p:sp>
      <p:sp>
        <p:nvSpPr>
          <p:cNvPr id="28" name="Text 25"/>
          <p:cNvSpPr txBox="1"/>
          <p:nvPr/>
        </p:nvSpPr>
        <p:spPr>
          <a:xfrm>
            <a:off x="6156838" y="1572768"/>
            <a:ext cx="1051560" cy="420624"/>
          </a:xfrm>
          <a:prstGeom prst="rect">
            <a:avLst/>
          </a:prstGeom>
          <a:noFill/>
          <a:ln/>
        </p:spPr>
        <p:txBody>
          <a:bodyPr wrap="square" lIns="0" tIns="0" rIns="0" bIns="0" rtlCol="0" anchor="ctr"/>
          <a:lstStyle/>
          <a:p>
            <a:pPr marL="0" indent="0">
              <a:buNone/>
            </a:pPr>
            <a:r>
              <a:rPr lang="en-US" sz="1150" b="1" dirty="0">
                <a:solidFill>
                  <a:schemeClr val="tx1"/>
                </a:solidFill>
              </a:rPr>
              <a:t>Location sent to server</a:t>
            </a:r>
            <a:endParaRPr lang="en-US" sz="1150" dirty="0"/>
          </a:p>
        </p:txBody>
      </p:sp>
      <p:sp>
        <p:nvSpPr>
          <p:cNvPr id="29" name="Shape 26"/>
          <p:cNvSpPr/>
          <p:nvPr/>
        </p:nvSpPr>
        <p:spPr>
          <a:xfrm>
            <a:off x="7308982" y="1600200"/>
            <a:ext cx="149322" cy="0"/>
          </a:xfrm>
          <a:prstGeom prst="line">
            <a:avLst/>
          </a:prstGeom>
          <a:noFill/>
          <a:ln w="19050">
            <a:solidFill>
              <a:schemeClr val="accent1"/>
            </a:solidFill>
            <a:prstDash val="solid"/>
            <a:tailEnd type="triangle"/>
          </a:ln>
        </p:spPr>
      </p:sp>
      <p:sp>
        <p:nvSpPr>
          <p:cNvPr id="30" name="Shape 27"/>
          <p:cNvSpPr/>
          <p:nvPr/>
        </p:nvSpPr>
        <p:spPr>
          <a:xfrm>
            <a:off x="7467448" y="1188720"/>
            <a:ext cx="1234440" cy="822960"/>
          </a:xfrm>
          <a:prstGeom prst="roundRect">
            <a:avLst>
              <a:gd name="adj" fmla="val 8889"/>
            </a:avLst>
          </a:prstGeom>
          <a:solidFill>
            <a:schemeClr val="bg1"/>
          </a:solidFill>
          <a:ln w="12700">
            <a:solidFill>
              <a:srgbClr val="D5DCE8"/>
            </a:solidFill>
            <a:prstDash val="solid"/>
          </a:ln>
        </p:spPr>
      </p:sp>
      <p:sp>
        <p:nvSpPr>
          <p:cNvPr id="31" name="Shape 28"/>
          <p:cNvSpPr/>
          <p:nvPr/>
        </p:nvSpPr>
        <p:spPr>
          <a:xfrm>
            <a:off x="7558888" y="1280160"/>
            <a:ext cx="256032" cy="256032"/>
          </a:xfrm>
          <a:prstGeom prst="ellipse">
            <a:avLst/>
          </a:prstGeom>
          <a:solidFill>
            <a:schemeClr val="accent1"/>
          </a:solidFill>
          <a:ln/>
        </p:spPr>
      </p:sp>
      <p:sp>
        <p:nvSpPr>
          <p:cNvPr id="32" name="Text 29"/>
          <p:cNvSpPr txBox="1"/>
          <p:nvPr/>
        </p:nvSpPr>
        <p:spPr>
          <a:xfrm>
            <a:off x="7558888" y="1280160"/>
            <a:ext cx="256032" cy="256032"/>
          </a:xfrm>
          <a:prstGeom prst="rect">
            <a:avLst/>
          </a:prstGeom>
          <a:noFill/>
          <a:ln/>
        </p:spPr>
        <p:txBody>
          <a:bodyPr wrap="square" lIns="0" tIns="0" rIns="0" bIns="0" rtlCol="0" anchor="ctr"/>
          <a:lstStyle/>
          <a:p>
            <a:pPr marL="0" indent="0" algn="ctr">
              <a:buNone/>
            </a:pPr>
            <a:r>
              <a:rPr lang="en-US" sz="1050" b="1" dirty="0">
                <a:solidFill>
                  <a:schemeClr val="bg1"/>
                </a:solidFill>
              </a:rPr>
              <a:t>6</a:t>
            </a:r>
            <a:endParaRPr lang="en-US" sz="1050" dirty="0"/>
          </a:p>
        </p:txBody>
      </p:sp>
      <p:sp>
        <p:nvSpPr>
          <p:cNvPr id="33" name="Text 30"/>
          <p:cNvSpPr txBox="1"/>
          <p:nvPr/>
        </p:nvSpPr>
        <p:spPr>
          <a:xfrm>
            <a:off x="7558888" y="1572768"/>
            <a:ext cx="1051560" cy="420624"/>
          </a:xfrm>
          <a:prstGeom prst="rect">
            <a:avLst/>
          </a:prstGeom>
          <a:noFill/>
          <a:ln/>
        </p:spPr>
        <p:txBody>
          <a:bodyPr wrap="square" lIns="0" tIns="0" rIns="0" bIns="0" rtlCol="0" anchor="ctr"/>
          <a:lstStyle/>
          <a:p>
            <a:pPr marL="0" indent="0">
              <a:buNone/>
            </a:pPr>
            <a:r>
              <a:rPr lang="en-US" sz="1150" b="1" dirty="0">
                <a:solidFill>
                  <a:schemeClr val="tx1"/>
                </a:solidFill>
              </a:rPr>
              <a:t>Channels distributes update</a:t>
            </a:r>
            <a:endParaRPr lang="en-US" sz="1150" dirty="0"/>
          </a:p>
        </p:txBody>
      </p:sp>
      <p:sp>
        <p:nvSpPr>
          <p:cNvPr id="34" name="Shape 31"/>
          <p:cNvSpPr/>
          <p:nvPr/>
        </p:nvSpPr>
        <p:spPr>
          <a:xfrm>
            <a:off x="8084668" y="2011680"/>
            <a:ext cx="0" cy="274320"/>
          </a:xfrm>
          <a:prstGeom prst="line">
            <a:avLst/>
          </a:prstGeom>
          <a:noFill/>
          <a:ln w="19050">
            <a:solidFill>
              <a:schemeClr val="accent1"/>
            </a:solidFill>
            <a:prstDash val="solid"/>
            <a:tailEnd type="triangle"/>
          </a:ln>
        </p:spPr>
      </p:sp>
      <p:sp>
        <p:nvSpPr>
          <p:cNvPr id="35" name="Shape 32"/>
          <p:cNvSpPr/>
          <p:nvPr/>
        </p:nvSpPr>
        <p:spPr>
          <a:xfrm>
            <a:off x="7467448" y="2286000"/>
            <a:ext cx="1234440" cy="822960"/>
          </a:xfrm>
          <a:prstGeom prst="roundRect">
            <a:avLst>
              <a:gd name="adj" fmla="val 8889"/>
            </a:avLst>
          </a:prstGeom>
          <a:solidFill>
            <a:schemeClr val="bg1"/>
          </a:solidFill>
          <a:ln w="12700">
            <a:solidFill>
              <a:srgbClr val="D5DCE8"/>
            </a:solidFill>
            <a:prstDash val="solid"/>
          </a:ln>
        </p:spPr>
      </p:sp>
      <p:sp>
        <p:nvSpPr>
          <p:cNvPr id="36" name="Shape 33"/>
          <p:cNvSpPr/>
          <p:nvPr/>
        </p:nvSpPr>
        <p:spPr>
          <a:xfrm>
            <a:off x="7558888" y="2377440"/>
            <a:ext cx="256032" cy="256032"/>
          </a:xfrm>
          <a:prstGeom prst="ellipse">
            <a:avLst/>
          </a:prstGeom>
          <a:solidFill>
            <a:schemeClr val="accent1"/>
          </a:solidFill>
          <a:ln/>
        </p:spPr>
      </p:sp>
      <p:sp>
        <p:nvSpPr>
          <p:cNvPr id="37" name="Text 34"/>
          <p:cNvSpPr txBox="1"/>
          <p:nvPr/>
        </p:nvSpPr>
        <p:spPr>
          <a:xfrm>
            <a:off x="7558888" y="2377440"/>
            <a:ext cx="256032" cy="256032"/>
          </a:xfrm>
          <a:prstGeom prst="rect">
            <a:avLst/>
          </a:prstGeom>
          <a:noFill/>
          <a:ln/>
        </p:spPr>
        <p:txBody>
          <a:bodyPr wrap="square" lIns="0" tIns="0" rIns="0" bIns="0" rtlCol="0" anchor="ctr"/>
          <a:lstStyle/>
          <a:p>
            <a:pPr marL="0" indent="0" algn="ctr">
              <a:buNone/>
            </a:pPr>
            <a:r>
              <a:rPr lang="en-US" sz="1050" b="1" dirty="0">
                <a:solidFill>
                  <a:schemeClr val="bg1"/>
                </a:solidFill>
              </a:rPr>
              <a:t>7</a:t>
            </a:r>
            <a:endParaRPr lang="en-US" sz="1050" dirty="0"/>
          </a:p>
        </p:txBody>
      </p:sp>
      <p:sp>
        <p:nvSpPr>
          <p:cNvPr id="38" name="Text 35"/>
          <p:cNvSpPr txBox="1"/>
          <p:nvPr/>
        </p:nvSpPr>
        <p:spPr>
          <a:xfrm>
            <a:off x="7558888" y="2670048"/>
            <a:ext cx="1051560" cy="420624"/>
          </a:xfrm>
          <a:prstGeom prst="rect">
            <a:avLst/>
          </a:prstGeom>
          <a:noFill/>
          <a:ln/>
        </p:spPr>
        <p:txBody>
          <a:bodyPr wrap="square" lIns="0" tIns="0" rIns="0" bIns="0" rtlCol="0" anchor="ctr"/>
          <a:lstStyle/>
          <a:p>
            <a:pPr marL="0" indent="0">
              <a:buNone/>
            </a:pPr>
            <a:r>
              <a:rPr lang="en-US" sz="1150" b="1" dirty="0">
                <a:solidFill>
                  <a:schemeClr val="tx1"/>
                </a:solidFill>
              </a:rPr>
              <a:t>Group dashboard updates</a:t>
            </a:r>
            <a:endParaRPr lang="en-US" sz="1150" dirty="0"/>
          </a:p>
        </p:txBody>
      </p:sp>
      <p:sp>
        <p:nvSpPr>
          <p:cNvPr id="39" name="Shape 36"/>
          <p:cNvSpPr/>
          <p:nvPr/>
        </p:nvSpPr>
        <p:spPr>
          <a:xfrm flipH="1">
            <a:off x="7308982" y="2697480"/>
            <a:ext cx="149322" cy="0"/>
          </a:xfrm>
          <a:prstGeom prst="line">
            <a:avLst/>
          </a:prstGeom>
          <a:noFill/>
          <a:ln w="19050">
            <a:solidFill>
              <a:schemeClr val="accent1"/>
            </a:solidFill>
            <a:prstDash val="solid"/>
            <a:tailEnd type="triangle"/>
          </a:ln>
        </p:spPr>
      </p:sp>
      <p:sp>
        <p:nvSpPr>
          <p:cNvPr id="40" name="Shape 37"/>
          <p:cNvSpPr/>
          <p:nvPr/>
        </p:nvSpPr>
        <p:spPr>
          <a:xfrm>
            <a:off x="6065398" y="2286000"/>
            <a:ext cx="1234440" cy="822960"/>
          </a:xfrm>
          <a:prstGeom prst="roundRect">
            <a:avLst>
              <a:gd name="adj" fmla="val 8889"/>
            </a:avLst>
          </a:prstGeom>
          <a:solidFill>
            <a:schemeClr val="bg1"/>
          </a:solidFill>
          <a:ln w="12700">
            <a:solidFill>
              <a:srgbClr val="D5DCE8"/>
            </a:solidFill>
            <a:prstDash val="solid"/>
          </a:ln>
        </p:spPr>
      </p:sp>
      <p:sp>
        <p:nvSpPr>
          <p:cNvPr id="41" name="Shape 38"/>
          <p:cNvSpPr/>
          <p:nvPr/>
        </p:nvSpPr>
        <p:spPr>
          <a:xfrm>
            <a:off x="6156838" y="2377440"/>
            <a:ext cx="256032" cy="256032"/>
          </a:xfrm>
          <a:prstGeom prst="ellipse">
            <a:avLst/>
          </a:prstGeom>
          <a:solidFill>
            <a:schemeClr val="accent1"/>
          </a:solidFill>
          <a:ln/>
        </p:spPr>
      </p:sp>
      <p:sp>
        <p:nvSpPr>
          <p:cNvPr id="42" name="Text 39"/>
          <p:cNvSpPr txBox="1"/>
          <p:nvPr/>
        </p:nvSpPr>
        <p:spPr>
          <a:xfrm>
            <a:off x="6156838" y="2377440"/>
            <a:ext cx="256032" cy="256032"/>
          </a:xfrm>
          <a:prstGeom prst="rect">
            <a:avLst/>
          </a:prstGeom>
          <a:noFill/>
          <a:ln/>
        </p:spPr>
        <p:txBody>
          <a:bodyPr wrap="square" lIns="0" tIns="0" rIns="0" bIns="0" rtlCol="0" anchor="ctr"/>
          <a:lstStyle/>
          <a:p>
            <a:pPr marL="0" indent="0" algn="ctr">
              <a:buNone/>
            </a:pPr>
            <a:r>
              <a:rPr lang="en-US" sz="1050" b="1" dirty="0">
                <a:solidFill>
                  <a:schemeClr val="bg1"/>
                </a:solidFill>
              </a:rPr>
              <a:t>8</a:t>
            </a:r>
            <a:endParaRPr lang="en-US" sz="1050" dirty="0"/>
          </a:p>
        </p:txBody>
      </p:sp>
      <p:sp>
        <p:nvSpPr>
          <p:cNvPr id="43" name="Text 40"/>
          <p:cNvSpPr txBox="1"/>
          <p:nvPr/>
        </p:nvSpPr>
        <p:spPr>
          <a:xfrm>
            <a:off x="6156838" y="2670048"/>
            <a:ext cx="1051560" cy="420624"/>
          </a:xfrm>
          <a:prstGeom prst="rect">
            <a:avLst/>
          </a:prstGeom>
          <a:noFill/>
          <a:ln/>
        </p:spPr>
        <p:txBody>
          <a:bodyPr wrap="square" lIns="0" tIns="0" rIns="0" bIns="0" rtlCol="0" anchor="ctr"/>
          <a:lstStyle/>
          <a:p>
            <a:pPr marL="0" indent="0">
              <a:buNone/>
            </a:pPr>
            <a:r>
              <a:rPr lang="en-US" sz="1150" b="1" dirty="0">
                <a:solidFill>
                  <a:schemeClr val="tx1"/>
                </a:solidFill>
              </a:rPr>
              <a:t>Google Maps shows riders</a:t>
            </a:r>
            <a:endParaRPr lang="en-US" sz="1150" dirty="0"/>
          </a:p>
        </p:txBody>
      </p:sp>
      <p:sp>
        <p:nvSpPr>
          <p:cNvPr id="44" name="Shape 41"/>
          <p:cNvSpPr/>
          <p:nvPr/>
        </p:nvSpPr>
        <p:spPr>
          <a:xfrm flipH="1">
            <a:off x="5906933" y="2697480"/>
            <a:ext cx="149322" cy="0"/>
          </a:xfrm>
          <a:prstGeom prst="line">
            <a:avLst/>
          </a:prstGeom>
          <a:noFill/>
          <a:ln w="19050">
            <a:solidFill>
              <a:schemeClr val="accent1"/>
            </a:solidFill>
            <a:prstDash val="solid"/>
            <a:tailEnd type="triangle"/>
          </a:ln>
        </p:spPr>
      </p:sp>
      <p:sp>
        <p:nvSpPr>
          <p:cNvPr id="45" name="Shape 42"/>
          <p:cNvSpPr/>
          <p:nvPr/>
        </p:nvSpPr>
        <p:spPr>
          <a:xfrm>
            <a:off x="4663349" y="2286000"/>
            <a:ext cx="1234440" cy="822960"/>
          </a:xfrm>
          <a:prstGeom prst="roundRect">
            <a:avLst>
              <a:gd name="adj" fmla="val 8889"/>
            </a:avLst>
          </a:prstGeom>
          <a:solidFill>
            <a:schemeClr val="bg1"/>
          </a:solidFill>
          <a:ln w="12700">
            <a:solidFill>
              <a:srgbClr val="D5DCE8"/>
            </a:solidFill>
            <a:prstDash val="solid"/>
          </a:ln>
        </p:spPr>
      </p:sp>
      <p:sp>
        <p:nvSpPr>
          <p:cNvPr id="46" name="Shape 43"/>
          <p:cNvSpPr/>
          <p:nvPr/>
        </p:nvSpPr>
        <p:spPr>
          <a:xfrm>
            <a:off x="4754789" y="2377440"/>
            <a:ext cx="256032" cy="256032"/>
          </a:xfrm>
          <a:prstGeom prst="ellipse">
            <a:avLst/>
          </a:prstGeom>
          <a:solidFill>
            <a:schemeClr val="accent1"/>
          </a:solidFill>
          <a:ln/>
        </p:spPr>
      </p:sp>
      <p:sp>
        <p:nvSpPr>
          <p:cNvPr id="47" name="Text 44"/>
          <p:cNvSpPr txBox="1"/>
          <p:nvPr/>
        </p:nvSpPr>
        <p:spPr>
          <a:xfrm>
            <a:off x="4754789" y="2377440"/>
            <a:ext cx="256032" cy="256032"/>
          </a:xfrm>
          <a:prstGeom prst="rect">
            <a:avLst/>
          </a:prstGeom>
          <a:noFill/>
          <a:ln/>
        </p:spPr>
        <p:txBody>
          <a:bodyPr wrap="square" lIns="0" tIns="0" rIns="0" bIns="0" rtlCol="0" anchor="ctr"/>
          <a:lstStyle/>
          <a:p>
            <a:pPr marL="0" indent="0" algn="ctr">
              <a:buNone/>
            </a:pPr>
            <a:r>
              <a:rPr lang="en-US" sz="1050" b="1" dirty="0">
                <a:solidFill>
                  <a:schemeClr val="bg1"/>
                </a:solidFill>
              </a:rPr>
              <a:t>9</a:t>
            </a:r>
            <a:endParaRPr lang="en-US" sz="1050" dirty="0"/>
          </a:p>
        </p:txBody>
      </p:sp>
      <p:sp>
        <p:nvSpPr>
          <p:cNvPr id="48" name="Text 45"/>
          <p:cNvSpPr txBox="1"/>
          <p:nvPr/>
        </p:nvSpPr>
        <p:spPr>
          <a:xfrm>
            <a:off x="4754789" y="2670048"/>
            <a:ext cx="1051560" cy="420624"/>
          </a:xfrm>
          <a:prstGeom prst="rect">
            <a:avLst/>
          </a:prstGeom>
          <a:noFill/>
          <a:ln/>
        </p:spPr>
        <p:txBody>
          <a:bodyPr wrap="square" lIns="0" tIns="0" rIns="0" bIns="0" rtlCol="0" anchor="ctr"/>
          <a:lstStyle/>
          <a:p>
            <a:pPr marL="0" indent="0">
              <a:buNone/>
            </a:pPr>
            <a:r>
              <a:rPr lang="en-US" sz="1150" b="1" dirty="0">
                <a:solidFill>
                  <a:schemeClr val="tx1"/>
                </a:solidFill>
              </a:rPr>
              <a:t>Safety monitoring</a:t>
            </a:r>
            <a:endParaRPr lang="en-US" sz="1150" dirty="0"/>
          </a:p>
        </p:txBody>
      </p:sp>
      <p:sp>
        <p:nvSpPr>
          <p:cNvPr id="49" name="Shape 46"/>
          <p:cNvSpPr/>
          <p:nvPr/>
        </p:nvSpPr>
        <p:spPr>
          <a:xfrm flipH="1">
            <a:off x="4504883" y="2697480"/>
            <a:ext cx="149322" cy="0"/>
          </a:xfrm>
          <a:prstGeom prst="line">
            <a:avLst/>
          </a:prstGeom>
          <a:noFill/>
          <a:ln w="19050">
            <a:solidFill>
              <a:schemeClr val="accent1"/>
            </a:solidFill>
            <a:prstDash val="solid"/>
            <a:tailEnd type="triangle"/>
          </a:ln>
        </p:spPr>
      </p:sp>
      <p:sp>
        <p:nvSpPr>
          <p:cNvPr id="50" name="Shape 47"/>
          <p:cNvSpPr/>
          <p:nvPr/>
        </p:nvSpPr>
        <p:spPr>
          <a:xfrm>
            <a:off x="3261299" y="2286000"/>
            <a:ext cx="1234440" cy="822960"/>
          </a:xfrm>
          <a:prstGeom prst="roundRect">
            <a:avLst>
              <a:gd name="adj" fmla="val 8889"/>
            </a:avLst>
          </a:prstGeom>
          <a:solidFill>
            <a:schemeClr val="bg1"/>
          </a:solidFill>
          <a:ln w="12700">
            <a:solidFill>
              <a:srgbClr val="D5DCE8"/>
            </a:solidFill>
            <a:prstDash val="solid"/>
          </a:ln>
        </p:spPr>
      </p:sp>
      <p:sp>
        <p:nvSpPr>
          <p:cNvPr id="51" name="Shape 48"/>
          <p:cNvSpPr/>
          <p:nvPr/>
        </p:nvSpPr>
        <p:spPr>
          <a:xfrm>
            <a:off x="3352739" y="2377440"/>
            <a:ext cx="256032" cy="256032"/>
          </a:xfrm>
          <a:prstGeom prst="ellipse">
            <a:avLst/>
          </a:prstGeom>
          <a:solidFill>
            <a:schemeClr val="accent1"/>
          </a:solidFill>
          <a:ln/>
        </p:spPr>
      </p:sp>
      <p:sp>
        <p:nvSpPr>
          <p:cNvPr id="52" name="Text 49"/>
          <p:cNvSpPr txBox="1"/>
          <p:nvPr/>
        </p:nvSpPr>
        <p:spPr>
          <a:xfrm>
            <a:off x="3352739" y="2377440"/>
            <a:ext cx="256032" cy="256032"/>
          </a:xfrm>
          <a:prstGeom prst="rect">
            <a:avLst/>
          </a:prstGeom>
          <a:noFill/>
          <a:ln/>
        </p:spPr>
        <p:txBody>
          <a:bodyPr wrap="square" lIns="0" tIns="0" rIns="0" bIns="0" rtlCol="0" anchor="ctr"/>
          <a:lstStyle/>
          <a:p>
            <a:pPr marL="0" indent="0" algn="ctr">
              <a:buNone/>
            </a:pPr>
            <a:r>
              <a:rPr lang="en-US" sz="1050" b="1" dirty="0">
                <a:solidFill>
                  <a:schemeClr val="bg1"/>
                </a:solidFill>
              </a:rPr>
              <a:t>10</a:t>
            </a:r>
            <a:endParaRPr lang="en-US" sz="1050" dirty="0"/>
          </a:p>
        </p:txBody>
      </p:sp>
      <p:sp>
        <p:nvSpPr>
          <p:cNvPr id="53" name="Text 50"/>
          <p:cNvSpPr txBox="1"/>
          <p:nvPr/>
        </p:nvSpPr>
        <p:spPr>
          <a:xfrm>
            <a:off x="3352739" y="2670048"/>
            <a:ext cx="1051560" cy="420624"/>
          </a:xfrm>
          <a:prstGeom prst="rect">
            <a:avLst/>
          </a:prstGeom>
          <a:noFill/>
          <a:ln/>
        </p:spPr>
        <p:txBody>
          <a:bodyPr wrap="square" lIns="0" tIns="0" rIns="0" bIns="0" rtlCol="0" anchor="ctr"/>
          <a:lstStyle/>
          <a:p>
            <a:pPr marL="0" indent="0">
              <a:buNone/>
            </a:pPr>
            <a:r>
              <a:rPr lang="en-US" sz="1150" b="1" dirty="0">
                <a:solidFill>
                  <a:schemeClr val="tx1"/>
                </a:solidFill>
              </a:rPr>
              <a:t>End Ride</a:t>
            </a:r>
            <a:endParaRPr lang="en-US" sz="1150" dirty="0"/>
          </a:p>
        </p:txBody>
      </p:sp>
      <p:sp>
        <p:nvSpPr>
          <p:cNvPr id="54" name="Shape 51"/>
          <p:cNvSpPr/>
          <p:nvPr/>
        </p:nvSpPr>
        <p:spPr>
          <a:xfrm flipH="1">
            <a:off x="3102834" y="2697480"/>
            <a:ext cx="149322" cy="0"/>
          </a:xfrm>
          <a:prstGeom prst="line">
            <a:avLst/>
          </a:prstGeom>
          <a:noFill/>
          <a:ln w="19050">
            <a:solidFill>
              <a:schemeClr val="accent1"/>
            </a:solidFill>
            <a:prstDash val="solid"/>
            <a:tailEnd type="triangle"/>
          </a:ln>
        </p:spPr>
      </p:sp>
      <p:sp>
        <p:nvSpPr>
          <p:cNvPr id="55" name="Shape 52"/>
          <p:cNvSpPr/>
          <p:nvPr/>
        </p:nvSpPr>
        <p:spPr>
          <a:xfrm>
            <a:off x="1859250" y="2286000"/>
            <a:ext cx="1234440" cy="822960"/>
          </a:xfrm>
          <a:prstGeom prst="roundRect">
            <a:avLst>
              <a:gd name="adj" fmla="val 8889"/>
            </a:avLst>
          </a:prstGeom>
          <a:solidFill>
            <a:schemeClr val="tx1"/>
          </a:solidFill>
          <a:ln/>
        </p:spPr>
      </p:sp>
      <p:sp>
        <p:nvSpPr>
          <p:cNvPr id="56" name="Shape 53"/>
          <p:cNvSpPr/>
          <p:nvPr/>
        </p:nvSpPr>
        <p:spPr>
          <a:xfrm>
            <a:off x="1950690" y="2377440"/>
            <a:ext cx="256032" cy="256032"/>
          </a:xfrm>
          <a:prstGeom prst="ellipse">
            <a:avLst/>
          </a:prstGeom>
          <a:solidFill>
            <a:schemeClr val="accent1"/>
          </a:solidFill>
          <a:ln/>
        </p:spPr>
      </p:sp>
      <p:sp>
        <p:nvSpPr>
          <p:cNvPr id="57" name="Text 54"/>
          <p:cNvSpPr txBox="1"/>
          <p:nvPr/>
        </p:nvSpPr>
        <p:spPr>
          <a:xfrm>
            <a:off x="1950690" y="2377440"/>
            <a:ext cx="256032" cy="256032"/>
          </a:xfrm>
          <a:prstGeom prst="rect">
            <a:avLst/>
          </a:prstGeom>
          <a:noFill/>
          <a:ln/>
        </p:spPr>
        <p:txBody>
          <a:bodyPr wrap="square" lIns="0" tIns="0" rIns="0" bIns="0" rtlCol="0" anchor="ctr"/>
          <a:lstStyle/>
          <a:p>
            <a:pPr marL="0" indent="0" algn="ctr">
              <a:buNone/>
            </a:pPr>
            <a:r>
              <a:rPr lang="en-US" sz="1050" b="1" dirty="0">
                <a:solidFill>
                  <a:schemeClr val="bg1"/>
                </a:solidFill>
              </a:rPr>
              <a:t>11</a:t>
            </a:r>
            <a:endParaRPr lang="en-US" sz="1050" dirty="0"/>
          </a:p>
        </p:txBody>
      </p:sp>
      <p:sp>
        <p:nvSpPr>
          <p:cNvPr id="58" name="Text 55"/>
          <p:cNvSpPr txBox="1"/>
          <p:nvPr/>
        </p:nvSpPr>
        <p:spPr>
          <a:xfrm>
            <a:off x="1950690" y="2670048"/>
            <a:ext cx="1051560" cy="420624"/>
          </a:xfrm>
          <a:prstGeom prst="rect">
            <a:avLst/>
          </a:prstGeom>
          <a:noFill/>
          <a:ln/>
        </p:spPr>
        <p:txBody>
          <a:bodyPr wrap="square" lIns="0" tIns="0" rIns="0" bIns="0" rtlCol="0" anchor="ctr"/>
          <a:lstStyle/>
          <a:p>
            <a:pPr marL="0" indent="0">
              <a:buNone/>
            </a:pPr>
            <a:r>
              <a:rPr lang="en-US" sz="1150" b="1" dirty="0">
                <a:solidFill>
                  <a:schemeClr val="bg1"/>
                </a:solidFill>
              </a:rPr>
              <a:t>Ride History</a:t>
            </a:r>
            <a:endParaRPr lang="en-US" sz="1150" dirty="0"/>
          </a:p>
        </p:txBody>
      </p:sp>
      <p:sp>
        <p:nvSpPr>
          <p:cNvPr id="59" name="Shape 56"/>
          <p:cNvSpPr/>
          <p:nvPr/>
        </p:nvSpPr>
        <p:spPr>
          <a:xfrm>
            <a:off x="457200" y="3337560"/>
            <a:ext cx="8229600" cy="1280160"/>
          </a:xfrm>
          <a:prstGeom prst="roundRect">
            <a:avLst>
              <a:gd name="adj" fmla="val 5714"/>
            </a:avLst>
          </a:prstGeom>
          <a:solidFill>
            <a:schemeClr val="bg2"/>
          </a:solidFill>
          <a:ln/>
        </p:spPr>
      </p:sp>
      <p:pic>
        <p:nvPicPr>
          <p:cNvPr id="60" name="Image 0" descr="preencoded.png"/>
          <p:cNvPicPr>
            <a:picLocks noChangeAspect="1"/>
          </p:cNvPicPr>
          <p:nvPr/>
        </p:nvPicPr>
        <p:blipFill>
          <a:blip r:embed="rId3"/>
          <a:stretch>
            <a:fillRect/>
          </a:stretch>
        </p:blipFill>
        <p:spPr>
          <a:xfrm>
            <a:off x="640080" y="3456432"/>
            <a:ext cx="237744" cy="237744"/>
          </a:xfrm>
          <a:prstGeom prst="rect">
            <a:avLst/>
          </a:prstGeom>
        </p:spPr>
      </p:pic>
      <p:sp>
        <p:nvSpPr>
          <p:cNvPr id="61" name="Text 57"/>
          <p:cNvSpPr txBox="1"/>
          <p:nvPr/>
        </p:nvSpPr>
        <p:spPr>
          <a:xfrm>
            <a:off x="960120" y="3456432"/>
            <a:ext cx="3657600" cy="237744"/>
          </a:xfrm>
          <a:prstGeom prst="rect">
            <a:avLst/>
          </a:prstGeom>
          <a:noFill/>
          <a:ln/>
        </p:spPr>
        <p:txBody>
          <a:bodyPr wrap="square" lIns="0" tIns="0" rIns="0" bIns="0" rtlCol="0" anchor="ctr"/>
          <a:lstStyle/>
          <a:p>
            <a:pPr marL="0" indent="0">
              <a:buNone/>
            </a:pPr>
            <a:r>
              <a:rPr lang="en-US" sz="1100" b="1" kern="0" spc="100" dirty="0">
                <a:solidFill>
                  <a:schemeClr val="accent6"/>
                </a:solidFill>
              </a:rPr>
              <a:t>DISCONNECT PATH</a:t>
            </a:r>
            <a:endParaRPr lang="en-US" sz="1100" dirty="0"/>
          </a:p>
        </p:txBody>
      </p:sp>
      <p:sp>
        <p:nvSpPr>
          <p:cNvPr id="62" name="Shape 58"/>
          <p:cNvSpPr/>
          <p:nvPr/>
        </p:nvSpPr>
        <p:spPr>
          <a:xfrm>
            <a:off x="640080" y="3794760"/>
            <a:ext cx="1371600" cy="713232"/>
          </a:xfrm>
          <a:prstGeom prst="roundRect">
            <a:avLst>
              <a:gd name="adj" fmla="val 7692"/>
            </a:avLst>
          </a:prstGeom>
          <a:solidFill>
            <a:schemeClr val="bg1"/>
          </a:solidFill>
          <a:ln w="9525">
            <a:solidFill>
              <a:srgbClr val="D5DCE8"/>
            </a:solidFill>
            <a:prstDash val="solid"/>
          </a:ln>
        </p:spPr>
      </p:sp>
      <p:sp>
        <p:nvSpPr>
          <p:cNvPr id="63" name="Text 59"/>
          <p:cNvSpPr txBox="1"/>
          <p:nvPr/>
        </p:nvSpPr>
        <p:spPr>
          <a:xfrm>
            <a:off x="713232" y="3794760"/>
            <a:ext cx="1225296" cy="713232"/>
          </a:xfrm>
          <a:prstGeom prst="rect">
            <a:avLst/>
          </a:prstGeom>
          <a:noFill/>
          <a:ln/>
        </p:spPr>
        <p:txBody>
          <a:bodyPr wrap="square" lIns="0" tIns="0" rIns="0" bIns="0" rtlCol="0" anchor="ctr"/>
          <a:lstStyle/>
          <a:p>
            <a:pPr marL="0" indent="0" algn="ctr">
              <a:buNone/>
            </a:pPr>
            <a:r>
              <a:rPr lang="en-US" sz="1100" dirty="0">
                <a:solidFill>
                  <a:schemeClr val="tx1"/>
                </a:solidFill>
              </a:rPr>
              <a:t>Connection closed, or no update for 45 s</a:t>
            </a:r>
            <a:endParaRPr lang="en-US" sz="1100" dirty="0"/>
          </a:p>
        </p:txBody>
      </p:sp>
      <p:sp>
        <p:nvSpPr>
          <p:cNvPr id="64" name="Shape 60"/>
          <p:cNvSpPr/>
          <p:nvPr/>
        </p:nvSpPr>
        <p:spPr>
          <a:xfrm>
            <a:off x="2011680" y="4151376"/>
            <a:ext cx="274320" cy="0"/>
          </a:xfrm>
          <a:prstGeom prst="line">
            <a:avLst/>
          </a:prstGeom>
          <a:noFill/>
          <a:ln w="19050">
            <a:solidFill>
              <a:schemeClr val="accent6"/>
            </a:solidFill>
            <a:prstDash val="solid"/>
            <a:tailEnd type="triangle"/>
          </a:ln>
        </p:spPr>
      </p:sp>
      <p:sp>
        <p:nvSpPr>
          <p:cNvPr id="65" name="Shape 61"/>
          <p:cNvSpPr/>
          <p:nvPr/>
        </p:nvSpPr>
        <p:spPr>
          <a:xfrm>
            <a:off x="2286000" y="3794760"/>
            <a:ext cx="1371600" cy="713232"/>
          </a:xfrm>
          <a:prstGeom prst="roundRect">
            <a:avLst>
              <a:gd name="adj" fmla="val 7692"/>
            </a:avLst>
          </a:prstGeom>
          <a:solidFill>
            <a:schemeClr val="bg1"/>
          </a:solidFill>
          <a:ln w="19050">
            <a:solidFill>
              <a:schemeClr val="accent6"/>
            </a:solidFill>
            <a:prstDash val="solid"/>
          </a:ln>
        </p:spPr>
      </p:sp>
      <p:sp>
        <p:nvSpPr>
          <p:cNvPr id="66" name="Text 62"/>
          <p:cNvSpPr txBox="1"/>
          <p:nvPr/>
        </p:nvSpPr>
        <p:spPr>
          <a:xfrm>
            <a:off x="2359152" y="3794760"/>
            <a:ext cx="1225296" cy="713232"/>
          </a:xfrm>
          <a:prstGeom prst="rect">
            <a:avLst/>
          </a:prstGeom>
          <a:noFill/>
          <a:ln/>
        </p:spPr>
        <p:txBody>
          <a:bodyPr wrap="square" lIns="0" tIns="0" rIns="0" bIns="0" rtlCol="0" anchor="ctr"/>
          <a:lstStyle/>
          <a:p>
            <a:pPr marL="0" indent="0" algn="ctr">
              <a:buNone/>
            </a:pPr>
            <a:r>
              <a:rPr lang="en-US" sz="1100" dirty="0">
                <a:solidFill>
                  <a:schemeClr val="tx1"/>
                </a:solidFill>
              </a:rPr>
              <a:t>Rider marked DISCONNECTED</a:t>
            </a:r>
            <a:endParaRPr lang="en-US" sz="1100" dirty="0"/>
          </a:p>
        </p:txBody>
      </p:sp>
      <p:sp>
        <p:nvSpPr>
          <p:cNvPr id="67" name="Shape 63"/>
          <p:cNvSpPr/>
          <p:nvPr/>
        </p:nvSpPr>
        <p:spPr>
          <a:xfrm>
            <a:off x="3657600" y="4151376"/>
            <a:ext cx="274320" cy="0"/>
          </a:xfrm>
          <a:prstGeom prst="line">
            <a:avLst/>
          </a:prstGeom>
          <a:noFill/>
          <a:ln w="19050">
            <a:solidFill>
              <a:schemeClr val="accent6"/>
            </a:solidFill>
            <a:prstDash val="solid"/>
            <a:tailEnd type="triangle"/>
          </a:ln>
        </p:spPr>
      </p:sp>
      <p:sp>
        <p:nvSpPr>
          <p:cNvPr id="68" name="Shape 64"/>
          <p:cNvSpPr/>
          <p:nvPr/>
        </p:nvSpPr>
        <p:spPr>
          <a:xfrm>
            <a:off x="3931920" y="3794760"/>
            <a:ext cx="1371600" cy="713232"/>
          </a:xfrm>
          <a:prstGeom prst="roundRect">
            <a:avLst>
              <a:gd name="adj" fmla="val 7692"/>
            </a:avLst>
          </a:prstGeom>
          <a:solidFill>
            <a:schemeClr val="bg1"/>
          </a:solidFill>
          <a:ln w="9525">
            <a:solidFill>
              <a:srgbClr val="D5DCE8"/>
            </a:solidFill>
            <a:prstDash val="solid"/>
          </a:ln>
        </p:spPr>
      </p:sp>
      <p:sp>
        <p:nvSpPr>
          <p:cNvPr id="69" name="Text 65"/>
          <p:cNvSpPr txBox="1"/>
          <p:nvPr/>
        </p:nvSpPr>
        <p:spPr>
          <a:xfrm>
            <a:off x="4005072" y="3794760"/>
            <a:ext cx="1225296" cy="713232"/>
          </a:xfrm>
          <a:prstGeom prst="rect">
            <a:avLst/>
          </a:prstGeom>
          <a:noFill/>
          <a:ln/>
        </p:spPr>
        <p:txBody>
          <a:bodyPr wrap="square" lIns="0" tIns="0" rIns="0" bIns="0" rtlCol="0" anchor="ctr"/>
          <a:lstStyle/>
          <a:p>
            <a:pPr marL="0" indent="0" algn="ctr">
              <a:buNone/>
            </a:pPr>
            <a:r>
              <a:rPr lang="en-US" sz="1100" dirty="0">
                <a:solidFill>
                  <a:schemeClr val="tx1"/>
                </a:solidFill>
              </a:rPr>
              <a:t>Last known location retained, marker dimmed</a:t>
            </a:r>
            <a:endParaRPr lang="en-US" sz="1100" dirty="0"/>
          </a:p>
        </p:txBody>
      </p:sp>
      <p:sp>
        <p:nvSpPr>
          <p:cNvPr id="70" name="Shape 66"/>
          <p:cNvSpPr/>
          <p:nvPr/>
        </p:nvSpPr>
        <p:spPr>
          <a:xfrm>
            <a:off x="5303520" y="4151376"/>
            <a:ext cx="274320" cy="0"/>
          </a:xfrm>
          <a:prstGeom prst="line">
            <a:avLst/>
          </a:prstGeom>
          <a:noFill/>
          <a:ln w="19050">
            <a:solidFill>
              <a:schemeClr val="accent6"/>
            </a:solidFill>
            <a:prstDash val="solid"/>
            <a:tailEnd type="triangle"/>
          </a:ln>
        </p:spPr>
      </p:sp>
      <p:sp>
        <p:nvSpPr>
          <p:cNvPr id="71" name="Shape 67"/>
          <p:cNvSpPr/>
          <p:nvPr/>
        </p:nvSpPr>
        <p:spPr>
          <a:xfrm>
            <a:off x="5577840" y="3794760"/>
            <a:ext cx="1371600" cy="713232"/>
          </a:xfrm>
          <a:prstGeom prst="roundRect">
            <a:avLst>
              <a:gd name="adj" fmla="val 7692"/>
            </a:avLst>
          </a:prstGeom>
          <a:solidFill>
            <a:schemeClr val="bg1"/>
          </a:solidFill>
          <a:ln w="9525">
            <a:solidFill>
              <a:srgbClr val="D5DCE8"/>
            </a:solidFill>
            <a:prstDash val="solid"/>
          </a:ln>
        </p:spPr>
      </p:sp>
      <p:sp>
        <p:nvSpPr>
          <p:cNvPr id="72" name="Text 68"/>
          <p:cNvSpPr txBox="1"/>
          <p:nvPr/>
        </p:nvSpPr>
        <p:spPr>
          <a:xfrm>
            <a:off x="5650992" y="3794760"/>
            <a:ext cx="1225296" cy="713232"/>
          </a:xfrm>
          <a:prstGeom prst="rect">
            <a:avLst/>
          </a:prstGeom>
          <a:noFill/>
          <a:ln/>
        </p:spPr>
        <p:txBody>
          <a:bodyPr wrap="square" lIns="0" tIns="0" rIns="0" bIns="0" rtlCol="0" anchor="ctr"/>
          <a:lstStyle/>
          <a:p>
            <a:pPr marL="0" indent="0" algn="ctr">
              <a:buNone/>
            </a:pPr>
            <a:r>
              <a:rPr lang="en-US" sz="1100" dirty="0">
                <a:solidFill>
                  <a:schemeClr val="tx1"/>
                </a:solidFill>
              </a:rPr>
              <a:t>Rider reconnects or sends GPS</a:t>
            </a:r>
            <a:endParaRPr lang="en-US" sz="1100" dirty="0"/>
          </a:p>
        </p:txBody>
      </p:sp>
      <p:sp>
        <p:nvSpPr>
          <p:cNvPr id="73" name="Shape 69"/>
          <p:cNvSpPr/>
          <p:nvPr/>
        </p:nvSpPr>
        <p:spPr>
          <a:xfrm>
            <a:off x="6949440" y="4151376"/>
            <a:ext cx="274320" cy="0"/>
          </a:xfrm>
          <a:prstGeom prst="line">
            <a:avLst/>
          </a:prstGeom>
          <a:noFill/>
          <a:ln w="19050">
            <a:solidFill>
              <a:schemeClr val="accent6"/>
            </a:solidFill>
            <a:prstDash val="solid"/>
            <a:tailEnd type="triangle"/>
          </a:ln>
        </p:spPr>
      </p:sp>
      <p:sp>
        <p:nvSpPr>
          <p:cNvPr id="74" name="Shape 70"/>
          <p:cNvSpPr/>
          <p:nvPr/>
        </p:nvSpPr>
        <p:spPr>
          <a:xfrm>
            <a:off x="7223760" y="3794760"/>
            <a:ext cx="1371600" cy="713232"/>
          </a:xfrm>
          <a:prstGeom prst="roundRect">
            <a:avLst>
              <a:gd name="adj" fmla="val 7692"/>
            </a:avLst>
          </a:prstGeom>
          <a:solidFill>
            <a:schemeClr val="bg1"/>
          </a:solidFill>
          <a:ln w="9525">
            <a:solidFill>
              <a:srgbClr val="D5DCE8"/>
            </a:solidFill>
            <a:prstDash val="solid"/>
          </a:ln>
        </p:spPr>
      </p:sp>
      <p:sp>
        <p:nvSpPr>
          <p:cNvPr id="75" name="Text 71"/>
          <p:cNvSpPr txBox="1"/>
          <p:nvPr/>
        </p:nvSpPr>
        <p:spPr>
          <a:xfrm>
            <a:off x="7296912" y="3794760"/>
            <a:ext cx="1225296" cy="713232"/>
          </a:xfrm>
          <a:prstGeom prst="rect">
            <a:avLst/>
          </a:prstGeom>
          <a:noFill/>
          <a:ln/>
        </p:spPr>
        <p:txBody>
          <a:bodyPr wrap="square" lIns="0" tIns="0" rIns="0" bIns="0" rtlCol="0" anchor="ctr"/>
          <a:lstStyle/>
          <a:p>
            <a:pPr marL="0" indent="0" algn="ctr">
              <a:buNone/>
            </a:pPr>
            <a:r>
              <a:rPr lang="en-US" sz="1100" dirty="0">
                <a:solidFill>
                  <a:schemeClr val="tx1"/>
                </a:solidFill>
              </a:rPr>
              <a:t>Status back to ACTIVE, sharing resumes</a:t>
            </a:r>
            <a:endParaRPr lang="en-US" sz="1100" dirty="0"/>
          </a:p>
        </p:txBody>
      </p:sp>
      <p:sp>
        <p:nvSpPr>
          <p:cNvPr id="4" name="Slide Number Placeholder 0"/>
          <p:cNvSpPr>
            <a:spLocks noGrp="1"/>
          </p:cNvSpPr>
          <p:nvPr>
            <p:ph type="sldNum" sz="quarter" idx="4294967295"/>
          </p:nvPr>
        </p:nvSpPr>
        <p:spPr>
          <a:xfrm>
            <a:off x="8138160" y="4791456"/>
            <a:ext cx="548640" cy="228600"/>
          </a:xfrm>
          <a:prstGeom prst="rect">
            <a:avLst/>
          </a:prstGeom>
          <a:extLst>
            <a:ext uri="{C572A759-6A51-4108-AA02-DFA0A04FC94B}">
              <ma14:wrappingTextBoxFlag xmlns:ma14="http://schemas.microsoft.com/office/mac/drawingml/2011/main" xmlns="" val="0"/>
            </a:ext>
          </a:extLst>
        </p:spPr>
        <p:txBody>
          <a:bodyPr/>
          <a:lstStyle>
            <a:lvl1pPr>
              <a:defRPr sz="1000">
                <a:solidFill>
                  <a:srgbClr val="475569"/>
                </a:solidFill>
              </a:defRPr>
            </a:lvl1pPr>
          </a:lstStyle>
          <a:p>
            <a:pPr algn="r"/>
            <a:fld id="{F7021451-1387-4CA6-816F-3879F97B5CBC}" type="slidenum">
              <a:rPr lang="en-US" b="0"/>
              <a:t>15</a:t>
            </a:fld>
            <a:endParaRPr lang="en-US"/>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spTree>
      <p:nvGrpSpPr>
        <p:cNvPr id="1" name=""/>
        <p:cNvGrpSpPr/>
        <p:nvPr/>
      </p:nvGrpSpPr>
      <p:grpSpPr>
        <a:xfrm>
          <a:off x="0" y="0"/>
          <a:ext cx="0" cy="0"/>
          <a:chOff x="0" y="0"/>
          <a:chExt cx="0" cy="0"/>
        </a:xfrm>
      </p:grpSpPr>
      <p:sp>
        <p:nvSpPr>
          <p:cNvPr id="18" name="Text 11"/>
          <p:cNvSpPr txBox="1"/>
          <p:nvPr/>
        </p:nvSpPr>
        <p:spPr>
          <a:xfrm>
            <a:off x="3886200" y="4023360"/>
            <a:ext cx="1920240" cy="640080"/>
          </a:xfrm>
          <a:prstGeom prst="rect">
            <a:avLst/>
          </a:prstGeom>
          <a:noFill/>
          <a:ln/>
        </p:spPr>
        <p:txBody>
          <a:bodyPr wrap="square" lIns="0" tIns="0" rIns="0" bIns="0" rtlCol="0" anchor="ctr"/>
          <a:lstStyle/>
          <a:p>
            <a:pPr marL="0" indent="0">
              <a:buNone/>
            </a:pPr>
            <a:endParaRPr lang="en-US" sz="1100" dirty="0"/>
          </a:p>
        </p:txBody>
      </p:sp>
      <p:sp>
        <p:nvSpPr>
          <p:cNvPr id="4" name="Slide Number Placeholder 0"/>
          <p:cNvSpPr>
            <a:spLocks noGrp="1"/>
          </p:cNvSpPr>
          <p:nvPr>
            <p:ph type="sldNum" sz="quarter" idx="4294967295"/>
          </p:nvPr>
        </p:nvSpPr>
        <p:spPr>
          <a:xfrm>
            <a:off x="8138160" y="4791456"/>
            <a:ext cx="548640" cy="228600"/>
          </a:xfrm>
          <a:prstGeom prst="rect">
            <a:avLst/>
          </a:prstGeom>
          <a:extLst>
            <a:ext uri="{C572A759-6A51-4108-AA02-DFA0A04FC94B}">
              <ma14:wrappingTextBoxFlag xmlns:ma14="http://schemas.microsoft.com/office/mac/drawingml/2011/main" xmlns="" val="0"/>
            </a:ext>
          </a:extLst>
        </p:spPr>
        <p:txBody>
          <a:bodyPr/>
          <a:lstStyle>
            <a:lvl1pPr>
              <a:defRPr sz="1000">
                <a:solidFill>
                  <a:srgbClr val="475569"/>
                </a:solidFill>
              </a:defRPr>
            </a:lvl1pPr>
          </a:lstStyle>
          <a:p>
            <a:pPr algn="r"/>
            <a:fld id="{F7021451-1387-4CA6-816F-3879F97B5CBC}" type="slidenum">
              <a:rPr lang="en-US" b="0"/>
              <a:t>16</a:t>
            </a:fld>
            <a:endParaRPr lang="en-US"/>
          </a:p>
        </p:txBody>
      </p:sp>
      <p:pic>
        <p:nvPicPr>
          <p:cNvPr id="41" name="Picture 40">
            <a:extLst>
              <a:ext uri="{FF2B5EF4-FFF2-40B4-BE49-F238E27FC236}">
                <a16:creationId xmlns:a16="http://schemas.microsoft.com/office/drawing/2014/main" id="{2FDB7104-7A17-F093-67EE-63B02E6FC25E}"/>
              </a:ext>
            </a:extLst>
          </p:cNvPr>
          <p:cNvPicPr>
            <a:picLocks noChangeAspect="1"/>
          </p:cNvPicPr>
          <p:nvPr/>
        </p:nvPicPr>
        <p:blipFill>
          <a:blip r:embed="rId3"/>
          <a:stretch>
            <a:fillRect/>
          </a:stretch>
        </p:blipFill>
        <p:spPr>
          <a:xfrm>
            <a:off x="1051560" y="53340"/>
            <a:ext cx="6774180" cy="4738116"/>
          </a:xfrm>
          <a:prstGeom prst="rect">
            <a:avLst/>
          </a:prstGeom>
        </p:spPr>
      </p:pic>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spTree>
      <p:nvGrpSpPr>
        <p:cNvPr id="1" name=""/>
        <p:cNvGrpSpPr/>
        <p:nvPr/>
      </p:nvGrpSpPr>
      <p:grpSpPr>
        <a:xfrm>
          <a:off x="0" y="0"/>
          <a:ext cx="0" cy="0"/>
          <a:chOff x="0" y="0"/>
          <a:chExt cx="0" cy="0"/>
        </a:xfrm>
      </p:grpSpPr>
      <p:sp>
        <p:nvSpPr>
          <p:cNvPr id="4" name="Slide Number Placeholder 0"/>
          <p:cNvSpPr>
            <a:spLocks noGrp="1"/>
          </p:cNvSpPr>
          <p:nvPr>
            <p:ph type="sldNum" sz="quarter" idx="4294967295"/>
          </p:nvPr>
        </p:nvSpPr>
        <p:spPr>
          <a:xfrm>
            <a:off x="8138160" y="4791456"/>
            <a:ext cx="548640" cy="228600"/>
          </a:xfrm>
          <a:prstGeom prst="rect">
            <a:avLst/>
          </a:prstGeom>
          <a:extLst>
            <a:ext uri="{C572A759-6A51-4108-AA02-DFA0A04FC94B}">
              <ma14:wrappingTextBoxFlag xmlns:ma14="http://schemas.microsoft.com/office/mac/drawingml/2011/main" xmlns="" val="0"/>
            </a:ext>
          </a:extLst>
        </p:spPr>
        <p:txBody>
          <a:bodyPr/>
          <a:lstStyle>
            <a:lvl1pPr>
              <a:defRPr sz="1000">
                <a:solidFill>
                  <a:srgbClr val="475569"/>
                </a:solidFill>
              </a:defRPr>
            </a:lvl1pPr>
          </a:lstStyle>
          <a:p>
            <a:pPr algn="r"/>
            <a:fld id="{F7021451-1387-4CA6-816F-3879F97B5CBC}" type="slidenum">
              <a:rPr lang="en-US" b="0"/>
              <a:t>17</a:t>
            </a:fld>
            <a:endParaRPr lang="en-US"/>
          </a:p>
        </p:txBody>
      </p:sp>
      <p:pic>
        <p:nvPicPr>
          <p:cNvPr id="63" name="Picture 62">
            <a:extLst>
              <a:ext uri="{FF2B5EF4-FFF2-40B4-BE49-F238E27FC236}">
                <a16:creationId xmlns:a16="http://schemas.microsoft.com/office/drawing/2014/main" id="{1BCAA3D2-A6CF-C78A-6E0B-47B1547ED168}"/>
              </a:ext>
            </a:extLst>
          </p:cNvPr>
          <p:cNvPicPr>
            <a:picLocks noChangeAspect="1"/>
          </p:cNvPicPr>
          <p:nvPr/>
        </p:nvPicPr>
        <p:blipFill>
          <a:blip r:embed="rId3"/>
          <a:stretch>
            <a:fillRect/>
          </a:stretch>
        </p:blipFill>
        <p:spPr>
          <a:xfrm>
            <a:off x="685800" y="123444"/>
            <a:ext cx="7795260" cy="4668012"/>
          </a:xfrm>
          <a:prstGeom prst="rect">
            <a:avLst/>
          </a:prstGeom>
        </p:spPr>
      </p:pic>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457200" y="420624"/>
            <a:ext cx="8229600" cy="566928"/>
          </a:xfrm>
          <a:prstGeom prst="rect">
            <a:avLst/>
          </a:prstGeom>
          <a:noFill/>
          <a:ln/>
        </p:spPr>
        <p:txBody>
          <a:bodyPr wrap="square" lIns="0" tIns="0" rIns="0" bIns="0" rtlCol="0" anchor="ctr"/>
          <a:lstStyle/>
          <a:p>
            <a:pPr marL="0" indent="0" algn="l">
              <a:buNone/>
            </a:pPr>
            <a:r>
              <a:rPr lang="en-US" sz="2800" b="1" dirty="0">
                <a:solidFill>
                  <a:schemeClr val="tx1"/>
                </a:solidFill>
              </a:rPr>
              <a:t>Use case diagram</a:t>
            </a:r>
            <a:endParaRPr lang="en-US" sz="2800" dirty="0"/>
          </a:p>
        </p:txBody>
      </p:sp>
      <p:sp>
        <p:nvSpPr>
          <p:cNvPr id="3" name="Text 1"/>
          <p:cNvSpPr txBox="1"/>
          <p:nvPr/>
        </p:nvSpPr>
        <p:spPr>
          <a:xfrm>
            <a:off x="457200" y="219456"/>
            <a:ext cx="5486400" cy="182880"/>
          </a:xfrm>
          <a:prstGeom prst="rect">
            <a:avLst/>
          </a:prstGeom>
          <a:noFill/>
          <a:ln/>
        </p:spPr>
        <p:txBody>
          <a:bodyPr wrap="square" lIns="0" tIns="0" rIns="0" bIns="0" rtlCol="0" anchor="t"/>
          <a:lstStyle/>
          <a:p>
            <a:pPr marL="0" indent="0">
              <a:buNone/>
            </a:pPr>
            <a:r>
              <a:rPr lang="en-US" sz="1000" b="1" kern="0" spc="200" dirty="0">
                <a:solidFill>
                  <a:schemeClr val="accent1"/>
                </a:solidFill>
              </a:rPr>
              <a:t>UML</a:t>
            </a:r>
            <a:endParaRPr lang="en-US" sz="1000" dirty="0"/>
          </a:p>
        </p:txBody>
      </p:sp>
      <p:sp>
        <p:nvSpPr>
          <p:cNvPr id="4" name="Slide Number Placeholder 0"/>
          <p:cNvSpPr>
            <a:spLocks noGrp="1"/>
          </p:cNvSpPr>
          <p:nvPr>
            <p:ph type="sldNum" sz="quarter" idx="4294967295"/>
          </p:nvPr>
        </p:nvSpPr>
        <p:spPr>
          <a:xfrm>
            <a:off x="8138160" y="4791456"/>
            <a:ext cx="548640" cy="228600"/>
          </a:xfrm>
          <a:prstGeom prst="rect">
            <a:avLst/>
          </a:prstGeom>
          <a:extLst>
            <a:ext uri="{C572A759-6A51-4108-AA02-DFA0A04FC94B}">
              <ma14:wrappingTextBoxFlag xmlns:ma14="http://schemas.microsoft.com/office/mac/drawingml/2011/main" xmlns="" val="0"/>
            </a:ext>
          </a:extLst>
        </p:spPr>
        <p:txBody>
          <a:bodyPr/>
          <a:lstStyle>
            <a:lvl1pPr>
              <a:defRPr sz="1000">
                <a:solidFill>
                  <a:srgbClr val="475569"/>
                </a:solidFill>
              </a:defRPr>
            </a:lvl1pPr>
          </a:lstStyle>
          <a:p>
            <a:pPr algn="r"/>
            <a:fld id="{F7021451-1387-4CA6-816F-3879F97B5CBC}" type="slidenum">
              <a:rPr lang="en-US" b="0"/>
              <a:t>18</a:t>
            </a:fld>
            <a:endParaRPr lang="en-US"/>
          </a:p>
        </p:txBody>
      </p:sp>
      <p:pic>
        <p:nvPicPr>
          <p:cNvPr id="55" name="Picture 54">
            <a:extLst>
              <a:ext uri="{FF2B5EF4-FFF2-40B4-BE49-F238E27FC236}">
                <a16:creationId xmlns:a16="http://schemas.microsoft.com/office/drawing/2014/main" id="{578F4423-3822-E868-9113-6705E7056C4A}"/>
              </a:ext>
            </a:extLst>
          </p:cNvPr>
          <p:cNvPicPr>
            <a:picLocks noChangeAspect="1"/>
          </p:cNvPicPr>
          <p:nvPr/>
        </p:nvPicPr>
        <p:blipFill>
          <a:blip r:embed="rId3"/>
          <a:stretch>
            <a:fillRect/>
          </a:stretch>
        </p:blipFill>
        <p:spPr>
          <a:xfrm>
            <a:off x="714375" y="928468"/>
            <a:ext cx="7715250" cy="3862988"/>
          </a:xfrm>
          <a:prstGeom prst="rect">
            <a:avLst/>
          </a:prstGeom>
        </p:spPr>
      </p:pic>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B970734-084D-4D3A-4EC3-C5E4598738B7}"/>
            </a:ext>
          </a:extLst>
        </p:cNvPr>
        <p:cNvGrpSpPr/>
        <p:nvPr/>
      </p:nvGrpSpPr>
      <p:grpSpPr>
        <a:xfrm>
          <a:off x="0" y="0"/>
          <a:ext cx="0" cy="0"/>
          <a:chOff x="0" y="0"/>
          <a:chExt cx="0" cy="0"/>
        </a:xfrm>
      </p:grpSpPr>
      <p:sp>
        <p:nvSpPr>
          <p:cNvPr id="2" name="Text 0">
            <a:extLst>
              <a:ext uri="{FF2B5EF4-FFF2-40B4-BE49-F238E27FC236}">
                <a16:creationId xmlns:a16="http://schemas.microsoft.com/office/drawing/2014/main" id="{C0066952-A058-7CFA-75E9-639995007D3B}"/>
              </a:ext>
            </a:extLst>
          </p:cNvPr>
          <p:cNvSpPr>
            <a:spLocks noGrp="1"/>
          </p:cNvSpPr>
          <p:nvPr>
            <p:ph type="title" idx="100" hasCustomPrompt="1"/>
          </p:nvPr>
        </p:nvSpPr>
        <p:spPr>
          <a:xfrm>
            <a:off x="457200" y="420624"/>
            <a:ext cx="8229600" cy="566928"/>
          </a:xfrm>
          <a:prstGeom prst="rect">
            <a:avLst/>
          </a:prstGeom>
          <a:noFill/>
          <a:ln/>
        </p:spPr>
        <p:txBody>
          <a:bodyPr wrap="square" lIns="0" tIns="0" rIns="0" bIns="0" rtlCol="0" anchor="ctr"/>
          <a:lstStyle/>
          <a:p>
            <a:pPr marL="0" indent="0" algn="l">
              <a:buNone/>
            </a:pPr>
            <a:r>
              <a:rPr lang="en-US" dirty="0"/>
              <a:t>Sequence</a:t>
            </a:r>
            <a:r>
              <a:rPr lang="en-US" sz="2800" b="1" dirty="0">
                <a:solidFill>
                  <a:schemeClr val="tx1"/>
                </a:solidFill>
              </a:rPr>
              <a:t> diagram</a:t>
            </a:r>
            <a:endParaRPr lang="en-US" sz="2800" dirty="0"/>
          </a:p>
        </p:txBody>
      </p:sp>
      <p:sp>
        <p:nvSpPr>
          <p:cNvPr id="3" name="Text 1">
            <a:extLst>
              <a:ext uri="{FF2B5EF4-FFF2-40B4-BE49-F238E27FC236}">
                <a16:creationId xmlns:a16="http://schemas.microsoft.com/office/drawing/2014/main" id="{2D30FFB3-596D-E125-DF1E-8C59824538EA}"/>
              </a:ext>
            </a:extLst>
          </p:cNvPr>
          <p:cNvSpPr txBox="1"/>
          <p:nvPr/>
        </p:nvSpPr>
        <p:spPr>
          <a:xfrm>
            <a:off x="457200" y="219456"/>
            <a:ext cx="5486400" cy="182880"/>
          </a:xfrm>
          <a:prstGeom prst="rect">
            <a:avLst/>
          </a:prstGeom>
          <a:noFill/>
          <a:ln/>
        </p:spPr>
        <p:txBody>
          <a:bodyPr wrap="square" lIns="0" tIns="0" rIns="0" bIns="0" rtlCol="0" anchor="t"/>
          <a:lstStyle/>
          <a:p>
            <a:pPr marL="0" indent="0">
              <a:buNone/>
            </a:pPr>
            <a:r>
              <a:rPr lang="en-US" sz="1000" b="1" kern="0" spc="200" dirty="0">
                <a:solidFill>
                  <a:schemeClr val="accent1"/>
                </a:solidFill>
              </a:rPr>
              <a:t>UML</a:t>
            </a:r>
            <a:endParaRPr lang="en-US" sz="1000" dirty="0"/>
          </a:p>
        </p:txBody>
      </p:sp>
      <p:sp>
        <p:nvSpPr>
          <p:cNvPr id="4" name="Slide Number Placeholder 0">
            <a:extLst>
              <a:ext uri="{FF2B5EF4-FFF2-40B4-BE49-F238E27FC236}">
                <a16:creationId xmlns:a16="http://schemas.microsoft.com/office/drawing/2014/main" id="{01C14F05-5CF5-D8F0-ABD8-061612302F60}"/>
              </a:ext>
            </a:extLst>
          </p:cNvPr>
          <p:cNvSpPr>
            <a:spLocks noGrp="1"/>
          </p:cNvSpPr>
          <p:nvPr>
            <p:ph type="sldNum" sz="quarter" idx="4294967295"/>
          </p:nvPr>
        </p:nvSpPr>
        <p:spPr>
          <a:xfrm>
            <a:off x="8138160" y="4791456"/>
            <a:ext cx="548640" cy="228600"/>
          </a:xfrm>
          <a:prstGeom prst="rect">
            <a:avLst/>
          </a:prstGeom>
          <a:extLst>
            <a:ext uri="{C572A759-6A51-4108-AA02-DFA0A04FC94B}">
              <ma14:wrappingTextBoxFlag xmlns="" xmlns:ma14="http://schemas.microsoft.com/office/mac/drawingml/2011/main" val="0"/>
            </a:ext>
          </a:extLst>
        </p:spPr>
        <p:txBody>
          <a:bodyPr/>
          <a:lstStyle>
            <a:lvl1pPr>
              <a:defRPr sz="1000">
                <a:solidFill>
                  <a:srgbClr val="475569"/>
                </a:solidFill>
              </a:defRPr>
            </a:lvl1pPr>
          </a:lstStyle>
          <a:p>
            <a:pPr algn="r"/>
            <a:fld id="{F7021451-1387-4CA6-816F-3879F97B5CBC}" type="slidenum">
              <a:rPr lang="en-US" b="0"/>
              <a:t>19</a:t>
            </a:fld>
            <a:endParaRPr lang="en-US"/>
          </a:p>
        </p:txBody>
      </p:sp>
      <p:pic>
        <p:nvPicPr>
          <p:cNvPr id="6" name="Picture 5">
            <a:extLst>
              <a:ext uri="{FF2B5EF4-FFF2-40B4-BE49-F238E27FC236}">
                <a16:creationId xmlns:a16="http://schemas.microsoft.com/office/drawing/2014/main" id="{6B7656EC-A476-E85F-24F6-046FF4144FB3}"/>
              </a:ext>
            </a:extLst>
          </p:cNvPr>
          <p:cNvPicPr>
            <a:picLocks noChangeAspect="1"/>
          </p:cNvPicPr>
          <p:nvPr/>
        </p:nvPicPr>
        <p:blipFill>
          <a:blip r:embed="rId3"/>
          <a:stretch>
            <a:fillRect/>
          </a:stretch>
        </p:blipFill>
        <p:spPr>
          <a:xfrm>
            <a:off x="714375" y="914400"/>
            <a:ext cx="7715250" cy="3877056"/>
          </a:xfrm>
          <a:prstGeom prst="rect">
            <a:avLst/>
          </a:prstGeom>
        </p:spPr>
      </p:pic>
    </p:spTree>
    <p:extLst>
      <p:ext uri="{BB962C8B-B14F-4D97-AF65-F5344CB8AC3E}">
        <p14:creationId xmlns:p14="http://schemas.microsoft.com/office/powerpoint/2010/main" val="4155974826"/>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19">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457200" y="420624"/>
            <a:ext cx="8229600" cy="566928"/>
          </a:xfrm>
          <a:prstGeom prst="rect">
            <a:avLst/>
          </a:prstGeom>
          <a:noFill/>
          <a:ln/>
        </p:spPr>
        <p:txBody>
          <a:bodyPr wrap="square" lIns="0" tIns="0" rIns="0" bIns="0" rtlCol="0" anchor="ctr"/>
          <a:lstStyle/>
          <a:p>
            <a:pPr marL="0" indent="0" algn="l">
              <a:buNone/>
            </a:pPr>
            <a:r>
              <a:rPr lang="en-US" sz="2800" b="1" dirty="0">
                <a:solidFill>
                  <a:schemeClr val="tx1"/>
                </a:solidFill>
              </a:rPr>
              <a:t>ER diagram from the actual models</a:t>
            </a:r>
            <a:endParaRPr lang="en-US" sz="2800" dirty="0"/>
          </a:p>
        </p:txBody>
      </p:sp>
      <p:sp>
        <p:nvSpPr>
          <p:cNvPr id="3" name="Text 1"/>
          <p:cNvSpPr txBox="1"/>
          <p:nvPr/>
        </p:nvSpPr>
        <p:spPr>
          <a:xfrm>
            <a:off x="457200" y="219456"/>
            <a:ext cx="5486400" cy="182880"/>
          </a:xfrm>
          <a:prstGeom prst="rect">
            <a:avLst/>
          </a:prstGeom>
          <a:noFill/>
          <a:ln/>
        </p:spPr>
        <p:txBody>
          <a:bodyPr wrap="square" lIns="0" tIns="0" rIns="0" bIns="0" rtlCol="0" anchor="t"/>
          <a:lstStyle/>
          <a:p>
            <a:pPr marL="0" indent="0">
              <a:buNone/>
            </a:pPr>
            <a:r>
              <a:rPr lang="en-US" sz="1000" b="1" kern="0" spc="200" dirty="0">
                <a:solidFill>
                  <a:schemeClr val="accent1"/>
                </a:solidFill>
              </a:rPr>
              <a:t>DATABASE</a:t>
            </a:r>
            <a:endParaRPr lang="en-US" sz="1000" dirty="0"/>
          </a:p>
        </p:txBody>
      </p:sp>
      <p:sp>
        <p:nvSpPr>
          <p:cNvPr id="5" name="Shape 2"/>
          <p:cNvSpPr/>
          <p:nvPr/>
        </p:nvSpPr>
        <p:spPr>
          <a:xfrm>
            <a:off x="457200" y="1115568"/>
            <a:ext cx="2560320" cy="1481328"/>
          </a:xfrm>
          <a:prstGeom prst="roundRect">
            <a:avLst>
              <a:gd name="adj" fmla="val 2469"/>
            </a:avLst>
          </a:prstGeom>
          <a:solidFill>
            <a:schemeClr val="bg1"/>
          </a:solidFill>
          <a:ln w="15875">
            <a:solidFill>
              <a:schemeClr val="tx1"/>
            </a:solidFill>
            <a:prstDash val="solid"/>
          </a:ln>
        </p:spPr>
      </p:sp>
      <p:sp>
        <p:nvSpPr>
          <p:cNvPr id="6" name="Shape 3"/>
          <p:cNvSpPr/>
          <p:nvPr/>
        </p:nvSpPr>
        <p:spPr>
          <a:xfrm>
            <a:off x="457200" y="1115568"/>
            <a:ext cx="2560320" cy="256032"/>
          </a:xfrm>
          <a:prstGeom prst="rect">
            <a:avLst/>
          </a:prstGeom>
          <a:solidFill>
            <a:schemeClr val="tx1"/>
          </a:solidFill>
          <a:ln/>
        </p:spPr>
      </p:sp>
      <p:sp>
        <p:nvSpPr>
          <p:cNvPr id="7" name="Text 4"/>
          <p:cNvSpPr txBox="1"/>
          <p:nvPr/>
        </p:nvSpPr>
        <p:spPr>
          <a:xfrm>
            <a:off x="548640" y="1115568"/>
            <a:ext cx="2377440" cy="256032"/>
          </a:xfrm>
          <a:prstGeom prst="rect">
            <a:avLst/>
          </a:prstGeom>
          <a:noFill/>
          <a:ln/>
        </p:spPr>
        <p:txBody>
          <a:bodyPr wrap="square" lIns="0" tIns="0" rIns="0" bIns="0" rtlCol="0" anchor="ctr"/>
          <a:lstStyle/>
          <a:p>
            <a:pPr marL="0" indent="0">
              <a:buNone/>
            </a:pPr>
            <a:r>
              <a:rPr lang="en-US" sz="1100" b="1" dirty="0">
                <a:solidFill>
                  <a:schemeClr val="bg1"/>
                </a:solidFill>
              </a:rPr>
              <a:t>RIDER_PROFILE</a:t>
            </a:r>
            <a:endParaRPr lang="en-US" sz="1100" dirty="0"/>
          </a:p>
        </p:txBody>
      </p:sp>
      <p:sp>
        <p:nvSpPr>
          <p:cNvPr id="8" name="Text 5"/>
          <p:cNvSpPr txBox="1"/>
          <p:nvPr/>
        </p:nvSpPr>
        <p:spPr>
          <a:xfrm>
            <a:off x="548640" y="1408176"/>
            <a:ext cx="2377440" cy="1161288"/>
          </a:xfrm>
          <a:prstGeom prst="rect">
            <a:avLst/>
          </a:prstGeom>
          <a:noFill/>
          <a:ln/>
        </p:spPr>
        <p:txBody>
          <a:bodyPr wrap="square" lIns="0" tIns="0" rIns="0" bIns="0" rtlCol="0" anchor="t"/>
          <a:lstStyle/>
          <a:p>
            <a:pPr marL="0" indent="0">
              <a:buNone/>
            </a:pPr>
            <a:r>
              <a:rPr lang="en-US" sz="1000" dirty="0">
                <a:solidFill>
                  <a:schemeClr val="accent1"/>
                </a:solidFill>
              </a:rPr>
              <a:t>PK id</a:t>
            </a:r>
            <a:endParaRPr lang="en-US" sz="1000" dirty="0"/>
          </a:p>
          <a:p>
            <a:pPr marL="0" indent="0">
              <a:buNone/>
            </a:pPr>
            <a:r>
              <a:rPr lang="en-US" sz="1000" dirty="0">
                <a:solidFill>
                  <a:schemeClr val="accent1"/>
                </a:solidFill>
              </a:rPr>
              <a:t>FK user (one-to-one)</a:t>
            </a:r>
            <a:endParaRPr lang="en-US" sz="1000" dirty="0"/>
          </a:p>
          <a:p>
            <a:pPr marL="0" indent="0">
              <a:buNone/>
            </a:pPr>
            <a:r>
              <a:rPr lang="en-US" sz="1000" dirty="0">
                <a:solidFill>
                  <a:schemeClr val="tx1"/>
                </a:solidFill>
              </a:rPr>
              <a:t>role, phone, ride_type</a:t>
            </a:r>
            <a:endParaRPr lang="en-US" sz="1000" dirty="0"/>
          </a:p>
          <a:p>
            <a:pPr marL="0" indent="0">
              <a:buNone/>
            </a:pPr>
            <a:r>
              <a:rPr lang="en-US" sz="1000" dirty="0">
                <a:solidFill>
                  <a:schemeClr val="tx1"/>
                </a:solidFill>
              </a:rPr>
              <a:t>location_consent</a:t>
            </a:r>
            <a:endParaRPr lang="en-US" sz="1000" dirty="0"/>
          </a:p>
          <a:p>
            <a:pPr marL="0" indent="0">
              <a:buNone/>
            </a:pPr>
            <a:r>
              <a:rPr lang="en-US" sz="1000" dirty="0">
                <a:solidFill>
                  <a:schemeClr val="tx1"/>
                </a:solidFill>
              </a:rPr>
              <a:t>is_online, last_active</a:t>
            </a:r>
            <a:endParaRPr lang="en-US" sz="1000" dirty="0"/>
          </a:p>
          <a:p>
            <a:pPr marL="0" indent="0">
              <a:buNone/>
            </a:pPr>
            <a:r>
              <a:rPr lang="en-US" sz="1000" dirty="0">
                <a:solidFill>
                  <a:schemeClr val="tx1"/>
                </a:solidFill>
              </a:rPr>
              <a:t>color_code, avatar_initials</a:t>
            </a:r>
            <a:endParaRPr lang="en-US" sz="1000" dirty="0"/>
          </a:p>
        </p:txBody>
      </p:sp>
      <p:sp>
        <p:nvSpPr>
          <p:cNvPr id="9" name="Shape 6"/>
          <p:cNvSpPr/>
          <p:nvPr/>
        </p:nvSpPr>
        <p:spPr>
          <a:xfrm>
            <a:off x="3291840" y="1115568"/>
            <a:ext cx="2560320" cy="1481328"/>
          </a:xfrm>
          <a:prstGeom prst="roundRect">
            <a:avLst>
              <a:gd name="adj" fmla="val 2469"/>
            </a:avLst>
          </a:prstGeom>
          <a:solidFill>
            <a:schemeClr val="bg1"/>
          </a:solidFill>
          <a:ln w="15875">
            <a:solidFill>
              <a:schemeClr val="tx1"/>
            </a:solidFill>
            <a:prstDash val="solid"/>
          </a:ln>
        </p:spPr>
      </p:sp>
      <p:sp>
        <p:nvSpPr>
          <p:cNvPr id="10" name="Shape 7"/>
          <p:cNvSpPr/>
          <p:nvPr/>
        </p:nvSpPr>
        <p:spPr>
          <a:xfrm>
            <a:off x="3291840" y="1115568"/>
            <a:ext cx="2560320" cy="256032"/>
          </a:xfrm>
          <a:prstGeom prst="rect">
            <a:avLst/>
          </a:prstGeom>
          <a:solidFill>
            <a:schemeClr val="tx1"/>
          </a:solidFill>
          <a:ln/>
        </p:spPr>
      </p:sp>
      <p:sp>
        <p:nvSpPr>
          <p:cNvPr id="11" name="Text 8"/>
          <p:cNvSpPr txBox="1"/>
          <p:nvPr/>
        </p:nvSpPr>
        <p:spPr>
          <a:xfrm>
            <a:off x="3383280" y="1115568"/>
            <a:ext cx="2377440" cy="256032"/>
          </a:xfrm>
          <a:prstGeom prst="rect">
            <a:avLst/>
          </a:prstGeom>
          <a:noFill/>
          <a:ln/>
        </p:spPr>
        <p:txBody>
          <a:bodyPr wrap="square" lIns="0" tIns="0" rIns="0" bIns="0" rtlCol="0" anchor="ctr"/>
          <a:lstStyle/>
          <a:p>
            <a:pPr marL="0" indent="0">
              <a:buNone/>
            </a:pPr>
            <a:r>
              <a:rPr lang="en-US" sz="1100" b="1" dirty="0">
                <a:solidFill>
                  <a:schemeClr val="bg1"/>
                </a:solidFill>
              </a:rPr>
              <a:t>USER  (Django auth)</a:t>
            </a:r>
            <a:endParaRPr lang="en-US" sz="1100" dirty="0"/>
          </a:p>
        </p:txBody>
      </p:sp>
      <p:sp>
        <p:nvSpPr>
          <p:cNvPr id="12" name="Text 9"/>
          <p:cNvSpPr txBox="1"/>
          <p:nvPr/>
        </p:nvSpPr>
        <p:spPr>
          <a:xfrm>
            <a:off x="3383280" y="1408176"/>
            <a:ext cx="2377440" cy="1161288"/>
          </a:xfrm>
          <a:prstGeom prst="rect">
            <a:avLst/>
          </a:prstGeom>
          <a:noFill/>
          <a:ln/>
        </p:spPr>
        <p:txBody>
          <a:bodyPr wrap="square" lIns="0" tIns="0" rIns="0" bIns="0" rtlCol="0" anchor="t"/>
          <a:lstStyle/>
          <a:p>
            <a:pPr marL="0" indent="0">
              <a:buNone/>
            </a:pPr>
            <a:r>
              <a:rPr lang="en-US" sz="1000" dirty="0">
                <a:solidFill>
                  <a:schemeClr val="accent1"/>
                </a:solidFill>
              </a:rPr>
              <a:t>PK id</a:t>
            </a:r>
            <a:endParaRPr lang="en-US" sz="1000" dirty="0"/>
          </a:p>
          <a:p>
            <a:pPr marL="0" indent="0">
              <a:buNone/>
            </a:pPr>
            <a:r>
              <a:rPr lang="en-US" sz="1000" dirty="0">
                <a:solidFill>
                  <a:schemeClr val="tx1"/>
                </a:solidFill>
              </a:rPr>
              <a:t>username, email</a:t>
            </a:r>
            <a:endParaRPr lang="en-US" sz="1000" dirty="0"/>
          </a:p>
          <a:p>
            <a:pPr marL="0" indent="0">
              <a:buNone/>
            </a:pPr>
            <a:r>
              <a:rPr lang="en-US" sz="1000" dirty="0">
                <a:solidFill>
                  <a:schemeClr val="tx1"/>
                </a:solidFill>
              </a:rPr>
              <a:t>first_name</a:t>
            </a:r>
            <a:endParaRPr lang="en-US" sz="1000" dirty="0"/>
          </a:p>
          <a:p>
            <a:pPr marL="0" indent="0">
              <a:buNone/>
            </a:pPr>
            <a:r>
              <a:rPr lang="en-US" sz="1000" dirty="0">
                <a:solidFill>
                  <a:schemeClr val="tx1"/>
                </a:solidFill>
              </a:rPr>
              <a:t>password (hashed)</a:t>
            </a:r>
            <a:endParaRPr lang="en-US" sz="1000" dirty="0"/>
          </a:p>
          <a:p>
            <a:pPr marL="0" indent="0">
              <a:buNone/>
            </a:pPr>
            <a:r>
              <a:rPr lang="en-US" sz="1000" dirty="0">
                <a:solidFill>
                  <a:schemeClr val="tx1"/>
                </a:solidFill>
              </a:rPr>
              <a:t>is_staff, is_superuser</a:t>
            </a:r>
            <a:endParaRPr lang="en-US" sz="1000" dirty="0"/>
          </a:p>
        </p:txBody>
      </p:sp>
      <p:sp>
        <p:nvSpPr>
          <p:cNvPr id="13" name="Shape 10"/>
          <p:cNvSpPr/>
          <p:nvPr/>
        </p:nvSpPr>
        <p:spPr>
          <a:xfrm>
            <a:off x="6126480" y="1115567"/>
            <a:ext cx="2560320" cy="1517903"/>
          </a:xfrm>
          <a:prstGeom prst="roundRect">
            <a:avLst>
              <a:gd name="adj" fmla="val 2469"/>
            </a:avLst>
          </a:prstGeom>
          <a:solidFill>
            <a:schemeClr val="bg1"/>
          </a:solidFill>
          <a:ln w="15875">
            <a:solidFill>
              <a:schemeClr val="tx1"/>
            </a:solidFill>
            <a:prstDash val="solid"/>
          </a:ln>
        </p:spPr>
      </p:sp>
      <p:sp>
        <p:nvSpPr>
          <p:cNvPr id="14" name="Shape 11"/>
          <p:cNvSpPr/>
          <p:nvPr/>
        </p:nvSpPr>
        <p:spPr>
          <a:xfrm>
            <a:off x="6126480" y="1115568"/>
            <a:ext cx="2560320" cy="256032"/>
          </a:xfrm>
          <a:prstGeom prst="rect">
            <a:avLst/>
          </a:prstGeom>
          <a:solidFill>
            <a:schemeClr val="tx1"/>
          </a:solidFill>
          <a:ln/>
        </p:spPr>
        <p:txBody>
          <a:bodyPr/>
          <a:lstStyle/>
          <a:p>
            <a:endParaRPr lang="en-IN"/>
          </a:p>
        </p:txBody>
      </p:sp>
      <p:sp>
        <p:nvSpPr>
          <p:cNvPr id="15" name="Text 12"/>
          <p:cNvSpPr txBox="1"/>
          <p:nvPr/>
        </p:nvSpPr>
        <p:spPr>
          <a:xfrm>
            <a:off x="6217920" y="1115568"/>
            <a:ext cx="2377440" cy="256032"/>
          </a:xfrm>
          <a:prstGeom prst="rect">
            <a:avLst/>
          </a:prstGeom>
          <a:noFill/>
          <a:ln/>
        </p:spPr>
        <p:txBody>
          <a:bodyPr wrap="square" lIns="0" tIns="0" rIns="0" bIns="0" rtlCol="0" anchor="ctr"/>
          <a:lstStyle/>
          <a:p>
            <a:pPr marL="0" indent="0">
              <a:buNone/>
            </a:pPr>
            <a:r>
              <a:rPr lang="en-US" sz="1100" b="1" dirty="0">
                <a:solidFill>
                  <a:schemeClr val="bg1"/>
                </a:solidFill>
              </a:rPr>
              <a:t>RIDE_GROUP</a:t>
            </a:r>
            <a:endParaRPr lang="en-US" sz="1100" dirty="0"/>
          </a:p>
        </p:txBody>
      </p:sp>
      <p:sp>
        <p:nvSpPr>
          <p:cNvPr id="16" name="Text 13"/>
          <p:cNvSpPr txBox="1"/>
          <p:nvPr/>
        </p:nvSpPr>
        <p:spPr>
          <a:xfrm>
            <a:off x="6217920" y="1408176"/>
            <a:ext cx="2377440" cy="1161288"/>
          </a:xfrm>
          <a:prstGeom prst="rect">
            <a:avLst/>
          </a:prstGeom>
          <a:noFill/>
          <a:ln/>
        </p:spPr>
        <p:txBody>
          <a:bodyPr wrap="square" lIns="0" tIns="0" rIns="0" bIns="0" rtlCol="0" anchor="t"/>
          <a:lstStyle/>
          <a:p>
            <a:pPr marL="0" indent="0">
              <a:buNone/>
            </a:pPr>
            <a:r>
              <a:rPr lang="en-US" sz="1000" dirty="0">
                <a:solidFill>
                  <a:schemeClr val="accent1"/>
                </a:solidFill>
              </a:rPr>
              <a:t>PK id</a:t>
            </a:r>
            <a:endParaRPr lang="en-US" sz="1000" dirty="0"/>
          </a:p>
          <a:p>
            <a:pPr marL="0" indent="0">
              <a:buNone/>
            </a:pPr>
            <a:r>
              <a:rPr lang="en-US" sz="1000" dirty="0">
                <a:solidFill>
                  <a:schemeClr val="tx1"/>
                </a:solidFill>
              </a:rPr>
              <a:t>name, join_code (unique)</a:t>
            </a:r>
            <a:endParaRPr lang="en-US" sz="1000" dirty="0"/>
          </a:p>
          <a:p>
            <a:pPr marL="0" indent="0">
              <a:buNone/>
            </a:pPr>
            <a:r>
              <a:rPr lang="en-US" sz="1000" dirty="0">
                <a:solidFill>
                  <a:schemeClr val="accent1"/>
                </a:solidFill>
              </a:rPr>
              <a:t>FK created_by</a:t>
            </a:r>
            <a:endParaRPr lang="en-US" sz="1000" dirty="0"/>
          </a:p>
          <a:p>
            <a:pPr marL="0" indent="0">
              <a:buNone/>
            </a:pPr>
            <a:r>
              <a:rPr lang="en-US" sz="1000" dirty="0">
                <a:solidFill>
                  <a:schemeClr val="tx1"/>
                </a:solidFill>
              </a:rPr>
              <a:t>status, description</a:t>
            </a:r>
            <a:endParaRPr lang="en-US" sz="1000" dirty="0"/>
          </a:p>
          <a:p>
            <a:pPr marL="0" indent="0">
              <a:buNone/>
            </a:pPr>
            <a:r>
              <a:rPr lang="en-US" sz="1000" dirty="0">
                <a:solidFill>
                  <a:schemeClr val="tx1"/>
                </a:solidFill>
              </a:rPr>
              <a:t>destination_name, lat, lng</a:t>
            </a:r>
            <a:endParaRPr lang="en-US" sz="1000" dirty="0"/>
          </a:p>
          <a:p>
            <a:pPr marL="0" indent="0">
              <a:buNone/>
            </a:pPr>
            <a:r>
              <a:rPr lang="en-US" sz="1000" dirty="0">
                <a:solidFill>
                  <a:schemeClr val="tx1"/>
                </a:solidFill>
              </a:rPr>
              <a:t>planned_route (JSON)</a:t>
            </a:r>
            <a:endParaRPr lang="en-US" sz="1000" dirty="0"/>
          </a:p>
          <a:p>
            <a:pPr marL="0" indent="0">
              <a:buNone/>
            </a:pPr>
            <a:r>
              <a:rPr lang="en-US" sz="1000" dirty="0">
                <a:solidFill>
                  <a:schemeClr val="tx1"/>
                </a:solidFill>
              </a:rPr>
              <a:t>route_distance_m, duration_s</a:t>
            </a:r>
            <a:endParaRPr lang="en-US" sz="1000" dirty="0"/>
          </a:p>
          <a:p>
            <a:pPr marL="0" indent="0">
              <a:buNone/>
            </a:pPr>
            <a:r>
              <a:rPr lang="en-US" sz="1000" dirty="0">
                <a:solidFill>
                  <a:schemeClr val="tx1"/>
                </a:solidFill>
              </a:rPr>
              <a:t>started_at, ended_at</a:t>
            </a:r>
            <a:endParaRPr lang="en-US" sz="1000" dirty="0"/>
          </a:p>
        </p:txBody>
      </p:sp>
      <p:sp>
        <p:nvSpPr>
          <p:cNvPr id="17" name="Shape 14"/>
          <p:cNvSpPr/>
          <p:nvPr/>
        </p:nvSpPr>
        <p:spPr>
          <a:xfrm>
            <a:off x="457200" y="2926080"/>
            <a:ext cx="2560320" cy="1481328"/>
          </a:xfrm>
          <a:prstGeom prst="roundRect">
            <a:avLst>
              <a:gd name="adj" fmla="val 2469"/>
            </a:avLst>
          </a:prstGeom>
          <a:solidFill>
            <a:schemeClr val="bg1"/>
          </a:solidFill>
          <a:ln w="15875">
            <a:solidFill>
              <a:schemeClr val="tx1"/>
            </a:solidFill>
            <a:prstDash val="solid"/>
          </a:ln>
        </p:spPr>
      </p:sp>
      <p:sp>
        <p:nvSpPr>
          <p:cNvPr id="18" name="Shape 15"/>
          <p:cNvSpPr/>
          <p:nvPr/>
        </p:nvSpPr>
        <p:spPr>
          <a:xfrm>
            <a:off x="457200" y="2926080"/>
            <a:ext cx="2560320" cy="256032"/>
          </a:xfrm>
          <a:prstGeom prst="rect">
            <a:avLst/>
          </a:prstGeom>
          <a:solidFill>
            <a:schemeClr val="tx1"/>
          </a:solidFill>
          <a:ln/>
        </p:spPr>
      </p:sp>
      <p:sp>
        <p:nvSpPr>
          <p:cNvPr id="19" name="Text 16"/>
          <p:cNvSpPr txBox="1"/>
          <p:nvPr/>
        </p:nvSpPr>
        <p:spPr>
          <a:xfrm>
            <a:off x="548640" y="2926080"/>
            <a:ext cx="2377440" cy="256032"/>
          </a:xfrm>
          <a:prstGeom prst="rect">
            <a:avLst/>
          </a:prstGeom>
          <a:noFill/>
          <a:ln/>
        </p:spPr>
        <p:txBody>
          <a:bodyPr wrap="square" lIns="0" tIns="0" rIns="0" bIns="0" rtlCol="0" anchor="ctr"/>
          <a:lstStyle/>
          <a:p>
            <a:pPr marL="0" indent="0">
              <a:buNone/>
            </a:pPr>
            <a:r>
              <a:rPr lang="en-US" sz="1100" b="1" dirty="0">
                <a:solidFill>
                  <a:schemeClr val="bg1"/>
                </a:solidFill>
              </a:rPr>
              <a:t>LOCATION_LOG</a:t>
            </a:r>
            <a:endParaRPr lang="en-US" sz="1100" dirty="0"/>
          </a:p>
        </p:txBody>
      </p:sp>
      <p:sp>
        <p:nvSpPr>
          <p:cNvPr id="20" name="Text 17"/>
          <p:cNvSpPr txBox="1"/>
          <p:nvPr/>
        </p:nvSpPr>
        <p:spPr>
          <a:xfrm>
            <a:off x="548640" y="3218688"/>
            <a:ext cx="2377440" cy="1161288"/>
          </a:xfrm>
          <a:prstGeom prst="rect">
            <a:avLst/>
          </a:prstGeom>
          <a:noFill/>
          <a:ln/>
        </p:spPr>
        <p:txBody>
          <a:bodyPr wrap="square" lIns="0" tIns="0" rIns="0" bIns="0" rtlCol="0" anchor="t"/>
          <a:lstStyle/>
          <a:p>
            <a:pPr marL="0" indent="0">
              <a:buNone/>
            </a:pPr>
            <a:r>
              <a:rPr lang="en-US" sz="1000" dirty="0">
                <a:solidFill>
                  <a:schemeClr val="accent1"/>
                </a:solidFill>
              </a:rPr>
              <a:t>PK id</a:t>
            </a:r>
            <a:endParaRPr lang="en-US" sz="1000" dirty="0"/>
          </a:p>
          <a:p>
            <a:pPr marL="0" indent="0">
              <a:buNone/>
            </a:pPr>
            <a:r>
              <a:rPr lang="en-US" sz="1000" dirty="0">
                <a:solidFill>
                  <a:schemeClr val="accent1"/>
                </a:solidFill>
              </a:rPr>
              <a:t>FK ride_member</a:t>
            </a:r>
            <a:endParaRPr lang="en-US" sz="1000" dirty="0"/>
          </a:p>
          <a:p>
            <a:pPr marL="0" indent="0">
              <a:buNone/>
            </a:pPr>
            <a:r>
              <a:rPr lang="en-US" sz="1000" dirty="0">
                <a:solidFill>
                  <a:schemeClr val="tx1"/>
                </a:solidFill>
              </a:rPr>
              <a:t>latitude, longitude</a:t>
            </a:r>
            <a:endParaRPr lang="en-US" sz="1000" dirty="0"/>
          </a:p>
          <a:p>
            <a:pPr marL="0" indent="0">
              <a:buNone/>
            </a:pPr>
            <a:r>
              <a:rPr lang="en-US" sz="1000" dirty="0">
                <a:solidFill>
                  <a:schemeClr val="tx1"/>
                </a:solidFill>
              </a:rPr>
              <a:t>speed, accuracy, heading</a:t>
            </a:r>
            <a:endParaRPr lang="en-US" sz="1000" dirty="0"/>
          </a:p>
          <a:p>
            <a:pPr marL="0" indent="0">
              <a:buNone/>
            </a:pPr>
            <a:r>
              <a:rPr lang="en-US" sz="1000" dirty="0">
                <a:solidFill>
                  <a:schemeClr val="tx1"/>
                </a:solidFill>
              </a:rPr>
              <a:t>timestamp</a:t>
            </a:r>
            <a:endParaRPr lang="en-US" sz="1000" dirty="0"/>
          </a:p>
        </p:txBody>
      </p:sp>
      <p:sp>
        <p:nvSpPr>
          <p:cNvPr id="21" name="Shape 18"/>
          <p:cNvSpPr/>
          <p:nvPr/>
        </p:nvSpPr>
        <p:spPr>
          <a:xfrm>
            <a:off x="3291840" y="2926080"/>
            <a:ext cx="2560320" cy="1481328"/>
          </a:xfrm>
          <a:prstGeom prst="roundRect">
            <a:avLst>
              <a:gd name="adj" fmla="val 2469"/>
            </a:avLst>
          </a:prstGeom>
          <a:solidFill>
            <a:schemeClr val="bg1"/>
          </a:solidFill>
          <a:ln w="15875">
            <a:solidFill>
              <a:schemeClr val="accent1"/>
            </a:solidFill>
            <a:prstDash val="solid"/>
          </a:ln>
        </p:spPr>
      </p:sp>
      <p:sp>
        <p:nvSpPr>
          <p:cNvPr id="22" name="Shape 19"/>
          <p:cNvSpPr/>
          <p:nvPr/>
        </p:nvSpPr>
        <p:spPr>
          <a:xfrm>
            <a:off x="3291840" y="2926080"/>
            <a:ext cx="2560320" cy="256032"/>
          </a:xfrm>
          <a:prstGeom prst="rect">
            <a:avLst/>
          </a:prstGeom>
          <a:solidFill>
            <a:schemeClr val="accent1"/>
          </a:solidFill>
          <a:ln/>
        </p:spPr>
      </p:sp>
      <p:sp>
        <p:nvSpPr>
          <p:cNvPr id="23" name="Text 20"/>
          <p:cNvSpPr txBox="1"/>
          <p:nvPr/>
        </p:nvSpPr>
        <p:spPr>
          <a:xfrm>
            <a:off x="3383280" y="2926080"/>
            <a:ext cx="2377440" cy="256032"/>
          </a:xfrm>
          <a:prstGeom prst="rect">
            <a:avLst/>
          </a:prstGeom>
          <a:noFill/>
          <a:ln/>
        </p:spPr>
        <p:txBody>
          <a:bodyPr wrap="square" lIns="0" tIns="0" rIns="0" bIns="0" rtlCol="0" anchor="ctr"/>
          <a:lstStyle/>
          <a:p>
            <a:pPr marL="0" indent="0">
              <a:buNone/>
            </a:pPr>
            <a:r>
              <a:rPr lang="en-US" sz="1100" b="1" dirty="0">
                <a:solidFill>
                  <a:schemeClr val="bg1"/>
                </a:solidFill>
              </a:rPr>
              <a:t>RIDE_MEMBER</a:t>
            </a:r>
            <a:endParaRPr lang="en-US" sz="1100" dirty="0"/>
          </a:p>
        </p:txBody>
      </p:sp>
      <p:sp>
        <p:nvSpPr>
          <p:cNvPr id="24" name="Text 21"/>
          <p:cNvSpPr txBox="1"/>
          <p:nvPr/>
        </p:nvSpPr>
        <p:spPr>
          <a:xfrm>
            <a:off x="3383280" y="3218688"/>
            <a:ext cx="2377440" cy="1161288"/>
          </a:xfrm>
          <a:prstGeom prst="rect">
            <a:avLst/>
          </a:prstGeom>
          <a:noFill/>
          <a:ln/>
        </p:spPr>
        <p:txBody>
          <a:bodyPr wrap="square" lIns="0" tIns="0" rIns="0" bIns="0" rtlCol="0" anchor="t"/>
          <a:lstStyle/>
          <a:p>
            <a:pPr marL="0" indent="0">
              <a:buNone/>
            </a:pPr>
            <a:r>
              <a:rPr lang="en-US" sz="1000" dirty="0">
                <a:solidFill>
                  <a:schemeClr val="accent1"/>
                </a:solidFill>
              </a:rPr>
              <a:t>PK id</a:t>
            </a:r>
            <a:endParaRPr lang="en-US" sz="1000" dirty="0"/>
          </a:p>
          <a:p>
            <a:pPr marL="0" indent="0">
              <a:buNone/>
            </a:pPr>
            <a:r>
              <a:rPr lang="en-US" sz="1000" dirty="0">
                <a:solidFill>
                  <a:schemeClr val="accent1"/>
                </a:solidFill>
              </a:rPr>
              <a:t>FK group, FK user (unique pair)</a:t>
            </a:r>
            <a:endParaRPr lang="en-US" sz="1000" dirty="0"/>
          </a:p>
          <a:p>
            <a:pPr marL="0" indent="0">
              <a:buNone/>
            </a:pPr>
            <a:r>
              <a:rPr lang="en-US" sz="1000" dirty="0">
                <a:solidFill>
                  <a:schemeClr val="tx1"/>
                </a:solidFill>
              </a:rPr>
              <a:t>role (LEADER / RIDER)</a:t>
            </a:r>
            <a:endParaRPr lang="en-US" sz="1000" dirty="0"/>
          </a:p>
          <a:p>
            <a:pPr marL="0" indent="0">
              <a:buNone/>
            </a:pPr>
            <a:r>
              <a:rPr lang="en-US" sz="1000" dirty="0">
                <a:solidFill>
                  <a:schemeClr val="tx1"/>
                </a:solidFill>
              </a:rPr>
              <a:t>status, is_connected</a:t>
            </a:r>
            <a:endParaRPr lang="en-US" sz="1000" dirty="0"/>
          </a:p>
          <a:p>
            <a:pPr marL="0" indent="0">
              <a:buNone/>
            </a:pPr>
            <a:r>
              <a:rPr lang="en-US" sz="1000" dirty="0">
                <a:solidFill>
                  <a:schemeClr val="tx1"/>
                </a:solidFill>
              </a:rPr>
              <a:t>last_seen, route_deviation</a:t>
            </a:r>
            <a:endParaRPr lang="en-US" sz="1000" dirty="0"/>
          </a:p>
          <a:p>
            <a:pPr marL="0" indent="0">
              <a:buNone/>
            </a:pPr>
            <a:r>
              <a:rPr lang="en-US" sz="1000" dirty="0">
                <a:solidFill>
                  <a:schemeClr val="tx1"/>
                </a:solidFill>
              </a:rPr>
              <a:t>joined_at, left_at</a:t>
            </a:r>
            <a:endParaRPr lang="en-US" sz="1000" dirty="0"/>
          </a:p>
        </p:txBody>
      </p:sp>
      <p:sp>
        <p:nvSpPr>
          <p:cNvPr id="25" name="Shape 22"/>
          <p:cNvSpPr/>
          <p:nvPr/>
        </p:nvSpPr>
        <p:spPr>
          <a:xfrm>
            <a:off x="6126480" y="2926080"/>
            <a:ext cx="2560320" cy="1481328"/>
          </a:xfrm>
          <a:prstGeom prst="roundRect">
            <a:avLst>
              <a:gd name="adj" fmla="val 2469"/>
            </a:avLst>
          </a:prstGeom>
          <a:solidFill>
            <a:schemeClr val="bg1"/>
          </a:solidFill>
          <a:ln w="15875">
            <a:solidFill>
              <a:schemeClr val="tx1"/>
            </a:solidFill>
            <a:prstDash val="solid"/>
          </a:ln>
        </p:spPr>
      </p:sp>
      <p:sp>
        <p:nvSpPr>
          <p:cNvPr id="26" name="Shape 23"/>
          <p:cNvSpPr/>
          <p:nvPr/>
        </p:nvSpPr>
        <p:spPr>
          <a:xfrm>
            <a:off x="6126480" y="2926080"/>
            <a:ext cx="2560320" cy="256032"/>
          </a:xfrm>
          <a:prstGeom prst="rect">
            <a:avLst/>
          </a:prstGeom>
          <a:solidFill>
            <a:schemeClr val="tx1"/>
          </a:solidFill>
          <a:ln/>
        </p:spPr>
      </p:sp>
      <p:sp>
        <p:nvSpPr>
          <p:cNvPr id="27" name="Text 24"/>
          <p:cNvSpPr txBox="1"/>
          <p:nvPr/>
        </p:nvSpPr>
        <p:spPr>
          <a:xfrm>
            <a:off x="6217920" y="2926080"/>
            <a:ext cx="2377440" cy="256032"/>
          </a:xfrm>
          <a:prstGeom prst="rect">
            <a:avLst/>
          </a:prstGeom>
          <a:noFill/>
          <a:ln/>
        </p:spPr>
        <p:txBody>
          <a:bodyPr wrap="square" lIns="0" tIns="0" rIns="0" bIns="0" rtlCol="0" anchor="ctr"/>
          <a:lstStyle/>
          <a:p>
            <a:pPr marL="0" indent="0">
              <a:buNone/>
            </a:pPr>
            <a:r>
              <a:rPr lang="en-US" sz="1100" b="1" dirty="0">
                <a:solidFill>
                  <a:schemeClr val="bg1"/>
                </a:solidFill>
              </a:rPr>
              <a:t>SOS_ALERT</a:t>
            </a:r>
            <a:endParaRPr lang="en-US" sz="1100" dirty="0"/>
          </a:p>
        </p:txBody>
      </p:sp>
      <p:sp>
        <p:nvSpPr>
          <p:cNvPr id="28" name="Text 25"/>
          <p:cNvSpPr txBox="1"/>
          <p:nvPr/>
        </p:nvSpPr>
        <p:spPr>
          <a:xfrm>
            <a:off x="6217920" y="3218688"/>
            <a:ext cx="2377440" cy="1161288"/>
          </a:xfrm>
          <a:prstGeom prst="rect">
            <a:avLst/>
          </a:prstGeom>
          <a:noFill/>
          <a:ln/>
        </p:spPr>
        <p:txBody>
          <a:bodyPr wrap="square" lIns="0" tIns="0" rIns="0" bIns="0" rtlCol="0" anchor="t"/>
          <a:lstStyle/>
          <a:p>
            <a:pPr marL="0" indent="0">
              <a:buNone/>
            </a:pPr>
            <a:r>
              <a:rPr lang="en-US" sz="1000" dirty="0">
                <a:solidFill>
                  <a:schemeClr val="accent1"/>
                </a:solidFill>
              </a:rPr>
              <a:t>PK id</a:t>
            </a:r>
            <a:endParaRPr lang="en-US" sz="1000" dirty="0"/>
          </a:p>
          <a:p>
            <a:pPr marL="0" indent="0">
              <a:buNone/>
            </a:pPr>
            <a:r>
              <a:rPr lang="en-US" sz="1000" dirty="0">
                <a:solidFill>
                  <a:schemeClr val="accent1"/>
                </a:solidFill>
              </a:rPr>
              <a:t>FK ride_member</a:t>
            </a:r>
            <a:endParaRPr lang="en-US" sz="1000" dirty="0"/>
          </a:p>
          <a:p>
            <a:pPr marL="0" indent="0">
              <a:buNone/>
            </a:pPr>
            <a:r>
              <a:rPr lang="en-US" sz="1000" dirty="0">
                <a:solidFill>
                  <a:schemeClr val="tx1"/>
                </a:solidFill>
              </a:rPr>
              <a:t>latitude, longitude, message</a:t>
            </a:r>
            <a:endParaRPr lang="en-US" sz="1000" dirty="0"/>
          </a:p>
          <a:p>
            <a:pPr marL="0" indent="0">
              <a:buNone/>
            </a:pPr>
            <a:r>
              <a:rPr lang="en-US" sz="1000" dirty="0">
                <a:solidFill>
                  <a:schemeClr val="tx1"/>
                </a:solidFill>
              </a:rPr>
              <a:t>status (ACTIVE / ACK / RESOLVED)</a:t>
            </a:r>
            <a:endParaRPr lang="en-US" sz="1000" dirty="0"/>
          </a:p>
          <a:p>
            <a:pPr marL="0" indent="0">
              <a:buNone/>
            </a:pPr>
            <a:r>
              <a:rPr lang="en-US" sz="1000" dirty="0">
                <a:solidFill>
                  <a:schemeClr val="tx1"/>
                </a:solidFill>
              </a:rPr>
              <a:t>timestamp</a:t>
            </a:r>
            <a:endParaRPr lang="en-US" sz="1000" dirty="0"/>
          </a:p>
          <a:p>
            <a:pPr marL="0" indent="0">
              <a:buNone/>
            </a:pPr>
            <a:r>
              <a:rPr lang="en-US" sz="1000" dirty="0">
                <a:solidFill>
                  <a:schemeClr val="accent1"/>
                </a:solidFill>
              </a:rPr>
              <a:t>FK resolved_by, resolved_at</a:t>
            </a:r>
            <a:endParaRPr lang="en-US" sz="1000" dirty="0"/>
          </a:p>
        </p:txBody>
      </p:sp>
      <p:sp>
        <p:nvSpPr>
          <p:cNvPr id="29" name="Shape 26"/>
          <p:cNvSpPr/>
          <p:nvPr/>
        </p:nvSpPr>
        <p:spPr>
          <a:xfrm>
            <a:off x="3017520" y="1847088"/>
            <a:ext cx="274320" cy="0"/>
          </a:xfrm>
          <a:prstGeom prst="line">
            <a:avLst/>
          </a:prstGeom>
          <a:noFill/>
          <a:ln w="15875">
            <a:solidFill>
              <a:schemeClr val="tx1"/>
            </a:solidFill>
            <a:prstDash val="solid"/>
          </a:ln>
        </p:spPr>
      </p:sp>
      <p:sp>
        <p:nvSpPr>
          <p:cNvPr id="30" name="Text 27"/>
          <p:cNvSpPr txBox="1"/>
          <p:nvPr/>
        </p:nvSpPr>
        <p:spPr>
          <a:xfrm>
            <a:off x="2926080" y="1645920"/>
            <a:ext cx="457200" cy="164592"/>
          </a:xfrm>
          <a:prstGeom prst="rect">
            <a:avLst/>
          </a:prstGeom>
          <a:noFill/>
          <a:ln/>
        </p:spPr>
        <p:txBody>
          <a:bodyPr wrap="square" lIns="0" tIns="0" rIns="0" bIns="0" rtlCol="0" anchor="t"/>
          <a:lstStyle/>
          <a:p>
            <a:pPr marL="0" indent="0" algn="ctr">
              <a:buNone/>
            </a:pPr>
            <a:r>
              <a:rPr lang="en-US" sz="1000" b="1" dirty="0">
                <a:solidFill>
                  <a:schemeClr val="accent1"/>
                </a:solidFill>
              </a:rPr>
              <a:t>1:1</a:t>
            </a:r>
            <a:endParaRPr lang="en-US" sz="1000" dirty="0"/>
          </a:p>
        </p:txBody>
      </p:sp>
      <p:sp>
        <p:nvSpPr>
          <p:cNvPr id="31" name="Shape 28"/>
          <p:cNvSpPr/>
          <p:nvPr/>
        </p:nvSpPr>
        <p:spPr>
          <a:xfrm>
            <a:off x="5852160" y="1847088"/>
            <a:ext cx="274320" cy="0"/>
          </a:xfrm>
          <a:prstGeom prst="line">
            <a:avLst/>
          </a:prstGeom>
          <a:noFill/>
          <a:ln w="15875">
            <a:solidFill>
              <a:schemeClr val="tx1"/>
            </a:solidFill>
            <a:prstDash val="solid"/>
          </a:ln>
        </p:spPr>
      </p:sp>
      <p:sp>
        <p:nvSpPr>
          <p:cNvPr id="32" name="Text 29"/>
          <p:cNvSpPr txBox="1"/>
          <p:nvPr/>
        </p:nvSpPr>
        <p:spPr>
          <a:xfrm>
            <a:off x="5760720" y="1645920"/>
            <a:ext cx="457200" cy="164592"/>
          </a:xfrm>
          <a:prstGeom prst="rect">
            <a:avLst/>
          </a:prstGeom>
          <a:noFill/>
          <a:ln/>
        </p:spPr>
        <p:txBody>
          <a:bodyPr wrap="square" lIns="0" tIns="0" rIns="0" bIns="0" rtlCol="0" anchor="t"/>
          <a:lstStyle/>
          <a:p>
            <a:pPr marL="0" indent="0" algn="ctr">
              <a:buNone/>
            </a:pPr>
            <a:r>
              <a:rPr lang="en-US" sz="1000" b="1" dirty="0">
                <a:solidFill>
                  <a:schemeClr val="accent1"/>
                </a:solidFill>
              </a:rPr>
              <a:t>1:N</a:t>
            </a:r>
            <a:endParaRPr lang="en-US" sz="1000" dirty="0"/>
          </a:p>
        </p:txBody>
      </p:sp>
      <p:sp>
        <p:nvSpPr>
          <p:cNvPr id="33" name="Shape 30"/>
          <p:cNvSpPr/>
          <p:nvPr/>
        </p:nvSpPr>
        <p:spPr>
          <a:xfrm>
            <a:off x="4572000" y="2596896"/>
            <a:ext cx="0" cy="329184"/>
          </a:xfrm>
          <a:prstGeom prst="line">
            <a:avLst/>
          </a:prstGeom>
          <a:noFill/>
          <a:ln w="15875">
            <a:solidFill>
              <a:schemeClr val="tx1"/>
            </a:solidFill>
            <a:prstDash val="solid"/>
          </a:ln>
        </p:spPr>
      </p:sp>
      <p:sp>
        <p:nvSpPr>
          <p:cNvPr id="34" name="Text 31"/>
          <p:cNvSpPr txBox="1"/>
          <p:nvPr/>
        </p:nvSpPr>
        <p:spPr>
          <a:xfrm>
            <a:off x="4617720" y="2642616"/>
            <a:ext cx="457200" cy="164592"/>
          </a:xfrm>
          <a:prstGeom prst="rect">
            <a:avLst/>
          </a:prstGeom>
          <a:noFill/>
          <a:ln/>
        </p:spPr>
        <p:txBody>
          <a:bodyPr wrap="square" lIns="0" tIns="0" rIns="0" bIns="0" rtlCol="0" anchor="t"/>
          <a:lstStyle/>
          <a:p>
            <a:pPr marL="0" indent="0" algn="ctr">
              <a:buNone/>
            </a:pPr>
            <a:r>
              <a:rPr lang="en-US" sz="1000" b="1" dirty="0">
                <a:solidFill>
                  <a:schemeClr val="accent1"/>
                </a:solidFill>
              </a:rPr>
              <a:t>1:N</a:t>
            </a:r>
            <a:endParaRPr lang="en-US" sz="1000" dirty="0"/>
          </a:p>
        </p:txBody>
      </p:sp>
      <p:sp>
        <p:nvSpPr>
          <p:cNvPr id="35" name="Shape 32"/>
          <p:cNvSpPr/>
          <p:nvPr/>
        </p:nvSpPr>
        <p:spPr>
          <a:xfrm flipH="1">
            <a:off x="5486400" y="2596896"/>
            <a:ext cx="1097280" cy="329184"/>
          </a:xfrm>
          <a:prstGeom prst="line">
            <a:avLst/>
          </a:prstGeom>
          <a:noFill/>
          <a:ln w="15875">
            <a:solidFill>
              <a:schemeClr val="tx1"/>
            </a:solidFill>
            <a:prstDash val="solid"/>
          </a:ln>
        </p:spPr>
      </p:sp>
      <p:sp>
        <p:nvSpPr>
          <p:cNvPr id="36" name="Text 33"/>
          <p:cNvSpPr txBox="1"/>
          <p:nvPr/>
        </p:nvSpPr>
        <p:spPr>
          <a:xfrm>
            <a:off x="6080760" y="2670048"/>
            <a:ext cx="457200" cy="164592"/>
          </a:xfrm>
          <a:prstGeom prst="rect">
            <a:avLst/>
          </a:prstGeom>
          <a:noFill/>
          <a:ln/>
        </p:spPr>
        <p:txBody>
          <a:bodyPr wrap="square" lIns="0" tIns="0" rIns="0" bIns="0" rtlCol="0" anchor="t"/>
          <a:lstStyle/>
          <a:p>
            <a:pPr marL="0" indent="0" algn="ctr">
              <a:buNone/>
            </a:pPr>
            <a:r>
              <a:rPr lang="en-US" sz="1000" b="1" dirty="0">
                <a:solidFill>
                  <a:schemeClr val="accent1"/>
                </a:solidFill>
              </a:rPr>
              <a:t>1:N</a:t>
            </a:r>
            <a:endParaRPr lang="en-US" sz="1000" dirty="0"/>
          </a:p>
        </p:txBody>
      </p:sp>
      <p:sp>
        <p:nvSpPr>
          <p:cNvPr id="37" name="Shape 34"/>
          <p:cNvSpPr/>
          <p:nvPr/>
        </p:nvSpPr>
        <p:spPr>
          <a:xfrm flipH="1">
            <a:off x="3017520" y="3657600"/>
            <a:ext cx="274320" cy="0"/>
          </a:xfrm>
          <a:prstGeom prst="line">
            <a:avLst/>
          </a:prstGeom>
          <a:noFill/>
          <a:ln w="15875">
            <a:solidFill>
              <a:schemeClr val="tx1"/>
            </a:solidFill>
            <a:prstDash val="solid"/>
          </a:ln>
        </p:spPr>
      </p:sp>
      <p:sp>
        <p:nvSpPr>
          <p:cNvPr id="38" name="Text 35"/>
          <p:cNvSpPr txBox="1"/>
          <p:nvPr/>
        </p:nvSpPr>
        <p:spPr>
          <a:xfrm>
            <a:off x="2926080" y="3456432"/>
            <a:ext cx="457200" cy="164592"/>
          </a:xfrm>
          <a:prstGeom prst="rect">
            <a:avLst/>
          </a:prstGeom>
          <a:noFill/>
          <a:ln/>
        </p:spPr>
        <p:txBody>
          <a:bodyPr wrap="square" lIns="0" tIns="0" rIns="0" bIns="0" rtlCol="0" anchor="t"/>
          <a:lstStyle/>
          <a:p>
            <a:pPr marL="0" indent="0" algn="ctr">
              <a:buNone/>
            </a:pPr>
            <a:r>
              <a:rPr lang="en-US" sz="1000" b="1" dirty="0">
                <a:solidFill>
                  <a:schemeClr val="accent1"/>
                </a:solidFill>
              </a:rPr>
              <a:t>1:N</a:t>
            </a:r>
            <a:endParaRPr lang="en-US" sz="1000" dirty="0"/>
          </a:p>
        </p:txBody>
      </p:sp>
      <p:sp>
        <p:nvSpPr>
          <p:cNvPr id="39" name="Shape 36"/>
          <p:cNvSpPr/>
          <p:nvPr/>
        </p:nvSpPr>
        <p:spPr>
          <a:xfrm>
            <a:off x="5852160" y="3657600"/>
            <a:ext cx="274320" cy="0"/>
          </a:xfrm>
          <a:prstGeom prst="line">
            <a:avLst/>
          </a:prstGeom>
          <a:noFill/>
          <a:ln w="15875">
            <a:solidFill>
              <a:schemeClr val="tx1"/>
            </a:solidFill>
            <a:prstDash val="solid"/>
          </a:ln>
        </p:spPr>
      </p:sp>
      <p:sp>
        <p:nvSpPr>
          <p:cNvPr id="40" name="Text 37"/>
          <p:cNvSpPr txBox="1"/>
          <p:nvPr/>
        </p:nvSpPr>
        <p:spPr>
          <a:xfrm>
            <a:off x="5760720" y="3456432"/>
            <a:ext cx="457200" cy="164592"/>
          </a:xfrm>
          <a:prstGeom prst="rect">
            <a:avLst/>
          </a:prstGeom>
          <a:noFill/>
          <a:ln/>
        </p:spPr>
        <p:txBody>
          <a:bodyPr wrap="square" lIns="0" tIns="0" rIns="0" bIns="0" rtlCol="0" anchor="t"/>
          <a:lstStyle/>
          <a:p>
            <a:pPr marL="0" indent="0" algn="ctr">
              <a:buNone/>
            </a:pPr>
            <a:r>
              <a:rPr lang="en-US" sz="1000" b="1" dirty="0">
                <a:solidFill>
                  <a:schemeClr val="accent1"/>
                </a:solidFill>
              </a:rPr>
              <a:t>1:N</a:t>
            </a:r>
            <a:endParaRPr lang="en-US" sz="1000" dirty="0"/>
          </a:p>
        </p:txBody>
      </p:sp>
      <p:sp>
        <p:nvSpPr>
          <p:cNvPr id="41" name="Text 38"/>
          <p:cNvSpPr txBox="1"/>
          <p:nvPr/>
        </p:nvSpPr>
        <p:spPr>
          <a:xfrm>
            <a:off x="457200" y="4462272"/>
            <a:ext cx="8229600" cy="274320"/>
          </a:xfrm>
          <a:prstGeom prst="rect">
            <a:avLst/>
          </a:prstGeom>
          <a:noFill/>
          <a:ln/>
        </p:spPr>
        <p:txBody>
          <a:bodyPr wrap="square" lIns="0" tIns="0" rIns="0" bIns="0" rtlCol="0" anchor="t"/>
          <a:lstStyle/>
          <a:p>
            <a:pPr marL="0" indent="0">
              <a:buNone/>
            </a:pPr>
            <a:r>
              <a:rPr lang="en-US" sz="1050" i="1" dirty="0">
                <a:solidFill>
                  <a:schemeClr val="tx2"/>
                </a:solidFill>
              </a:rPr>
              <a:t>No separate history or notification table exists: ride history is built from completed RideGroup, RideMember and LocationLog rows.</a:t>
            </a:r>
            <a:endParaRPr lang="en-US" sz="1050" dirty="0"/>
          </a:p>
        </p:txBody>
      </p:sp>
      <p:sp>
        <p:nvSpPr>
          <p:cNvPr id="4" name="Slide Number Placeholder 0"/>
          <p:cNvSpPr>
            <a:spLocks noGrp="1"/>
          </p:cNvSpPr>
          <p:nvPr>
            <p:ph type="sldNum" sz="quarter" idx="4294967295"/>
          </p:nvPr>
        </p:nvSpPr>
        <p:spPr>
          <a:xfrm>
            <a:off x="8138160" y="4791456"/>
            <a:ext cx="548640" cy="228600"/>
          </a:xfrm>
          <a:prstGeom prst="rect">
            <a:avLst/>
          </a:prstGeom>
          <a:extLst>
            <a:ext uri="{C572A759-6A51-4108-AA02-DFA0A04FC94B}">
              <ma14:wrappingTextBoxFlag xmlns:ma14="http://schemas.microsoft.com/office/mac/drawingml/2011/main" xmlns="" val="0"/>
            </a:ext>
          </a:extLst>
        </p:spPr>
        <p:txBody>
          <a:bodyPr/>
          <a:lstStyle>
            <a:lvl1pPr>
              <a:defRPr sz="1000">
                <a:solidFill>
                  <a:srgbClr val="475569"/>
                </a:solidFill>
              </a:defRPr>
            </a:lvl1pPr>
          </a:lstStyle>
          <a:p>
            <a:pPr algn="r"/>
            <a:fld id="{F7021451-1387-4CA6-816F-3879F97B5CBC}" type="slidenum">
              <a:rPr lang="en-US" b="0"/>
              <a:t>20</a:t>
            </a:fld>
            <a:endParaRPr lang="en-US"/>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0">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457200" y="420624"/>
            <a:ext cx="8229600" cy="566928"/>
          </a:xfrm>
          <a:prstGeom prst="rect">
            <a:avLst/>
          </a:prstGeom>
          <a:noFill/>
          <a:ln/>
        </p:spPr>
        <p:txBody>
          <a:bodyPr wrap="square" lIns="0" tIns="0" rIns="0" bIns="0" rtlCol="0" anchor="ctr"/>
          <a:lstStyle/>
          <a:p>
            <a:pPr marL="0" indent="0" algn="l">
              <a:buNone/>
            </a:pPr>
            <a:r>
              <a:rPr lang="en-US" sz="2800" b="1" dirty="0">
                <a:solidFill>
                  <a:schemeClr val="tx1"/>
                </a:solidFill>
              </a:rPr>
              <a:t>Core modules</a:t>
            </a:r>
            <a:endParaRPr lang="en-US" sz="2800" dirty="0"/>
          </a:p>
        </p:txBody>
      </p:sp>
      <p:sp>
        <p:nvSpPr>
          <p:cNvPr id="3" name="Text 1"/>
          <p:cNvSpPr txBox="1"/>
          <p:nvPr/>
        </p:nvSpPr>
        <p:spPr>
          <a:xfrm>
            <a:off x="457200" y="219456"/>
            <a:ext cx="5486400" cy="182880"/>
          </a:xfrm>
          <a:prstGeom prst="rect">
            <a:avLst/>
          </a:prstGeom>
          <a:noFill/>
          <a:ln/>
        </p:spPr>
        <p:txBody>
          <a:bodyPr wrap="square" lIns="0" tIns="0" rIns="0" bIns="0" rtlCol="0" anchor="t"/>
          <a:lstStyle/>
          <a:p>
            <a:pPr marL="0" indent="0">
              <a:buNone/>
            </a:pPr>
            <a:r>
              <a:rPr lang="en-US" sz="1000" b="1" kern="0" spc="200" dirty="0">
                <a:solidFill>
                  <a:schemeClr val="accent1"/>
                </a:solidFill>
              </a:rPr>
              <a:t>MODULES</a:t>
            </a:r>
            <a:endParaRPr lang="en-US" sz="1000" dirty="0"/>
          </a:p>
        </p:txBody>
      </p:sp>
      <p:sp>
        <p:nvSpPr>
          <p:cNvPr id="5" name="Shape 2"/>
          <p:cNvSpPr/>
          <p:nvPr/>
        </p:nvSpPr>
        <p:spPr>
          <a:xfrm>
            <a:off x="457200" y="1188720"/>
            <a:ext cx="1554480" cy="1645920"/>
          </a:xfrm>
          <a:prstGeom prst="roundRect">
            <a:avLst>
              <a:gd name="adj" fmla="val 4706"/>
            </a:avLst>
          </a:prstGeom>
          <a:solidFill>
            <a:schemeClr val="bg1"/>
          </a:solidFill>
          <a:ln w="12700">
            <a:solidFill>
              <a:srgbClr val="D5DCE8"/>
            </a:solidFill>
            <a:prstDash val="solid"/>
          </a:ln>
        </p:spPr>
      </p:sp>
      <p:sp>
        <p:nvSpPr>
          <p:cNvPr id="6" name="Shape 3"/>
          <p:cNvSpPr/>
          <p:nvPr/>
        </p:nvSpPr>
        <p:spPr>
          <a:xfrm>
            <a:off x="594360" y="1325880"/>
            <a:ext cx="420624" cy="420624"/>
          </a:xfrm>
          <a:prstGeom prst="ellipse">
            <a:avLst/>
          </a:prstGeom>
          <a:solidFill>
            <a:schemeClr val="accent1">
              <a:alpha val="12000"/>
            </a:schemeClr>
          </a:solidFill>
          <a:ln/>
        </p:spPr>
      </p:sp>
      <p:pic>
        <p:nvPicPr>
          <p:cNvPr id="7" name="Image 0" descr="preencoded.png"/>
          <p:cNvPicPr>
            <a:picLocks noChangeAspect="1"/>
          </p:cNvPicPr>
          <p:nvPr/>
        </p:nvPicPr>
        <p:blipFill>
          <a:blip r:embed="rId3"/>
          <a:stretch>
            <a:fillRect/>
          </a:stretch>
        </p:blipFill>
        <p:spPr>
          <a:xfrm>
            <a:off x="703722" y="1435242"/>
            <a:ext cx="201900" cy="201900"/>
          </a:xfrm>
          <a:prstGeom prst="rect">
            <a:avLst/>
          </a:prstGeom>
        </p:spPr>
      </p:pic>
      <p:sp>
        <p:nvSpPr>
          <p:cNvPr id="8" name="Text 4"/>
          <p:cNvSpPr txBox="1"/>
          <p:nvPr/>
        </p:nvSpPr>
        <p:spPr>
          <a:xfrm>
            <a:off x="594360" y="1847088"/>
            <a:ext cx="1325880" cy="274320"/>
          </a:xfrm>
          <a:prstGeom prst="rect">
            <a:avLst/>
          </a:prstGeom>
          <a:noFill/>
          <a:ln/>
        </p:spPr>
        <p:txBody>
          <a:bodyPr wrap="square" lIns="0" tIns="0" rIns="0" bIns="0" rtlCol="0" anchor="t"/>
          <a:lstStyle/>
          <a:p>
            <a:pPr marL="0" indent="0">
              <a:buNone/>
            </a:pPr>
            <a:r>
              <a:rPr lang="en-US" sz="1250" b="1" dirty="0">
                <a:solidFill>
                  <a:schemeClr val="tx1"/>
                </a:solidFill>
              </a:rPr>
              <a:t>Authentication</a:t>
            </a:r>
            <a:endParaRPr lang="en-US" sz="1250" dirty="0"/>
          </a:p>
        </p:txBody>
      </p:sp>
      <p:sp>
        <p:nvSpPr>
          <p:cNvPr id="9" name="Text 5"/>
          <p:cNvSpPr txBox="1"/>
          <p:nvPr/>
        </p:nvSpPr>
        <p:spPr>
          <a:xfrm>
            <a:off x="594360" y="2121408"/>
            <a:ext cx="1325880" cy="457200"/>
          </a:xfrm>
          <a:prstGeom prst="rect">
            <a:avLst/>
          </a:prstGeom>
          <a:noFill/>
          <a:ln/>
        </p:spPr>
        <p:txBody>
          <a:bodyPr wrap="square" lIns="0" tIns="0" rIns="0" bIns="0" rtlCol="0" anchor="t"/>
          <a:lstStyle/>
          <a:p>
            <a:pPr marL="0" indent="0">
              <a:buNone/>
            </a:pPr>
            <a:r>
              <a:rPr lang="en-US" sz="1100" dirty="0">
                <a:solidFill>
                  <a:schemeClr val="tx2"/>
                </a:solidFill>
              </a:rPr>
              <a:t>Email + password, sessions, CSRF</a:t>
            </a:r>
            <a:endParaRPr lang="en-US" sz="1100" dirty="0"/>
          </a:p>
        </p:txBody>
      </p:sp>
      <p:pic>
        <p:nvPicPr>
          <p:cNvPr id="10" name="Image 1" descr="preencoded.png"/>
          <p:cNvPicPr>
            <a:picLocks noChangeAspect="1"/>
          </p:cNvPicPr>
          <p:nvPr/>
        </p:nvPicPr>
        <p:blipFill>
          <a:blip r:embed="rId4"/>
          <a:stretch>
            <a:fillRect/>
          </a:stretch>
        </p:blipFill>
        <p:spPr>
          <a:xfrm>
            <a:off x="594360" y="2578608"/>
            <a:ext cx="164592" cy="164592"/>
          </a:xfrm>
          <a:prstGeom prst="rect">
            <a:avLst/>
          </a:prstGeom>
        </p:spPr>
      </p:pic>
      <p:sp>
        <p:nvSpPr>
          <p:cNvPr id="11" name="Text 6"/>
          <p:cNvSpPr txBox="1"/>
          <p:nvPr/>
        </p:nvSpPr>
        <p:spPr>
          <a:xfrm>
            <a:off x="822960" y="2560320"/>
            <a:ext cx="1097280" cy="201168"/>
          </a:xfrm>
          <a:prstGeom prst="rect">
            <a:avLst/>
          </a:prstGeom>
          <a:noFill/>
          <a:ln/>
        </p:spPr>
        <p:txBody>
          <a:bodyPr wrap="square" lIns="0" tIns="0" rIns="0" bIns="0" rtlCol="0" anchor="ctr"/>
          <a:lstStyle/>
          <a:p>
            <a:pPr marL="0" indent="0">
              <a:buNone/>
            </a:pPr>
            <a:r>
              <a:rPr lang="en-US" sz="1000" b="1" dirty="0">
                <a:solidFill>
                  <a:schemeClr val="accent5"/>
                </a:solidFill>
              </a:rPr>
              <a:t>Implemented</a:t>
            </a:r>
            <a:endParaRPr lang="en-US" sz="1000" dirty="0"/>
          </a:p>
        </p:txBody>
      </p:sp>
      <p:sp>
        <p:nvSpPr>
          <p:cNvPr id="12" name="Shape 7"/>
          <p:cNvSpPr/>
          <p:nvPr/>
        </p:nvSpPr>
        <p:spPr>
          <a:xfrm>
            <a:off x="2125980" y="1188720"/>
            <a:ext cx="1554480" cy="1645920"/>
          </a:xfrm>
          <a:prstGeom prst="roundRect">
            <a:avLst>
              <a:gd name="adj" fmla="val 4706"/>
            </a:avLst>
          </a:prstGeom>
          <a:solidFill>
            <a:schemeClr val="bg1"/>
          </a:solidFill>
          <a:ln w="12700">
            <a:solidFill>
              <a:srgbClr val="D5DCE8"/>
            </a:solidFill>
            <a:prstDash val="solid"/>
          </a:ln>
        </p:spPr>
      </p:sp>
      <p:sp>
        <p:nvSpPr>
          <p:cNvPr id="13" name="Shape 8"/>
          <p:cNvSpPr/>
          <p:nvPr/>
        </p:nvSpPr>
        <p:spPr>
          <a:xfrm>
            <a:off x="2263140" y="1325880"/>
            <a:ext cx="420624" cy="420624"/>
          </a:xfrm>
          <a:prstGeom prst="ellipse">
            <a:avLst/>
          </a:prstGeom>
          <a:solidFill>
            <a:schemeClr val="accent1">
              <a:alpha val="12000"/>
            </a:schemeClr>
          </a:solidFill>
          <a:ln/>
        </p:spPr>
      </p:sp>
      <p:pic>
        <p:nvPicPr>
          <p:cNvPr id="14" name="Image 2" descr="preencoded.png"/>
          <p:cNvPicPr>
            <a:picLocks noChangeAspect="1"/>
          </p:cNvPicPr>
          <p:nvPr/>
        </p:nvPicPr>
        <p:blipFill>
          <a:blip r:embed="rId5"/>
          <a:stretch>
            <a:fillRect/>
          </a:stretch>
        </p:blipFill>
        <p:spPr>
          <a:xfrm>
            <a:off x="2372502" y="1435242"/>
            <a:ext cx="201900" cy="201900"/>
          </a:xfrm>
          <a:prstGeom prst="rect">
            <a:avLst/>
          </a:prstGeom>
        </p:spPr>
      </p:pic>
      <p:sp>
        <p:nvSpPr>
          <p:cNvPr id="15" name="Text 9"/>
          <p:cNvSpPr txBox="1"/>
          <p:nvPr/>
        </p:nvSpPr>
        <p:spPr>
          <a:xfrm>
            <a:off x="2263140" y="1847088"/>
            <a:ext cx="1325880" cy="274320"/>
          </a:xfrm>
          <a:prstGeom prst="rect">
            <a:avLst/>
          </a:prstGeom>
          <a:noFill/>
          <a:ln/>
        </p:spPr>
        <p:txBody>
          <a:bodyPr wrap="square" lIns="0" tIns="0" rIns="0" bIns="0" rtlCol="0" anchor="t"/>
          <a:lstStyle/>
          <a:p>
            <a:pPr marL="0" indent="0">
              <a:buNone/>
            </a:pPr>
            <a:r>
              <a:rPr lang="en-US" sz="1250" b="1" dirty="0">
                <a:solidFill>
                  <a:schemeClr val="tx1"/>
                </a:solidFill>
              </a:rPr>
              <a:t>Ride management</a:t>
            </a:r>
            <a:endParaRPr lang="en-US" sz="1250" dirty="0"/>
          </a:p>
        </p:txBody>
      </p:sp>
      <p:sp>
        <p:nvSpPr>
          <p:cNvPr id="16" name="Text 10"/>
          <p:cNvSpPr txBox="1"/>
          <p:nvPr/>
        </p:nvSpPr>
        <p:spPr>
          <a:xfrm>
            <a:off x="2263140" y="2121408"/>
            <a:ext cx="1325880" cy="457200"/>
          </a:xfrm>
          <a:prstGeom prst="rect">
            <a:avLst/>
          </a:prstGeom>
          <a:noFill/>
          <a:ln/>
        </p:spPr>
        <p:txBody>
          <a:bodyPr wrap="square" lIns="0" tIns="0" rIns="0" bIns="0" rtlCol="0" anchor="t"/>
          <a:lstStyle/>
          <a:p>
            <a:pPr marL="0" indent="0">
              <a:buNone/>
            </a:pPr>
            <a:r>
              <a:rPr lang="en-US" sz="1100" dirty="0">
                <a:solidFill>
                  <a:schemeClr val="tx2"/>
                </a:solidFill>
              </a:rPr>
              <a:t>Create, join code, start, end</a:t>
            </a:r>
            <a:endParaRPr lang="en-US" sz="1100" dirty="0"/>
          </a:p>
        </p:txBody>
      </p:sp>
      <p:pic>
        <p:nvPicPr>
          <p:cNvPr id="17" name="Image 3" descr="preencoded.png"/>
          <p:cNvPicPr>
            <a:picLocks noChangeAspect="1"/>
          </p:cNvPicPr>
          <p:nvPr/>
        </p:nvPicPr>
        <p:blipFill>
          <a:blip r:embed="rId4"/>
          <a:stretch>
            <a:fillRect/>
          </a:stretch>
        </p:blipFill>
        <p:spPr>
          <a:xfrm>
            <a:off x="2263140" y="2578608"/>
            <a:ext cx="164592" cy="164592"/>
          </a:xfrm>
          <a:prstGeom prst="rect">
            <a:avLst/>
          </a:prstGeom>
        </p:spPr>
      </p:pic>
      <p:sp>
        <p:nvSpPr>
          <p:cNvPr id="18" name="Text 11"/>
          <p:cNvSpPr txBox="1"/>
          <p:nvPr/>
        </p:nvSpPr>
        <p:spPr>
          <a:xfrm>
            <a:off x="2491740" y="2560320"/>
            <a:ext cx="1097280" cy="201168"/>
          </a:xfrm>
          <a:prstGeom prst="rect">
            <a:avLst/>
          </a:prstGeom>
          <a:noFill/>
          <a:ln/>
        </p:spPr>
        <p:txBody>
          <a:bodyPr wrap="square" lIns="0" tIns="0" rIns="0" bIns="0" rtlCol="0" anchor="ctr"/>
          <a:lstStyle/>
          <a:p>
            <a:pPr marL="0" indent="0">
              <a:buNone/>
            </a:pPr>
            <a:r>
              <a:rPr lang="en-US" sz="1000" b="1" dirty="0">
                <a:solidFill>
                  <a:schemeClr val="accent5"/>
                </a:solidFill>
              </a:rPr>
              <a:t>Implemented</a:t>
            </a:r>
            <a:endParaRPr lang="en-US" sz="1000" dirty="0"/>
          </a:p>
        </p:txBody>
      </p:sp>
      <p:sp>
        <p:nvSpPr>
          <p:cNvPr id="19" name="Shape 12"/>
          <p:cNvSpPr/>
          <p:nvPr/>
        </p:nvSpPr>
        <p:spPr>
          <a:xfrm>
            <a:off x="3794760" y="1188720"/>
            <a:ext cx="1554480" cy="1645920"/>
          </a:xfrm>
          <a:prstGeom prst="roundRect">
            <a:avLst>
              <a:gd name="adj" fmla="val 4706"/>
            </a:avLst>
          </a:prstGeom>
          <a:solidFill>
            <a:schemeClr val="bg1"/>
          </a:solidFill>
          <a:ln w="12700">
            <a:solidFill>
              <a:srgbClr val="D5DCE8"/>
            </a:solidFill>
            <a:prstDash val="solid"/>
          </a:ln>
        </p:spPr>
      </p:sp>
      <p:sp>
        <p:nvSpPr>
          <p:cNvPr id="20" name="Shape 13"/>
          <p:cNvSpPr/>
          <p:nvPr/>
        </p:nvSpPr>
        <p:spPr>
          <a:xfrm>
            <a:off x="3931920" y="1325880"/>
            <a:ext cx="420624" cy="420624"/>
          </a:xfrm>
          <a:prstGeom prst="ellipse">
            <a:avLst/>
          </a:prstGeom>
          <a:solidFill>
            <a:schemeClr val="accent1">
              <a:alpha val="12000"/>
            </a:schemeClr>
          </a:solidFill>
          <a:ln/>
        </p:spPr>
      </p:sp>
      <p:pic>
        <p:nvPicPr>
          <p:cNvPr id="21" name="Image 4" descr="preencoded.png"/>
          <p:cNvPicPr>
            <a:picLocks noChangeAspect="1"/>
          </p:cNvPicPr>
          <p:nvPr/>
        </p:nvPicPr>
        <p:blipFill>
          <a:blip r:embed="rId6"/>
          <a:stretch>
            <a:fillRect/>
          </a:stretch>
        </p:blipFill>
        <p:spPr>
          <a:xfrm>
            <a:off x="4041282" y="1435242"/>
            <a:ext cx="201900" cy="201900"/>
          </a:xfrm>
          <a:prstGeom prst="rect">
            <a:avLst/>
          </a:prstGeom>
        </p:spPr>
      </p:pic>
      <p:sp>
        <p:nvSpPr>
          <p:cNvPr id="22" name="Text 14"/>
          <p:cNvSpPr txBox="1"/>
          <p:nvPr/>
        </p:nvSpPr>
        <p:spPr>
          <a:xfrm>
            <a:off x="3931920" y="1847088"/>
            <a:ext cx="1325880" cy="274320"/>
          </a:xfrm>
          <a:prstGeom prst="rect">
            <a:avLst/>
          </a:prstGeom>
          <a:noFill/>
          <a:ln/>
        </p:spPr>
        <p:txBody>
          <a:bodyPr wrap="square" lIns="0" tIns="0" rIns="0" bIns="0" rtlCol="0" anchor="t"/>
          <a:lstStyle/>
          <a:p>
            <a:pPr marL="0" indent="0">
              <a:buNone/>
            </a:pPr>
            <a:r>
              <a:rPr lang="en-US" sz="1250" b="1" dirty="0">
                <a:solidFill>
                  <a:schemeClr val="tx1"/>
                </a:solidFill>
              </a:rPr>
              <a:t>GPS tracking</a:t>
            </a:r>
            <a:endParaRPr lang="en-US" sz="1250" dirty="0"/>
          </a:p>
        </p:txBody>
      </p:sp>
      <p:sp>
        <p:nvSpPr>
          <p:cNvPr id="23" name="Text 15"/>
          <p:cNvSpPr txBox="1"/>
          <p:nvPr/>
        </p:nvSpPr>
        <p:spPr>
          <a:xfrm>
            <a:off x="3931920" y="2121408"/>
            <a:ext cx="1325880" cy="457200"/>
          </a:xfrm>
          <a:prstGeom prst="rect">
            <a:avLst/>
          </a:prstGeom>
          <a:noFill/>
          <a:ln/>
        </p:spPr>
        <p:txBody>
          <a:bodyPr wrap="square" lIns="0" tIns="0" rIns="0" bIns="0" rtlCol="0" anchor="t"/>
          <a:lstStyle/>
          <a:p>
            <a:pPr marL="0" indent="0">
              <a:buNone/>
            </a:pPr>
            <a:r>
              <a:rPr lang="en-US" sz="1100" dirty="0">
                <a:solidFill>
                  <a:schemeClr val="tx2"/>
                </a:solidFill>
              </a:rPr>
              <a:t>watchPosition to LocationLog</a:t>
            </a:r>
            <a:endParaRPr lang="en-US" sz="1100" dirty="0"/>
          </a:p>
        </p:txBody>
      </p:sp>
      <p:pic>
        <p:nvPicPr>
          <p:cNvPr id="24" name="Image 5" descr="preencoded.png"/>
          <p:cNvPicPr>
            <a:picLocks noChangeAspect="1"/>
          </p:cNvPicPr>
          <p:nvPr/>
        </p:nvPicPr>
        <p:blipFill>
          <a:blip r:embed="rId4"/>
          <a:stretch>
            <a:fillRect/>
          </a:stretch>
        </p:blipFill>
        <p:spPr>
          <a:xfrm>
            <a:off x="3931920" y="2578608"/>
            <a:ext cx="164592" cy="164592"/>
          </a:xfrm>
          <a:prstGeom prst="rect">
            <a:avLst/>
          </a:prstGeom>
        </p:spPr>
      </p:pic>
      <p:sp>
        <p:nvSpPr>
          <p:cNvPr id="25" name="Text 16"/>
          <p:cNvSpPr txBox="1"/>
          <p:nvPr/>
        </p:nvSpPr>
        <p:spPr>
          <a:xfrm>
            <a:off x="4160520" y="2560320"/>
            <a:ext cx="1097280" cy="201168"/>
          </a:xfrm>
          <a:prstGeom prst="rect">
            <a:avLst/>
          </a:prstGeom>
          <a:noFill/>
          <a:ln/>
        </p:spPr>
        <p:txBody>
          <a:bodyPr wrap="square" lIns="0" tIns="0" rIns="0" bIns="0" rtlCol="0" anchor="ctr"/>
          <a:lstStyle/>
          <a:p>
            <a:pPr marL="0" indent="0">
              <a:buNone/>
            </a:pPr>
            <a:r>
              <a:rPr lang="en-US" sz="1000" b="1" dirty="0">
                <a:solidFill>
                  <a:schemeClr val="accent5"/>
                </a:solidFill>
              </a:rPr>
              <a:t>Implemented</a:t>
            </a:r>
            <a:endParaRPr lang="en-US" sz="1000" dirty="0"/>
          </a:p>
        </p:txBody>
      </p:sp>
      <p:sp>
        <p:nvSpPr>
          <p:cNvPr id="26" name="Shape 17"/>
          <p:cNvSpPr/>
          <p:nvPr/>
        </p:nvSpPr>
        <p:spPr>
          <a:xfrm>
            <a:off x="5463540" y="1188720"/>
            <a:ext cx="1554480" cy="1645920"/>
          </a:xfrm>
          <a:prstGeom prst="roundRect">
            <a:avLst>
              <a:gd name="adj" fmla="val 4706"/>
            </a:avLst>
          </a:prstGeom>
          <a:solidFill>
            <a:schemeClr val="bg1"/>
          </a:solidFill>
          <a:ln w="12700">
            <a:solidFill>
              <a:srgbClr val="D5DCE8"/>
            </a:solidFill>
            <a:prstDash val="solid"/>
          </a:ln>
        </p:spPr>
      </p:sp>
      <p:sp>
        <p:nvSpPr>
          <p:cNvPr id="27" name="Shape 18"/>
          <p:cNvSpPr/>
          <p:nvPr/>
        </p:nvSpPr>
        <p:spPr>
          <a:xfrm>
            <a:off x="5600700" y="1325880"/>
            <a:ext cx="420624" cy="420624"/>
          </a:xfrm>
          <a:prstGeom prst="ellipse">
            <a:avLst/>
          </a:prstGeom>
          <a:solidFill>
            <a:schemeClr val="accent1">
              <a:alpha val="12000"/>
            </a:schemeClr>
          </a:solidFill>
          <a:ln/>
        </p:spPr>
      </p:sp>
      <p:pic>
        <p:nvPicPr>
          <p:cNvPr id="28" name="Image 6" descr="preencoded.png"/>
          <p:cNvPicPr>
            <a:picLocks noChangeAspect="1"/>
          </p:cNvPicPr>
          <p:nvPr/>
        </p:nvPicPr>
        <p:blipFill>
          <a:blip r:embed="rId7"/>
          <a:stretch>
            <a:fillRect/>
          </a:stretch>
        </p:blipFill>
        <p:spPr>
          <a:xfrm>
            <a:off x="5710062" y="1435242"/>
            <a:ext cx="201900" cy="201900"/>
          </a:xfrm>
          <a:prstGeom prst="rect">
            <a:avLst/>
          </a:prstGeom>
        </p:spPr>
      </p:pic>
      <p:sp>
        <p:nvSpPr>
          <p:cNvPr id="29" name="Text 19"/>
          <p:cNvSpPr txBox="1"/>
          <p:nvPr/>
        </p:nvSpPr>
        <p:spPr>
          <a:xfrm>
            <a:off x="5600700" y="1847088"/>
            <a:ext cx="1325880" cy="274320"/>
          </a:xfrm>
          <a:prstGeom prst="rect">
            <a:avLst/>
          </a:prstGeom>
          <a:noFill/>
          <a:ln/>
        </p:spPr>
        <p:txBody>
          <a:bodyPr wrap="square" lIns="0" tIns="0" rIns="0" bIns="0" rtlCol="0" anchor="t"/>
          <a:lstStyle/>
          <a:p>
            <a:pPr marL="0" indent="0">
              <a:buNone/>
            </a:pPr>
            <a:r>
              <a:rPr lang="en-US" sz="1250" b="1" dirty="0">
                <a:solidFill>
                  <a:schemeClr val="tx1"/>
                </a:solidFill>
              </a:rPr>
              <a:t>Live map</a:t>
            </a:r>
            <a:endParaRPr lang="en-US" sz="1250" dirty="0"/>
          </a:p>
        </p:txBody>
      </p:sp>
      <p:sp>
        <p:nvSpPr>
          <p:cNvPr id="30" name="Text 20"/>
          <p:cNvSpPr txBox="1"/>
          <p:nvPr/>
        </p:nvSpPr>
        <p:spPr>
          <a:xfrm>
            <a:off x="5600700" y="2121408"/>
            <a:ext cx="1325880" cy="457200"/>
          </a:xfrm>
          <a:prstGeom prst="rect">
            <a:avLst/>
          </a:prstGeom>
          <a:noFill/>
          <a:ln/>
        </p:spPr>
        <p:txBody>
          <a:bodyPr wrap="square" lIns="0" tIns="0" rIns="0" bIns="0" rtlCol="0" anchor="t"/>
          <a:lstStyle/>
          <a:p>
            <a:pPr marL="0" indent="0">
              <a:buNone/>
            </a:pPr>
            <a:r>
              <a:rPr lang="en-US" sz="1100" dirty="0">
                <a:solidFill>
                  <a:schemeClr val="tx2"/>
                </a:solidFill>
              </a:rPr>
              <a:t>Markers, route, breadcrumb trail</a:t>
            </a:r>
            <a:endParaRPr lang="en-US" sz="1100" dirty="0"/>
          </a:p>
        </p:txBody>
      </p:sp>
      <p:pic>
        <p:nvPicPr>
          <p:cNvPr id="31" name="Image 7" descr="preencoded.png"/>
          <p:cNvPicPr>
            <a:picLocks noChangeAspect="1"/>
          </p:cNvPicPr>
          <p:nvPr/>
        </p:nvPicPr>
        <p:blipFill>
          <a:blip r:embed="rId4"/>
          <a:stretch>
            <a:fillRect/>
          </a:stretch>
        </p:blipFill>
        <p:spPr>
          <a:xfrm>
            <a:off x="5600700" y="2578608"/>
            <a:ext cx="164592" cy="164592"/>
          </a:xfrm>
          <a:prstGeom prst="rect">
            <a:avLst/>
          </a:prstGeom>
        </p:spPr>
      </p:pic>
      <p:sp>
        <p:nvSpPr>
          <p:cNvPr id="32" name="Text 21"/>
          <p:cNvSpPr txBox="1"/>
          <p:nvPr/>
        </p:nvSpPr>
        <p:spPr>
          <a:xfrm>
            <a:off x="5829300" y="2560320"/>
            <a:ext cx="1097280" cy="201168"/>
          </a:xfrm>
          <a:prstGeom prst="rect">
            <a:avLst/>
          </a:prstGeom>
          <a:noFill/>
          <a:ln/>
        </p:spPr>
        <p:txBody>
          <a:bodyPr wrap="square" lIns="0" tIns="0" rIns="0" bIns="0" rtlCol="0" anchor="ctr"/>
          <a:lstStyle/>
          <a:p>
            <a:pPr marL="0" indent="0">
              <a:buNone/>
            </a:pPr>
            <a:r>
              <a:rPr lang="en-US" sz="1000" b="1" dirty="0">
                <a:solidFill>
                  <a:schemeClr val="accent5"/>
                </a:solidFill>
              </a:rPr>
              <a:t>Implemented</a:t>
            </a:r>
            <a:endParaRPr lang="en-US" sz="1000" dirty="0"/>
          </a:p>
        </p:txBody>
      </p:sp>
      <p:sp>
        <p:nvSpPr>
          <p:cNvPr id="33" name="Shape 22"/>
          <p:cNvSpPr/>
          <p:nvPr/>
        </p:nvSpPr>
        <p:spPr>
          <a:xfrm>
            <a:off x="7132320" y="1188720"/>
            <a:ext cx="1554480" cy="1645920"/>
          </a:xfrm>
          <a:prstGeom prst="roundRect">
            <a:avLst>
              <a:gd name="adj" fmla="val 4706"/>
            </a:avLst>
          </a:prstGeom>
          <a:solidFill>
            <a:schemeClr val="bg1"/>
          </a:solidFill>
          <a:ln w="12700">
            <a:solidFill>
              <a:srgbClr val="D5DCE8"/>
            </a:solidFill>
            <a:prstDash val="solid"/>
          </a:ln>
        </p:spPr>
      </p:sp>
      <p:sp>
        <p:nvSpPr>
          <p:cNvPr id="34" name="Shape 23"/>
          <p:cNvSpPr/>
          <p:nvPr/>
        </p:nvSpPr>
        <p:spPr>
          <a:xfrm>
            <a:off x="7269480" y="1325880"/>
            <a:ext cx="420624" cy="420624"/>
          </a:xfrm>
          <a:prstGeom prst="ellipse">
            <a:avLst/>
          </a:prstGeom>
          <a:solidFill>
            <a:schemeClr val="accent1">
              <a:alpha val="12000"/>
            </a:schemeClr>
          </a:solidFill>
          <a:ln/>
        </p:spPr>
      </p:sp>
      <p:pic>
        <p:nvPicPr>
          <p:cNvPr id="35" name="Image 8" descr="preencoded.png"/>
          <p:cNvPicPr>
            <a:picLocks noChangeAspect="1"/>
          </p:cNvPicPr>
          <p:nvPr/>
        </p:nvPicPr>
        <p:blipFill>
          <a:blip r:embed="rId8"/>
          <a:stretch>
            <a:fillRect/>
          </a:stretch>
        </p:blipFill>
        <p:spPr>
          <a:xfrm>
            <a:off x="7378842" y="1435242"/>
            <a:ext cx="201900" cy="201900"/>
          </a:xfrm>
          <a:prstGeom prst="rect">
            <a:avLst/>
          </a:prstGeom>
        </p:spPr>
      </p:pic>
      <p:sp>
        <p:nvSpPr>
          <p:cNvPr id="36" name="Text 24"/>
          <p:cNvSpPr txBox="1"/>
          <p:nvPr/>
        </p:nvSpPr>
        <p:spPr>
          <a:xfrm>
            <a:off x="7269480" y="1847088"/>
            <a:ext cx="1325880" cy="274320"/>
          </a:xfrm>
          <a:prstGeom prst="rect">
            <a:avLst/>
          </a:prstGeom>
          <a:noFill/>
          <a:ln/>
        </p:spPr>
        <p:txBody>
          <a:bodyPr wrap="square" lIns="0" tIns="0" rIns="0" bIns="0" rtlCol="0" anchor="t"/>
          <a:lstStyle/>
          <a:p>
            <a:pPr marL="0" indent="0">
              <a:buNone/>
            </a:pPr>
            <a:r>
              <a:rPr lang="en-US" sz="1250" b="1" dirty="0">
                <a:solidFill>
                  <a:schemeClr val="tx1"/>
                </a:solidFill>
              </a:rPr>
              <a:t>WebSocket</a:t>
            </a:r>
            <a:endParaRPr lang="en-US" sz="1250" dirty="0"/>
          </a:p>
        </p:txBody>
      </p:sp>
      <p:sp>
        <p:nvSpPr>
          <p:cNvPr id="37" name="Text 25"/>
          <p:cNvSpPr txBox="1"/>
          <p:nvPr/>
        </p:nvSpPr>
        <p:spPr>
          <a:xfrm>
            <a:off x="7269480" y="2121408"/>
            <a:ext cx="1325880" cy="457200"/>
          </a:xfrm>
          <a:prstGeom prst="rect">
            <a:avLst/>
          </a:prstGeom>
          <a:noFill/>
          <a:ln/>
        </p:spPr>
        <p:txBody>
          <a:bodyPr wrap="square" lIns="0" tIns="0" rIns="0" bIns="0" rtlCol="0" anchor="t"/>
          <a:lstStyle/>
          <a:p>
            <a:pPr marL="0" indent="0">
              <a:buNone/>
            </a:pPr>
            <a:r>
              <a:rPr lang="en-US" sz="1100" dirty="0">
                <a:solidFill>
                  <a:schemeClr val="tx2"/>
                </a:solidFill>
              </a:rPr>
              <a:t>Channels consumer, group broadcast</a:t>
            </a:r>
            <a:endParaRPr lang="en-US" sz="1100" dirty="0"/>
          </a:p>
        </p:txBody>
      </p:sp>
      <p:pic>
        <p:nvPicPr>
          <p:cNvPr id="38" name="Image 9" descr="preencoded.png"/>
          <p:cNvPicPr>
            <a:picLocks noChangeAspect="1"/>
          </p:cNvPicPr>
          <p:nvPr/>
        </p:nvPicPr>
        <p:blipFill>
          <a:blip r:embed="rId4"/>
          <a:stretch>
            <a:fillRect/>
          </a:stretch>
        </p:blipFill>
        <p:spPr>
          <a:xfrm>
            <a:off x="7269480" y="2578608"/>
            <a:ext cx="164592" cy="164592"/>
          </a:xfrm>
          <a:prstGeom prst="rect">
            <a:avLst/>
          </a:prstGeom>
        </p:spPr>
      </p:pic>
      <p:sp>
        <p:nvSpPr>
          <p:cNvPr id="39" name="Text 26"/>
          <p:cNvSpPr txBox="1"/>
          <p:nvPr/>
        </p:nvSpPr>
        <p:spPr>
          <a:xfrm>
            <a:off x="7498080" y="2560320"/>
            <a:ext cx="1097280" cy="201168"/>
          </a:xfrm>
          <a:prstGeom prst="rect">
            <a:avLst/>
          </a:prstGeom>
          <a:noFill/>
          <a:ln/>
        </p:spPr>
        <p:txBody>
          <a:bodyPr wrap="square" lIns="0" tIns="0" rIns="0" bIns="0" rtlCol="0" anchor="ctr"/>
          <a:lstStyle/>
          <a:p>
            <a:pPr marL="0" indent="0">
              <a:buNone/>
            </a:pPr>
            <a:r>
              <a:rPr lang="en-US" sz="1000" b="1" dirty="0">
                <a:solidFill>
                  <a:schemeClr val="accent5"/>
                </a:solidFill>
              </a:rPr>
              <a:t>Implemented</a:t>
            </a:r>
            <a:endParaRPr lang="en-US" sz="1000" dirty="0"/>
          </a:p>
        </p:txBody>
      </p:sp>
      <p:sp>
        <p:nvSpPr>
          <p:cNvPr id="40" name="Shape 27"/>
          <p:cNvSpPr/>
          <p:nvPr/>
        </p:nvSpPr>
        <p:spPr>
          <a:xfrm>
            <a:off x="457200" y="2971800"/>
            <a:ext cx="1554480" cy="1645920"/>
          </a:xfrm>
          <a:prstGeom prst="roundRect">
            <a:avLst>
              <a:gd name="adj" fmla="val 4706"/>
            </a:avLst>
          </a:prstGeom>
          <a:solidFill>
            <a:schemeClr val="bg1"/>
          </a:solidFill>
          <a:ln w="12700">
            <a:solidFill>
              <a:srgbClr val="D5DCE8"/>
            </a:solidFill>
            <a:prstDash val="solid"/>
          </a:ln>
        </p:spPr>
      </p:sp>
      <p:sp>
        <p:nvSpPr>
          <p:cNvPr id="41" name="Shape 28"/>
          <p:cNvSpPr/>
          <p:nvPr/>
        </p:nvSpPr>
        <p:spPr>
          <a:xfrm>
            <a:off x="594360" y="3108960"/>
            <a:ext cx="420624" cy="420624"/>
          </a:xfrm>
          <a:prstGeom prst="ellipse">
            <a:avLst/>
          </a:prstGeom>
          <a:solidFill>
            <a:schemeClr val="accent1">
              <a:alpha val="12000"/>
            </a:schemeClr>
          </a:solidFill>
          <a:ln/>
        </p:spPr>
      </p:sp>
      <p:pic>
        <p:nvPicPr>
          <p:cNvPr id="42" name="Image 10" descr="preencoded.png"/>
          <p:cNvPicPr>
            <a:picLocks noChangeAspect="1"/>
          </p:cNvPicPr>
          <p:nvPr/>
        </p:nvPicPr>
        <p:blipFill>
          <a:blip r:embed="rId9"/>
          <a:stretch>
            <a:fillRect/>
          </a:stretch>
        </p:blipFill>
        <p:spPr>
          <a:xfrm>
            <a:off x="703722" y="3218322"/>
            <a:ext cx="201900" cy="201900"/>
          </a:xfrm>
          <a:prstGeom prst="rect">
            <a:avLst/>
          </a:prstGeom>
        </p:spPr>
      </p:pic>
      <p:sp>
        <p:nvSpPr>
          <p:cNvPr id="43" name="Text 29"/>
          <p:cNvSpPr txBox="1"/>
          <p:nvPr/>
        </p:nvSpPr>
        <p:spPr>
          <a:xfrm>
            <a:off x="594360" y="3630168"/>
            <a:ext cx="1325880" cy="274320"/>
          </a:xfrm>
          <a:prstGeom prst="rect">
            <a:avLst/>
          </a:prstGeom>
          <a:noFill/>
          <a:ln/>
        </p:spPr>
        <p:txBody>
          <a:bodyPr wrap="square" lIns="0" tIns="0" rIns="0" bIns="0" rtlCol="0" anchor="t"/>
          <a:lstStyle/>
          <a:p>
            <a:pPr marL="0" indent="0">
              <a:buNone/>
            </a:pPr>
            <a:r>
              <a:rPr lang="en-US" sz="1250" b="1" dirty="0">
                <a:solidFill>
                  <a:schemeClr val="tx1"/>
                </a:solidFill>
              </a:rPr>
              <a:t>Disconnect detection</a:t>
            </a:r>
            <a:endParaRPr lang="en-US" sz="1250" dirty="0"/>
          </a:p>
        </p:txBody>
      </p:sp>
      <p:sp>
        <p:nvSpPr>
          <p:cNvPr id="44" name="Text 30"/>
          <p:cNvSpPr txBox="1"/>
          <p:nvPr/>
        </p:nvSpPr>
        <p:spPr>
          <a:xfrm>
            <a:off x="594360" y="3904488"/>
            <a:ext cx="1325880" cy="457200"/>
          </a:xfrm>
          <a:prstGeom prst="rect">
            <a:avLst/>
          </a:prstGeom>
          <a:noFill/>
          <a:ln/>
        </p:spPr>
        <p:txBody>
          <a:bodyPr wrap="square" lIns="0" tIns="0" rIns="0" bIns="0" rtlCol="0" anchor="t"/>
          <a:lstStyle/>
          <a:p>
            <a:pPr marL="0" indent="0">
              <a:buNone/>
            </a:pPr>
            <a:r>
              <a:rPr lang="en-US" sz="1100" dirty="0">
                <a:solidFill>
                  <a:schemeClr val="tx2"/>
                </a:solidFill>
              </a:rPr>
              <a:t>45 s timeout, last known location</a:t>
            </a:r>
            <a:endParaRPr lang="en-US" sz="1100" dirty="0"/>
          </a:p>
        </p:txBody>
      </p:sp>
      <p:pic>
        <p:nvPicPr>
          <p:cNvPr id="45" name="Image 11" descr="preencoded.png"/>
          <p:cNvPicPr>
            <a:picLocks noChangeAspect="1"/>
          </p:cNvPicPr>
          <p:nvPr/>
        </p:nvPicPr>
        <p:blipFill>
          <a:blip r:embed="rId4"/>
          <a:stretch>
            <a:fillRect/>
          </a:stretch>
        </p:blipFill>
        <p:spPr>
          <a:xfrm>
            <a:off x="594360" y="4361688"/>
            <a:ext cx="164592" cy="164592"/>
          </a:xfrm>
          <a:prstGeom prst="rect">
            <a:avLst/>
          </a:prstGeom>
        </p:spPr>
      </p:pic>
      <p:sp>
        <p:nvSpPr>
          <p:cNvPr id="46" name="Text 31"/>
          <p:cNvSpPr txBox="1"/>
          <p:nvPr/>
        </p:nvSpPr>
        <p:spPr>
          <a:xfrm>
            <a:off x="822960" y="4343400"/>
            <a:ext cx="1097280" cy="201168"/>
          </a:xfrm>
          <a:prstGeom prst="rect">
            <a:avLst/>
          </a:prstGeom>
          <a:noFill/>
          <a:ln/>
        </p:spPr>
        <p:txBody>
          <a:bodyPr wrap="square" lIns="0" tIns="0" rIns="0" bIns="0" rtlCol="0" anchor="ctr"/>
          <a:lstStyle/>
          <a:p>
            <a:pPr marL="0" indent="0">
              <a:buNone/>
            </a:pPr>
            <a:r>
              <a:rPr lang="en-US" sz="1000" b="1" dirty="0">
                <a:solidFill>
                  <a:schemeClr val="accent5"/>
                </a:solidFill>
              </a:rPr>
              <a:t>Implemented</a:t>
            </a:r>
            <a:endParaRPr lang="en-US" sz="1000" dirty="0"/>
          </a:p>
        </p:txBody>
      </p:sp>
      <p:sp>
        <p:nvSpPr>
          <p:cNvPr id="47" name="Shape 32"/>
          <p:cNvSpPr/>
          <p:nvPr/>
        </p:nvSpPr>
        <p:spPr>
          <a:xfrm>
            <a:off x="2125980" y="2971800"/>
            <a:ext cx="1554480" cy="1645920"/>
          </a:xfrm>
          <a:prstGeom prst="roundRect">
            <a:avLst>
              <a:gd name="adj" fmla="val 4706"/>
            </a:avLst>
          </a:prstGeom>
          <a:solidFill>
            <a:schemeClr val="bg1"/>
          </a:solidFill>
          <a:ln w="12700">
            <a:solidFill>
              <a:srgbClr val="D5DCE8"/>
            </a:solidFill>
            <a:prstDash val="solid"/>
          </a:ln>
        </p:spPr>
      </p:sp>
      <p:sp>
        <p:nvSpPr>
          <p:cNvPr id="48" name="Shape 33"/>
          <p:cNvSpPr/>
          <p:nvPr/>
        </p:nvSpPr>
        <p:spPr>
          <a:xfrm>
            <a:off x="2263140" y="3108960"/>
            <a:ext cx="420624" cy="420624"/>
          </a:xfrm>
          <a:prstGeom prst="ellipse">
            <a:avLst/>
          </a:prstGeom>
          <a:solidFill>
            <a:schemeClr val="accent1">
              <a:alpha val="12000"/>
            </a:schemeClr>
          </a:solidFill>
          <a:ln/>
        </p:spPr>
      </p:sp>
      <p:pic>
        <p:nvPicPr>
          <p:cNvPr id="49" name="Image 12" descr="preencoded.png"/>
          <p:cNvPicPr>
            <a:picLocks noChangeAspect="1"/>
          </p:cNvPicPr>
          <p:nvPr/>
        </p:nvPicPr>
        <p:blipFill>
          <a:blip r:embed="rId10"/>
          <a:stretch>
            <a:fillRect/>
          </a:stretch>
        </p:blipFill>
        <p:spPr>
          <a:xfrm>
            <a:off x="2372502" y="3218322"/>
            <a:ext cx="201900" cy="201900"/>
          </a:xfrm>
          <a:prstGeom prst="rect">
            <a:avLst/>
          </a:prstGeom>
        </p:spPr>
      </p:pic>
      <p:sp>
        <p:nvSpPr>
          <p:cNvPr id="50" name="Text 34"/>
          <p:cNvSpPr txBox="1"/>
          <p:nvPr/>
        </p:nvSpPr>
        <p:spPr>
          <a:xfrm>
            <a:off x="2263140" y="3630168"/>
            <a:ext cx="1325880" cy="274320"/>
          </a:xfrm>
          <a:prstGeom prst="rect">
            <a:avLst/>
          </a:prstGeom>
          <a:noFill/>
          <a:ln/>
        </p:spPr>
        <p:txBody>
          <a:bodyPr wrap="square" lIns="0" tIns="0" rIns="0" bIns="0" rtlCol="0" anchor="t"/>
          <a:lstStyle/>
          <a:p>
            <a:pPr marL="0" indent="0">
              <a:buNone/>
            </a:pPr>
            <a:r>
              <a:rPr lang="en-US" sz="1250" b="1" dirty="0">
                <a:solidFill>
                  <a:schemeClr val="tx1"/>
                </a:solidFill>
              </a:rPr>
              <a:t>Route deviation</a:t>
            </a:r>
            <a:endParaRPr lang="en-US" sz="1250" dirty="0"/>
          </a:p>
        </p:txBody>
      </p:sp>
      <p:sp>
        <p:nvSpPr>
          <p:cNvPr id="51" name="Text 35"/>
          <p:cNvSpPr txBox="1"/>
          <p:nvPr/>
        </p:nvSpPr>
        <p:spPr>
          <a:xfrm>
            <a:off x="2263140" y="3904488"/>
            <a:ext cx="1325880" cy="457200"/>
          </a:xfrm>
          <a:prstGeom prst="rect">
            <a:avLst/>
          </a:prstGeom>
          <a:noFill/>
          <a:ln/>
        </p:spPr>
        <p:txBody>
          <a:bodyPr wrap="square" lIns="0" tIns="0" rIns="0" bIns="0" rtlCol="0" anchor="t"/>
          <a:lstStyle/>
          <a:p>
            <a:pPr marL="0" indent="0">
              <a:buNone/>
            </a:pPr>
            <a:r>
              <a:rPr lang="en-US" sz="1100" dirty="0">
                <a:solidFill>
                  <a:schemeClr val="tx2"/>
                </a:solidFill>
              </a:rPr>
              <a:t>Haversine, 500 m threshold</a:t>
            </a:r>
            <a:endParaRPr lang="en-US" sz="1100" dirty="0"/>
          </a:p>
        </p:txBody>
      </p:sp>
      <p:pic>
        <p:nvPicPr>
          <p:cNvPr id="52" name="Image 13" descr="preencoded.png"/>
          <p:cNvPicPr>
            <a:picLocks noChangeAspect="1"/>
          </p:cNvPicPr>
          <p:nvPr/>
        </p:nvPicPr>
        <p:blipFill>
          <a:blip r:embed="rId4"/>
          <a:stretch>
            <a:fillRect/>
          </a:stretch>
        </p:blipFill>
        <p:spPr>
          <a:xfrm>
            <a:off x="2263140" y="4361688"/>
            <a:ext cx="164592" cy="164592"/>
          </a:xfrm>
          <a:prstGeom prst="rect">
            <a:avLst/>
          </a:prstGeom>
        </p:spPr>
      </p:pic>
      <p:sp>
        <p:nvSpPr>
          <p:cNvPr id="53" name="Text 36"/>
          <p:cNvSpPr txBox="1"/>
          <p:nvPr/>
        </p:nvSpPr>
        <p:spPr>
          <a:xfrm>
            <a:off x="2491740" y="4343400"/>
            <a:ext cx="1097280" cy="201168"/>
          </a:xfrm>
          <a:prstGeom prst="rect">
            <a:avLst/>
          </a:prstGeom>
          <a:noFill/>
          <a:ln/>
        </p:spPr>
        <p:txBody>
          <a:bodyPr wrap="square" lIns="0" tIns="0" rIns="0" bIns="0" rtlCol="0" anchor="ctr"/>
          <a:lstStyle/>
          <a:p>
            <a:pPr marL="0" indent="0">
              <a:buNone/>
            </a:pPr>
            <a:r>
              <a:rPr lang="en-US" sz="1000" b="1" dirty="0">
                <a:solidFill>
                  <a:schemeClr val="accent5"/>
                </a:solidFill>
              </a:rPr>
              <a:t>Implemented</a:t>
            </a:r>
            <a:endParaRPr lang="en-US" sz="1000" dirty="0"/>
          </a:p>
        </p:txBody>
      </p:sp>
      <p:sp>
        <p:nvSpPr>
          <p:cNvPr id="54" name="Shape 37"/>
          <p:cNvSpPr/>
          <p:nvPr/>
        </p:nvSpPr>
        <p:spPr>
          <a:xfrm>
            <a:off x="3794760" y="2971800"/>
            <a:ext cx="1554480" cy="1645920"/>
          </a:xfrm>
          <a:prstGeom prst="roundRect">
            <a:avLst>
              <a:gd name="adj" fmla="val 4706"/>
            </a:avLst>
          </a:prstGeom>
          <a:solidFill>
            <a:schemeClr val="bg1"/>
          </a:solidFill>
          <a:ln w="12700">
            <a:solidFill>
              <a:srgbClr val="D5DCE8"/>
            </a:solidFill>
            <a:prstDash val="solid"/>
          </a:ln>
        </p:spPr>
      </p:sp>
      <p:sp>
        <p:nvSpPr>
          <p:cNvPr id="55" name="Shape 38"/>
          <p:cNvSpPr/>
          <p:nvPr/>
        </p:nvSpPr>
        <p:spPr>
          <a:xfrm>
            <a:off x="3931920" y="3108960"/>
            <a:ext cx="420624" cy="420624"/>
          </a:xfrm>
          <a:prstGeom prst="ellipse">
            <a:avLst/>
          </a:prstGeom>
          <a:solidFill>
            <a:schemeClr val="accent1">
              <a:alpha val="12000"/>
            </a:schemeClr>
          </a:solidFill>
          <a:ln/>
        </p:spPr>
      </p:sp>
      <p:pic>
        <p:nvPicPr>
          <p:cNvPr id="56" name="Image 14" descr="preencoded.png"/>
          <p:cNvPicPr>
            <a:picLocks noChangeAspect="1"/>
          </p:cNvPicPr>
          <p:nvPr/>
        </p:nvPicPr>
        <p:blipFill>
          <a:blip r:embed="rId11"/>
          <a:stretch>
            <a:fillRect/>
          </a:stretch>
        </p:blipFill>
        <p:spPr>
          <a:xfrm>
            <a:off x="4041282" y="3218322"/>
            <a:ext cx="201900" cy="201900"/>
          </a:xfrm>
          <a:prstGeom prst="rect">
            <a:avLst/>
          </a:prstGeom>
        </p:spPr>
      </p:pic>
      <p:sp>
        <p:nvSpPr>
          <p:cNvPr id="57" name="Text 39"/>
          <p:cNvSpPr txBox="1"/>
          <p:nvPr/>
        </p:nvSpPr>
        <p:spPr>
          <a:xfrm>
            <a:off x="3931920" y="3630168"/>
            <a:ext cx="1325880" cy="274320"/>
          </a:xfrm>
          <a:prstGeom prst="rect">
            <a:avLst/>
          </a:prstGeom>
          <a:noFill/>
          <a:ln/>
        </p:spPr>
        <p:txBody>
          <a:bodyPr wrap="square" lIns="0" tIns="0" rIns="0" bIns="0" rtlCol="0" anchor="t"/>
          <a:lstStyle/>
          <a:p>
            <a:pPr marL="0" indent="0">
              <a:buNone/>
            </a:pPr>
            <a:r>
              <a:rPr lang="en-US" sz="1250" b="1" dirty="0">
                <a:solidFill>
                  <a:schemeClr val="tx1"/>
                </a:solidFill>
              </a:rPr>
              <a:t>SOS</a:t>
            </a:r>
            <a:endParaRPr lang="en-US" sz="1250" dirty="0"/>
          </a:p>
        </p:txBody>
      </p:sp>
      <p:sp>
        <p:nvSpPr>
          <p:cNvPr id="58" name="Text 40"/>
          <p:cNvSpPr txBox="1"/>
          <p:nvPr/>
        </p:nvSpPr>
        <p:spPr>
          <a:xfrm>
            <a:off x="3931920" y="3904488"/>
            <a:ext cx="1325880" cy="457200"/>
          </a:xfrm>
          <a:prstGeom prst="rect">
            <a:avLst/>
          </a:prstGeom>
          <a:noFill/>
          <a:ln/>
        </p:spPr>
        <p:txBody>
          <a:bodyPr wrap="square" lIns="0" tIns="0" rIns="0" bIns="0" rtlCol="0" anchor="t"/>
          <a:lstStyle/>
          <a:p>
            <a:pPr marL="0" indent="0">
              <a:buNone/>
            </a:pPr>
            <a:r>
              <a:rPr lang="en-US" sz="1100" dirty="0">
                <a:solidFill>
                  <a:schemeClr val="tx2"/>
                </a:solidFill>
              </a:rPr>
              <a:t>Broadcast; admin acknowledge, resolve</a:t>
            </a:r>
            <a:endParaRPr lang="en-US" sz="1100" dirty="0"/>
          </a:p>
        </p:txBody>
      </p:sp>
      <p:pic>
        <p:nvPicPr>
          <p:cNvPr id="59" name="Image 15" descr="preencoded.png"/>
          <p:cNvPicPr>
            <a:picLocks noChangeAspect="1"/>
          </p:cNvPicPr>
          <p:nvPr/>
        </p:nvPicPr>
        <p:blipFill>
          <a:blip r:embed="rId4"/>
          <a:stretch>
            <a:fillRect/>
          </a:stretch>
        </p:blipFill>
        <p:spPr>
          <a:xfrm>
            <a:off x="3931920" y="4361688"/>
            <a:ext cx="164592" cy="164592"/>
          </a:xfrm>
          <a:prstGeom prst="rect">
            <a:avLst/>
          </a:prstGeom>
        </p:spPr>
      </p:pic>
      <p:sp>
        <p:nvSpPr>
          <p:cNvPr id="60" name="Text 41"/>
          <p:cNvSpPr txBox="1"/>
          <p:nvPr/>
        </p:nvSpPr>
        <p:spPr>
          <a:xfrm>
            <a:off x="4160520" y="4343400"/>
            <a:ext cx="1097280" cy="201168"/>
          </a:xfrm>
          <a:prstGeom prst="rect">
            <a:avLst/>
          </a:prstGeom>
          <a:noFill/>
          <a:ln/>
        </p:spPr>
        <p:txBody>
          <a:bodyPr wrap="square" lIns="0" tIns="0" rIns="0" bIns="0" rtlCol="0" anchor="ctr"/>
          <a:lstStyle/>
          <a:p>
            <a:pPr marL="0" indent="0">
              <a:buNone/>
            </a:pPr>
            <a:r>
              <a:rPr lang="en-US" sz="1000" b="1" dirty="0">
                <a:solidFill>
                  <a:schemeClr val="accent5"/>
                </a:solidFill>
              </a:rPr>
              <a:t>Implemented</a:t>
            </a:r>
            <a:endParaRPr lang="en-US" sz="1000" dirty="0"/>
          </a:p>
        </p:txBody>
      </p:sp>
      <p:sp>
        <p:nvSpPr>
          <p:cNvPr id="61" name="Shape 42"/>
          <p:cNvSpPr/>
          <p:nvPr/>
        </p:nvSpPr>
        <p:spPr>
          <a:xfrm>
            <a:off x="5463540" y="2971800"/>
            <a:ext cx="1554480" cy="1645920"/>
          </a:xfrm>
          <a:prstGeom prst="roundRect">
            <a:avLst>
              <a:gd name="adj" fmla="val 4706"/>
            </a:avLst>
          </a:prstGeom>
          <a:solidFill>
            <a:schemeClr val="bg1"/>
          </a:solidFill>
          <a:ln w="12700">
            <a:solidFill>
              <a:srgbClr val="D5DCE8"/>
            </a:solidFill>
            <a:prstDash val="solid"/>
          </a:ln>
        </p:spPr>
      </p:sp>
      <p:sp>
        <p:nvSpPr>
          <p:cNvPr id="62" name="Shape 43"/>
          <p:cNvSpPr/>
          <p:nvPr/>
        </p:nvSpPr>
        <p:spPr>
          <a:xfrm>
            <a:off x="5600700" y="3108960"/>
            <a:ext cx="420624" cy="420624"/>
          </a:xfrm>
          <a:prstGeom prst="ellipse">
            <a:avLst/>
          </a:prstGeom>
          <a:solidFill>
            <a:schemeClr val="accent1">
              <a:alpha val="12000"/>
            </a:schemeClr>
          </a:solidFill>
          <a:ln/>
        </p:spPr>
      </p:sp>
      <p:pic>
        <p:nvPicPr>
          <p:cNvPr id="63" name="Image 16" descr="preencoded.png"/>
          <p:cNvPicPr>
            <a:picLocks noChangeAspect="1"/>
          </p:cNvPicPr>
          <p:nvPr/>
        </p:nvPicPr>
        <p:blipFill>
          <a:blip r:embed="rId12"/>
          <a:stretch>
            <a:fillRect/>
          </a:stretch>
        </p:blipFill>
        <p:spPr>
          <a:xfrm>
            <a:off x="5710062" y="3218322"/>
            <a:ext cx="201900" cy="201900"/>
          </a:xfrm>
          <a:prstGeom prst="rect">
            <a:avLst/>
          </a:prstGeom>
        </p:spPr>
      </p:pic>
      <p:sp>
        <p:nvSpPr>
          <p:cNvPr id="64" name="Text 44"/>
          <p:cNvSpPr txBox="1"/>
          <p:nvPr/>
        </p:nvSpPr>
        <p:spPr>
          <a:xfrm>
            <a:off x="5600700" y="3630168"/>
            <a:ext cx="1325880" cy="274320"/>
          </a:xfrm>
          <a:prstGeom prst="rect">
            <a:avLst/>
          </a:prstGeom>
          <a:noFill/>
          <a:ln/>
        </p:spPr>
        <p:txBody>
          <a:bodyPr wrap="square" lIns="0" tIns="0" rIns="0" bIns="0" rtlCol="0" anchor="t"/>
          <a:lstStyle/>
          <a:p>
            <a:pPr marL="0" indent="0">
              <a:buNone/>
            </a:pPr>
            <a:r>
              <a:rPr lang="en-US" sz="1250" b="1" dirty="0">
                <a:solidFill>
                  <a:schemeClr val="tx1"/>
                </a:solidFill>
              </a:rPr>
              <a:t>Ride history</a:t>
            </a:r>
            <a:endParaRPr lang="en-US" sz="1250" dirty="0"/>
          </a:p>
        </p:txBody>
      </p:sp>
      <p:sp>
        <p:nvSpPr>
          <p:cNvPr id="65" name="Text 45"/>
          <p:cNvSpPr txBox="1"/>
          <p:nvPr/>
        </p:nvSpPr>
        <p:spPr>
          <a:xfrm>
            <a:off x="5600700" y="3904488"/>
            <a:ext cx="1325880" cy="457200"/>
          </a:xfrm>
          <a:prstGeom prst="rect">
            <a:avLst/>
          </a:prstGeom>
          <a:noFill/>
          <a:ln/>
        </p:spPr>
        <p:txBody>
          <a:bodyPr wrap="square" lIns="0" tIns="0" rIns="0" bIns="0" rtlCol="0" anchor="t"/>
          <a:lstStyle/>
          <a:p>
            <a:pPr marL="0" indent="0">
              <a:buNone/>
            </a:pPr>
            <a:r>
              <a:rPr lang="en-US" sz="1100" dirty="0">
                <a:solidFill>
                  <a:schemeClr val="tx2"/>
                </a:solidFill>
              </a:rPr>
              <a:t>Distance, duration, members</a:t>
            </a:r>
            <a:endParaRPr lang="en-US" sz="1100" dirty="0"/>
          </a:p>
        </p:txBody>
      </p:sp>
      <p:pic>
        <p:nvPicPr>
          <p:cNvPr id="66" name="Image 17" descr="preencoded.png"/>
          <p:cNvPicPr>
            <a:picLocks noChangeAspect="1"/>
          </p:cNvPicPr>
          <p:nvPr/>
        </p:nvPicPr>
        <p:blipFill>
          <a:blip r:embed="rId4"/>
          <a:stretch>
            <a:fillRect/>
          </a:stretch>
        </p:blipFill>
        <p:spPr>
          <a:xfrm>
            <a:off x="5600700" y="4361688"/>
            <a:ext cx="164592" cy="164592"/>
          </a:xfrm>
          <a:prstGeom prst="rect">
            <a:avLst/>
          </a:prstGeom>
        </p:spPr>
      </p:pic>
      <p:sp>
        <p:nvSpPr>
          <p:cNvPr id="67" name="Text 46"/>
          <p:cNvSpPr txBox="1"/>
          <p:nvPr/>
        </p:nvSpPr>
        <p:spPr>
          <a:xfrm>
            <a:off x="5829300" y="4343400"/>
            <a:ext cx="1097280" cy="201168"/>
          </a:xfrm>
          <a:prstGeom prst="rect">
            <a:avLst/>
          </a:prstGeom>
          <a:noFill/>
          <a:ln/>
        </p:spPr>
        <p:txBody>
          <a:bodyPr wrap="square" lIns="0" tIns="0" rIns="0" bIns="0" rtlCol="0" anchor="ctr"/>
          <a:lstStyle/>
          <a:p>
            <a:pPr marL="0" indent="0">
              <a:buNone/>
            </a:pPr>
            <a:r>
              <a:rPr lang="en-US" sz="1000" b="1" dirty="0">
                <a:solidFill>
                  <a:schemeClr val="accent5"/>
                </a:solidFill>
              </a:rPr>
              <a:t>Implemented</a:t>
            </a:r>
            <a:endParaRPr lang="en-US" sz="1000" dirty="0"/>
          </a:p>
        </p:txBody>
      </p:sp>
      <p:sp>
        <p:nvSpPr>
          <p:cNvPr id="68" name="Shape 47"/>
          <p:cNvSpPr/>
          <p:nvPr/>
        </p:nvSpPr>
        <p:spPr>
          <a:xfrm>
            <a:off x="7132320" y="2971800"/>
            <a:ext cx="1554480" cy="1645920"/>
          </a:xfrm>
          <a:prstGeom prst="roundRect">
            <a:avLst>
              <a:gd name="adj" fmla="val 4706"/>
            </a:avLst>
          </a:prstGeom>
          <a:solidFill>
            <a:schemeClr val="bg1"/>
          </a:solidFill>
          <a:ln w="12700">
            <a:solidFill>
              <a:srgbClr val="D5DCE8"/>
            </a:solidFill>
            <a:prstDash val="solid"/>
          </a:ln>
        </p:spPr>
      </p:sp>
      <p:sp>
        <p:nvSpPr>
          <p:cNvPr id="69" name="Shape 48"/>
          <p:cNvSpPr/>
          <p:nvPr/>
        </p:nvSpPr>
        <p:spPr>
          <a:xfrm>
            <a:off x="7269480" y="3108960"/>
            <a:ext cx="420624" cy="420624"/>
          </a:xfrm>
          <a:prstGeom prst="ellipse">
            <a:avLst/>
          </a:prstGeom>
          <a:solidFill>
            <a:schemeClr val="accent1">
              <a:alpha val="12000"/>
            </a:schemeClr>
          </a:solidFill>
          <a:ln/>
        </p:spPr>
      </p:sp>
      <p:pic>
        <p:nvPicPr>
          <p:cNvPr id="70" name="Image 18" descr="preencoded.png"/>
          <p:cNvPicPr>
            <a:picLocks noChangeAspect="1"/>
          </p:cNvPicPr>
          <p:nvPr/>
        </p:nvPicPr>
        <p:blipFill>
          <a:blip r:embed="rId13"/>
          <a:stretch>
            <a:fillRect/>
          </a:stretch>
        </p:blipFill>
        <p:spPr>
          <a:xfrm>
            <a:off x="7378842" y="3218322"/>
            <a:ext cx="201900" cy="201900"/>
          </a:xfrm>
          <a:prstGeom prst="rect">
            <a:avLst/>
          </a:prstGeom>
        </p:spPr>
      </p:pic>
      <p:sp>
        <p:nvSpPr>
          <p:cNvPr id="71" name="Text 49"/>
          <p:cNvSpPr txBox="1"/>
          <p:nvPr/>
        </p:nvSpPr>
        <p:spPr>
          <a:xfrm>
            <a:off x="7269480" y="3630168"/>
            <a:ext cx="1325880" cy="274320"/>
          </a:xfrm>
          <a:prstGeom prst="rect">
            <a:avLst/>
          </a:prstGeom>
          <a:noFill/>
          <a:ln/>
        </p:spPr>
        <p:txBody>
          <a:bodyPr wrap="square" lIns="0" tIns="0" rIns="0" bIns="0" rtlCol="0" anchor="t"/>
          <a:lstStyle/>
          <a:p>
            <a:pPr marL="0" indent="0">
              <a:buNone/>
            </a:pPr>
            <a:r>
              <a:rPr lang="en-US" sz="1250" b="1" dirty="0">
                <a:solidFill>
                  <a:schemeClr val="tx1"/>
                </a:solidFill>
              </a:rPr>
              <a:t>Administration</a:t>
            </a:r>
            <a:endParaRPr lang="en-US" sz="1250" dirty="0"/>
          </a:p>
        </p:txBody>
      </p:sp>
      <p:sp>
        <p:nvSpPr>
          <p:cNvPr id="72" name="Text 50"/>
          <p:cNvSpPr txBox="1"/>
          <p:nvPr/>
        </p:nvSpPr>
        <p:spPr>
          <a:xfrm>
            <a:off x="7269480" y="3904488"/>
            <a:ext cx="1325880" cy="457200"/>
          </a:xfrm>
          <a:prstGeom prst="rect">
            <a:avLst/>
          </a:prstGeom>
          <a:noFill/>
          <a:ln/>
        </p:spPr>
        <p:txBody>
          <a:bodyPr wrap="square" lIns="0" tIns="0" rIns="0" bIns="0" rtlCol="0" anchor="t"/>
          <a:lstStyle/>
          <a:p>
            <a:pPr marL="0" indent="0">
              <a:buNone/>
            </a:pPr>
            <a:r>
              <a:rPr lang="en-US" sz="1100" dirty="0">
                <a:solidFill>
                  <a:schemeClr val="tx2"/>
                </a:solidFill>
              </a:rPr>
              <a:t>Django Admin + monitor page</a:t>
            </a:r>
            <a:endParaRPr lang="en-US" sz="1100" dirty="0"/>
          </a:p>
        </p:txBody>
      </p:sp>
      <p:pic>
        <p:nvPicPr>
          <p:cNvPr id="73" name="Image 19" descr="preencoded.png"/>
          <p:cNvPicPr>
            <a:picLocks noChangeAspect="1"/>
          </p:cNvPicPr>
          <p:nvPr/>
        </p:nvPicPr>
        <p:blipFill>
          <a:blip r:embed="rId4"/>
          <a:stretch>
            <a:fillRect/>
          </a:stretch>
        </p:blipFill>
        <p:spPr>
          <a:xfrm>
            <a:off x="7269480" y="4361688"/>
            <a:ext cx="164592" cy="164592"/>
          </a:xfrm>
          <a:prstGeom prst="rect">
            <a:avLst/>
          </a:prstGeom>
        </p:spPr>
      </p:pic>
      <p:sp>
        <p:nvSpPr>
          <p:cNvPr id="74" name="Text 51"/>
          <p:cNvSpPr txBox="1"/>
          <p:nvPr/>
        </p:nvSpPr>
        <p:spPr>
          <a:xfrm>
            <a:off x="7498080" y="4343400"/>
            <a:ext cx="1097280" cy="201168"/>
          </a:xfrm>
          <a:prstGeom prst="rect">
            <a:avLst/>
          </a:prstGeom>
          <a:noFill/>
          <a:ln/>
        </p:spPr>
        <p:txBody>
          <a:bodyPr wrap="square" lIns="0" tIns="0" rIns="0" bIns="0" rtlCol="0" anchor="ctr"/>
          <a:lstStyle/>
          <a:p>
            <a:pPr marL="0" indent="0">
              <a:buNone/>
            </a:pPr>
            <a:r>
              <a:rPr lang="en-US" sz="1000" b="1" dirty="0">
                <a:solidFill>
                  <a:schemeClr val="accent5"/>
                </a:solidFill>
              </a:rPr>
              <a:t>Implemented</a:t>
            </a:r>
            <a:endParaRPr lang="en-US" sz="1000" dirty="0"/>
          </a:p>
        </p:txBody>
      </p:sp>
      <p:sp>
        <p:nvSpPr>
          <p:cNvPr id="4" name="Slide Number Placeholder 0"/>
          <p:cNvSpPr>
            <a:spLocks noGrp="1"/>
          </p:cNvSpPr>
          <p:nvPr>
            <p:ph type="sldNum" sz="quarter" idx="4294967295"/>
          </p:nvPr>
        </p:nvSpPr>
        <p:spPr>
          <a:xfrm>
            <a:off x="8138160" y="4791456"/>
            <a:ext cx="548640" cy="228600"/>
          </a:xfrm>
          <a:prstGeom prst="rect">
            <a:avLst/>
          </a:prstGeom>
          <a:extLst>
            <a:ext uri="{C572A759-6A51-4108-AA02-DFA0A04FC94B}">
              <ma14:wrappingTextBoxFlag xmlns:ma14="http://schemas.microsoft.com/office/mac/drawingml/2011/main" xmlns="" val="0"/>
            </a:ext>
          </a:extLst>
        </p:spPr>
        <p:txBody>
          <a:bodyPr/>
          <a:lstStyle>
            <a:lvl1pPr>
              <a:defRPr sz="1000">
                <a:solidFill>
                  <a:srgbClr val="475569"/>
                </a:solidFill>
              </a:defRPr>
            </a:lvl1pPr>
          </a:lstStyle>
          <a:p>
            <a:pPr algn="r"/>
            <a:fld id="{F7021451-1387-4CA6-816F-3879F97B5CBC}" type="slidenum">
              <a:rPr lang="en-US" b="0"/>
              <a:t>21</a:t>
            </a:fld>
            <a:endParaRPr lang="en-US"/>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1">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457200" y="420624"/>
            <a:ext cx="8229600" cy="566928"/>
          </a:xfrm>
          <a:prstGeom prst="rect">
            <a:avLst/>
          </a:prstGeom>
          <a:noFill/>
          <a:ln/>
        </p:spPr>
        <p:txBody>
          <a:bodyPr wrap="square" lIns="0" tIns="0" rIns="0" bIns="0" rtlCol="0" anchor="ctr"/>
          <a:lstStyle/>
          <a:p>
            <a:pPr marL="0" indent="0" algn="l">
              <a:buNone/>
            </a:pPr>
            <a:r>
              <a:rPr lang="en-US" sz="2800" b="1" dirty="0">
                <a:solidFill>
                  <a:schemeClr val="tx1"/>
                </a:solidFill>
              </a:rPr>
              <a:t>Algorithms and logic used</a:t>
            </a:r>
            <a:endParaRPr lang="en-US" sz="2800" dirty="0"/>
          </a:p>
        </p:txBody>
      </p:sp>
      <p:sp>
        <p:nvSpPr>
          <p:cNvPr id="3" name="Text 1"/>
          <p:cNvSpPr txBox="1"/>
          <p:nvPr/>
        </p:nvSpPr>
        <p:spPr>
          <a:xfrm>
            <a:off x="457200" y="219456"/>
            <a:ext cx="5486400" cy="182880"/>
          </a:xfrm>
          <a:prstGeom prst="rect">
            <a:avLst/>
          </a:prstGeom>
          <a:noFill/>
          <a:ln/>
        </p:spPr>
        <p:txBody>
          <a:bodyPr wrap="square" lIns="0" tIns="0" rIns="0" bIns="0" rtlCol="0" anchor="t"/>
          <a:lstStyle/>
          <a:p>
            <a:pPr marL="0" indent="0">
              <a:buNone/>
            </a:pPr>
            <a:r>
              <a:rPr lang="en-US" sz="1000" b="1" kern="0" spc="200" dirty="0">
                <a:solidFill>
                  <a:schemeClr val="accent1"/>
                </a:solidFill>
              </a:rPr>
              <a:t>METHODOLOGY</a:t>
            </a:r>
            <a:endParaRPr lang="en-US" sz="1000" dirty="0"/>
          </a:p>
        </p:txBody>
      </p:sp>
      <p:sp>
        <p:nvSpPr>
          <p:cNvPr id="5" name="Shape 2"/>
          <p:cNvSpPr/>
          <p:nvPr/>
        </p:nvSpPr>
        <p:spPr>
          <a:xfrm>
            <a:off x="457200" y="1170432"/>
            <a:ext cx="4023360" cy="1664208"/>
          </a:xfrm>
          <a:prstGeom prst="roundRect">
            <a:avLst>
              <a:gd name="adj" fmla="val 4396"/>
            </a:avLst>
          </a:prstGeom>
          <a:solidFill>
            <a:schemeClr val="bg1"/>
          </a:solidFill>
          <a:ln w="12700">
            <a:solidFill>
              <a:srgbClr val="D5DCE8"/>
            </a:solidFill>
            <a:prstDash val="solid"/>
          </a:ln>
        </p:spPr>
      </p:sp>
      <p:pic>
        <p:nvPicPr>
          <p:cNvPr id="6" name="Image 0" descr="preencoded.png"/>
          <p:cNvPicPr>
            <a:picLocks noChangeAspect="1"/>
          </p:cNvPicPr>
          <p:nvPr/>
        </p:nvPicPr>
        <p:blipFill>
          <a:blip r:embed="rId3"/>
          <a:stretch>
            <a:fillRect/>
          </a:stretch>
        </p:blipFill>
        <p:spPr>
          <a:xfrm>
            <a:off x="621792" y="1289304"/>
            <a:ext cx="237744" cy="237744"/>
          </a:xfrm>
          <a:prstGeom prst="rect">
            <a:avLst/>
          </a:prstGeom>
        </p:spPr>
      </p:pic>
      <p:sp>
        <p:nvSpPr>
          <p:cNvPr id="7" name="Text 3"/>
          <p:cNvSpPr txBox="1"/>
          <p:nvPr/>
        </p:nvSpPr>
        <p:spPr>
          <a:xfrm>
            <a:off x="960120" y="1261872"/>
            <a:ext cx="3383280" cy="292608"/>
          </a:xfrm>
          <a:prstGeom prst="rect">
            <a:avLst/>
          </a:prstGeom>
          <a:noFill/>
          <a:ln/>
        </p:spPr>
        <p:txBody>
          <a:bodyPr wrap="square" lIns="0" tIns="0" rIns="0" bIns="0" rtlCol="0" anchor="ctr"/>
          <a:lstStyle/>
          <a:p>
            <a:pPr marL="0" indent="0">
              <a:buNone/>
            </a:pPr>
            <a:r>
              <a:rPr lang="en-US" sz="1350" b="1" dirty="0">
                <a:solidFill>
                  <a:schemeClr val="tx1"/>
                </a:solidFill>
              </a:rPr>
              <a:t>GPS tracking</a:t>
            </a:r>
            <a:endParaRPr lang="en-US" sz="1350" dirty="0"/>
          </a:p>
        </p:txBody>
      </p:sp>
      <p:sp>
        <p:nvSpPr>
          <p:cNvPr id="8" name="Shape 4"/>
          <p:cNvSpPr/>
          <p:nvPr/>
        </p:nvSpPr>
        <p:spPr>
          <a:xfrm>
            <a:off x="4663440" y="1170432"/>
            <a:ext cx="4023360" cy="1664208"/>
          </a:xfrm>
          <a:prstGeom prst="roundRect">
            <a:avLst>
              <a:gd name="adj" fmla="val 4396"/>
            </a:avLst>
          </a:prstGeom>
          <a:solidFill>
            <a:schemeClr val="bg1"/>
          </a:solidFill>
          <a:ln w="12700">
            <a:solidFill>
              <a:srgbClr val="D5DCE8"/>
            </a:solidFill>
            <a:prstDash val="solid"/>
          </a:ln>
        </p:spPr>
      </p:sp>
      <p:pic>
        <p:nvPicPr>
          <p:cNvPr id="9" name="Image 1" descr="preencoded.png"/>
          <p:cNvPicPr>
            <a:picLocks noChangeAspect="1"/>
          </p:cNvPicPr>
          <p:nvPr/>
        </p:nvPicPr>
        <p:blipFill>
          <a:blip r:embed="rId4"/>
          <a:stretch>
            <a:fillRect/>
          </a:stretch>
        </p:blipFill>
        <p:spPr>
          <a:xfrm>
            <a:off x="4828032" y="1289304"/>
            <a:ext cx="237744" cy="237744"/>
          </a:xfrm>
          <a:prstGeom prst="rect">
            <a:avLst/>
          </a:prstGeom>
        </p:spPr>
      </p:pic>
      <p:sp>
        <p:nvSpPr>
          <p:cNvPr id="10" name="Text 5"/>
          <p:cNvSpPr txBox="1"/>
          <p:nvPr/>
        </p:nvSpPr>
        <p:spPr>
          <a:xfrm>
            <a:off x="5166360" y="1261872"/>
            <a:ext cx="3383280" cy="292608"/>
          </a:xfrm>
          <a:prstGeom prst="rect">
            <a:avLst/>
          </a:prstGeom>
          <a:noFill/>
          <a:ln/>
        </p:spPr>
        <p:txBody>
          <a:bodyPr wrap="square" lIns="0" tIns="0" rIns="0" bIns="0" rtlCol="0" anchor="ctr"/>
          <a:lstStyle/>
          <a:p>
            <a:pPr marL="0" indent="0">
              <a:buNone/>
            </a:pPr>
            <a:r>
              <a:rPr lang="en-US" sz="1350" b="1" dirty="0">
                <a:solidFill>
                  <a:schemeClr val="tx1"/>
                </a:solidFill>
              </a:rPr>
              <a:t>Distance: Haversine</a:t>
            </a:r>
            <a:endParaRPr lang="en-US" sz="1350" dirty="0"/>
          </a:p>
        </p:txBody>
      </p:sp>
      <p:sp>
        <p:nvSpPr>
          <p:cNvPr id="11" name="Shape 6"/>
          <p:cNvSpPr/>
          <p:nvPr/>
        </p:nvSpPr>
        <p:spPr>
          <a:xfrm>
            <a:off x="457200" y="2926080"/>
            <a:ext cx="4023360" cy="1664208"/>
          </a:xfrm>
          <a:prstGeom prst="roundRect">
            <a:avLst>
              <a:gd name="adj" fmla="val 4396"/>
            </a:avLst>
          </a:prstGeom>
          <a:solidFill>
            <a:schemeClr val="bg1"/>
          </a:solidFill>
          <a:ln w="12700">
            <a:solidFill>
              <a:srgbClr val="D5DCE8"/>
            </a:solidFill>
            <a:prstDash val="solid"/>
          </a:ln>
        </p:spPr>
      </p:sp>
      <p:pic>
        <p:nvPicPr>
          <p:cNvPr id="12" name="Image 2" descr="preencoded.png"/>
          <p:cNvPicPr>
            <a:picLocks noChangeAspect="1"/>
          </p:cNvPicPr>
          <p:nvPr/>
        </p:nvPicPr>
        <p:blipFill>
          <a:blip r:embed="rId5"/>
          <a:stretch>
            <a:fillRect/>
          </a:stretch>
        </p:blipFill>
        <p:spPr>
          <a:xfrm>
            <a:off x="621792" y="3044952"/>
            <a:ext cx="237744" cy="237744"/>
          </a:xfrm>
          <a:prstGeom prst="rect">
            <a:avLst/>
          </a:prstGeom>
        </p:spPr>
      </p:pic>
      <p:sp>
        <p:nvSpPr>
          <p:cNvPr id="13" name="Text 7"/>
          <p:cNvSpPr txBox="1"/>
          <p:nvPr/>
        </p:nvSpPr>
        <p:spPr>
          <a:xfrm>
            <a:off x="960120" y="3017520"/>
            <a:ext cx="3383280" cy="292608"/>
          </a:xfrm>
          <a:prstGeom prst="rect">
            <a:avLst/>
          </a:prstGeom>
          <a:noFill/>
          <a:ln/>
        </p:spPr>
        <p:txBody>
          <a:bodyPr wrap="square" lIns="0" tIns="0" rIns="0" bIns="0" rtlCol="0" anchor="ctr"/>
          <a:lstStyle/>
          <a:p>
            <a:pPr marL="0" indent="0">
              <a:buNone/>
            </a:pPr>
            <a:r>
              <a:rPr lang="en-US" sz="1350" b="1" dirty="0">
                <a:solidFill>
                  <a:schemeClr val="tx1"/>
                </a:solidFill>
              </a:rPr>
              <a:t>Route deviation</a:t>
            </a:r>
            <a:endParaRPr lang="en-US" sz="1350" dirty="0"/>
          </a:p>
        </p:txBody>
      </p:sp>
      <p:sp>
        <p:nvSpPr>
          <p:cNvPr id="14" name="Shape 8"/>
          <p:cNvSpPr/>
          <p:nvPr/>
        </p:nvSpPr>
        <p:spPr>
          <a:xfrm>
            <a:off x="4663440" y="2926080"/>
            <a:ext cx="4023360" cy="1664208"/>
          </a:xfrm>
          <a:prstGeom prst="roundRect">
            <a:avLst>
              <a:gd name="adj" fmla="val 4396"/>
            </a:avLst>
          </a:prstGeom>
          <a:solidFill>
            <a:schemeClr val="bg1"/>
          </a:solidFill>
          <a:ln w="12700">
            <a:solidFill>
              <a:srgbClr val="D5DCE8"/>
            </a:solidFill>
            <a:prstDash val="solid"/>
          </a:ln>
        </p:spPr>
      </p:sp>
      <p:pic>
        <p:nvPicPr>
          <p:cNvPr id="15" name="Image 3" descr="preencoded.png"/>
          <p:cNvPicPr>
            <a:picLocks noChangeAspect="1"/>
          </p:cNvPicPr>
          <p:nvPr/>
        </p:nvPicPr>
        <p:blipFill>
          <a:blip r:embed="rId6"/>
          <a:stretch>
            <a:fillRect/>
          </a:stretch>
        </p:blipFill>
        <p:spPr>
          <a:xfrm>
            <a:off x="4828032" y="3044952"/>
            <a:ext cx="237744" cy="237744"/>
          </a:xfrm>
          <a:prstGeom prst="rect">
            <a:avLst/>
          </a:prstGeom>
        </p:spPr>
      </p:pic>
      <p:sp>
        <p:nvSpPr>
          <p:cNvPr id="16" name="Text 9"/>
          <p:cNvSpPr txBox="1"/>
          <p:nvPr/>
        </p:nvSpPr>
        <p:spPr>
          <a:xfrm>
            <a:off x="5166360" y="3017520"/>
            <a:ext cx="3383280" cy="292608"/>
          </a:xfrm>
          <a:prstGeom prst="rect">
            <a:avLst/>
          </a:prstGeom>
          <a:noFill/>
          <a:ln/>
        </p:spPr>
        <p:txBody>
          <a:bodyPr wrap="square" lIns="0" tIns="0" rIns="0" bIns="0" rtlCol="0" anchor="ctr"/>
          <a:lstStyle/>
          <a:p>
            <a:pPr marL="0" indent="0">
              <a:buNone/>
            </a:pPr>
            <a:r>
              <a:rPr lang="en-US" sz="1350" b="1" dirty="0">
                <a:solidFill>
                  <a:schemeClr val="tx1"/>
                </a:solidFill>
              </a:rPr>
              <a:t>Disconnect detection</a:t>
            </a:r>
            <a:endParaRPr lang="en-US" sz="1350" dirty="0"/>
          </a:p>
        </p:txBody>
      </p:sp>
      <p:sp>
        <p:nvSpPr>
          <p:cNvPr id="17" name="Shape 10"/>
          <p:cNvSpPr/>
          <p:nvPr/>
        </p:nvSpPr>
        <p:spPr>
          <a:xfrm>
            <a:off x="621792" y="1600200"/>
            <a:ext cx="530352" cy="274320"/>
          </a:xfrm>
          <a:prstGeom prst="roundRect">
            <a:avLst>
              <a:gd name="adj" fmla="val 20000"/>
            </a:avLst>
          </a:prstGeom>
          <a:solidFill>
            <a:schemeClr val="accent1">
              <a:alpha val="8000"/>
            </a:schemeClr>
          </a:solidFill>
          <a:ln/>
        </p:spPr>
      </p:sp>
      <p:sp>
        <p:nvSpPr>
          <p:cNvPr id="18" name="Text 11"/>
          <p:cNvSpPr txBox="1"/>
          <p:nvPr/>
        </p:nvSpPr>
        <p:spPr>
          <a:xfrm>
            <a:off x="621792" y="1600200"/>
            <a:ext cx="530352" cy="274320"/>
          </a:xfrm>
          <a:prstGeom prst="rect">
            <a:avLst/>
          </a:prstGeom>
          <a:noFill/>
          <a:ln/>
        </p:spPr>
        <p:txBody>
          <a:bodyPr wrap="square" lIns="0" tIns="0" rIns="0" bIns="0" rtlCol="0" anchor="ctr"/>
          <a:lstStyle/>
          <a:p>
            <a:pPr marL="0" indent="0" algn="ctr">
              <a:buNone/>
            </a:pPr>
            <a:r>
              <a:rPr lang="en-US" sz="950" dirty="0">
                <a:solidFill>
                  <a:schemeClr val="tx1"/>
                </a:solidFill>
              </a:rPr>
              <a:t>Browser</a:t>
            </a:r>
            <a:endParaRPr lang="en-US" sz="950" dirty="0"/>
          </a:p>
        </p:txBody>
      </p:sp>
      <p:sp>
        <p:nvSpPr>
          <p:cNvPr id="19" name="Shape 12"/>
          <p:cNvSpPr/>
          <p:nvPr/>
        </p:nvSpPr>
        <p:spPr>
          <a:xfrm>
            <a:off x="1225296" y="1600200"/>
            <a:ext cx="530352" cy="274320"/>
          </a:xfrm>
          <a:prstGeom prst="roundRect">
            <a:avLst>
              <a:gd name="adj" fmla="val 20000"/>
            </a:avLst>
          </a:prstGeom>
          <a:solidFill>
            <a:schemeClr val="accent1">
              <a:alpha val="8000"/>
            </a:schemeClr>
          </a:solidFill>
          <a:ln/>
        </p:spPr>
      </p:sp>
      <p:sp>
        <p:nvSpPr>
          <p:cNvPr id="20" name="Text 13"/>
          <p:cNvSpPr txBox="1"/>
          <p:nvPr/>
        </p:nvSpPr>
        <p:spPr>
          <a:xfrm>
            <a:off x="1225296" y="1600200"/>
            <a:ext cx="530352" cy="274320"/>
          </a:xfrm>
          <a:prstGeom prst="rect">
            <a:avLst/>
          </a:prstGeom>
          <a:noFill/>
          <a:ln/>
        </p:spPr>
        <p:txBody>
          <a:bodyPr wrap="square" lIns="0" tIns="0" rIns="0" bIns="0" rtlCol="0" anchor="ctr"/>
          <a:lstStyle/>
          <a:p>
            <a:pPr marL="0" indent="0" algn="ctr">
              <a:buNone/>
            </a:pPr>
            <a:r>
              <a:rPr lang="en-US" sz="950" dirty="0">
                <a:solidFill>
                  <a:schemeClr val="tx1"/>
                </a:solidFill>
              </a:rPr>
              <a:t>GPS</a:t>
            </a:r>
            <a:endParaRPr lang="en-US" sz="950" dirty="0"/>
          </a:p>
        </p:txBody>
      </p:sp>
      <p:sp>
        <p:nvSpPr>
          <p:cNvPr id="21" name="Shape 14"/>
          <p:cNvSpPr/>
          <p:nvPr/>
        </p:nvSpPr>
        <p:spPr>
          <a:xfrm>
            <a:off x="1828800" y="1600200"/>
            <a:ext cx="530352" cy="274320"/>
          </a:xfrm>
          <a:prstGeom prst="roundRect">
            <a:avLst>
              <a:gd name="adj" fmla="val 20000"/>
            </a:avLst>
          </a:prstGeom>
          <a:solidFill>
            <a:schemeClr val="accent1">
              <a:alpha val="8000"/>
            </a:schemeClr>
          </a:solidFill>
          <a:ln/>
        </p:spPr>
      </p:sp>
      <p:sp>
        <p:nvSpPr>
          <p:cNvPr id="22" name="Text 15"/>
          <p:cNvSpPr txBox="1"/>
          <p:nvPr/>
        </p:nvSpPr>
        <p:spPr>
          <a:xfrm>
            <a:off x="1828800" y="1600200"/>
            <a:ext cx="530352" cy="274320"/>
          </a:xfrm>
          <a:prstGeom prst="rect">
            <a:avLst/>
          </a:prstGeom>
          <a:noFill/>
          <a:ln/>
        </p:spPr>
        <p:txBody>
          <a:bodyPr wrap="square" lIns="0" tIns="0" rIns="0" bIns="0" rtlCol="0" anchor="ctr"/>
          <a:lstStyle/>
          <a:p>
            <a:pPr marL="0" indent="0" algn="ctr">
              <a:buNone/>
            </a:pPr>
            <a:r>
              <a:rPr lang="en-US" sz="950" dirty="0">
                <a:solidFill>
                  <a:schemeClr val="tx1"/>
                </a:solidFill>
              </a:rPr>
              <a:t>JavaScript</a:t>
            </a:r>
            <a:endParaRPr lang="en-US" sz="950" dirty="0"/>
          </a:p>
        </p:txBody>
      </p:sp>
      <p:sp>
        <p:nvSpPr>
          <p:cNvPr id="23" name="Shape 16"/>
          <p:cNvSpPr/>
          <p:nvPr/>
        </p:nvSpPr>
        <p:spPr>
          <a:xfrm>
            <a:off x="2432304" y="1600200"/>
            <a:ext cx="530352" cy="274320"/>
          </a:xfrm>
          <a:prstGeom prst="roundRect">
            <a:avLst>
              <a:gd name="adj" fmla="val 20000"/>
            </a:avLst>
          </a:prstGeom>
          <a:solidFill>
            <a:schemeClr val="accent1">
              <a:alpha val="8000"/>
            </a:schemeClr>
          </a:solidFill>
          <a:ln/>
        </p:spPr>
      </p:sp>
      <p:sp>
        <p:nvSpPr>
          <p:cNvPr id="24" name="Text 17"/>
          <p:cNvSpPr txBox="1"/>
          <p:nvPr/>
        </p:nvSpPr>
        <p:spPr>
          <a:xfrm>
            <a:off x="2432304" y="1600200"/>
            <a:ext cx="530352" cy="274320"/>
          </a:xfrm>
          <a:prstGeom prst="rect">
            <a:avLst/>
          </a:prstGeom>
          <a:noFill/>
          <a:ln/>
        </p:spPr>
        <p:txBody>
          <a:bodyPr wrap="square" lIns="0" tIns="0" rIns="0" bIns="0" rtlCol="0" anchor="ctr"/>
          <a:lstStyle/>
          <a:p>
            <a:pPr marL="0" indent="0" algn="ctr">
              <a:buNone/>
            </a:pPr>
            <a:r>
              <a:rPr lang="en-US" sz="950" dirty="0">
                <a:solidFill>
                  <a:schemeClr val="tx1"/>
                </a:solidFill>
              </a:rPr>
              <a:t>WebSocket</a:t>
            </a:r>
            <a:endParaRPr lang="en-US" sz="950" dirty="0"/>
          </a:p>
        </p:txBody>
      </p:sp>
      <p:sp>
        <p:nvSpPr>
          <p:cNvPr id="25" name="Shape 18"/>
          <p:cNvSpPr/>
          <p:nvPr/>
        </p:nvSpPr>
        <p:spPr>
          <a:xfrm>
            <a:off x="3035808" y="1600200"/>
            <a:ext cx="530352" cy="274320"/>
          </a:xfrm>
          <a:prstGeom prst="roundRect">
            <a:avLst>
              <a:gd name="adj" fmla="val 20000"/>
            </a:avLst>
          </a:prstGeom>
          <a:solidFill>
            <a:schemeClr val="accent1">
              <a:alpha val="8000"/>
            </a:schemeClr>
          </a:solidFill>
          <a:ln/>
        </p:spPr>
      </p:sp>
      <p:sp>
        <p:nvSpPr>
          <p:cNvPr id="26" name="Text 19"/>
          <p:cNvSpPr txBox="1"/>
          <p:nvPr/>
        </p:nvSpPr>
        <p:spPr>
          <a:xfrm>
            <a:off x="3035808" y="1600200"/>
            <a:ext cx="530352" cy="274320"/>
          </a:xfrm>
          <a:prstGeom prst="rect">
            <a:avLst/>
          </a:prstGeom>
          <a:noFill/>
          <a:ln/>
        </p:spPr>
        <p:txBody>
          <a:bodyPr wrap="square" lIns="0" tIns="0" rIns="0" bIns="0" rtlCol="0" anchor="ctr"/>
          <a:lstStyle/>
          <a:p>
            <a:pPr marL="0" indent="0" algn="ctr">
              <a:buNone/>
            </a:pPr>
            <a:r>
              <a:rPr lang="en-US" sz="950" dirty="0">
                <a:solidFill>
                  <a:schemeClr val="tx1"/>
                </a:solidFill>
              </a:rPr>
              <a:t>Django</a:t>
            </a:r>
            <a:endParaRPr lang="en-US" sz="950" dirty="0"/>
          </a:p>
        </p:txBody>
      </p:sp>
      <p:sp>
        <p:nvSpPr>
          <p:cNvPr id="27" name="Shape 20"/>
          <p:cNvSpPr/>
          <p:nvPr/>
        </p:nvSpPr>
        <p:spPr>
          <a:xfrm>
            <a:off x="3639312" y="1600200"/>
            <a:ext cx="530352" cy="274320"/>
          </a:xfrm>
          <a:prstGeom prst="roundRect">
            <a:avLst>
              <a:gd name="adj" fmla="val 20000"/>
            </a:avLst>
          </a:prstGeom>
          <a:solidFill>
            <a:schemeClr val="accent1">
              <a:alpha val="8000"/>
            </a:schemeClr>
          </a:solidFill>
          <a:ln/>
        </p:spPr>
      </p:sp>
      <p:sp>
        <p:nvSpPr>
          <p:cNvPr id="28" name="Text 21"/>
          <p:cNvSpPr txBox="1"/>
          <p:nvPr/>
        </p:nvSpPr>
        <p:spPr>
          <a:xfrm>
            <a:off x="3639312" y="1600200"/>
            <a:ext cx="530352" cy="274320"/>
          </a:xfrm>
          <a:prstGeom prst="rect">
            <a:avLst/>
          </a:prstGeom>
          <a:noFill/>
          <a:ln/>
        </p:spPr>
        <p:txBody>
          <a:bodyPr wrap="square" lIns="0" tIns="0" rIns="0" bIns="0" rtlCol="0" anchor="ctr"/>
          <a:lstStyle/>
          <a:p>
            <a:pPr marL="0" indent="0" algn="ctr">
              <a:buNone/>
            </a:pPr>
            <a:r>
              <a:rPr lang="en-US" sz="950" dirty="0">
                <a:solidFill>
                  <a:schemeClr val="tx1"/>
                </a:solidFill>
              </a:rPr>
              <a:t>Group</a:t>
            </a:r>
            <a:endParaRPr lang="en-US" sz="950" dirty="0"/>
          </a:p>
        </p:txBody>
      </p:sp>
      <p:sp>
        <p:nvSpPr>
          <p:cNvPr id="29" name="Text 22"/>
          <p:cNvSpPr txBox="1"/>
          <p:nvPr/>
        </p:nvSpPr>
        <p:spPr>
          <a:xfrm>
            <a:off x="621792" y="1938528"/>
            <a:ext cx="3749040" cy="868680"/>
          </a:xfrm>
          <a:prstGeom prst="rect">
            <a:avLst/>
          </a:prstGeom>
          <a:noFill/>
          <a:ln/>
        </p:spPr>
        <p:txBody>
          <a:bodyPr wrap="square" lIns="0" tIns="0" rIns="0" bIns="0" rtlCol="0" anchor="t"/>
          <a:lstStyle/>
          <a:p>
            <a:pPr marL="177800" indent="-177800">
              <a:spcAft>
                <a:spcPts val="200"/>
              </a:spcAft>
              <a:buSzPct val="100000"/>
              <a:buChar char="•"/>
            </a:pPr>
            <a:r>
              <a:rPr lang="en-US" sz="1150" dirty="0">
                <a:solidFill>
                  <a:schemeClr val="tx1"/>
                </a:solidFill>
              </a:rPr>
              <a:t>watchPosition: high accuracy, 60 s timeout, 5 s max cache</a:t>
            </a:r>
            <a:endParaRPr lang="en-US" sz="1400" dirty="0"/>
          </a:p>
          <a:p>
            <a:pPr marL="177800" indent="-177800">
              <a:spcAft>
                <a:spcPts val="200"/>
              </a:spcAft>
              <a:buSzPct val="100000"/>
              <a:buChar char="•"/>
            </a:pPr>
            <a:r>
              <a:rPr lang="en-US" sz="1150" dirty="0">
                <a:solidFill>
                  <a:schemeClr val="tx1"/>
                </a:solidFill>
              </a:rPr>
              <a:t>Sends lat, lng, speed, accuracy, heading</a:t>
            </a:r>
            <a:endParaRPr lang="en-US" sz="1400" dirty="0"/>
          </a:p>
          <a:p>
            <a:pPr marL="177800" indent="-177800">
              <a:spcAft>
                <a:spcPts val="200"/>
              </a:spcAft>
              <a:buSzPct val="100000"/>
              <a:buChar char="•"/>
            </a:pPr>
            <a:r>
              <a:rPr lang="en-US" sz="1150" dirty="0">
                <a:solidFill>
                  <a:schemeClr val="tx1"/>
                </a:solidFill>
              </a:rPr>
              <a:t>Server validates ranges, saves LocationLog, broadcasts</a:t>
            </a:r>
            <a:endParaRPr lang="en-US" sz="1400" dirty="0"/>
          </a:p>
        </p:txBody>
      </p:sp>
      <p:sp>
        <p:nvSpPr>
          <p:cNvPr id="30" name="Text 23"/>
          <p:cNvSpPr txBox="1"/>
          <p:nvPr/>
        </p:nvSpPr>
        <p:spPr>
          <a:xfrm>
            <a:off x="4828032" y="1572768"/>
            <a:ext cx="3749040" cy="566928"/>
          </a:xfrm>
          <a:prstGeom prst="rect">
            <a:avLst/>
          </a:prstGeom>
          <a:noFill/>
          <a:ln/>
        </p:spPr>
        <p:txBody>
          <a:bodyPr wrap="square" lIns="0" tIns="0" rIns="0" bIns="0" rtlCol="0" anchor="t"/>
          <a:lstStyle/>
          <a:p>
            <a:pPr marL="0" indent="0">
              <a:buNone/>
            </a:pPr>
            <a:r>
              <a:rPr lang="en-US" sz="1150" dirty="0">
                <a:solidFill>
                  <a:schemeClr val="tx1"/>
                </a:solidFill>
                <a:latin typeface="Courier New" pitchFamily="34" charset="0"/>
                <a:ea typeface="Courier New" pitchFamily="34" charset="-122"/>
                <a:cs typeface="Courier New" pitchFamily="34" charset="-120"/>
              </a:rPr>
              <a:t>a = sin²(Δφ/2) + cos φ1 · cos φ2 · sin²(Δλ/2)</a:t>
            </a:r>
            <a:endParaRPr lang="en-US" sz="1150" dirty="0"/>
          </a:p>
          <a:p>
            <a:pPr marL="0" indent="0">
              <a:buNone/>
            </a:pPr>
            <a:r>
              <a:rPr lang="en-US" sz="1150" dirty="0">
                <a:solidFill>
                  <a:schemeClr val="tx1"/>
                </a:solidFill>
                <a:latin typeface="Courier New" pitchFamily="34" charset="0"/>
                <a:ea typeface="Courier New" pitchFamily="34" charset="-122"/>
                <a:cs typeface="Courier New" pitchFamily="34" charset="-120"/>
              </a:rPr>
              <a:t>c = 2 · atan2(√a, √(1−a))</a:t>
            </a:r>
            <a:endParaRPr lang="en-US" sz="1150" dirty="0"/>
          </a:p>
          <a:p>
            <a:pPr marL="0" indent="0">
              <a:buNone/>
            </a:pPr>
            <a:r>
              <a:rPr lang="en-US" sz="1150" dirty="0">
                <a:solidFill>
                  <a:schemeClr val="tx1"/>
                </a:solidFill>
                <a:latin typeface="Courier New" pitchFamily="34" charset="0"/>
                <a:ea typeface="Courier New" pitchFamily="34" charset="-122"/>
                <a:cs typeface="Courier New" pitchFamily="34" charset="-120"/>
              </a:rPr>
              <a:t>d = R · c,   R = 6,371,000 m</a:t>
            </a:r>
            <a:endParaRPr lang="en-US" sz="1150" dirty="0"/>
          </a:p>
        </p:txBody>
      </p:sp>
      <p:sp>
        <p:nvSpPr>
          <p:cNvPr id="31" name="Text 24"/>
          <p:cNvSpPr txBox="1"/>
          <p:nvPr/>
        </p:nvSpPr>
        <p:spPr>
          <a:xfrm>
            <a:off x="4828032" y="2212848"/>
            <a:ext cx="3749040" cy="594360"/>
          </a:xfrm>
          <a:prstGeom prst="rect">
            <a:avLst/>
          </a:prstGeom>
          <a:noFill/>
          <a:ln/>
        </p:spPr>
        <p:txBody>
          <a:bodyPr wrap="square" lIns="0" tIns="0" rIns="0" bIns="0" rtlCol="0" anchor="t"/>
          <a:lstStyle/>
          <a:p>
            <a:pPr marL="177800" indent="-177800">
              <a:spcAft>
                <a:spcPts val="200"/>
              </a:spcAft>
              <a:buSzPct val="100000"/>
              <a:buChar char="•"/>
            </a:pPr>
            <a:r>
              <a:rPr lang="en-US" sz="1150" dirty="0">
                <a:solidFill>
                  <a:schemeClr val="tx1"/>
                </a:solidFill>
              </a:rPr>
              <a:t>Used for deviation, speed estimate and travelled distance</a:t>
            </a:r>
            <a:endParaRPr lang="en-US" sz="1400" dirty="0"/>
          </a:p>
          <a:p>
            <a:pPr marL="177800" indent="-177800">
              <a:spcAft>
                <a:spcPts val="200"/>
              </a:spcAft>
              <a:buSzPct val="100000"/>
              <a:buChar char="•"/>
            </a:pPr>
            <a:r>
              <a:rPr lang="en-US" sz="1150" dirty="0">
                <a:solidFill>
                  <a:schemeClr val="tx1"/>
                </a:solidFill>
              </a:rPr>
              <a:t>Planned route distance comes from OSRM, not Haversine</a:t>
            </a:r>
            <a:endParaRPr lang="en-US" sz="1400" dirty="0"/>
          </a:p>
        </p:txBody>
      </p:sp>
      <p:sp>
        <p:nvSpPr>
          <p:cNvPr id="32" name="Text 25"/>
          <p:cNvSpPr txBox="1"/>
          <p:nvPr/>
        </p:nvSpPr>
        <p:spPr>
          <a:xfrm>
            <a:off x="621792" y="3364992"/>
            <a:ext cx="3749040" cy="1325880"/>
          </a:xfrm>
          <a:prstGeom prst="rect">
            <a:avLst/>
          </a:prstGeom>
          <a:noFill/>
          <a:ln/>
        </p:spPr>
        <p:txBody>
          <a:bodyPr wrap="square" lIns="0" tIns="0" rIns="0" bIns="0" rtlCol="0" anchor="t"/>
          <a:lstStyle/>
          <a:p>
            <a:pPr marL="177800" indent="-177800">
              <a:spcAft>
                <a:spcPts val="200"/>
              </a:spcAft>
              <a:buSzPct val="100000"/>
              <a:buChar char="•"/>
            </a:pPr>
            <a:r>
              <a:rPr lang="en-US" sz="1150" dirty="0">
                <a:solidFill>
                  <a:schemeClr val="tx1"/>
                </a:solidFill>
              </a:rPr>
              <a:t>Rider GPS vs. each point of the planned route</a:t>
            </a:r>
            <a:endParaRPr lang="en-US" sz="1400" dirty="0"/>
          </a:p>
          <a:p>
            <a:pPr marL="177800" indent="-177800">
              <a:spcAft>
                <a:spcPts val="200"/>
              </a:spcAft>
              <a:buSzPct val="100000"/>
              <a:buChar char="•"/>
            </a:pPr>
            <a:r>
              <a:rPr lang="en-US" sz="1150" dirty="0">
                <a:solidFill>
                  <a:schemeClr val="tx1"/>
                </a:solidFill>
              </a:rPr>
              <a:t>Nearest-point distance &gt; 500 m: flagged off-route and alert broadcast</a:t>
            </a:r>
            <a:endParaRPr lang="en-US" sz="1400" dirty="0"/>
          </a:p>
          <a:p>
            <a:pPr marL="177800" indent="-177800">
              <a:spcAft>
                <a:spcPts val="200"/>
              </a:spcAft>
              <a:buSzPct val="100000"/>
              <a:buChar char="•"/>
            </a:pPr>
            <a:r>
              <a:rPr lang="en-US" sz="1150" dirty="0">
                <a:solidFill>
                  <a:schemeClr val="tx1"/>
                </a:solidFill>
              </a:rPr>
              <a:t>Back within 500 m: flag cleared</a:t>
            </a:r>
            <a:endParaRPr lang="en-US" sz="1400" dirty="0"/>
          </a:p>
          <a:p>
            <a:pPr marL="177800" indent="-177800">
              <a:spcAft>
                <a:spcPts val="200"/>
              </a:spcAft>
              <a:buSzPct val="100000"/>
              <a:buChar char="•"/>
            </a:pPr>
            <a:r>
              <a:rPr lang="en-US" sz="1150" dirty="0">
                <a:solidFill>
                  <a:schemeClr val="tx1"/>
                </a:solidFill>
              </a:rPr>
              <a:t>Checked on every location update</a:t>
            </a:r>
            <a:endParaRPr lang="en-US" sz="1400" dirty="0"/>
          </a:p>
        </p:txBody>
      </p:sp>
      <p:sp>
        <p:nvSpPr>
          <p:cNvPr id="33" name="Text 26"/>
          <p:cNvSpPr txBox="1"/>
          <p:nvPr/>
        </p:nvSpPr>
        <p:spPr>
          <a:xfrm>
            <a:off x="4828032" y="3364992"/>
            <a:ext cx="3749040" cy="1325880"/>
          </a:xfrm>
          <a:prstGeom prst="rect">
            <a:avLst/>
          </a:prstGeom>
          <a:noFill/>
          <a:ln/>
        </p:spPr>
        <p:txBody>
          <a:bodyPr wrap="square" lIns="0" tIns="0" rIns="0" bIns="0" rtlCol="0" anchor="t"/>
          <a:lstStyle/>
          <a:p>
            <a:pPr marL="177800" indent="-177800">
              <a:spcAft>
                <a:spcPts val="200"/>
              </a:spcAft>
              <a:buSzPct val="100000"/>
              <a:buChar char="•"/>
            </a:pPr>
            <a:r>
              <a:rPr lang="en-US" sz="1150" dirty="0">
                <a:solidFill>
                  <a:schemeClr val="tx1"/>
                </a:solidFill>
              </a:rPr>
              <a:t>Tracks last_seen for each active rider</a:t>
            </a:r>
            <a:endParaRPr lang="en-US" sz="1400" dirty="0"/>
          </a:p>
          <a:p>
            <a:pPr marL="177800" indent="-177800">
              <a:spcAft>
                <a:spcPts val="200"/>
              </a:spcAft>
              <a:buSzPct val="100000"/>
              <a:buChar char="•"/>
            </a:pPr>
            <a:r>
              <a:rPr lang="en-US" sz="1150" dirty="0">
                <a:solidFill>
                  <a:schemeClr val="tx1"/>
                </a:solidFill>
              </a:rPr>
              <a:t>No update for 45 s: status DISCONNECTED, last coordinates broadcast</a:t>
            </a:r>
            <a:endParaRPr lang="en-US" sz="1400" dirty="0"/>
          </a:p>
          <a:p>
            <a:pPr marL="177800" indent="-177800">
              <a:spcAft>
                <a:spcPts val="200"/>
              </a:spcAft>
              <a:buSzPct val="100000"/>
              <a:buChar char="•"/>
            </a:pPr>
            <a:r>
              <a:rPr lang="en-US" sz="1150" dirty="0">
                <a:solidFill>
                  <a:schemeClr val="tx1"/>
                </a:solidFill>
              </a:rPr>
              <a:t>WebSocket close also marks the rider offline</a:t>
            </a:r>
            <a:endParaRPr lang="en-US" sz="1400" dirty="0"/>
          </a:p>
          <a:p>
            <a:pPr marL="177800" indent="-177800">
              <a:spcAft>
                <a:spcPts val="200"/>
              </a:spcAft>
              <a:buSzPct val="100000"/>
              <a:buChar char="•"/>
            </a:pPr>
            <a:r>
              <a:rPr lang="en-US" sz="1150" dirty="0">
                <a:solidFill>
                  <a:schemeClr val="tx1"/>
                </a:solidFill>
              </a:rPr>
              <a:t>New GPS update: back to ACTIVE</a:t>
            </a:r>
            <a:endParaRPr lang="en-US" sz="1400" dirty="0"/>
          </a:p>
        </p:txBody>
      </p:sp>
      <p:sp>
        <p:nvSpPr>
          <p:cNvPr id="4" name="Slide Number Placeholder 0"/>
          <p:cNvSpPr>
            <a:spLocks noGrp="1"/>
          </p:cNvSpPr>
          <p:nvPr>
            <p:ph type="sldNum" sz="quarter" idx="4294967295"/>
          </p:nvPr>
        </p:nvSpPr>
        <p:spPr>
          <a:xfrm>
            <a:off x="8138160" y="4791456"/>
            <a:ext cx="548640" cy="228600"/>
          </a:xfrm>
          <a:prstGeom prst="rect">
            <a:avLst/>
          </a:prstGeom>
          <a:extLst>
            <a:ext uri="{C572A759-6A51-4108-AA02-DFA0A04FC94B}">
              <ma14:wrappingTextBoxFlag xmlns:ma14="http://schemas.microsoft.com/office/mac/drawingml/2011/main" xmlns="" val="0"/>
            </a:ext>
          </a:extLst>
        </p:spPr>
        <p:txBody>
          <a:bodyPr/>
          <a:lstStyle>
            <a:lvl1pPr>
              <a:defRPr sz="1000">
                <a:solidFill>
                  <a:srgbClr val="475569"/>
                </a:solidFill>
              </a:defRPr>
            </a:lvl1pPr>
          </a:lstStyle>
          <a:p>
            <a:pPr algn="r"/>
            <a:fld id="{F7021451-1387-4CA6-816F-3879F97B5CBC}" type="slidenum">
              <a:rPr lang="en-US" b="0"/>
              <a:t>22</a:t>
            </a:fld>
            <a:endParaRPr lang="en-US"/>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2">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457200" y="420624"/>
            <a:ext cx="8229600" cy="566928"/>
          </a:xfrm>
          <a:prstGeom prst="rect">
            <a:avLst/>
          </a:prstGeom>
          <a:noFill/>
          <a:ln/>
        </p:spPr>
        <p:txBody>
          <a:bodyPr wrap="square" lIns="0" tIns="0" rIns="0" bIns="0" rtlCol="0" anchor="ctr"/>
          <a:lstStyle/>
          <a:p>
            <a:pPr marL="0" indent="0" algn="l">
              <a:buNone/>
            </a:pPr>
            <a:r>
              <a:rPr lang="en-US" sz="2800" b="1" dirty="0">
                <a:solidFill>
                  <a:schemeClr val="tx1"/>
                </a:solidFill>
              </a:rPr>
              <a:t>Implementation overview</a:t>
            </a:r>
            <a:endParaRPr lang="en-US" sz="2800" dirty="0"/>
          </a:p>
        </p:txBody>
      </p:sp>
      <p:sp>
        <p:nvSpPr>
          <p:cNvPr id="3" name="Text 1"/>
          <p:cNvSpPr txBox="1"/>
          <p:nvPr/>
        </p:nvSpPr>
        <p:spPr>
          <a:xfrm>
            <a:off x="457200" y="219456"/>
            <a:ext cx="5486400" cy="182880"/>
          </a:xfrm>
          <a:prstGeom prst="rect">
            <a:avLst/>
          </a:prstGeom>
          <a:noFill/>
          <a:ln/>
        </p:spPr>
        <p:txBody>
          <a:bodyPr wrap="square" lIns="0" tIns="0" rIns="0" bIns="0" rtlCol="0" anchor="t"/>
          <a:lstStyle/>
          <a:p>
            <a:pPr marL="0" indent="0">
              <a:buNone/>
            </a:pPr>
            <a:r>
              <a:rPr lang="en-US" sz="1000" b="1" kern="0" spc="200" dirty="0">
                <a:solidFill>
                  <a:schemeClr val="accent1"/>
                </a:solidFill>
              </a:rPr>
              <a:t>IMPLEMENTATION</a:t>
            </a:r>
            <a:endParaRPr lang="en-US" sz="1000" dirty="0"/>
          </a:p>
        </p:txBody>
      </p:sp>
      <p:sp>
        <p:nvSpPr>
          <p:cNvPr id="5" name="Shape 2"/>
          <p:cNvSpPr/>
          <p:nvPr/>
        </p:nvSpPr>
        <p:spPr>
          <a:xfrm>
            <a:off x="457200" y="1188720"/>
            <a:ext cx="4114800" cy="3429000"/>
          </a:xfrm>
          <a:prstGeom prst="roundRect">
            <a:avLst>
              <a:gd name="adj" fmla="val 2133"/>
            </a:avLst>
          </a:prstGeom>
          <a:solidFill>
            <a:schemeClr val="bg2"/>
          </a:solidFill>
          <a:ln/>
        </p:spPr>
      </p:sp>
      <p:sp>
        <p:nvSpPr>
          <p:cNvPr id="6" name="Text 3"/>
          <p:cNvSpPr txBox="1"/>
          <p:nvPr/>
        </p:nvSpPr>
        <p:spPr>
          <a:xfrm>
            <a:off x="640080" y="1298448"/>
            <a:ext cx="2743200" cy="182880"/>
          </a:xfrm>
          <a:prstGeom prst="rect">
            <a:avLst/>
          </a:prstGeom>
          <a:noFill/>
          <a:ln/>
        </p:spPr>
        <p:txBody>
          <a:bodyPr wrap="square" lIns="0" tIns="0" rIns="0" bIns="0" rtlCol="0" anchor="t"/>
          <a:lstStyle/>
          <a:p>
            <a:pPr marL="0" indent="0">
              <a:buNone/>
            </a:pPr>
            <a:r>
              <a:rPr lang="en-US" sz="1000" b="1" kern="0" spc="100" dirty="0">
                <a:solidFill>
                  <a:schemeClr val="accent1"/>
                </a:solidFill>
              </a:rPr>
              <a:t>PROJECT STRUCTURE</a:t>
            </a:r>
            <a:endParaRPr lang="en-US" sz="1000" dirty="0"/>
          </a:p>
        </p:txBody>
      </p:sp>
      <p:sp>
        <p:nvSpPr>
          <p:cNvPr id="7" name="Text 4"/>
          <p:cNvSpPr txBox="1"/>
          <p:nvPr/>
        </p:nvSpPr>
        <p:spPr>
          <a:xfrm>
            <a:off x="640080" y="1572768"/>
            <a:ext cx="3749040" cy="2926080"/>
          </a:xfrm>
          <a:prstGeom prst="rect">
            <a:avLst/>
          </a:prstGeom>
          <a:noFill/>
          <a:ln/>
        </p:spPr>
        <p:txBody>
          <a:bodyPr wrap="square" lIns="0" tIns="0" rIns="0" bIns="0" rtlCol="0" anchor="t"/>
          <a:lstStyle/>
          <a:p>
            <a:pPr marL="0" indent="0">
              <a:buNone/>
            </a:pPr>
            <a:r>
              <a:rPr lang="en-US" sz="1100" dirty="0">
                <a:solidFill>
                  <a:schemeClr val="tx1"/>
                </a:solidFill>
                <a:latin typeface="Courier New" pitchFamily="34" charset="0"/>
                <a:ea typeface="Courier New" pitchFamily="34" charset="-122"/>
                <a:cs typeface="Courier New" pitchFamily="34" charset="-120"/>
              </a:rPr>
              <a:t>packtrace/      settings, urls, asgi</a:t>
            </a:r>
            <a:endParaRPr lang="en-US" sz="1100" dirty="0"/>
          </a:p>
          <a:p>
            <a:pPr marL="0" indent="0">
              <a:buNone/>
            </a:pPr>
            <a:r>
              <a:rPr lang="en-US" sz="1100" dirty="0">
                <a:solidFill>
                  <a:schemeClr val="tx1"/>
                </a:solidFill>
                <a:latin typeface="Courier New" pitchFamily="34" charset="0"/>
                <a:ea typeface="Courier New" pitchFamily="34" charset="-122"/>
                <a:cs typeface="Courier New" pitchFamily="34" charset="-120"/>
              </a:rPr>
              <a:t>tracker/</a:t>
            </a:r>
            <a:endParaRPr lang="en-US" sz="1100" dirty="0"/>
          </a:p>
          <a:p>
            <a:pPr marL="0" indent="0">
              <a:buNone/>
            </a:pPr>
            <a:r>
              <a:rPr lang="en-US" sz="1100" dirty="0">
                <a:solidFill>
                  <a:schemeClr val="tx1"/>
                </a:solidFill>
                <a:latin typeface="Courier New" pitchFamily="34" charset="0"/>
                <a:ea typeface="Courier New" pitchFamily="34" charset="-122"/>
                <a:cs typeface="Courier New" pitchFamily="34" charset="-120"/>
              </a:rPr>
              <a:t>  models.py     5 models</a:t>
            </a:r>
            <a:endParaRPr lang="en-US" sz="1100" dirty="0"/>
          </a:p>
          <a:p>
            <a:pPr marL="0" indent="0">
              <a:buNone/>
            </a:pPr>
            <a:r>
              <a:rPr lang="en-US" sz="1100" dirty="0">
                <a:solidFill>
                  <a:schemeClr val="tx1"/>
                </a:solidFill>
                <a:latin typeface="Courier New" pitchFamily="34" charset="0"/>
                <a:ea typeface="Courier New" pitchFamily="34" charset="-122"/>
                <a:cs typeface="Courier New" pitchFamily="34" charset="-120"/>
              </a:rPr>
              <a:t>  views.py      HTTP + JSON APIs</a:t>
            </a:r>
            <a:endParaRPr lang="en-US" sz="1100" dirty="0"/>
          </a:p>
          <a:p>
            <a:pPr marL="0" indent="0">
              <a:buNone/>
            </a:pPr>
            <a:r>
              <a:rPr lang="en-US" sz="1100" dirty="0">
                <a:solidFill>
                  <a:schemeClr val="tx1"/>
                </a:solidFill>
                <a:latin typeface="Courier New" pitchFamily="34" charset="0"/>
                <a:ea typeface="Courier New" pitchFamily="34" charset="-122"/>
                <a:cs typeface="Courier New" pitchFamily="34" charset="-120"/>
              </a:rPr>
              <a:t>  consumers.py  WebSocket consumer</a:t>
            </a:r>
            <a:endParaRPr lang="en-US" sz="1100" dirty="0"/>
          </a:p>
          <a:p>
            <a:pPr marL="0" indent="0">
              <a:buNone/>
            </a:pPr>
            <a:r>
              <a:rPr lang="en-US" sz="1100" dirty="0">
                <a:solidFill>
                  <a:schemeClr val="tx1"/>
                </a:solidFill>
                <a:latin typeface="Courier New" pitchFamily="34" charset="0"/>
                <a:ea typeface="Courier New" pitchFamily="34" charset="-122"/>
                <a:cs typeface="Courier New" pitchFamily="34" charset="-120"/>
              </a:rPr>
              <a:t>  routing.py    ws:// routes</a:t>
            </a:r>
            <a:endParaRPr lang="en-US" sz="1100" dirty="0"/>
          </a:p>
          <a:p>
            <a:pPr marL="0" indent="0">
              <a:buNone/>
            </a:pPr>
            <a:r>
              <a:rPr lang="en-US" sz="1100" dirty="0">
                <a:solidFill>
                  <a:schemeClr val="tx1"/>
                </a:solidFill>
                <a:latin typeface="Courier New" pitchFamily="34" charset="0"/>
                <a:ea typeface="Courier New" pitchFamily="34" charset="-122"/>
                <a:cs typeface="Courier New" pitchFamily="34" charset="-120"/>
              </a:rPr>
              <a:t>  services.py   Haversine, alerts</a:t>
            </a:r>
            <a:endParaRPr lang="en-US" sz="1100" dirty="0"/>
          </a:p>
          <a:p>
            <a:pPr marL="0" indent="0">
              <a:buNone/>
            </a:pPr>
            <a:r>
              <a:rPr lang="en-US" sz="1100" dirty="0">
                <a:solidFill>
                  <a:schemeClr val="tx1"/>
                </a:solidFill>
                <a:latin typeface="Courier New" pitchFamily="34" charset="0"/>
                <a:ea typeface="Courier New" pitchFamily="34" charset="-122"/>
                <a:cs typeface="Courier New" pitchFamily="34" charset="-120"/>
              </a:rPr>
              <a:t>  routing_service.py  OSRM client</a:t>
            </a:r>
            <a:endParaRPr lang="en-US" sz="1100" dirty="0"/>
          </a:p>
          <a:p>
            <a:pPr marL="0" indent="0">
              <a:buNone/>
            </a:pPr>
            <a:r>
              <a:rPr lang="en-US" sz="1100" dirty="0">
                <a:solidFill>
                  <a:schemeClr val="tx1"/>
                </a:solidFill>
                <a:latin typeface="Courier New" pitchFamily="34" charset="0"/>
                <a:ea typeface="Courier New" pitchFamily="34" charset="-122"/>
                <a:cs typeface="Courier New" pitchFamily="34" charset="-120"/>
              </a:rPr>
              <a:t>  admin.py, tests.py</a:t>
            </a:r>
            <a:endParaRPr lang="en-US" sz="1100" dirty="0"/>
          </a:p>
          <a:p>
            <a:pPr marL="0" indent="0">
              <a:buNone/>
            </a:pPr>
            <a:r>
              <a:rPr lang="en-US" sz="1100" dirty="0">
                <a:solidFill>
                  <a:schemeClr val="tx1"/>
                </a:solidFill>
                <a:latin typeface="Courier New" pitchFamily="34" charset="0"/>
                <a:ea typeface="Courier New" pitchFamily="34" charset="-122"/>
                <a:cs typeface="Courier New" pitchFamily="34" charset="-120"/>
              </a:rPr>
              <a:t>templates/      login, register,</a:t>
            </a:r>
            <a:endParaRPr lang="en-US" sz="1100" dirty="0"/>
          </a:p>
          <a:p>
            <a:pPr marL="0" indent="0">
              <a:buNone/>
            </a:pPr>
            <a:r>
              <a:rPr lang="en-US" sz="1100" dirty="0">
                <a:solidFill>
                  <a:schemeClr val="tx1"/>
                </a:solidFill>
                <a:latin typeface="Courier New" pitchFamily="34" charset="0"/>
                <a:ea typeface="Courier New" pitchFamily="34" charset="-122"/>
                <a:cs typeface="Courier New" pitchFamily="34" charset="-120"/>
              </a:rPr>
              <a:t>                dashboard, history,</a:t>
            </a:r>
            <a:endParaRPr lang="en-US" sz="1100" dirty="0"/>
          </a:p>
          <a:p>
            <a:pPr marL="0" indent="0">
              <a:buNone/>
            </a:pPr>
            <a:r>
              <a:rPr lang="en-US" sz="1100" dirty="0">
                <a:solidFill>
                  <a:schemeClr val="tx1"/>
                </a:solidFill>
                <a:latin typeface="Courier New" pitchFamily="34" charset="0"/>
                <a:ea typeface="Courier New" pitchFamily="34" charset="-122"/>
                <a:cs typeface="Courier New" pitchFamily="34" charset="-120"/>
              </a:rPr>
              <a:t>                admin_monitor</a:t>
            </a:r>
            <a:endParaRPr lang="en-US" sz="1100" dirty="0"/>
          </a:p>
          <a:p>
            <a:pPr marL="0" indent="0">
              <a:buNone/>
            </a:pPr>
            <a:r>
              <a:rPr lang="en-US" sz="1100" dirty="0">
                <a:solidFill>
                  <a:schemeClr val="tx1"/>
                </a:solidFill>
                <a:latin typeface="Courier New" pitchFamily="34" charset="0"/>
                <a:ea typeface="Courier New" pitchFamily="34" charset="-122"/>
                <a:cs typeface="Courier New" pitchFamily="34" charset="-120"/>
              </a:rPr>
              <a:t>static/css/     packtrace.css</a:t>
            </a:r>
            <a:endParaRPr lang="en-US" sz="1100" dirty="0"/>
          </a:p>
        </p:txBody>
      </p:sp>
      <p:sp>
        <p:nvSpPr>
          <p:cNvPr id="8" name="Shape 5"/>
          <p:cNvSpPr/>
          <p:nvPr/>
        </p:nvSpPr>
        <p:spPr>
          <a:xfrm>
            <a:off x="4754880" y="1188720"/>
            <a:ext cx="3931920" cy="914400"/>
          </a:xfrm>
          <a:prstGeom prst="roundRect">
            <a:avLst>
              <a:gd name="adj" fmla="val 8000"/>
            </a:avLst>
          </a:prstGeom>
          <a:solidFill>
            <a:schemeClr val="tx1"/>
          </a:solidFill>
          <a:ln/>
        </p:spPr>
      </p:sp>
      <p:sp>
        <p:nvSpPr>
          <p:cNvPr id="9" name="Text 6"/>
          <p:cNvSpPr txBox="1"/>
          <p:nvPr/>
        </p:nvSpPr>
        <p:spPr>
          <a:xfrm>
            <a:off x="4892040" y="1261872"/>
            <a:ext cx="3657600" cy="182880"/>
          </a:xfrm>
          <a:prstGeom prst="rect">
            <a:avLst/>
          </a:prstGeom>
          <a:noFill/>
          <a:ln/>
        </p:spPr>
        <p:txBody>
          <a:bodyPr wrap="square" lIns="0" tIns="0" rIns="0" bIns="0" rtlCol="0" anchor="t"/>
          <a:lstStyle/>
          <a:p>
            <a:pPr marL="0" indent="0">
              <a:buNone/>
            </a:pPr>
            <a:r>
              <a:rPr lang="en-US" sz="1000" b="1" dirty="0">
                <a:solidFill>
                  <a:srgbClr val="AFC6F5"/>
                </a:solidFill>
              </a:rPr>
              <a:t>tracker/routing.py</a:t>
            </a:r>
            <a:endParaRPr lang="en-US" sz="1000" dirty="0"/>
          </a:p>
        </p:txBody>
      </p:sp>
      <p:sp>
        <p:nvSpPr>
          <p:cNvPr id="10" name="Text 7"/>
          <p:cNvSpPr txBox="1"/>
          <p:nvPr/>
        </p:nvSpPr>
        <p:spPr>
          <a:xfrm>
            <a:off x="4892040" y="1499616"/>
            <a:ext cx="3703320" cy="548640"/>
          </a:xfrm>
          <a:prstGeom prst="rect">
            <a:avLst/>
          </a:prstGeom>
          <a:noFill/>
          <a:ln/>
        </p:spPr>
        <p:txBody>
          <a:bodyPr wrap="square" lIns="0" tIns="0" rIns="0" bIns="0" rtlCol="0" anchor="t"/>
          <a:lstStyle/>
          <a:p>
            <a:pPr marL="0" indent="0">
              <a:buNone/>
            </a:pPr>
            <a:r>
              <a:rPr lang="en-US" sz="1000" dirty="0">
                <a:solidFill>
                  <a:schemeClr val="bg1"/>
                </a:solidFill>
                <a:latin typeface="Courier New" pitchFamily="34" charset="0"/>
                <a:ea typeface="Courier New" pitchFamily="34" charset="-122"/>
                <a:cs typeface="Courier New" pitchFamily="34" charset="-120"/>
              </a:rPr>
              <a:t>re_path(r'^ws/rides/(?P&lt;group_id&gt;\d+)/$',</a:t>
            </a:r>
            <a:endParaRPr lang="en-US" sz="1000" dirty="0"/>
          </a:p>
          <a:p>
            <a:pPr marL="0" indent="0">
              <a:buNone/>
            </a:pPr>
            <a:r>
              <a:rPr lang="en-US" sz="1000" dirty="0">
                <a:solidFill>
                  <a:schemeClr val="bg1"/>
                </a:solidFill>
                <a:latin typeface="Courier New" pitchFamily="34" charset="0"/>
                <a:ea typeface="Courier New" pitchFamily="34" charset="-122"/>
                <a:cs typeface="Courier New" pitchFamily="34" charset="-120"/>
              </a:rPr>
              <a:t>        consumers.RideTrackingConsumer.as_asgi())</a:t>
            </a:r>
            <a:endParaRPr lang="en-US" sz="1000" dirty="0"/>
          </a:p>
        </p:txBody>
      </p:sp>
      <p:sp>
        <p:nvSpPr>
          <p:cNvPr id="11" name="Shape 8"/>
          <p:cNvSpPr/>
          <p:nvPr/>
        </p:nvSpPr>
        <p:spPr>
          <a:xfrm>
            <a:off x="4754880" y="2194560"/>
            <a:ext cx="3931920" cy="914400"/>
          </a:xfrm>
          <a:prstGeom prst="roundRect">
            <a:avLst>
              <a:gd name="adj" fmla="val 8000"/>
            </a:avLst>
          </a:prstGeom>
          <a:solidFill>
            <a:schemeClr val="tx1"/>
          </a:solidFill>
          <a:ln/>
        </p:spPr>
      </p:sp>
      <p:sp>
        <p:nvSpPr>
          <p:cNvPr id="12" name="Text 9"/>
          <p:cNvSpPr txBox="1"/>
          <p:nvPr/>
        </p:nvSpPr>
        <p:spPr>
          <a:xfrm>
            <a:off x="4892040" y="2267712"/>
            <a:ext cx="3657600" cy="182880"/>
          </a:xfrm>
          <a:prstGeom prst="rect">
            <a:avLst/>
          </a:prstGeom>
          <a:noFill/>
          <a:ln/>
        </p:spPr>
        <p:txBody>
          <a:bodyPr wrap="square" lIns="0" tIns="0" rIns="0" bIns="0" rtlCol="0" anchor="t"/>
          <a:lstStyle/>
          <a:p>
            <a:pPr marL="0" indent="0">
              <a:buNone/>
            </a:pPr>
            <a:r>
              <a:rPr lang="en-US" sz="1000" b="1" dirty="0">
                <a:solidFill>
                  <a:srgbClr val="AFC6F5"/>
                </a:solidFill>
              </a:rPr>
              <a:t>tracker/services.py</a:t>
            </a:r>
            <a:endParaRPr lang="en-US" sz="1000" dirty="0"/>
          </a:p>
        </p:txBody>
      </p:sp>
      <p:sp>
        <p:nvSpPr>
          <p:cNvPr id="13" name="Text 10"/>
          <p:cNvSpPr txBox="1"/>
          <p:nvPr/>
        </p:nvSpPr>
        <p:spPr>
          <a:xfrm>
            <a:off x="4892040" y="2505456"/>
            <a:ext cx="3703320" cy="548640"/>
          </a:xfrm>
          <a:prstGeom prst="rect">
            <a:avLst/>
          </a:prstGeom>
          <a:noFill/>
          <a:ln/>
        </p:spPr>
        <p:txBody>
          <a:bodyPr wrap="square" lIns="0" tIns="0" rIns="0" bIns="0" rtlCol="0" anchor="t"/>
          <a:lstStyle/>
          <a:p>
            <a:pPr marL="0" indent="0">
              <a:buNone/>
            </a:pPr>
            <a:r>
              <a:rPr lang="en-US" sz="1000" dirty="0">
                <a:solidFill>
                  <a:schemeClr val="bg1"/>
                </a:solidFill>
                <a:latin typeface="Courier New" pitchFamily="34" charset="0"/>
                <a:ea typeface="Courier New" pitchFamily="34" charset="-122"/>
                <a:cs typeface="Courier New" pitchFamily="34" charset="-120"/>
              </a:rPr>
              <a:t>DISCONNECT_THRESHOLD = getattr(settings,</a:t>
            </a:r>
            <a:endParaRPr lang="en-US" sz="1000" dirty="0"/>
          </a:p>
          <a:p>
            <a:pPr marL="0" indent="0">
              <a:buNone/>
            </a:pPr>
            <a:r>
              <a:rPr lang="en-US" sz="1000" dirty="0">
                <a:solidFill>
                  <a:schemeClr val="bg1"/>
                </a:solidFill>
                <a:latin typeface="Courier New" pitchFamily="34" charset="0"/>
                <a:ea typeface="Courier New" pitchFamily="34" charset="-122"/>
                <a:cs typeface="Courier New" pitchFamily="34" charset="-120"/>
              </a:rPr>
              <a:t>    'DISCONNECT_THRESHOLD_SECONDS', 45)</a:t>
            </a:r>
            <a:endParaRPr lang="en-US" sz="1000" dirty="0"/>
          </a:p>
          <a:p>
            <a:pPr marL="0" indent="0">
              <a:buNone/>
            </a:pPr>
            <a:r>
              <a:rPr lang="en-US" sz="1000" dirty="0">
                <a:solidFill>
                  <a:schemeClr val="bg1"/>
                </a:solidFill>
                <a:latin typeface="Courier New" pitchFamily="34" charset="0"/>
                <a:ea typeface="Courier New" pitchFamily="34" charset="-122"/>
                <a:cs typeface="Courier New" pitchFamily="34" charset="-120"/>
              </a:rPr>
              <a:t>DEVIATION_THRESHOLD = getattr(settings,</a:t>
            </a:r>
            <a:endParaRPr lang="en-US" sz="1000" dirty="0"/>
          </a:p>
          <a:p>
            <a:pPr marL="0" indent="0">
              <a:buNone/>
            </a:pPr>
            <a:r>
              <a:rPr lang="en-US" sz="1000" dirty="0">
                <a:solidFill>
                  <a:schemeClr val="bg1"/>
                </a:solidFill>
                <a:latin typeface="Courier New" pitchFamily="34" charset="0"/>
                <a:ea typeface="Courier New" pitchFamily="34" charset="-122"/>
                <a:cs typeface="Courier New" pitchFamily="34" charset="-120"/>
              </a:rPr>
              <a:t>    'ROUTE_DEVIATION_THRESHOLD_METERS', 500)</a:t>
            </a:r>
            <a:endParaRPr lang="en-US" sz="1000" dirty="0"/>
          </a:p>
        </p:txBody>
      </p:sp>
      <p:sp>
        <p:nvSpPr>
          <p:cNvPr id="14" name="Shape 11"/>
          <p:cNvSpPr/>
          <p:nvPr/>
        </p:nvSpPr>
        <p:spPr>
          <a:xfrm>
            <a:off x="4754880" y="3200400"/>
            <a:ext cx="3931920" cy="868680"/>
          </a:xfrm>
          <a:prstGeom prst="roundRect">
            <a:avLst>
              <a:gd name="adj" fmla="val 8421"/>
            </a:avLst>
          </a:prstGeom>
          <a:solidFill>
            <a:schemeClr val="tx1"/>
          </a:solidFill>
          <a:ln/>
        </p:spPr>
      </p:sp>
      <p:sp>
        <p:nvSpPr>
          <p:cNvPr id="15" name="Text 12"/>
          <p:cNvSpPr txBox="1"/>
          <p:nvPr/>
        </p:nvSpPr>
        <p:spPr>
          <a:xfrm>
            <a:off x="4892040" y="3273552"/>
            <a:ext cx="3657600" cy="182880"/>
          </a:xfrm>
          <a:prstGeom prst="rect">
            <a:avLst/>
          </a:prstGeom>
          <a:noFill/>
          <a:ln/>
        </p:spPr>
        <p:txBody>
          <a:bodyPr wrap="square" lIns="0" tIns="0" rIns="0" bIns="0" rtlCol="0" anchor="t"/>
          <a:lstStyle/>
          <a:p>
            <a:pPr marL="0" indent="0">
              <a:buNone/>
            </a:pPr>
            <a:r>
              <a:rPr lang="en-US" sz="1000" b="1" dirty="0">
                <a:solidFill>
                  <a:srgbClr val="AFC6F5"/>
                </a:solidFill>
              </a:rPr>
              <a:t>templates/dashboard.html</a:t>
            </a:r>
            <a:endParaRPr lang="en-US" sz="1000" dirty="0"/>
          </a:p>
        </p:txBody>
      </p:sp>
      <p:sp>
        <p:nvSpPr>
          <p:cNvPr id="16" name="Text 13"/>
          <p:cNvSpPr txBox="1"/>
          <p:nvPr/>
        </p:nvSpPr>
        <p:spPr>
          <a:xfrm>
            <a:off x="4892040" y="3511296"/>
            <a:ext cx="3703320" cy="502920"/>
          </a:xfrm>
          <a:prstGeom prst="rect">
            <a:avLst/>
          </a:prstGeom>
          <a:noFill/>
          <a:ln/>
        </p:spPr>
        <p:txBody>
          <a:bodyPr wrap="square" lIns="0" tIns="0" rIns="0" bIns="0" rtlCol="0" anchor="t"/>
          <a:lstStyle/>
          <a:p>
            <a:pPr marL="0" indent="0">
              <a:buNone/>
            </a:pPr>
            <a:r>
              <a:rPr lang="en-US" sz="1000" dirty="0">
                <a:solidFill>
                  <a:schemeClr val="bg1"/>
                </a:solidFill>
                <a:latin typeface="Courier New" pitchFamily="34" charset="0"/>
                <a:ea typeface="Courier New" pitchFamily="34" charset="-122"/>
                <a:cs typeface="Courier New" pitchFamily="34" charset="-120"/>
              </a:rPr>
              <a:t>navigator.geolocation.watchPosition(</a:t>
            </a:r>
            <a:endParaRPr lang="en-US" sz="1000" dirty="0"/>
          </a:p>
          <a:p>
            <a:pPr marL="0" indent="0">
              <a:buNone/>
            </a:pPr>
            <a:r>
              <a:rPr lang="en-US" sz="1000" dirty="0">
                <a:solidFill>
                  <a:schemeClr val="bg1"/>
                </a:solidFill>
                <a:latin typeface="Courier New" pitchFamily="34" charset="0"/>
                <a:ea typeface="Courier New" pitchFamily="34" charset="-122"/>
                <a:cs typeface="Courier New" pitchFamily="34" charset="-120"/>
              </a:rPr>
              <a:t>  ..., { enableHighAccuracy: true,</a:t>
            </a:r>
            <a:endParaRPr lang="en-US" sz="1000" dirty="0"/>
          </a:p>
          <a:p>
            <a:pPr marL="0" indent="0">
              <a:buNone/>
            </a:pPr>
            <a:r>
              <a:rPr lang="en-US" sz="1000" dirty="0">
                <a:solidFill>
                  <a:schemeClr val="bg1"/>
                </a:solidFill>
                <a:latin typeface="Courier New" pitchFamily="34" charset="0"/>
                <a:ea typeface="Courier New" pitchFamily="34" charset="-122"/>
                <a:cs typeface="Courier New" pitchFamily="34" charset="-120"/>
              </a:rPr>
              <a:t>        timeout: 60000, maximumAge: 5000 })</a:t>
            </a:r>
            <a:endParaRPr lang="en-US" sz="1000" dirty="0"/>
          </a:p>
        </p:txBody>
      </p:sp>
      <p:sp>
        <p:nvSpPr>
          <p:cNvPr id="17" name="Shape 14"/>
          <p:cNvSpPr/>
          <p:nvPr/>
        </p:nvSpPr>
        <p:spPr>
          <a:xfrm>
            <a:off x="4754880" y="4160520"/>
            <a:ext cx="1920240" cy="457200"/>
          </a:xfrm>
          <a:prstGeom prst="roundRect">
            <a:avLst>
              <a:gd name="adj" fmla="val 12000"/>
            </a:avLst>
          </a:prstGeom>
          <a:solidFill>
            <a:schemeClr val="accent1">
              <a:alpha val="8000"/>
            </a:schemeClr>
          </a:solidFill>
          <a:ln/>
        </p:spPr>
      </p:sp>
      <p:sp>
        <p:nvSpPr>
          <p:cNvPr id="18" name="Text 15"/>
          <p:cNvSpPr txBox="1"/>
          <p:nvPr/>
        </p:nvSpPr>
        <p:spPr>
          <a:xfrm>
            <a:off x="4754880" y="4160520"/>
            <a:ext cx="1920240" cy="457200"/>
          </a:xfrm>
          <a:prstGeom prst="rect">
            <a:avLst/>
          </a:prstGeom>
          <a:noFill/>
          <a:ln/>
        </p:spPr>
        <p:txBody>
          <a:bodyPr wrap="square" lIns="0" tIns="0" rIns="0" bIns="0" rtlCol="0" anchor="ctr"/>
          <a:lstStyle/>
          <a:p>
            <a:pPr marL="0" indent="0" algn="ctr">
              <a:buNone/>
            </a:pPr>
            <a:r>
              <a:rPr lang="en-US" sz="1000" b="1" dirty="0">
                <a:solidFill>
                  <a:schemeClr val="tx1"/>
                </a:solidFill>
              </a:rPr>
              <a:t>Google Maps JS API in dashboard.html</a:t>
            </a:r>
            <a:endParaRPr lang="en-US" sz="1000" dirty="0"/>
          </a:p>
        </p:txBody>
      </p:sp>
      <p:sp>
        <p:nvSpPr>
          <p:cNvPr id="19" name="Shape 16"/>
          <p:cNvSpPr/>
          <p:nvPr/>
        </p:nvSpPr>
        <p:spPr>
          <a:xfrm>
            <a:off x="6766560" y="4160520"/>
            <a:ext cx="1920240" cy="457200"/>
          </a:xfrm>
          <a:prstGeom prst="roundRect">
            <a:avLst>
              <a:gd name="adj" fmla="val 12000"/>
            </a:avLst>
          </a:prstGeom>
          <a:solidFill>
            <a:schemeClr val="accent1">
              <a:alpha val="8000"/>
            </a:schemeClr>
          </a:solidFill>
          <a:ln/>
        </p:spPr>
      </p:sp>
      <p:sp>
        <p:nvSpPr>
          <p:cNvPr id="20" name="Text 17"/>
          <p:cNvSpPr txBox="1"/>
          <p:nvPr/>
        </p:nvSpPr>
        <p:spPr>
          <a:xfrm>
            <a:off x="6766560" y="4160520"/>
            <a:ext cx="1920240" cy="457200"/>
          </a:xfrm>
          <a:prstGeom prst="rect">
            <a:avLst/>
          </a:prstGeom>
          <a:noFill/>
          <a:ln/>
        </p:spPr>
        <p:txBody>
          <a:bodyPr wrap="square" lIns="0" tIns="0" rIns="0" bIns="0" rtlCol="0" anchor="ctr"/>
          <a:lstStyle/>
          <a:p>
            <a:pPr marL="0" indent="0" algn="ctr">
              <a:buNone/>
            </a:pPr>
            <a:r>
              <a:rPr lang="en-US" sz="1000" b="1" dirty="0">
                <a:solidFill>
                  <a:schemeClr val="tx1"/>
                </a:solidFill>
              </a:rPr>
              <a:t>OSRM route via routing_service.py</a:t>
            </a:r>
            <a:endParaRPr lang="en-US" sz="1000" dirty="0"/>
          </a:p>
        </p:txBody>
      </p:sp>
      <p:sp>
        <p:nvSpPr>
          <p:cNvPr id="25" name="Slide Number Placeholder 0"/>
          <p:cNvSpPr>
            <a:spLocks noGrp="1"/>
          </p:cNvSpPr>
          <p:nvPr>
            <p:ph type="sldNum" sz="quarter" idx="4294967295"/>
          </p:nvPr>
        </p:nvSpPr>
        <p:spPr>
          <a:xfrm>
            <a:off x="8138160" y="4791456"/>
            <a:ext cx="548640" cy="228600"/>
          </a:xfrm>
          <a:prstGeom prst="rect">
            <a:avLst/>
          </a:prstGeom>
          <a:extLst>
            <a:ext uri="{C572A759-6A51-4108-AA02-DFA0A04FC94B}">
              <ma14:wrappingTextBoxFlag xmlns:ma14="http://schemas.microsoft.com/office/mac/drawingml/2011/main" xmlns="" val="0"/>
            </a:ext>
          </a:extLst>
        </p:spPr>
        <p:txBody>
          <a:bodyPr/>
          <a:lstStyle>
            <a:lvl1pPr>
              <a:defRPr sz="1000">
                <a:solidFill>
                  <a:srgbClr val="475569"/>
                </a:solidFill>
              </a:defRPr>
            </a:lvl1pPr>
          </a:lstStyle>
          <a:p>
            <a:pPr algn="r"/>
            <a:fld id="{F7021451-1387-4CA6-816F-3879F97B5CBC}" type="slidenum">
              <a:rPr lang="en-US" b="0"/>
              <a:t>23</a:t>
            </a:fld>
            <a:endParaRPr lang="en-US"/>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name="Slide 23">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457200" y="420624"/>
            <a:ext cx="8229600" cy="566928"/>
          </a:xfrm>
          <a:prstGeom prst="rect">
            <a:avLst/>
          </a:prstGeom>
          <a:noFill/>
          <a:ln/>
        </p:spPr>
        <p:txBody>
          <a:bodyPr wrap="square" lIns="0" tIns="0" rIns="0" bIns="0" rtlCol="0" anchor="ctr"/>
          <a:lstStyle/>
          <a:p>
            <a:pPr marL="0" indent="0" algn="l">
              <a:buNone/>
            </a:pPr>
            <a:r>
              <a:rPr lang="en-US" sz="2800" b="1" dirty="0">
                <a:solidFill>
                  <a:schemeClr val="tx1"/>
                </a:solidFill>
              </a:rPr>
              <a:t>Authentication and ride management</a:t>
            </a:r>
            <a:endParaRPr lang="en-US" sz="2800" dirty="0"/>
          </a:p>
        </p:txBody>
      </p:sp>
      <p:sp>
        <p:nvSpPr>
          <p:cNvPr id="3" name="Text 1"/>
          <p:cNvSpPr txBox="1"/>
          <p:nvPr/>
        </p:nvSpPr>
        <p:spPr>
          <a:xfrm>
            <a:off x="457200" y="219456"/>
            <a:ext cx="5486400" cy="182880"/>
          </a:xfrm>
          <a:prstGeom prst="rect">
            <a:avLst/>
          </a:prstGeom>
          <a:noFill/>
          <a:ln/>
        </p:spPr>
        <p:txBody>
          <a:bodyPr wrap="square" lIns="0" tIns="0" rIns="0" bIns="0" rtlCol="0" anchor="t"/>
          <a:lstStyle/>
          <a:p>
            <a:pPr marL="0" indent="0">
              <a:buNone/>
            </a:pPr>
            <a:r>
              <a:rPr lang="en-US" sz="1000" b="1" kern="0" spc="200" dirty="0">
                <a:solidFill>
                  <a:schemeClr val="accent1"/>
                </a:solidFill>
              </a:rPr>
              <a:t>APPLICATION SCREENSHOTS</a:t>
            </a:r>
            <a:endParaRPr lang="en-US" sz="1000" dirty="0"/>
          </a:p>
        </p:txBody>
      </p:sp>
      <p:pic>
        <p:nvPicPr>
          <p:cNvPr id="5" name="Image 0" descr="Registration screen"/>
          <p:cNvPicPr>
            <a:picLocks noChangeAspect="1"/>
          </p:cNvPicPr>
          <p:nvPr/>
        </p:nvPicPr>
        <p:blipFill>
          <a:blip r:embed="rId3"/>
          <a:stretch>
            <a:fillRect/>
          </a:stretch>
        </p:blipFill>
        <p:spPr>
          <a:xfrm>
            <a:off x="464981" y="1188720"/>
            <a:ext cx="2489894" cy="2505456"/>
          </a:xfrm>
          <a:prstGeom prst="rect">
            <a:avLst/>
          </a:prstGeom>
        </p:spPr>
      </p:pic>
      <p:sp>
        <p:nvSpPr>
          <p:cNvPr id="6" name="Shape 2"/>
          <p:cNvSpPr/>
          <p:nvPr/>
        </p:nvSpPr>
        <p:spPr>
          <a:xfrm>
            <a:off x="464981" y="1188720"/>
            <a:ext cx="2489894" cy="2505456"/>
          </a:xfrm>
          <a:prstGeom prst="rect">
            <a:avLst/>
          </a:prstGeom>
          <a:solidFill>
            <a:schemeClr val="bg1">
              <a:alpha val="0"/>
            </a:schemeClr>
          </a:solidFill>
          <a:ln w="12700">
            <a:solidFill>
              <a:srgbClr val="D5DCE8"/>
            </a:solidFill>
            <a:prstDash val="solid"/>
          </a:ln>
        </p:spPr>
      </p:sp>
      <p:pic>
        <p:nvPicPr>
          <p:cNvPr id="7" name="Image 1" descr="Login screen"/>
          <p:cNvPicPr>
            <a:picLocks noChangeAspect="1"/>
          </p:cNvPicPr>
          <p:nvPr/>
        </p:nvPicPr>
        <p:blipFill>
          <a:blip r:embed="rId4"/>
          <a:stretch>
            <a:fillRect/>
          </a:stretch>
        </p:blipFill>
        <p:spPr>
          <a:xfrm>
            <a:off x="3244757" y="1188720"/>
            <a:ext cx="2489894" cy="2505456"/>
          </a:xfrm>
          <a:prstGeom prst="rect">
            <a:avLst/>
          </a:prstGeom>
        </p:spPr>
      </p:pic>
      <p:sp>
        <p:nvSpPr>
          <p:cNvPr id="8" name="Shape 3"/>
          <p:cNvSpPr/>
          <p:nvPr/>
        </p:nvSpPr>
        <p:spPr>
          <a:xfrm>
            <a:off x="3244757" y="1188720"/>
            <a:ext cx="2489894" cy="2505456"/>
          </a:xfrm>
          <a:prstGeom prst="rect">
            <a:avLst/>
          </a:prstGeom>
          <a:solidFill>
            <a:schemeClr val="bg1">
              <a:alpha val="0"/>
            </a:schemeClr>
          </a:solidFill>
          <a:ln w="12700">
            <a:solidFill>
              <a:srgbClr val="D5DCE8"/>
            </a:solidFill>
            <a:prstDash val="solid"/>
          </a:ln>
        </p:spPr>
      </p:sp>
      <p:pic>
        <p:nvPicPr>
          <p:cNvPr id="9" name="Image 2" descr="Create riding group dialog"/>
          <p:cNvPicPr>
            <a:picLocks noChangeAspect="1"/>
          </p:cNvPicPr>
          <p:nvPr/>
        </p:nvPicPr>
        <p:blipFill>
          <a:blip r:embed="rId5"/>
          <a:stretch>
            <a:fillRect/>
          </a:stretch>
        </p:blipFill>
        <p:spPr>
          <a:xfrm>
            <a:off x="6020620" y="1188720"/>
            <a:ext cx="2662312" cy="2505456"/>
          </a:xfrm>
          <a:prstGeom prst="rect">
            <a:avLst/>
          </a:prstGeom>
        </p:spPr>
      </p:pic>
      <p:sp>
        <p:nvSpPr>
          <p:cNvPr id="10" name="Shape 4"/>
          <p:cNvSpPr/>
          <p:nvPr/>
        </p:nvSpPr>
        <p:spPr>
          <a:xfrm>
            <a:off x="6020620" y="1188720"/>
            <a:ext cx="2662312" cy="2505456"/>
          </a:xfrm>
          <a:prstGeom prst="rect">
            <a:avLst/>
          </a:prstGeom>
          <a:solidFill>
            <a:schemeClr val="bg1">
              <a:alpha val="0"/>
            </a:schemeClr>
          </a:solidFill>
          <a:ln w="12700">
            <a:solidFill>
              <a:srgbClr val="D5DCE8"/>
            </a:solidFill>
            <a:prstDash val="solid"/>
          </a:ln>
        </p:spPr>
      </p:sp>
      <p:sp>
        <p:nvSpPr>
          <p:cNvPr id="11" name="Text 5"/>
          <p:cNvSpPr txBox="1"/>
          <p:nvPr/>
        </p:nvSpPr>
        <p:spPr>
          <a:xfrm>
            <a:off x="457200" y="3767328"/>
            <a:ext cx="2505456" cy="201168"/>
          </a:xfrm>
          <a:prstGeom prst="rect">
            <a:avLst/>
          </a:prstGeom>
          <a:noFill/>
          <a:ln/>
        </p:spPr>
        <p:txBody>
          <a:bodyPr wrap="square" lIns="0" tIns="0" rIns="0" bIns="0" rtlCol="0" anchor="t"/>
          <a:lstStyle/>
          <a:p>
            <a:pPr marL="0" indent="0">
              <a:buNone/>
            </a:pPr>
            <a:r>
              <a:rPr lang="en-US" sz="1200" b="1" dirty="0">
                <a:solidFill>
                  <a:schemeClr val="tx1"/>
                </a:solidFill>
              </a:rPr>
              <a:t>Registration</a:t>
            </a:r>
            <a:endParaRPr lang="en-US" sz="1200" dirty="0"/>
          </a:p>
        </p:txBody>
      </p:sp>
      <p:sp>
        <p:nvSpPr>
          <p:cNvPr id="12" name="Text 6"/>
          <p:cNvSpPr txBox="1"/>
          <p:nvPr/>
        </p:nvSpPr>
        <p:spPr>
          <a:xfrm>
            <a:off x="457200" y="3986784"/>
            <a:ext cx="2505456" cy="365760"/>
          </a:xfrm>
          <a:prstGeom prst="rect">
            <a:avLst/>
          </a:prstGeom>
          <a:noFill/>
          <a:ln/>
        </p:spPr>
        <p:txBody>
          <a:bodyPr wrap="square" lIns="0" tIns="0" rIns="0" bIns="0" rtlCol="0" anchor="t"/>
          <a:lstStyle/>
          <a:p>
            <a:pPr marL="0" indent="0">
              <a:buNone/>
            </a:pPr>
            <a:r>
              <a:rPr lang="en-US" sz="1050" dirty="0">
                <a:solidFill>
                  <a:schemeClr val="tx2"/>
                </a:solidFill>
              </a:rPr>
              <a:t>Name, email, phone, ride type, location consent</a:t>
            </a:r>
            <a:endParaRPr lang="en-US" sz="1050" dirty="0"/>
          </a:p>
        </p:txBody>
      </p:sp>
      <p:sp>
        <p:nvSpPr>
          <p:cNvPr id="13" name="Text 7"/>
          <p:cNvSpPr txBox="1"/>
          <p:nvPr/>
        </p:nvSpPr>
        <p:spPr>
          <a:xfrm>
            <a:off x="3236976" y="3767328"/>
            <a:ext cx="2505456" cy="201168"/>
          </a:xfrm>
          <a:prstGeom prst="rect">
            <a:avLst/>
          </a:prstGeom>
          <a:noFill/>
          <a:ln/>
        </p:spPr>
        <p:txBody>
          <a:bodyPr wrap="square" lIns="0" tIns="0" rIns="0" bIns="0" rtlCol="0" anchor="t"/>
          <a:lstStyle/>
          <a:p>
            <a:pPr marL="0" indent="0">
              <a:buNone/>
            </a:pPr>
            <a:r>
              <a:rPr lang="en-US" sz="1200" b="1" dirty="0">
                <a:solidFill>
                  <a:schemeClr val="tx1"/>
                </a:solidFill>
              </a:rPr>
              <a:t>Login</a:t>
            </a:r>
            <a:endParaRPr lang="en-US" sz="1200" dirty="0"/>
          </a:p>
        </p:txBody>
      </p:sp>
      <p:sp>
        <p:nvSpPr>
          <p:cNvPr id="14" name="Text 8"/>
          <p:cNvSpPr txBox="1"/>
          <p:nvPr/>
        </p:nvSpPr>
        <p:spPr>
          <a:xfrm>
            <a:off x="3236976" y="3986784"/>
            <a:ext cx="2505456" cy="365760"/>
          </a:xfrm>
          <a:prstGeom prst="rect">
            <a:avLst/>
          </a:prstGeom>
          <a:noFill/>
          <a:ln/>
        </p:spPr>
        <p:txBody>
          <a:bodyPr wrap="square" lIns="0" tIns="0" rIns="0" bIns="0" rtlCol="0" anchor="t"/>
          <a:lstStyle/>
          <a:p>
            <a:pPr marL="0" indent="0">
              <a:buNone/>
            </a:pPr>
            <a:r>
              <a:rPr lang="en-US" sz="1050" dirty="0">
                <a:solidFill>
                  <a:schemeClr val="tx2"/>
                </a:solidFill>
              </a:rPr>
              <a:t>Email and password, keep me signed in</a:t>
            </a:r>
            <a:endParaRPr lang="en-US" sz="1050" dirty="0"/>
          </a:p>
        </p:txBody>
      </p:sp>
      <p:sp>
        <p:nvSpPr>
          <p:cNvPr id="15" name="Text 9"/>
          <p:cNvSpPr txBox="1"/>
          <p:nvPr/>
        </p:nvSpPr>
        <p:spPr>
          <a:xfrm>
            <a:off x="6016752" y="3767328"/>
            <a:ext cx="2670048" cy="201168"/>
          </a:xfrm>
          <a:prstGeom prst="rect">
            <a:avLst/>
          </a:prstGeom>
          <a:noFill/>
          <a:ln/>
        </p:spPr>
        <p:txBody>
          <a:bodyPr wrap="square" lIns="0" tIns="0" rIns="0" bIns="0" rtlCol="0" anchor="t"/>
          <a:lstStyle/>
          <a:p>
            <a:pPr marL="0" indent="0">
              <a:buNone/>
            </a:pPr>
            <a:r>
              <a:rPr lang="en-US" sz="1200" b="1" dirty="0">
                <a:solidFill>
                  <a:schemeClr val="tx1"/>
                </a:solidFill>
              </a:rPr>
              <a:t>Create ride</a:t>
            </a:r>
            <a:endParaRPr lang="en-US" sz="1200" dirty="0"/>
          </a:p>
        </p:txBody>
      </p:sp>
      <p:sp>
        <p:nvSpPr>
          <p:cNvPr id="16" name="Text 10"/>
          <p:cNvSpPr txBox="1"/>
          <p:nvPr/>
        </p:nvSpPr>
        <p:spPr>
          <a:xfrm>
            <a:off x="6016752" y="3986784"/>
            <a:ext cx="2670048" cy="365760"/>
          </a:xfrm>
          <a:prstGeom prst="rect">
            <a:avLst/>
          </a:prstGeom>
          <a:noFill/>
          <a:ln/>
        </p:spPr>
        <p:txBody>
          <a:bodyPr wrap="square" lIns="0" tIns="0" rIns="0" bIns="0" rtlCol="0" anchor="t"/>
          <a:lstStyle/>
          <a:p>
            <a:pPr marL="0" indent="0">
              <a:buNone/>
            </a:pPr>
            <a:r>
              <a:rPr lang="en-US" sz="1050" dirty="0">
                <a:solidFill>
                  <a:schemeClr val="tx2"/>
                </a:solidFill>
              </a:rPr>
              <a:t>Name, destination on map, creator becomes leader</a:t>
            </a:r>
            <a:endParaRPr lang="en-US" sz="1050" dirty="0"/>
          </a:p>
        </p:txBody>
      </p:sp>
      <p:pic>
        <p:nvPicPr>
          <p:cNvPr id="17" name="Image 3" descr="Create and Join with Code controls"/>
          <p:cNvPicPr>
            <a:picLocks noChangeAspect="1"/>
          </p:cNvPicPr>
          <p:nvPr/>
        </p:nvPicPr>
        <p:blipFill>
          <a:blip r:embed="rId6"/>
          <a:stretch>
            <a:fillRect/>
          </a:stretch>
        </p:blipFill>
        <p:spPr>
          <a:xfrm>
            <a:off x="457200" y="4434840"/>
            <a:ext cx="3200400" cy="228600"/>
          </a:xfrm>
          <a:prstGeom prst="rect">
            <a:avLst/>
          </a:prstGeom>
        </p:spPr>
      </p:pic>
      <p:sp>
        <p:nvSpPr>
          <p:cNvPr id="18" name="Shape 11"/>
          <p:cNvSpPr/>
          <p:nvPr/>
        </p:nvSpPr>
        <p:spPr>
          <a:xfrm>
            <a:off x="457200" y="4434840"/>
            <a:ext cx="3200400" cy="228600"/>
          </a:xfrm>
          <a:prstGeom prst="rect">
            <a:avLst/>
          </a:prstGeom>
          <a:solidFill>
            <a:schemeClr val="bg1">
              <a:alpha val="0"/>
            </a:schemeClr>
          </a:solidFill>
          <a:ln w="12700">
            <a:solidFill>
              <a:srgbClr val="D5DCE8"/>
            </a:solidFill>
            <a:prstDash val="solid"/>
          </a:ln>
        </p:spPr>
      </p:sp>
      <p:sp>
        <p:nvSpPr>
          <p:cNvPr id="19" name="Text 12"/>
          <p:cNvSpPr txBox="1"/>
          <p:nvPr/>
        </p:nvSpPr>
        <p:spPr>
          <a:xfrm>
            <a:off x="3794760" y="4407408"/>
            <a:ext cx="4846320" cy="274320"/>
          </a:xfrm>
          <a:prstGeom prst="rect">
            <a:avLst/>
          </a:prstGeom>
          <a:noFill/>
          <a:ln/>
        </p:spPr>
        <p:txBody>
          <a:bodyPr wrap="square" lIns="0" tIns="0" rIns="0" bIns="0" rtlCol="0" anchor="ctr"/>
          <a:lstStyle/>
          <a:p>
            <a:pPr marL="0" indent="0">
              <a:buNone/>
            </a:pPr>
            <a:r>
              <a:rPr lang="en-US" sz="1100" dirty="0">
                <a:solidFill>
                  <a:schemeClr val="tx2"/>
                </a:solidFill>
              </a:rPr>
              <a:t>Join with Code: dashboard header controls</a:t>
            </a:r>
            <a:endParaRPr lang="en-US" sz="1100" dirty="0"/>
          </a:p>
        </p:txBody>
      </p:sp>
      <p:sp>
        <p:nvSpPr>
          <p:cNvPr id="25" name="Slide Number Placeholder 0"/>
          <p:cNvSpPr>
            <a:spLocks noGrp="1"/>
          </p:cNvSpPr>
          <p:nvPr>
            <p:ph type="sldNum" sz="quarter" idx="4294967295"/>
          </p:nvPr>
        </p:nvSpPr>
        <p:spPr>
          <a:xfrm>
            <a:off x="8138160" y="4791456"/>
            <a:ext cx="548640" cy="228600"/>
          </a:xfrm>
          <a:prstGeom prst="rect">
            <a:avLst/>
          </a:prstGeom>
          <a:extLst>
            <a:ext uri="{C572A759-6A51-4108-AA02-DFA0A04FC94B}">
              <ma14:wrappingTextBoxFlag xmlns:ma14="http://schemas.microsoft.com/office/mac/drawingml/2011/main" xmlns="" val="0"/>
            </a:ext>
          </a:extLst>
        </p:spPr>
        <p:txBody>
          <a:bodyPr/>
          <a:lstStyle>
            <a:lvl1pPr>
              <a:defRPr sz="1000">
                <a:solidFill>
                  <a:srgbClr val="475569"/>
                </a:solidFill>
              </a:defRPr>
            </a:lvl1pPr>
          </a:lstStyle>
          <a:p>
            <a:pPr algn="r"/>
            <a:fld id="{F7021451-1387-4CA6-816F-3879F97B5CBC}" type="slidenum">
              <a:rPr lang="en-US" b="0"/>
              <a:t>24</a:t>
            </a:fld>
            <a:endParaRPr lang="en-US"/>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name="Slide 24">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457200" y="420624"/>
            <a:ext cx="8229600" cy="566928"/>
          </a:xfrm>
          <a:prstGeom prst="rect">
            <a:avLst/>
          </a:prstGeom>
          <a:noFill/>
          <a:ln/>
        </p:spPr>
        <p:txBody>
          <a:bodyPr wrap="square" lIns="0" tIns="0" rIns="0" bIns="0" rtlCol="0" anchor="ctr"/>
          <a:lstStyle/>
          <a:p>
            <a:pPr marL="0" indent="0" algn="l">
              <a:buNone/>
            </a:pPr>
            <a:r>
              <a:rPr lang="en-US" sz="2800" b="1" dirty="0">
                <a:solidFill>
                  <a:schemeClr val="tx1"/>
                </a:solidFill>
              </a:rPr>
              <a:t>Live tracking dashboard</a:t>
            </a:r>
            <a:endParaRPr lang="en-US" sz="2800" dirty="0"/>
          </a:p>
        </p:txBody>
      </p:sp>
      <p:sp>
        <p:nvSpPr>
          <p:cNvPr id="3" name="Text 1"/>
          <p:cNvSpPr txBox="1"/>
          <p:nvPr/>
        </p:nvSpPr>
        <p:spPr>
          <a:xfrm>
            <a:off x="457200" y="219456"/>
            <a:ext cx="5486400" cy="182880"/>
          </a:xfrm>
          <a:prstGeom prst="rect">
            <a:avLst/>
          </a:prstGeom>
          <a:noFill/>
          <a:ln/>
        </p:spPr>
        <p:txBody>
          <a:bodyPr wrap="square" lIns="0" tIns="0" rIns="0" bIns="0" rtlCol="0" anchor="t"/>
          <a:lstStyle/>
          <a:p>
            <a:pPr marL="0" indent="0">
              <a:buNone/>
            </a:pPr>
            <a:r>
              <a:rPr lang="en-US" sz="1000" b="1" kern="0" spc="200" dirty="0">
                <a:solidFill>
                  <a:schemeClr val="accent1"/>
                </a:solidFill>
              </a:rPr>
              <a:t>APPLICATION SCREENSHOTS</a:t>
            </a:r>
            <a:endParaRPr lang="en-US" sz="1000" dirty="0"/>
          </a:p>
        </p:txBody>
      </p:sp>
      <p:pic>
        <p:nvPicPr>
          <p:cNvPr id="5" name="Image 0" descr="PackTrace live dashboard"/>
          <p:cNvPicPr>
            <a:picLocks noChangeAspect="1"/>
          </p:cNvPicPr>
          <p:nvPr/>
        </p:nvPicPr>
        <p:blipFill>
          <a:blip r:embed="rId3"/>
          <a:stretch>
            <a:fillRect/>
          </a:stretch>
        </p:blipFill>
        <p:spPr>
          <a:xfrm>
            <a:off x="457200" y="1188720"/>
            <a:ext cx="5852160" cy="2806738"/>
          </a:xfrm>
          <a:prstGeom prst="rect">
            <a:avLst/>
          </a:prstGeom>
        </p:spPr>
      </p:pic>
      <p:sp>
        <p:nvSpPr>
          <p:cNvPr id="6" name="Shape 2"/>
          <p:cNvSpPr/>
          <p:nvPr/>
        </p:nvSpPr>
        <p:spPr>
          <a:xfrm>
            <a:off x="457200" y="1188720"/>
            <a:ext cx="5852160" cy="2834640"/>
          </a:xfrm>
          <a:prstGeom prst="rect">
            <a:avLst/>
          </a:prstGeom>
          <a:solidFill>
            <a:schemeClr val="bg1">
              <a:alpha val="0"/>
            </a:schemeClr>
          </a:solidFill>
          <a:ln w="12700">
            <a:solidFill>
              <a:srgbClr val="D5DCE8"/>
            </a:solidFill>
            <a:prstDash val="solid"/>
          </a:ln>
        </p:spPr>
      </p:sp>
      <p:sp>
        <p:nvSpPr>
          <p:cNvPr id="7" name="Shape 3"/>
          <p:cNvSpPr/>
          <p:nvPr/>
        </p:nvSpPr>
        <p:spPr>
          <a:xfrm>
            <a:off x="1938694" y="1361876"/>
            <a:ext cx="237744" cy="237744"/>
          </a:xfrm>
          <a:prstGeom prst="ellipse">
            <a:avLst/>
          </a:prstGeom>
          <a:solidFill>
            <a:schemeClr val="accent1"/>
          </a:solidFill>
          <a:ln w="19050">
            <a:solidFill>
              <a:schemeClr val="bg1"/>
            </a:solidFill>
            <a:prstDash val="solid"/>
          </a:ln>
        </p:spPr>
      </p:sp>
      <p:sp>
        <p:nvSpPr>
          <p:cNvPr id="8" name="Text 4"/>
          <p:cNvSpPr txBox="1"/>
          <p:nvPr/>
        </p:nvSpPr>
        <p:spPr>
          <a:xfrm>
            <a:off x="1938694" y="1361876"/>
            <a:ext cx="237744" cy="237744"/>
          </a:xfrm>
          <a:prstGeom prst="rect">
            <a:avLst/>
          </a:prstGeom>
          <a:noFill/>
          <a:ln/>
        </p:spPr>
        <p:txBody>
          <a:bodyPr wrap="square" lIns="0" tIns="0" rIns="0" bIns="0" rtlCol="0" anchor="ctr"/>
          <a:lstStyle/>
          <a:p>
            <a:pPr marL="0" indent="0" algn="ctr">
              <a:buNone/>
            </a:pPr>
            <a:r>
              <a:rPr lang="en-US" sz="1100" b="1" dirty="0">
                <a:solidFill>
                  <a:schemeClr val="bg1"/>
                </a:solidFill>
              </a:rPr>
              <a:t>1</a:t>
            </a:r>
            <a:endParaRPr lang="en-US" sz="1100" dirty="0"/>
          </a:p>
        </p:txBody>
      </p:sp>
      <p:sp>
        <p:nvSpPr>
          <p:cNvPr id="9" name="Shape 5"/>
          <p:cNvSpPr/>
          <p:nvPr/>
        </p:nvSpPr>
        <p:spPr>
          <a:xfrm>
            <a:off x="3176311" y="1609399"/>
            <a:ext cx="237744" cy="237744"/>
          </a:xfrm>
          <a:prstGeom prst="ellipse">
            <a:avLst/>
          </a:prstGeom>
          <a:solidFill>
            <a:schemeClr val="accent1"/>
          </a:solidFill>
          <a:ln w="19050">
            <a:solidFill>
              <a:schemeClr val="bg1"/>
            </a:solidFill>
            <a:prstDash val="solid"/>
          </a:ln>
        </p:spPr>
      </p:sp>
      <p:sp>
        <p:nvSpPr>
          <p:cNvPr id="10" name="Text 6"/>
          <p:cNvSpPr txBox="1"/>
          <p:nvPr/>
        </p:nvSpPr>
        <p:spPr>
          <a:xfrm>
            <a:off x="3176311" y="1609399"/>
            <a:ext cx="237744" cy="237744"/>
          </a:xfrm>
          <a:prstGeom prst="rect">
            <a:avLst/>
          </a:prstGeom>
          <a:noFill/>
          <a:ln/>
        </p:spPr>
        <p:txBody>
          <a:bodyPr wrap="square" lIns="0" tIns="0" rIns="0" bIns="0" rtlCol="0" anchor="ctr"/>
          <a:lstStyle/>
          <a:p>
            <a:pPr marL="0" indent="0" algn="ctr">
              <a:buNone/>
            </a:pPr>
            <a:r>
              <a:rPr lang="en-US" sz="1100" b="1" dirty="0">
                <a:solidFill>
                  <a:schemeClr val="bg1"/>
                </a:solidFill>
              </a:rPr>
              <a:t>2</a:t>
            </a:r>
            <a:endParaRPr lang="en-US" sz="1100" dirty="0"/>
          </a:p>
        </p:txBody>
      </p:sp>
      <p:sp>
        <p:nvSpPr>
          <p:cNvPr id="11" name="Shape 7"/>
          <p:cNvSpPr/>
          <p:nvPr/>
        </p:nvSpPr>
        <p:spPr>
          <a:xfrm>
            <a:off x="877879" y="2603913"/>
            <a:ext cx="237744" cy="237744"/>
          </a:xfrm>
          <a:prstGeom prst="ellipse">
            <a:avLst/>
          </a:prstGeom>
          <a:solidFill>
            <a:schemeClr val="accent1"/>
          </a:solidFill>
          <a:ln w="19050">
            <a:solidFill>
              <a:schemeClr val="bg1"/>
            </a:solidFill>
            <a:prstDash val="solid"/>
          </a:ln>
        </p:spPr>
      </p:sp>
      <p:sp>
        <p:nvSpPr>
          <p:cNvPr id="12" name="Text 8"/>
          <p:cNvSpPr txBox="1"/>
          <p:nvPr/>
        </p:nvSpPr>
        <p:spPr>
          <a:xfrm>
            <a:off x="877879" y="2603913"/>
            <a:ext cx="237744" cy="237744"/>
          </a:xfrm>
          <a:prstGeom prst="rect">
            <a:avLst/>
          </a:prstGeom>
          <a:noFill/>
          <a:ln/>
        </p:spPr>
        <p:txBody>
          <a:bodyPr wrap="square" lIns="0" tIns="0" rIns="0" bIns="0" rtlCol="0" anchor="ctr"/>
          <a:lstStyle/>
          <a:p>
            <a:pPr marL="0" indent="0" algn="ctr">
              <a:buNone/>
            </a:pPr>
            <a:r>
              <a:rPr lang="en-US" sz="1100" b="1" dirty="0">
                <a:solidFill>
                  <a:schemeClr val="bg1"/>
                </a:solidFill>
              </a:rPr>
              <a:t>3</a:t>
            </a:r>
            <a:endParaRPr lang="en-US" sz="1100" dirty="0"/>
          </a:p>
        </p:txBody>
      </p:sp>
      <p:sp>
        <p:nvSpPr>
          <p:cNvPr id="13" name="Shape 9"/>
          <p:cNvSpPr/>
          <p:nvPr/>
        </p:nvSpPr>
        <p:spPr>
          <a:xfrm>
            <a:off x="3883520" y="3156420"/>
            <a:ext cx="237744" cy="237744"/>
          </a:xfrm>
          <a:prstGeom prst="ellipse">
            <a:avLst/>
          </a:prstGeom>
          <a:solidFill>
            <a:schemeClr val="accent1"/>
          </a:solidFill>
          <a:ln w="19050">
            <a:solidFill>
              <a:schemeClr val="bg1"/>
            </a:solidFill>
            <a:prstDash val="solid"/>
          </a:ln>
        </p:spPr>
      </p:sp>
      <p:sp>
        <p:nvSpPr>
          <p:cNvPr id="14" name="Text 10"/>
          <p:cNvSpPr txBox="1"/>
          <p:nvPr/>
        </p:nvSpPr>
        <p:spPr>
          <a:xfrm>
            <a:off x="3883520" y="3156420"/>
            <a:ext cx="237744" cy="237744"/>
          </a:xfrm>
          <a:prstGeom prst="rect">
            <a:avLst/>
          </a:prstGeom>
          <a:noFill/>
          <a:ln/>
        </p:spPr>
        <p:txBody>
          <a:bodyPr wrap="square" lIns="0" tIns="0" rIns="0" bIns="0" rtlCol="0" anchor="ctr"/>
          <a:lstStyle/>
          <a:p>
            <a:pPr marL="0" indent="0" algn="ctr">
              <a:buNone/>
            </a:pPr>
            <a:r>
              <a:rPr lang="en-US" sz="1100" b="1" dirty="0">
                <a:solidFill>
                  <a:schemeClr val="bg1"/>
                </a:solidFill>
              </a:rPr>
              <a:t>4</a:t>
            </a:r>
            <a:endParaRPr lang="en-US" sz="1100" dirty="0"/>
          </a:p>
        </p:txBody>
      </p:sp>
      <p:sp>
        <p:nvSpPr>
          <p:cNvPr id="15" name="Shape 11"/>
          <p:cNvSpPr/>
          <p:nvPr/>
        </p:nvSpPr>
        <p:spPr>
          <a:xfrm>
            <a:off x="5717845" y="1361876"/>
            <a:ext cx="237744" cy="237744"/>
          </a:xfrm>
          <a:prstGeom prst="ellipse">
            <a:avLst/>
          </a:prstGeom>
          <a:solidFill>
            <a:schemeClr val="accent1"/>
          </a:solidFill>
          <a:ln w="19050">
            <a:solidFill>
              <a:schemeClr val="bg1"/>
            </a:solidFill>
            <a:prstDash val="solid"/>
          </a:ln>
        </p:spPr>
      </p:sp>
      <p:sp>
        <p:nvSpPr>
          <p:cNvPr id="16" name="Text 12"/>
          <p:cNvSpPr txBox="1"/>
          <p:nvPr/>
        </p:nvSpPr>
        <p:spPr>
          <a:xfrm>
            <a:off x="5717845" y="1361876"/>
            <a:ext cx="237744" cy="237744"/>
          </a:xfrm>
          <a:prstGeom prst="rect">
            <a:avLst/>
          </a:prstGeom>
          <a:noFill/>
          <a:ln/>
        </p:spPr>
        <p:txBody>
          <a:bodyPr wrap="square" lIns="0" tIns="0" rIns="0" bIns="0" rtlCol="0" anchor="ctr"/>
          <a:lstStyle/>
          <a:p>
            <a:pPr marL="0" indent="0" algn="ctr">
              <a:buNone/>
            </a:pPr>
            <a:r>
              <a:rPr lang="en-US" sz="1100" b="1" dirty="0">
                <a:solidFill>
                  <a:schemeClr val="bg1"/>
                </a:solidFill>
              </a:rPr>
              <a:t>5</a:t>
            </a:r>
            <a:endParaRPr lang="en-US" sz="1100" dirty="0"/>
          </a:p>
        </p:txBody>
      </p:sp>
      <p:sp>
        <p:nvSpPr>
          <p:cNvPr id="17" name="Shape 13"/>
          <p:cNvSpPr/>
          <p:nvPr/>
        </p:nvSpPr>
        <p:spPr>
          <a:xfrm>
            <a:off x="6492240" y="1207008"/>
            <a:ext cx="237744" cy="237744"/>
          </a:xfrm>
          <a:prstGeom prst="ellipse">
            <a:avLst/>
          </a:prstGeom>
          <a:solidFill>
            <a:schemeClr val="accent1"/>
          </a:solidFill>
          <a:ln/>
        </p:spPr>
      </p:sp>
      <p:sp>
        <p:nvSpPr>
          <p:cNvPr id="18" name="Text 14"/>
          <p:cNvSpPr txBox="1"/>
          <p:nvPr/>
        </p:nvSpPr>
        <p:spPr>
          <a:xfrm>
            <a:off x="6492240" y="1207008"/>
            <a:ext cx="237744" cy="237744"/>
          </a:xfrm>
          <a:prstGeom prst="rect">
            <a:avLst/>
          </a:prstGeom>
          <a:noFill/>
          <a:ln/>
        </p:spPr>
        <p:txBody>
          <a:bodyPr wrap="square" lIns="0" tIns="0" rIns="0" bIns="0" rtlCol="0" anchor="ctr"/>
          <a:lstStyle/>
          <a:p>
            <a:pPr marL="0" indent="0" algn="ctr">
              <a:buNone/>
            </a:pPr>
            <a:r>
              <a:rPr lang="en-US" sz="1100" b="1" dirty="0">
                <a:solidFill>
                  <a:schemeClr val="bg1"/>
                </a:solidFill>
              </a:rPr>
              <a:t>1</a:t>
            </a:r>
            <a:endParaRPr lang="en-US" sz="1100" dirty="0"/>
          </a:p>
        </p:txBody>
      </p:sp>
      <p:sp>
        <p:nvSpPr>
          <p:cNvPr id="19" name="Text 15"/>
          <p:cNvSpPr txBox="1"/>
          <p:nvPr/>
        </p:nvSpPr>
        <p:spPr>
          <a:xfrm>
            <a:off x="6858000" y="1188720"/>
            <a:ext cx="1828800" cy="219456"/>
          </a:xfrm>
          <a:prstGeom prst="rect">
            <a:avLst/>
          </a:prstGeom>
          <a:noFill/>
          <a:ln/>
        </p:spPr>
        <p:txBody>
          <a:bodyPr wrap="square" lIns="0" tIns="0" rIns="0" bIns="0" rtlCol="0" anchor="t"/>
          <a:lstStyle/>
          <a:p>
            <a:pPr marL="0" indent="0">
              <a:buNone/>
            </a:pPr>
            <a:r>
              <a:rPr lang="en-US" sz="1200" b="1" dirty="0">
                <a:solidFill>
                  <a:schemeClr val="tx1"/>
                </a:solidFill>
              </a:rPr>
              <a:t>Ride controls</a:t>
            </a:r>
            <a:endParaRPr lang="en-US" sz="1200" dirty="0"/>
          </a:p>
        </p:txBody>
      </p:sp>
      <p:sp>
        <p:nvSpPr>
          <p:cNvPr id="20" name="Text 16"/>
          <p:cNvSpPr txBox="1"/>
          <p:nvPr/>
        </p:nvSpPr>
        <p:spPr>
          <a:xfrm>
            <a:off x="6858000" y="1417320"/>
            <a:ext cx="1828800" cy="457200"/>
          </a:xfrm>
          <a:prstGeom prst="rect">
            <a:avLst/>
          </a:prstGeom>
          <a:noFill/>
          <a:ln/>
        </p:spPr>
        <p:txBody>
          <a:bodyPr wrap="square" lIns="0" tIns="0" rIns="0" bIns="0" rtlCol="0" anchor="t"/>
          <a:lstStyle/>
          <a:p>
            <a:pPr marL="0" indent="0">
              <a:buNone/>
            </a:pPr>
            <a:r>
              <a:rPr lang="en-US" sz="1000" dirty="0">
                <a:solidFill>
                  <a:schemeClr val="tx2"/>
                </a:solidFill>
              </a:rPr>
              <a:t>Ride selector, join code, Create, Join with Code, LIVE status</a:t>
            </a:r>
            <a:endParaRPr lang="en-US" sz="1000" dirty="0"/>
          </a:p>
        </p:txBody>
      </p:sp>
      <p:sp>
        <p:nvSpPr>
          <p:cNvPr id="21" name="Shape 17"/>
          <p:cNvSpPr/>
          <p:nvPr/>
        </p:nvSpPr>
        <p:spPr>
          <a:xfrm>
            <a:off x="6492240" y="1911096"/>
            <a:ext cx="237744" cy="237744"/>
          </a:xfrm>
          <a:prstGeom prst="ellipse">
            <a:avLst/>
          </a:prstGeom>
          <a:solidFill>
            <a:schemeClr val="accent1"/>
          </a:solidFill>
          <a:ln/>
        </p:spPr>
      </p:sp>
      <p:sp>
        <p:nvSpPr>
          <p:cNvPr id="22" name="Text 18"/>
          <p:cNvSpPr txBox="1"/>
          <p:nvPr/>
        </p:nvSpPr>
        <p:spPr>
          <a:xfrm>
            <a:off x="6492240" y="1911096"/>
            <a:ext cx="237744" cy="237744"/>
          </a:xfrm>
          <a:prstGeom prst="rect">
            <a:avLst/>
          </a:prstGeom>
          <a:noFill/>
          <a:ln/>
        </p:spPr>
        <p:txBody>
          <a:bodyPr wrap="square" lIns="0" tIns="0" rIns="0" bIns="0" rtlCol="0" anchor="ctr"/>
          <a:lstStyle/>
          <a:p>
            <a:pPr marL="0" indent="0" algn="ctr">
              <a:buNone/>
            </a:pPr>
            <a:r>
              <a:rPr lang="en-US" sz="1100" b="1" dirty="0">
                <a:solidFill>
                  <a:schemeClr val="bg1"/>
                </a:solidFill>
              </a:rPr>
              <a:t>2</a:t>
            </a:r>
            <a:endParaRPr lang="en-US" sz="1100" dirty="0"/>
          </a:p>
        </p:txBody>
      </p:sp>
      <p:sp>
        <p:nvSpPr>
          <p:cNvPr id="23" name="Text 19"/>
          <p:cNvSpPr txBox="1"/>
          <p:nvPr/>
        </p:nvSpPr>
        <p:spPr>
          <a:xfrm>
            <a:off x="6858000" y="1892808"/>
            <a:ext cx="1828800" cy="219456"/>
          </a:xfrm>
          <a:prstGeom prst="rect">
            <a:avLst/>
          </a:prstGeom>
          <a:noFill/>
          <a:ln/>
        </p:spPr>
        <p:txBody>
          <a:bodyPr wrap="square" lIns="0" tIns="0" rIns="0" bIns="0" rtlCol="0" anchor="t"/>
          <a:lstStyle/>
          <a:p>
            <a:pPr marL="0" indent="0">
              <a:buNone/>
            </a:pPr>
            <a:r>
              <a:rPr lang="en-US" sz="1200" b="1" dirty="0">
                <a:solidFill>
                  <a:schemeClr val="tx1"/>
                </a:solidFill>
              </a:rPr>
              <a:t>Ride statistics</a:t>
            </a:r>
            <a:endParaRPr lang="en-US" sz="1200" dirty="0"/>
          </a:p>
        </p:txBody>
      </p:sp>
      <p:sp>
        <p:nvSpPr>
          <p:cNvPr id="24" name="Text 20"/>
          <p:cNvSpPr txBox="1"/>
          <p:nvPr/>
        </p:nvSpPr>
        <p:spPr>
          <a:xfrm>
            <a:off x="6858000" y="2121408"/>
            <a:ext cx="1828800" cy="457200"/>
          </a:xfrm>
          <a:prstGeom prst="rect">
            <a:avLst/>
          </a:prstGeom>
          <a:noFill/>
          <a:ln/>
        </p:spPr>
        <p:txBody>
          <a:bodyPr wrap="square" lIns="0" tIns="0" rIns="0" bIns="0" rtlCol="0" anchor="t"/>
          <a:lstStyle/>
          <a:p>
            <a:pPr marL="0" indent="0">
              <a:buNone/>
            </a:pPr>
            <a:r>
              <a:rPr lang="en-US" sz="1000" dirty="0">
                <a:solidFill>
                  <a:schemeClr val="tx2"/>
                </a:solidFill>
              </a:rPr>
              <a:t>Riders online, average speed, elapsed time, next waypoint, planned distance, ETA, distance remaining, travelled</a:t>
            </a:r>
            <a:endParaRPr lang="en-US" sz="1000" dirty="0"/>
          </a:p>
        </p:txBody>
      </p:sp>
      <p:sp>
        <p:nvSpPr>
          <p:cNvPr id="25" name="Shape 21"/>
          <p:cNvSpPr/>
          <p:nvPr/>
        </p:nvSpPr>
        <p:spPr>
          <a:xfrm>
            <a:off x="6492240" y="2615184"/>
            <a:ext cx="237744" cy="237744"/>
          </a:xfrm>
          <a:prstGeom prst="ellipse">
            <a:avLst/>
          </a:prstGeom>
          <a:solidFill>
            <a:schemeClr val="accent1"/>
          </a:solidFill>
          <a:ln/>
        </p:spPr>
      </p:sp>
      <p:sp>
        <p:nvSpPr>
          <p:cNvPr id="26" name="Text 22"/>
          <p:cNvSpPr txBox="1"/>
          <p:nvPr/>
        </p:nvSpPr>
        <p:spPr>
          <a:xfrm>
            <a:off x="6492240" y="2615184"/>
            <a:ext cx="237744" cy="237744"/>
          </a:xfrm>
          <a:prstGeom prst="rect">
            <a:avLst/>
          </a:prstGeom>
          <a:noFill/>
          <a:ln/>
        </p:spPr>
        <p:txBody>
          <a:bodyPr wrap="square" lIns="0" tIns="0" rIns="0" bIns="0" rtlCol="0" anchor="ctr"/>
          <a:lstStyle/>
          <a:p>
            <a:pPr marL="0" indent="0" algn="ctr">
              <a:buNone/>
            </a:pPr>
            <a:r>
              <a:rPr lang="en-US" sz="1100" b="1" dirty="0">
                <a:solidFill>
                  <a:schemeClr val="bg1"/>
                </a:solidFill>
              </a:rPr>
              <a:t>3</a:t>
            </a:r>
            <a:endParaRPr lang="en-US" sz="1100" dirty="0"/>
          </a:p>
        </p:txBody>
      </p:sp>
      <p:sp>
        <p:nvSpPr>
          <p:cNvPr id="27" name="Text 23"/>
          <p:cNvSpPr txBox="1"/>
          <p:nvPr/>
        </p:nvSpPr>
        <p:spPr>
          <a:xfrm>
            <a:off x="6858000" y="2596896"/>
            <a:ext cx="1828800" cy="219456"/>
          </a:xfrm>
          <a:prstGeom prst="rect">
            <a:avLst/>
          </a:prstGeom>
          <a:noFill/>
          <a:ln/>
        </p:spPr>
        <p:txBody>
          <a:bodyPr wrap="square" lIns="0" tIns="0" rIns="0" bIns="0" rtlCol="0" anchor="t"/>
          <a:lstStyle/>
          <a:p>
            <a:pPr marL="0" indent="0">
              <a:buNone/>
            </a:pPr>
            <a:r>
              <a:rPr lang="en-US" sz="1200" b="1" dirty="0">
                <a:solidFill>
                  <a:schemeClr val="tx1"/>
                </a:solidFill>
              </a:rPr>
              <a:t>Rider list</a:t>
            </a:r>
            <a:endParaRPr lang="en-US" sz="1200" dirty="0"/>
          </a:p>
        </p:txBody>
      </p:sp>
      <p:sp>
        <p:nvSpPr>
          <p:cNvPr id="28" name="Text 24"/>
          <p:cNvSpPr txBox="1"/>
          <p:nvPr/>
        </p:nvSpPr>
        <p:spPr>
          <a:xfrm>
            <a:off x="6858000" y="2825496"/>
            <a:ext cx="1828800" cy="457200"/>
          </a:xfrm>
          <a:prstGeom prst="rect">
            <a:avLst/>
          </a:prstGeom>
          <a:noFill/>
          <a:ln/>
        </p:spPr>
        <p:txBody>
          <a:bodyPr wrap="square" lIns="0" tIns="0" rIns="0" bIns="0" rtlCol="0" anchor="t"/>
          <a:lstStyle/>
          <a:p>
            <a:pPr marL="0" indent="0">
              <a:buNone/>
            </a:pPr>
            <a:r>
              <a:rPr lang="en-US" sz="1000" dirty="0">
                <a:solidFill>
                  <a:schemeClr val="tx2"/>
                </a:solidFill>
              </a:rPr>
              <a:t>Current rider with role and status badge</a:t>
            </a:r>
            <a:endParaRPr lang="en-US" sz="1000" dirty="0"/>
          </a:p>
        </p:txBody>
      </p:sp>
      <p:sp>
        <p:nvSpPr>
          <p:cNvPr id="29" name="Shape 25"/>
          <p:cNvSpPr/>
          <p:nvPr/>
        </p:nvSpPr>
        <p:spPr>
          <a:xfrm>
            <a:off x="6492240" y="3319272"/>
            <a:ext cx="237744" cy="237744"/>
          </a:xfrm>
          <a:prstGeom prst="ellipse">
            <a:avLst/>
          </a:prstGeom>
          <a:solidFill>
            <a:schemeClr val="accent1"/>
          </a:solidFill>
          <a:ln/>
        </p:spPr>
      </p:sp>
      <p:sp>
        <p:nvSpPr>
          <p:cNvPr id="30" name="Text 26"/>
          <p:cNvSpPr txBox="1"/>
          <p:nvPr/>
        </p:nvSpPr>
        <p:spPr>
          <a:xfrm>
            <a:off x="6492240" y="3319272"/>
            <a:ext cx="237744" cy="237744"/>
          </a:xfrm>
          <a:prstGeom prst="rect">
            <a:avLst/>
          </a:prstGeom>
          <a:noFill/>
          <a:ln/>
        </p:spPr>
        <p:txBody>
          <a:bodyPr wrap="square" lIns="0" tIns="0" rIns="0" bIns="0" rtlCol="0" anchor="ctr"/>
          <a:lstStyle/>
          <a:p>
            <a:pPr marL="0" indent="0" algn="ctr">
              <a:buNone/>
            </a:pPr>
            <a:r>
              <a:rPr lang="en-US" sz="1100" b="1" dirty="0">
                <a:solidFill>
                  <a:schemeClr val="bg1"/>
                </a:solidFill>
              </a:rPr>
              <a:t>4</a:t>
            </a:r>
            <a:endParaRPr lang="en-US" sz="1100" dirty="0"/>
          </a:p>
        </p:txBody>
      </p:sp>
      <p:sp>
        <p:nvSpPr>
          <p:cNvPr id="31" name="Text 27"/>
          <p:cNvSpPr txBox="1"/>
          <p:nvPr/>
        </p:nvSpPr>
        <p:spPr>
          <a:xfrm>
            <a:off x="6858000" y="3300984"/>
            <a:ext cx="1828800" cy="219456"/>
          </a:xfrm>
          <a:prstGeom prst="rect">
            <a:avLst/>
          </a:prstGeom>
          <a:noFill/>
          <a:ln/>
        </p:spPr>
        <p:txBody>
          <a:bodyPr wrap="square" lIns="0" tIns="0" rIns="0" bIns="0" rtlCol="0" anchor="t"/>
          <a:lstStyle/>
          <a:p>
            <a:pPr marL="0" indent="0">
              <a:buNone/>
            </a:pPr>
            <a:r>
              <a:rPr lang="en-US" sz="1200" b="1" dirty="0">
                <a:solidFill>
                  <a:schemeClr val="tx1"/>
                </a:solidFill>
              </a:rPr>
              <a:t>Google Map</a:t>
            </a:r>
            <a:endParaRPr lang="en-US" sz="1200" dirty="0"/>
          </a:p>
        </p:txBody>
      </p:sp>
      <p:sp>
        <p:nvSpPr>
          <p:cNvPr id="32" name="Text 28"/>
          <p:cNvSpPr txBox="1"/>
          <p:nvPr/>
        </p:nvSpPr>
        <p:spPr>
          <a:xfrm>
            <a:off x="6858000" y="3529584"/>
            <a:ext cx="1828800" cy="457200"/>
          </a:xfrm>
          <a:prstGeom prst="rect">
            <a:avLst/>
          </a:prstGeom>
          <a:noFill/>
          <a:ln/>
        </p:spPr>
        <p:txBody>
          <a:bodyPr wrap="square" lIns="0" tIns="0" rIns="0" bIns="0" rtlCol="0" anchor="t"/>
          <a:lstStyle/>
          <a:p>
            <a:pPr marL="0" indent="0">
              <a:buNone/>
            </a:pPr>
            <a:r>
              <a:rPr lang="en-US" sz="1000" dirty="0">
                <a:solidFill>
                  <a:schemeClr val="tx2"/>
                </a:solidFill>
              </a:rPr>
              <a:t>Planned route (blue), rider breadcrumb trail, markers</a:t>
            </a:r>
            <a:endParaRPr lang="en-US" sz="1000" dirty="0"/>
          </a:p>
        </p:txBody>
      </p:sp>
      <p:sp>
        <p:nvSpPr>
          <p:cNvPr id="33" name="Shape 29"/>
          <p:cNvSpPr/>
          <p:nvPr/>
        </p:nvSpPr>
        <p:spPr>
          <a:xfrm>
            <a:off x="6492240" y="4023360"/>
            <a:ext cx="237744" cy="237744"/>
          </a:xfrm>
          <a:prstGeom prst="ellipse">
            <a:avLst/>
          </a:prstGeom>
          <a:solidFill>
            <a:schemeClr val="accent1"/>
          </a:solidFill>
          <a:ln/>
        </p:spPr>
      </p:sp>
      <p:sp>
        <p:nvSpPr>
          <p:cNvPr id="34" name="Text 30"/>
          <p:cNvSpPr txBox="1"/>
          <p:nvPr/>
        </p:nvSpPr>
        <p:spPr>
          <a:xfrm>
            <a:off x="6492240" y="4023360"/>
            <a:ext cx="237744" cy="237744"/>
          </a:xfrm>
          <a:prstGeom prst="rect">
            <a:avLst/>
          </a:prstGeom>
          <a:noFill/>
          <a:ln/>
        </p:spPr>
        <p:txBody>
          <a:bodyPr wrap="square" lIns="0" tIns="0" rIns="0" bIns="0" rtlCol="0" anchor="ctr"/>
          <a:lstStyle/>
          <a:p>
            <a:pPr marL="0" indent="0" algn="ctr">
              <a:buNone/>
            </a:pPr>
            <a:r>
              <a:rPr lang="en-US" sz="1100" b="1" dirty="0">
                <a:solidFill>
                  <a:schemeClr val="bg1"/>
                </a:solidFill>
              </a:rPr>
              <a:t>5</a:t>
            </a:r>
            <a:endParaRPr lang="en-US" sz="1100" dirty="0"/>
          </a:p>
        </p:txBody>
      </p:sp>
      <p:sp>
        <p:nvSpPr>
          <p:cNvPr id="35" name="Text 31"/>
          <p:cNvSpPr txBox="1"/>
          <p:nvPr/>
        </p:nvSpPr>
        <p:spPr>
          <a:xfrm>
            <a:off x="6858000" y="4005072"/>
            <a:ext cx="1828800" cy="219456"/>
          </a:xfrm>
          <a:prstGeom prst="rect">
            <a:avLst/>
          </a:prstGeom>
          <a:noFill/>
          <a:ln/>
        </p:spPr>
        <p:txBody>
          <a:bodyPr wrap="square" lIns="0" tIns="0" rIns="0" bIns="0" rtlCol="0" anchor="t"/>
          <a:lstStyle/>
          <a:p>
            <a:pPr marL="0" indent="0">
              <a:buNone/>
            </a:pPr>
            <a:r>
              <a:rPr lang="en-US" sz="1200" b="1" dirty="0">
                <a:solidFill>
                  <a:schemeClr val="tx1"/>
                </a:solidFill>
              </a:rPr>
              <a:t>Actions</a:t>
            </a:r>
            <a:endParaRPr lang="en-US" sz="1200" dirty="0"/>
          </a:p>
        </p:txBody>
      </p:sp>
      <p:sp>
        <p:nvSpPr>
          <p:cNvPr id="36" name="Text 32"/>
          <p:cNvSpPr txBox="1"/>
          <p:nvPr/>
        </p:nvSpPr>
        <p:spPr>
          <a:xfrm>
            <a:off x="6858000" y="4233672"/>
            <a:ext cx="1828800" cy="457200"/>
          </a:xfrm>
          <a:prstGeom prst="rect">
            <a:avLst/>
          </a:prstGeom>
          <a:noFill/>
          <a:ln/>
        </p:spPr>
        <p:txBody>
          <a:bodyPr wrap="square" lIns="0" tIns="0" rIns="0" bIns="0" rtlCol="0" anchor="t"/>
          <a:lstStyle/>
          <a:p>
            <a:pPr marL="0" indent="0">
              <a:buNone/>
            </a:pPr>
            <a:r>
              <a:rPr lang="en-US" sz="1000" dirty="0">
                <a:solidFill>
                  <a:schemeClr val="tx2"/>
                </a:solidFill>
              </a:rPr>
              <a:t>SOS, End ride, Admin Monitor</a:t>
            </a:r>
            <a:endParaRPr lang="en-US" sz="1000" dirty="0"/>
          </a:p>
        </p:txBody>
      </p:sp>
      <p:sp>
        <p:nvSpPr>
          <p:cNvPr id="38" name="Shape 34"/>
          <p:cNvSpPr/>
          <p:nvPr/>
        </p:nvSpPr>
        <p:spPr>
          <a:xfrm>
            <a:off x="457200" y="4389120"/>
            <a:ext cx="3566160" cy="256032"/>
          </a:xfrm>
          <a:prstGeom prst="roundRect">
            <a:avLst>
              <a:gd name="adj" fmla="val 50000"/>
            </a:avLst>
          </a:prstGeom>
          <a:solidFill>
            <a:schemeClr val="accent5">
              <a:alpha val="12000"/>
            </a:schemeClr>
          </a:solidFill>
          <a:ln w="9525">
            <a:solidFill>
              <a:schemeClr val="accent5">
                <a:alpha val="60000"/>
              </a:schemeClr>
            </a:solidFill>
            <a:prstDash val="solid"/>
          </a:ln>
        </p:spPr>
      </p:sp>
      <p:sp>
        <p:nvSpPr>
          <p:cNvPr id="39" name="Text 35"/>
          <p:cNvSpPr txBox="1"/>
          <p:nvPr/>
        </p:nvSpPr>
        <p:spPr>
          <a:xfrm>
            <a:off x="457200" y="4389120"/>
            <a:ext cx="3566160" cy="256032"/>
          </a:xfrm>
          <a:prstGeom prst="rect">
            <a:avLst/>
          </a:prstGeom>
          <a:noFill/>
          <a:ln/>
        </p:spPr>
        <p:txBody>
          <a:bodyPr wrap="square" lIns="0" tIns="0" rIns="0" bIns="0" rtlCol="0" anchor="ctr"/>
          <a:lstStyle/>
          <a:p>
            <a:pPr marL="0" indent="0" algn="ctr">
              <a:buNone/>
            </a:pPr>
            <a:r>
              <a:rPr lang="en-US" sz="1050" b="1" dirty="0">
                <a:solidFill>
                  <a:schemeClr val="tx1"/>
                </a:solidFill>
              </a:rPr>
              <a:t>Implemented: live map, route, breadcrumb, ETA</a:t>
            </a:r>
            <a:endParaRPr lang="en-US" sz="1050" dirty="0"/>
          </a:p>
        </p:txBody>
      </p:sp>
      <p:sp>
        <p:nvSpPr>
          <p:cNvPr id="4" name="Slide Number Placeholder 0"/>
          <p:cNvSpPr>
            <a:spLocks noGrp="1"/>
          </p:cNvSpPr>
          <p:nvPr>
            <p:ph type="sldNum" sz="quarter" idx="4294967295"/>
          </p:nvPr>
        </p:nvSpPr>
        <p:spPr>
          <a:xfrm>
            <a:off x="8138160" y="4791456"/>
            <a:ext cx="548640" cy="228600"/>
          </a:xfrm>
          <a:prstGeom prst="rect">
            <a:avLst/>
          </a:prstGeom>
          <a:extLst>
            <a:ext uri="{C572A759-6A51-4108-AA02-DFA0A04FC94B}">
              <ma14:wrappingTextBoxFlag xmlns:ma14="http://schemas.microsoft.com/office/mac/drawingml/2011/main" xmlns="" val="0"/>
            </a:ext>
          </a:extLst>
        </p:spPr>
        <p:txBody>
          <a:bodyPr/>
          <a:lstStyle>
            <a:lvl1pPr>
              <a:defRPr sz="1000">
                <a:solidFill>
                  <a:srgbClr val="475569"/>
                </a:solidFill>
              </a:defRPr>
            </a:lvl1pPr>
          </a:lstStyle>
          <a:p>
            <a:pPr algn="r"/>
            <a:fld id="{F7021451-1387-4CA6-816F-3879F97B5CBC}" type="slidenum">
              <a:rPr lang="en-US" b="0"/>
              <a:t>25</a:t>
            </a:fld>
            <a:endParaRPr lang="en-US"/>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name="Slide 25">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457200" y="420624"/>
            <a:ext cx="8229600" cy="566928"/>
          </a:xfrm>
          <a:prstGeom prst="rect">
            <a:avLst/>
          </a:prstGeom>
          <a:noFill/>
          <a:ln/>
        </p:spPr>
        <p:txBody>
          <a:bodyPr wrap="square" lIns="0" tIns="0" rIns="0" bIns="0" rtlCol="0" anchor="ctr"/>
          <a:lstStyle/>
          <a:p>
            <a:pPr marL="0" indent="0" algn="l">
              <a:buNone/>
            </a:pPr>
            <a:r>
              <a:rPr lang="en-US" sz="2800" b="1" dirty="0">
                <a:solidFill>
                  <a:schemeClr val="tx1"/>
                </a:solidFill>
              </a:rPr>
              <a:t>Safety, history and administration</a:t>
            </a:r>
            <a:endParaRPr lang="en-US" sz="2800" dirty="0"/>
          </a:p>
        </p:txBody>
      </p:sp>
      <p:sp>
        <p:nvSpPr>
          <p:cNvPr id="3" name="Text 1"/>
          <p:cNvSpPr txBox="1"/>
          <p:nvPr/>
        </p:nvSpPr>
        <p:spPr>
          <a:xfrm>
            <a:off x="457200" y="219456"/>
            <a:ext cx="5486400" cy="182880"/>
          </a:xfrm>
          <a:prstGeom prst="rect">
            <a:avLst/>
          </a:prstGeom>
          <a:noFill/>
          <a:ln/>
        </p:spPr>
        <p:txBody>
          <a:bodyPr wrap="square" lIns="0" tIns="0" rIns="0" bIns="0" rtlCol="0" anchor="t"/>
          <a:lstStyle/>
          <a:p>
            <a:pPr marL="0" indent="0">
              <a:buNone/>
            </a:pPr>
            <a:r>
              <a:rPr lang="en-US" sz="1000" b="1" kern="0" spc="200" dirty="0">
                <a:solidFill>
                  <a:schemeClr val="accent1"/>
                </a:solidFill>
              </a:rPr>
              <a:t>APPLICATION SCREENSHOTS</a:t>
            </a:r>
            <a:endParaRPr lang="en-US" sz="1000" dirty="0"/>
          </a:p>
        </p:txBody>
      </p:sp>
      <p:sp>
        <p:nvSpPr>
          <p:cNvPr id="5" name="Shape 2"/>
          <p:cNvSpPr/>
          <p:nvPr/>
        </p:nvSpPr>
        <p:spPr>
          <a:xfrm>
            <a:off x="457200" y="1170432"/>
            <a:ext cx="3383280" cy="1892808"/>
          </a:xfrm>
          <a:prstGeom prst="roundRect">
            <a:avLst>
              <a:gd name="adj" fmla="val 3865"/>
            </a:avLst>
          </a:prstGeom>
          <a:solidFill>
            <a:schemeClr val="bg1"/>
          </a:solidFill>
          <a:ln w="12700">
            <a:solidFill>
              <a:srgbClr val="D5DCE8"/>
            </a:solidFill>
            <a:prstDash val="solid"/>
          </a:ln>
        </p:spPr>
      </p:sp>
      <p:pic>
        <p:nvPicPr>
          <p:cNvPr id="6" name="Image 0" descr="SOS alert banner and rider badge"/>
          <p:cNvPicPr>
            <a:picLocks noChangeAspect="1"/>
          </p:cNvPicPr>
          <p:nvPr/>
        </p:nvPicPr>
        <p:blipFill>
          <a:blip r:embed="rId3"/>
          <a:stretch>
            <a:fillRect/>
          </a:stretch>
        </p:blipFill>
        <p:spPr>
          <a:xfrm>
            <a:off x="887853" y="1261872"/>
            <a:ext cx="2521974" cy="1234440"/>
          </a:xfrm>
          <a:prstGeom prst="rect">
            <a:avLst/>
          </a:prstGeom>
        </p:spPr>
      </p:pic>
      <p:sp>
        <p:nvSpPr>
          <p:cNvPr id="7" name="Shape 3"/>
          <p:cNvSpPr/>
          <p:nvPr/>
        </p:nvSpPr>
        <p:spPr>
          <a:xfrm>
            <a:off x="887853" y="1261872"/>
            <a:ext cx="2521974" cy="1234440"/>
          </a:xfrm>
          <a:prstGeom prst="rect">
            <a:avLst/>
          </a:prstGeom>
          <a:solidFill>
            <a:schemeClr val="bg1">
              <a:alpha val="0"/>
            </a:schemeClr>
          </a:solidFill>
          <a:ln w="12700">
            <a:solidFill>
              <a:srgbClr val="D5DCE8"/>
            </a:solidFill>
            <a:prstDash val="solid"/>
          </a:ln>
        </p:spPr>
      </p:sp>
      <p:sp>
        <p:nvSpPr>
          <p:cNvPr id="8" name="Text 4"/>
          <p:cNvSpPr txBox="1"/>
          <p:nvPr/>
        </p:nvSpPr>
        <p:spPr>
          <a:xfrm>
            <a:off x="566928" y="2523744"/>
            <a:ext cx="3163824" cy="201168"/>
          </a:xfrm>
          <a:prstGeom prst="rect">
            <a:avLst/>
          </a:prstGeom>
          <a:noFill/>
          <a:ln/>
        </p:spPr>
        <p:txBody>
          <a:bodyPr wrap="square" lIns="0" tIns="0" rIns="0" bIns="0" rtlCol="0" anchor="t"/>
          <a:lstStyle/>
          <a:p>
            <a:pPr marL="0" indent="0">
              <a:buNone/>
            </a:pPr>
            <a:r>
              <a:rPr lang="en-US" sz="1150" b="1" dirty="0">
                <a:solidFill>
                  <a:schemeClr val="tx1"/>
                </a:solidFill>
              </a:rPr>
              <a:t>SOS alert banner and rider badge</a:t>
            </a:r>
            <a:endParaRPr lang="en-US" sz="1150" dirty="0"/>
          </a:p>
        </p:txBody>
      </p:sp>
      <p:sp>
        <p:nvSpPr>
          <p:cNvPr id="9" name="Text 5"/>
          <p:cNvSpPr txBox="1"/>
          <p:nvPr/>
        </p:nvSpPr>
        <p:spPr>
          <a:xfrm>
            <a:off x="566928" y="2724912"/>
            <a:ext cx="3163824" cy="329184"/>
          </a:xfrm>
          <a:prstGeom prst="rect">
            <a:avLst/>
          </a:prstGeom>
          <a:noFill/>
          <a:ln/>
        </p:spPr>
        <p:txBody>
          <a:bodyPr wrap="square" lIns="0" tIns="0" rIns="0" bIns="0" rtlCol="0" anchor="t"/>
          <a:lstStyle/>
          <a:p>
            <a:pPr marL="0" indent="0">
              <a:buNone/>
            </a:pPr>
            <a:r>
              <a:rPr lang="en-US" sz="1000" dirty="0">
                <a:solidFill>
                  <a:schemeClr val="tx2"/>
                </a:solidFill>
              </a:rPr>
              <a:t>Alert banner, SOS control, rider SOS ACTIVE badge</a:t>
            </a:r>
            <a:endParaRPr lang="en-US" sz="1000" dirty="0"/>
          </a:p>
        </p:txBody>
      </p:sp>
      <p:sp>
        <p:nvSpPr>
          <p:cNvPr id="10" name="Shape 6"/>
          <p:cNvSpPr/>
          <p:nvPr/>
        </p:nvSpPr>
        <p:spPr>
          <a:xfrm>
            <a:off x="4023360" y="1170432"/>
            <a:ext cx="4663440" cy="1892808"/>
          </a:xfrm>
          <a:prstGeom prst="roundRect">
            <a:avLst>
              <a:gd name="adj" fmla="val 3865"/>
            </a:avLst>
          </a:prstGeom>
          <a:solidFill>
            <a:schemeClr val="bg1"/>
          </a:solidFill>
          <a:ln w="12700">
            <a:solidFill>
              <a:srgbClr val="D5DCE8"/>
            </a:solidFill>
            <a:prstDash val="solid"/>
          </a:ln>
        </p:spPr>
      </p:sp>
      <p:pic>
        <p:nvPicPr>
          <p:cNvPr id="11" name="Image 1" descr="Ride history"/>
          <p:cNvPicPr>
            <a:picLocks noChangeAspect="1"/>
          </p:cNvPicPr>
          <p:nvPr/>
        </p:nvPicPr>
        <p:blipFill>
          <a:blip r:embed="rId4"/>
          <a:stretch>
            <a:fillRect/>
          </a:stretch>
        </p:blipFill>
        <p:spPr>
          <a:xfrm>
            <a:off x="4114800" y="1384146"/>
            <a:ext cx="4480560" cy="989891"/>
          </a:xfrm>
          <a:prstGeom prst="rect">
            <a:avLst/>
          </a:prstGeom>
        </p:spPr>
      </p:pic>
      <p:sp>
        <p:nvSpPr>
          <p:cNvPr id="12" name="Shape 7"/>
          <p:cNvSpPr/>
          <p:nvPr/>
        </p:nvSpPr>
        <p:spPr>
          <a:xfrm>
            <a:off x="4114800" y="1384146"/>
            <a:ext cx="4480560" cy="989891"/>
          </a:xfrm>
          <a:prstGeom prst="rect">
            <a:avLst/>
          </a:prstGeom>
          <a:solidFill>
            <a:schemeClr val="bg1">
              <a:alpha val="0"/>
            </a:schemeClr>
          </a:solidFill>
          <a:ln w="12700">
            <a:solidFill>
              <a:srgbClr val="D5DCE8"/>
            </a:solidFill>
            <a:prstDash val="solid"/>
          </a:ln>
        </p:spPr>
      </p:sp>
      <p:sp>
        <p:nvSpPr>
          <p:cNvPr id="13" name="Text 8"/>
          <p:cNvSpPr txBox="1"/>
          <p:nvPr/>
        </p:nvSpPr>
        <p:spPr>
          <a:xfrm>
            <a:off x="4133088" y="2523744"/>
            <a:ext cx="4443984" cy="201168"/>
          </a:xfrm>
          <a:prstGeom prst="rect">
            <a:avLst/>
          </a:prstGeom>
          <a:noFill/>
          <a:ln/>
        </p:spPr>
        <p:txBody>
          <a:bodyPr wrap="square" lIns="0" tIns="0" rIns="0" bIns="0" rtlCol="0" anchor="t"/>
          <a:lstStyle/>
          <a:p>
            <a:pPr marL="0" indent="0">
              <a:buNone/>
            </a:pPr>
            <a:r>
              <a:rPr lang="en-US" sz="1150" b="1" dirty="0">
                <a:solidFill>
                  <a:schemeClr val="tx1"/>
                </a:solidFill>
              </a:rPr>
              <a:t>Ride history</a:t>
            </a:r>
            <a:endParaRPr lang="en-US" sz="1150" dirty="0"/>
          </a:p>
        </p:txBody>
      </p:sp>
      <p:sp>
        <p:nvSpPr>
          <p:cNvPr id="14" name="Text 9"/>
          <p:cNvSpPr txBox="1"/>
          <p:nvPr/>
        </p:nvSpPr>
        <p:spPr>
          <a:xfrm>
            <a:off x="4133088" y="2724912"/>
            <a:ext cx="4443984" cy="329184"/>
          </a:xfrm>
          <a:prstGeom prst="rect">
            <a:avLst/>
          </a:prstGeom>
          <a:noFill/>
          <a:ln/>
        </p:spPr>
        <p:txBody>
          <a:bodyPr wrap="square" lIns="0" tIns="0" rIns="0" bIns="0" rtlCol="0" anchor="t"/>
          <a:lstStyle/>
          <a:p>
            <a:pPr marL="0" indent="0">
              <a:buNone/>
            </a:pPr>
            <a:r>
              <a:rPr lang="en-US" sz="1000" dirty="0">
                <a:solidFill>
                  <a:schemeClr val="tx2"/>
                </a:solidFill>
              </a:rPr>
              <a:t>Pack, start, destination, distances, duration, role, status, members</a:t>
            </a:r>
            <a:endParaRPr lang="en-US" sz="1000" dirty="0"/>
          </a:p>
        </p:txBody>
      </p:sp>
      <p:sp>
        <p:nvSpPr>
          <p:cNvPr id="15" name="Shape 10"/>
          <p:cNvSpPr/>
          <p:nvPr/>
        </p:nvSpPr>
        <p:spPr>
          <a:xfrm>
            <a:off x="457200" y="2880360"/>
            <a:ext cx="2651760" cy="1664208"/>
          </a:xfrm>
          <a:prstGeom prst="roundRect">
            <a:avLst>
              <a:gd name="adj" fmla="val 4396"/>
            </a:avLst>
          </a:prstGeom>
          <a:solidFill>
            <a:schemeClr val="bg1"/>
          </a:solidFill>
          <a:ln w="12700">
            <a:solidFill>
              <a:srgbClr val="D5DCE8"/>
            </a:solidFill>
            <a:prstDash val="solid"/>
          </a:ln>
        </p:spPr>
      </p:sp>
      <p:pic>
        <p:nvPicPr>
          <p:cNvPr id="16" name="Image 2" descr="Django administration"/>
          <p:cNvPicPr>
            <a:picLocks noChangeAspect="1"/>
          </p:cNvPicPr>
          <p:nvPr/>
        </p:nvPicPr>
        <p:blipFill>
          <a:blip r:embed="rId5"/>
          <a:stretch>
            <a:fillRect/>
          </a:stretch>
        </p:blipFill>
        <p:spPr>
          <a:xfrm>
            <a:off x="548640" y="3016678"/>
            <a:ext cx="2468880" cy="916084"/>
          </a:xfrm>
          <a:prstGeom prst="rect">
            <a:avLst/>
          </a:prstGeom>
        </p:spPr>
      </p:pic>
      <p:sp>
        <p:nvSpPr>
          <p:cNvPr id="17" name="Shape 11"/>
          <p:cNvSpPr/>
          <p:nvPr/>
        </p:nvSpPr>
        <p:spPr>
          <a:xfrm>
            <a:off x="548640" y="3016678"/>
            <a:ext cx="2468880" cy="916084"/>
          </a:xfrm>
          <a:prstGeom prst="rect">
            <a:avLst/>
          </a:prstGeom>
          <a:solidFill>
            <a:schemeClr val="bg1">
              <a:alpha val="0"/>
            </a:schemeClr>
          </a:solidFill>
          <a:ln w="12700">
            <a:solidFill>
              <a:srgbClr val="D5DCE8"/>
            </a:solidFill>
            <a:prstDash val="solid"/>
          </a:ln>
        </p:spPr>
      </p:sp>
      <p:sp>
        <p:nvSpPr>
          <p:cNvPr id="18" name="Text 12"/>
          <p:cNvSpPr txBox="1"/>
          <p:nvPr/>
        </p:nvSpPr>
        <p:spPr>
          <a:xfrm>
            <a:off x="566928" y="4005072"/>
            <a:ext cx="2432304" cy="201168"/>
          </a:xfrm>
          <a:prstGeom prst="rect">
            <a:avLst/>
          </a:prstGeom>
          <a:noFill/>
          <a:ln/>
        </p:spPr>
        <p:txBody>
          <a:bodyPr wrap="square" lIns="0" tIns="0" rIns="0" bIns="0" rtlCol="0" anchor="t"/>
          <a:lstStyle/>
          <a:p>
            <a:pPr marL="0" indent="0">
              <a:buNone/>
            </a:pPr>
            <a:r>
              <a:rPr lang="en-US" sz="1150" b="1" dirty="0">
                <a:solidFill>
                  <a:schemeClr val="tx1"/>
                </a:solidFill>
              </a:rPr>
              <a:t>Django administration</a:t>
            </a:r>
            <a:endParaRPr lang="en-US" sz="1150" dirty="0"/>
          </a:p>
        </p:txBody>
      </p:sp>
      <p:sp>
        <p:nvSpPr>
          <p:cNvPr id="19" name="Text 13"/>
          <p:cNvSpPr txBox="1"/>
          <p:nvPr/>
        </p:nvSpPr>
        <p:spPr>
          <a:xfrm>
            <a:off x="566928" y="4206240"/>
            <a:ext cx="2432304" cy="329184"/>
          </a:xfrm>
          <a:prstGeom prst="rect">
            <a:avLst/>
          </a:prstGeom>
          <a:noFill/>
          <a:ln/>
        </p:spPr>
        <p:txBody>
          <a:bodyPr wrap="square" lIns="0" tIns="0" rIns="0" bIns="0" rtlCol="0" anchor="t"/>
          <a:lstStyle/>
          <a:p>
            <a:pPr marL="0" indent="0">
              <a:buNone/>
            </a:pPr>
            <a:r>
              <a:rPr lang="en-US" sz="1000" dirty="0">
                <a:solidFill>
                  <a:schemeClr val="tx2"/>
                </a:solidFill>
              </a:rPr>
              <a:t>Users, rides, members, location logs, SOS alerts</a:t>
            </a:r>
            <a:endParaRPr lang="en-US" sz="1000" dirty="0"/>
          </a:p>
        </p:txBody>
      </p:sp>
      <p:sp>
        <p:nvSpPr>
          <p:cNvPr id="4" name="Slide Number Placeholder 0"/>
          <p:cNvSpPr>
            <a:spLocks noGrp="1"/>
          </p:cNvSpPr>
          <p:nvPr>
            <p:ph type="sldNum" sz="quarter" idx="4294967295"/>
          </p:nvPr>
        </p:nvSpPr>
        <p:spPr>
          <a:xfrm>
            <a:off x="8138160" y="4791456"/>
            <a:ext cx="548640" cy="228600"/>
          </a:xfrm>
          <a:prstGeom prst="rect">
            <a:avLst/>
          </a:prstGeom>
          <a:extLst>
            <a:ext uri="{C572A759-6A51-4108-AA02-DFA0A04FC94B}">
              <ma14:wrappingTextBoxFlag xmlns:ma14="http://schemas.microsoft.com/office/mac/drawingml/2011/main" xmlns="" val="0"/>
            </a:ext>
          </a:extLst>
        </p:spPr>
        <p:txBody>
          <a:bodyPr/>
          <a:lstStyle>
            <a:lvl1pPr>
              <a:defRPr sz="1000">
                <a:solidFill>
                  <a:srgbClr val="475569"/>
                </a:solidFill>
              </a:defRPr>
            </a:lvl1pPr>
          </a:lstStyle>
          <a:p>
            <a:pPr algn="r"/>
            <a:fld id="{F7021451-1387-4CA6-816F-3879F97B5CBC}" type="slidenum">
              <a:rPr lang="en-US" b="0"/>
              <a:t>26</a:t>
            </a:fld>
            <a:endParaRPr lang="en-US"/>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name="Slide 26">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457200" y="420624"/>
            <a:ext cx="8229600" cy="566928"/>
          </a:xfrm>
          <a:prstGeom prst="rect">
            <a:avLst/>
          </a:prstGeom>
          <a:noFill/>
          <a:ln/>
        </p:spPr>
        <p:txBody>
          <a:bodyPr wrap="square" lIns="0" tIns="0" rIns="0" bIns="0" rtlCol="0" anchor="ctr"/>
          <a:lstStyle/>
          <a:p>
            <a:pPr marL="0" indent="0" algn="l">
              <a:buNone/>
            </a:pPr>
            <a:r>
              <a:rPr lang="en-US" sz="2800" b="1" dirty="0">
                <a:solidFill>
                  <a:schemeClr val="tx1"/>
                </a:solidFill>
              </a:rPr>
              <a:t>User acceptance testing</a:t>
            </a:r>
            <a:endParaRPr lang="en-US" sz="2800" dirty="0"/>
          </a:p>
        </p:txBody>
      </p:sp>
      <p:sp>
        <p:nvSpPr>
          <p:cNvPr id="3" name="Text 1"/>
          <p:cNvSpPr txBox="1"/>
          <p:nvPr/>
        </p:nvSpPr>
        <p:spPr>
          <a:xfrm>
            <a:off x="457200" y="219456"/>
            <a:ext cx="5486400" cy="182880"/>
          </a:xfrm>
          <a:prstGeom prst="rect">
            <a:avLst/>
          </a:prstGeom>
          <a:noFill/>
          <a:ln/>
        </p:spPr>
        <p:txBody>
          <a:bodyPr wrap="square" lIns="0" tIns="0" rIns="0" bIns="0" rtlCol="0" anchor="t"/>
          <a:lstStyle/>
          <a:p>
            <a:pPr marL="0" indent="0">
              <a:buNone/>
            </a:pPr>
            <a:r>
              <a:rPr lang="en-US" sz="1000" b="1" kern="0" spc="200" dirty="0">
                <a:solidFill>
                  <a:schemeClr val="accent1"/>
                </a:solidFill>
              </a:rPr>
              <a:t>TESTING AND RESULTS</a:t>
            </a:r>
            <a:endParaRPr lang="en-US" sz="1000" dirty="0"/>
          </a:p>
        </p:txBody>
      </p:sp>
      <p:sp>
        <p:nvSpPr>
          <p:cNvPr id="5" name="Shape 2"/>
          <p:cNvSpPr/>
          <p:nvPr/>
        </p:nvSpPr>
        <p:spPr>
          <a:xfrm>
            <a:off x="457200" y="1143000"/>
            <a:ext cx="2651760" cy="457200"/>
          </a:xfrm>
          <a:prstGeom prst="roundRect">
            <a:avLst>
              <a:gd name="adj" fmla="val 16000"/>
            </a:avLst>
          </a:prstGeom>
          <a:solidFill>
            <a:schemeClr val="bg2"/>
          </a:solidFill>
          <a:ln/>
        </p:spPr>
      </p:sp>
      <p:sp>
        <p:nvSpPr>
          <p:cNvPr id="6" name="Text 3"/>
          <p:cNvSpPr txBox="1"/>
          <p:nvPr/>
        </p:nvSpPr>
        <p:spPr>
          <a:xfrm>
            <a:off x="594360" y="1143000"/>
            <a:ext cx="868680" cy="457200"/>
          </a:xfrm>
          <a:prstGeom prst="rect">
            <a:avLst/>
          </a:prstGeom>
          <a:noFill/>
          <a:ln/>
        </p:spPr>
        <p:txBody>
          <a:bodyPr wrap="square" lIns="0" tIns="0" rIns="0" bIns="0" rtlCol="0" anchor="ctr"/>
          <a:lstStyle/>
          <a:p>
            <a:pPr marL="0" indent="0">
              <a:buNone/>
            </a:pPr>
            <a:r>
              <a:rPr lang="en-US" b="1" dirty="0">
                <a:solidFill>
                  <a:schemeClr val="accent5"/>
                </a:solidFill>
              </a:rPr>
              <a:t>22</a:t>
            </a:r>
            <a:r>
              <a:rPr lang="en-US" sz="1800" b="1" dirty="0">
                <a:solidFill>
                  <a:schemeClr val="accent5"/>
                </a:solidFill>
              </a:rPr>
              <a:t> / 22</a:t>
            </a:r>
            <a:endParaRPr lang="en-US" sz="1800" dirty="0"/>
          </a:p>
        </p:txBody>
      </p:sp>
      <p:sp>
        <p:nvSpPr>
          <p:cNvPr id="7" name="Text 4"/>
          <p:cNvSpPr txBox="1"/>
          <p:nvPr/>
        </p:nvSpPr>
        <p:spPr>
          <a:xfrm>
            <a:off x="1463040" y="1143000"/>
            <a:ext cx="1554480" cy="457200"/>
          </a:xfrm>
          <a:prstGeom prst="rect">
            <a:avLst/>
          </a:prstGeom>
          <a:noFill/>
          <a:ln/>
        </p:spPr>
        <p:txBody>
          <a:bodyPr wrap="square" lIns="0" tIns="0" rIns="0" bIns="0" rtlCol="0" anchor="ctr"/>
          <a:lstStyle/>
          <a:p>
            <a:pPr marL="0" indent="0">
              <a:buNone/>
            </a:pPr>
            <a:r>
              <a:rPr lang="en-US" sz="1100" dirty="0">
                <a:solidFill>
                  <a:schemeClr val="tx2"/>
                </a:solidFill>
              </a:rPr>
              <a:t>UAT cases recorded as passed</a:t>
            </a:r>
            <a:endParaRPr lang="en-US" sz="1100" dirty="0"/>
          </a:p>
        </p:txBody>
      </p:sp>
      <p:sp>
        <p:nvSpPr>
          <p:cNvPr id="8" name="Shape 5"/>
          <p:cNvSpPr/>
          <p:nvPr/>
        </p:nvSpPr>
        <p:spPr>
          <a:xfrm>
            <a:off x="3246120" y="1143000"/>
            <a:ext cx="2651760" cy="457200"/>
          </a:xfrm>
          <a:prstGeom prst="roundRect">
            <a:avLst>
              <a:gd name="adj" fmla="val 16000"/>
            </a:avLst>
          </a:prstGeom>
          <a:solidFill>
            <a:schemeClr val="bg2"/>
          </a:solidFill>
          <a:ln/>
        </p:spPr>
      </p:sp>
      <p:sp>
        <p:nvSpPr>
          <p:cNvPr id="9" name="Text 6"/>
          <p:cNvSpPr txBox="1"/>
          <p:nvPr/>
        </p:nvSpPr>
        <p:spPr>
          <a:xfrm>
            <a:off x="3383280" y="1143000"/>
            <a:ext cx="868680" cy="457200"/>
          </a:xfrm>
          <a:prstGeom prst="rect">
            <a:avLst/>
          </a:prstGeom>
          <a:noFill/>
          <a:ln/>
        </p:spPr>
        <p:txBody>
          <a:bodyPr wrap="square" lIns="0" tIns="0" rIns="0" bIns="0" rtlCol="0" anchor="ctr"/>
          <a:lstStyle/>
          <a:p>
            <a:pPr marL="0" indent="0">
              <a:buNone/>
            </a:pPr>
            <a:r>
              <a:rPr lang="en-US" b="1" dirty="0">
                <a:solidFill>
                  <a:schemeClr val="accent6"/>
                </a:solidFill>
              </a:rPr>
              <a:t>0</a:t>
            </a:r>
            <a:endParaRPr lang="en-US" sz="1800" dirty="0"/>
          </a:p>
        </p:txBody>
      </p:sp>
      <p:sp>
        <p:nvSpPr>
          <p:cNvPr id="10" name="Text 7"/>
          <p:cNvSpPr txBox="1"/>
          <p:nvPr/>
        </p:nvSpPr>
        <p:spPr>
          <a:xfrm>
            <a:off x="4251960" y="1143000"/>
            <a:ext cx="1554480" cy="457200"/>
          </a:xfrm>
          <a:prstGeom prst="rect">
            <a:avLst/>
          </a:prstGeom>
          <a:noFill/>
          <a:ln/>
        </p:spPr>
        <p:txBody>
          <a:bodyPr wrap="square" lIns="0" tIns="0" rIns="0" bIns="0" rtlCol="0" anchor="ctr"/>
          <a:lstStyle/>
          <a:p>
            <a:pPr marL="0" indent="0">
              <a:buNone/>
            </a:pPr>
            <a:r>
              <a:rPr lang="en-US" sz="1100" dirty="0">
                <a:solidFill>
                  <a:schemeClr val="tx2"/>
                </a:solidFill>
              </a:rPr>
              <a:t>cases still pending</a:t>
            </a:r>
            <a:endParaRPr lang="en-US" sz="1100" dirty="0"/>
          </a:p>
        </p:txBody>
      </p:sp>
      <p:sp>
        <p:nvSpPr>
          <p:cNvPr id="11" name="Shape 8"/>
          <p:cNvSpPr/>
          <p:nvPr/>
        </p:nvSpPr>
        <p:spPr>
          <a:xfrm>
            <a:off x="6035040" y="1143000"/>
            <a:ext cx="2651760" cy="457200"/>
          </a:xfrm>
          <a:prstGeom prst="roundRect">
            <a:avLst>
              <a:gd name="adj" fmla="val 16000"/>
            </a:avLst>
          </a:prstGeom>
          <a:solidFill>
            <a:schemeClr val="bg2"/>
          </a:solidFill>
          <a:ln/>
        </p:spPr>
      </p:sp>
      <p:sp>
        <p:nvSpPr>
          <p:cNvPr id="12" name="Text 9"/>
          <p:cNvSpPr txBox="1"/>
          <p:nvPr/>
        </p:nvSpPr>
        <p:spPr>
          <a:xfrm>
            <a:off x="6172200" y="1143000"/>
            <a:ext cx="868680" cy="457200"/>
          </a:xfrm>
          <a:prstGeom prst="rect">
            <a:avLst/>
          </a:prstGeom>
          <a:noFill/>
          <a:ln/>
        </p:spPr>
        <p:txBody>
          <a:bodyPr wrap="square" lIns="0" tIns="0" rIns="0" bIns="0" rtlCol="0" anchor="ctr"/>
          <a:lstStyle/>
          <a:p>
            <a:pPr marL="0" indent="0">
              <a:buNone/>
            </a:pPr>
            <a:r>
              <a:rPr lang="en-US" sz="1800" b="1" dirty="0">
                <a:solidFill>
                  <a:schemeClr val="accent1"/>
                </a:solidFill>
              </a:rPr>
              <a:t>23</a:t>
            </a:r>
            <a:endParaRPr lang="en-US" sz="1800" dirty="0"/>
          </a:p>
        </p:txBody>
      </p:sp>
      <p:sp>
        <p:nvSpPr>
          <p:cNvPr id="13" name="Text 10"/>
          <p:cNvSpPr txBox="1"/>
          <p:nvPr/>
        </p:nvSpPr>
        <p:spPr>
          <a:xfrm>
            <a:off x="7040880" y="1143000"/>
            <a:ext cx="1554480" cy="457200"/>
          </a:xfrm>
          <a:prstGeom prst="rect">
            <a:avLst/>
          </a:prstGeom>
          <a:noFill/>
          <a:ln/>
        </p:spPr>
        <p:txBody>
          <a:bodyPr wrap="square" lIns="0" tIns="0" rIns="0" bIns="0" rtlCol="0" anchor="ctr"/>
          <a:lstStyle/>
          <a:p>
            <a:pPr marL="0" indent="0">
              <a:buNone/>
            </a:pPr>
            <a:r>
              <a:rPr lang="en-US" sz="1100" dirty="0">
                <a:solidFill>
                  <a:schemeClr val="tx2"/>
                </a:solidFill>
              </a:rPr>
              <a:t>automated tests in tests.py</a:t>
            </a:r>
            <a:endParaRPr lang="en-US" sz="1100" dirty="0"/>
          </a:p>
        </p:txBody>
      </p:sp>
      <p:graphicFrame>
        <p:nvGraphicFramePr>
          <p:cNvPr id="27" name="Table 0"/>
          <p:cNvGraphicFramePr>
            <a:graphicFrameLocks noGrp="1"/>
          </p:cNvGraphicFramePr>
          <p:nvPr>
            <p:extLst>
              <p:ext uri="{D42A27DB-BD31-4B8C-83A1-F6EECF244321}">
                <p14:modId xmlns:p14="http://schemas.microsoft.com/office/powerpoint/2010/main" val="702290756"/>
              </p:ext>
            </p:extLst>
          </p:nvPr>
        </p:nvGraphicFramePr>
        <p:xfrm>
          <a:off x="457200" y="1737360"/>
          <a:ext cx="8229600" cy="3038856"/>
        </p:xfrm>
        <a:graphic>
          <a:graphicData uri="http://schemas.openxmlformats.org/drawingml/2006/table">
            <a:tbl>
              <a:tblPr/>
              <a:tblGrid>
                <a:gridCol w="2377440">
                  <a:extLst>
                    <a:ext uri="{9D8B030D-6E8A-4147-A177-3AD203B41FA5}">
                      <a16:colId xmlns:a16="http://schemas.microsoft.com/office/drawing/2014/main" val="20000"/>
                    </a:ext>
                  </a:extLst>
                </a:gridCol>
                <a:gridCol w="3200400">
                  <a:extLst>
                    <a:ext uri="{9D8B030D-6E8A-4147-A177-3AD203B41FA5}">
                      <a16:colId xmlns:a16="http://schemas.microsoft.com/office/drawing/2014/main" val="20001"/>
                    </a:ext>
                  </a:extLst>
                </a:gridCol>
                <a:gridCol w="1554480">
                  <a:extLst>
                    <a:ext uri="{9D8B030D-6E8A-4147-A177-3AD203B41FA5}">
                      <a16:colId xmlns:a16="http://schemas.microsoft.com/office/drawing/2014/main" val="20002"/>
                    </a:ext>
                  </a:extLst>
                </a:gridCol>
                <a:gridCol w="1097280">
                  <a:extLst>
                    <a:ext uri="{9D8B030D-6E8A-4147-A177-3AD203B41FA5}">
                      <a16:colId xmlns:a16="http://schemas.microsoft.com/office/drawing/2014/main" val="20003"/>
                    </a:ext>
                  </a:extLst>
                </a:gridCol>
              </a:tblGrid>
              <a:tr h="214884">
                <a:tc>
                  <a:txBody>
                    <a:bodyPr/>
                    <a:lstStyle/>
                    <a:p>
                      <a:pPr marL="0" indent="0">
                        <a:buNone/>
                      </a:pPr>
                      <a:r>
                        <a:rPr lang="en-US" sz="1100" b="1" dirty="0">
                          <a:solidFill>
                            <a:schemeClr val="bg1"/>
                          </a:solidFill>
                        </a:rPr>
                        <a:t>Test case</a:t>
                      </a:r>
                      <a:endParaRPr lang="en-US" sz="1100" dirty="0"/>
                    </a:p>
                  </a:txBody>
                  <a:tcPr marL="64008" marR="64008" marT="36576" marB="36576" anchor="ctr">
                    <a:lnL w="6350" cap="flat" cmpd="sng" algn="ctr">
                      <a:solidFill>
                        <a:srgbClr val="D5DCE8"/>
                      </a:solidFill>
                      <a:prstDash val="solid"/>
                      <a:round/>
                      <a:headEnd type="none" w="med" len="med"/>
                      <a:tailEnd type="none" w="med" len="med"/>
                    </a:lnL>
                    <a:lnR w="6350" cap="flat" cmpd="sng" algn="ctr">
                      <a:solidFill>
                        <a:srgbClr val="D5DCE8"/>
                      </a:solidFill>
                      <a:prstDash val="solid"/>
                      <a:round/>
                      <a:headEnd type="none" w="med" len="med"/>
                      <a:tailEnd type="none" w="med" len="med"/>
                    </a:lnR>
                    <a:lnT w="6350" cap="flat" cmpd="sng" algn="ctr">
                      <a:solidFill>
                        <a:srgbClr val="D5DCE8"/>
                      </a:solidFill>
                      <a:prstDash val="solid"/>
                      <a:round/>
                      <a:headEnd type="none" w="med" len="med"/>
                      <a:tailEnd type="none" w="med" len="med"/>
                    </a:lnT>
                    <a:lnB w="6350" cap="flat" cmpd="sng" algn="ctr">
                      <a:solidFill>
                        <a:srgbClr val="D5DCE8"/>
                      </a:solidFill>
                      <a:prstDash val="solid"/>
                      <a:round/>
                      <a:headEnd type="none" w="med" len="med"/>
                      <a:tailEnd type="none" w="med" len="med"/>
                    </a:lnB>
                    <a:solidFill>
                      <a:schemeClr val="tx1"/>
                    </a:solidFill>
                  </a:tcPr>
                </a:tc>
                <a:tc>
                  <a:txBody>
                    <a:bodyPr/>
                    <a:lstStyle/>
                    <a:p>
                      <a:pPr marL="0" indent="0">
                        <a:buNone/>
                      </a:pPr>
                      <a:r>
                        <a:rPr lang="en-US" sz="1100" b="1" dirty="0">
                          <a:solidFill>
                            <a:schemeClr val="bg1"/>
                          </a:solidFill>
                        </a:rPr>
                        <a:t>Expected result</a:t>
                      </a:r>
                      <a:endParaRPr lang="en-US" sz="1100" dirty="0"/>
                    </a:p>
                  </a:txBody>
                  <a:tcPr marL="64008" marR="64008" marT="36576" marB="36576" anchor="ctr">
                    <a:lnL w="6350" cap="flat" cmpd="sng" algn="ctr">
                      <a:solidFill>
                        <a:srgbClr val="D5DCE8"/>
                      </a:solidFill>
                      <a:prstDash val="solid"/>
                      <a:round/>
                      <a:headEnd type="none" w="med" len="med"/>
                      <a:tailEnd type="none" w="med" len="med"/>
                    </a:lnL>
                    <a:lnR w="6350" cap="flat" cmpd="sng" algn="ctr">
                      <a:solidFill>
                        <a:srgbClr val="D5DCE8"/>
                      </a:solidFill>
                      <a:prstDash val="solid"/>
                      <a:round/>
                      <a:headEnd type="none" w="med" len="med"/>
                      <a:tailEnd type="none" w="med" len="med"/>
                    </a:lnR>
                    <a:lnT w="6350" cap="flat" cmpd="sng" algn="ctr">
                      <a:solidFill>
                        <a:srgbClr val="D5DCE8"/>
                      </a:solidFill>
                      <a:prstDash val="solid"/>
                      <a:round/>
                      <a:headEnd type="none" w="med" len="med"/>
                      <a:tailEnd type="none" w="med" len="med"/>
                    </a:lnT>
                    <a:lnB w="6350" cap="flat" cmpd="sng" algn="ctr">
                      <a:solidFill>
                        <a:srgbClr val="D5DCE8"/>
                      </a:solidFill>
                      <a:prstDash val="solid"/>
                      <a:round/>
                      <a:headEnd type="none" w="med" len="med"/>
                      <a:tailEnd type="none" w="med" len="med"/>
                    </a:lnB>
                    <a:solidFill>
                      <a:schemeClr val="tx1"/>
                    </a:solidFill>
                  </a:tcPr>
                </a:tc>
                <a:tc>
                  <a:txBody>
                    <a:bodyPr/>
                    <a:lstStyle/>
                    <a:p>
                      <a:pPr marL="0" indent="0">
                        <a:buNone/>
                      </a:pPr>
                      <a:r>
                        <a:rPr lang="en-US" sz="1100" b="1" dirty="0">
                          <a:solidFill>
                            <a:schemeClr val="bg1"/>
                          </a:solidFill>
                        </a:rPr>
                        <a:t>Actual result</a:t>
                      </a:r>
                      <a:endParaRPr lang="en-US" sz="1100" dirty="0"/>
                    </a:p>
                  </a:txBody>
                  <a:tcPr marL="64008" marR="64008" marT="36576" marB="36576" anchor="ctr">
                    <a:lnL w="6350" cap="flat" cmpd="sng" algn="ctr">
                      <a:solidFill>
                        <a:srgbClr val="D5DCE8"/>
                      </a:solidFill>
                      <a:prstDash val="solid"/>
                      <a:round/>
                      <a:headEnd type="none" w="med" len="med"/>
                      <a:tailEnd type="none" w="med" len="med"/>
                    </a:lnL>
                    <a:lnR w="6350" cap="flat" cmpd="sng" algn="ctr">
                      <a:solidFill>
                        <a:srgbClr val="D5DCE8"/>
                      </a:solidFill>
                      <a:prstDash val="solid"/>
                      <a:round/>
                      <a:headEnd type="none" w="med" len="med"/>
                      <a:tailEnd type="none" w="med" len="med"/>
                    </a:lnR>
                    <a:lnT w="6350" cap="flat" cmpd="sng" algn="ctr">
                      <a:solidFill>
                        <a:srgbClr val="D5DCE8"/>
                      </a:solidFill>
                      <a:prstDash val="solid"/>
                      <a:round/>
                      <a:headEnd type="none" w="med" len="med"/>
                      <a:tailEnd type="none" w="med" len="med"/>
                    </a:lnT>
                    <a:lnB w="6350" cap="flat" cmpd="sng" algn="ctr">
                      <a:solidFill>
                        <a:srgbClr val="D5DCE8"/>
                      </a:solidFill>
                      <a:prstDash val="solid"/>
                      <a:round/>
                      <a:headEnd type="none" w="med" len="med"/>
                      <a:tailEnd type="none" w="med" len="med"/>
                    </a:lnB>
                    <a:solidFill>
                      <a:schemeClr val="tx1"/>
                    </a:solidFill>
                  </a:tcPr>
                </a:tc>
                <a:tc>
                  <a:txBody>
                    <a:bodyPr/>
                    <a:lstStyle/>
                    <a:p>
                      <a:pPr marL="0" indent="0" algn="ctr">
                        <a:buNone/>
                      </a:pPr>
                      <a:r>
                        <a:rPr lang="en-US" sz="1100" b="1" dirty="0">
                          <a:solidFill>
                            <a:schemeClr val="bg1"/>
                          </a:solidFill>
                        </a:rPr>
                        <a:t>Status</a:t>
                      </a:r>
                      <a:endParaRPr lang="en-US" sz="1100" dirty="0"/>
                    </a:p>
                  </a:txBody>
                  <a:tcPr marL="64008" marR="64008" marT="36576" marB="36576" anchor="ctr">
                    <a:lnL w="6350" cap="flat" cmpd="sng" algn="ctr">
                      <a:solidFill>
                        <a:srgbClr val="D5DCE8"/>
                      </a:solidFill>
                      <a:prstDash val="solid"/>
                      <a:round/>
                      <a:headEnd type="none" w="med" len="med"/>
                      <a:tailEnd type="none" w="med" len="med"/>
                    </a:lnL>
                    <a:lnR w="6350" cap="flat" cmpd="sng" algn="ctr">
                      <a:solidFill>
                        <a:srgbClr val="D5DCE8"/>
                      </a:solidFill>
                      <a:prstDash val="solid"/>
                      <a:round/>
                      <a:headEnd type="none" w="med" len="med"/>
                      <a:tailEnd type="none" w="med" len="med"/>
                    </a:lnR>
                    <a:lnT w="6350" cap="flat" cmpd="sng" algn="ctr">
                      <a:solidFill>
                        <a:srgbClr val="D5DCE8"/>
                      </a:solidFill>
                      <a:prstDash val="solid"/>
                      <a:round/>
                      <a:headEnd type="none" w="med" len="med"/>
                      <a:tailEnd type="none" w="med" len="med"/>
                    </a:lnT>
                    <a:lnB w="6350" cap="flat" cmpd="sng" algn="ctr">
                      <a:solidFill>
                        <a:srgbClr val="D5DCE8"/>
                      </a:solidFill>
                      <a:prstDash val="solid"/>
                      <a:round/>
                      <a:headEnd type="none" w="med" len="med"/>
                      <a:tailEnd type="none" w="med" len="med"/>
                    </a:lnB>
                    <a:solidFill>
                      <a:schemeClr val="tx1"/>
                    </a:solidFill>
                  </a:tcPr>
                </a:tc>
                <a:extLst>
                  <a:ext uri="{0D108BD9-81ED-4DB2-BD59-A6C34878D82A}">
                    <a16:rowId xmlns:a16="http://schemas.microsoft.com/office/drawing/2014/main" val="10000"/>
                  </a:ext>
                </a:extLst>
              </a:tr>
              <a:tr h="214884">
                <a:tc>
                  <a:txBody>
                    <a:bodyPr/>
                    <a:lstStyle/>
                    <a:p>
                      <a:pPr marL="0" indent="0">
                        <a:buNone/>
                      </a:pPr>
                      <a:r>
                        <a:rPr lang="en-US" sz="1050" dirty="0">
                          <a:solidFill>
                            <a:schemeClr val="tx1"/>
                          </a:solidFill>
                        </a:rPr>
                        <a:t>Valid login (UAT02)</a:t>
                      </a:r>
                      <a:endParaRPr lang="en-US" sz="1050" dirty="0"/>
                    </a:p>
                  </a:txBody>
                  <a:tcPr marL="64008" marR="64008" marT="36576" marB="36576" anchor="ctr">
                    <a:lnL w="6350" cap="flat" cmpd="sng" algn="ctr">
                      <a:solidFill>
                        <a:srgbClr val="D5DCE8"/>
                      </a:solidFill>
                      <a:prstDash val="solid"/>
                      <a:round/>
                      <a:headEnd type="none" w="med" len="med"/>
                      <a:tailEnd type="none" w="med" len="med"/>
                    </a:lnL>
                    <a:lnR w="6350" cap="flat" cmpd="sng" algn="ctr">
                      <a:solidFill>
                        <a:srgbClr val="D5DCE8"/>
                      </a:solidFill>
                      <a:prstDash val="solid"/>
                      <a:round/>
                      <a:headEnd type="none" w="med" len="med"/>
                      <a:tailEnd type="none" w="med" len="med"/>
                    </a:lnR>
                    <a:lnT w="6350" cap="flat" cmpd="sng" algn="ctr">
                      <a:solidFill>
                        <a:srgbClr val="D5DCE8"/>
                      </a:solidFill>
                      <a:prstDash val="solid"/>
                      <a:round/>
                      <a:headEnd type="none" w="med" len="med"/>
                      <a:tailEnd type="none" w="med" len="med"/>
                    </a:lnT>
                    <a:lnB w="6350" cap="flat" cmpd="sng" algn="ctr">
                      <a:solidFill>
                        <a:srgbClr val="D5DCE8"/>
                      </a:solidFill>
                      <a:prstDash val="solid"/>
                      <a:round/>
                      <a:headEnd type="none" w="med" len="med"/>
                      <a:tailEnd type="none" w="med" len="med"/>
                    </a:lnB>
                  </a:tcPr>
                </a:tc>
                <a:tc>
                  <a:txBody>
                    <a:bodyPr/>
                    <a:lstStyle/>
                    <a:p>
                      <a:pPr marL="0" indent="0">
                        <a:buNone/>
                      </a:pPr>
                      <a:r>
                        <a:rPr lang="en-US" sz="1050" dirty="0">
                          <a:solidFill>
                            <a:schemeClr val="tx1"/>
                          </a:solidFill>
                        </a:rPr>
                        <a:t>Session created; dashboard shown</a:t>
                      </a:r>
                      <a:endParaRPr lang="en-US" sz="1050" dirty="0"/>
                    </a:p>
                  </a:txBody>
                  <a:tcPr marL="64008" marR="64008" marT="36576" marB="36576" anchor="ctr">
                    <a:lnL w="6350" cap="flat" cmpd="sng" algn="ctr">
                      <a:solidFill>
                        <a:srgbClr val="D5DCE8"/>
                      </a:solidFill>
                      <a:prstDash val="solid"/>
                      <a:round/>
                      <a:headEnd type="none" w="med" len="med"/>
                      <a:tailEnd type="none" w="med" len="med"/>
                    </a:lnL>
                    <a:lnR w="6350" cap="flat" cmpd="sng" algn="ctr">
                      <a:solidFill>
                        <a:srgbClr val="D5DCE8"/>
                      </a:solidFill>
                      <a:prstDash val="solid"/>
                      <a:round/>
                      <a:headEnd type="none" w="med" len="med"/>
                      <a:tailEnd type="none" w="med" len="med"/>
                    </a:lnR>
                    <a:lnT w="6350" cap="flat" cmpd="sng" algn="ctr">
                      <a:solidFill>
                        <a:srgbClr val="D5DCE8"/>
                      </a:solidFill>
                      <a:prstDash val="solid"/>
                      <a:round/>
                      <a:headEnd type="none" w="med" len="med"/>
                      <a:tailEnd type="none" w="med" len="med"/>
                    </a:lnT>
                    <a:lnB w="6350" cap="flat" cmpd="sng" algn="ctr">
                      <a:solidFill>
                        <a:srgbClr val="D5DCE8"/>
                      </a:solidFill>
                      <a:prstDash val="solid"/>
                      <a:round/>
                      <a:headEnd type="none" w="med" len="med"/>
                      <a:tailEnd type="none" w="med" len="med"/>
                    </a:lnB>
                  </a:tcPr>
                </a:tc>
                <a:tc>
                  <a:txBody>
                    <a:bodyPr/>
                    <a:lstStyle/>
                    <a:p>
                      <a:pPr marL="0" indent="0">
                        <a:buNone/>
                      </a:pPr>
                      <a:r>
                        <a:rPr lang="en-US" sz="1050" dirty="0">
                          <a:solidFill>
                            <a:schemeClr val="tx1"/>
                          </a:solidFill>
                        </a:rPr>
                        <a:t>Executed</a:t>
                      </a:r>
                      <a:endParaRPr lang="en-US" sz="1050" dirty="0"/>
                    </a:p>
                  </a:txBody>
                  <a:tcPr marL="64008" marR="64008" marT="36576" marB="36576" anchor="ctr">
                    <a:lnL w="6350" cap="flat" cmpd="sng" algn="ctr">
                      <a:solidFill>
                        <a:srgbClr val="D5DCE8"/>
                      </a:solidFill>
                      <a:prstDash val="solid"/>
                      <a:round/>
                      <a:headEnd type="none" w="med" len="med"/>
                      <a:tailEnd type="none" w="med" len="med"/>
                    </a:lnL>
                    <a:lnR w="6350" cap="flat" cmpd="sng" algn="ctr">
                      <a:solidFill>
                        <a:srgbClr val="D5DCE8"/>
                      </a:solidFill>
                      <a:prstDash val="solid"/>
                      <a:round/>
                      <a:headEnd type="none" w="med" len="med"/>
                      <a:tailEnd type="none" w="med" len="med"/>
                    </a:lnR>
                    <a:lnT w="6350" cap="flat" cmpd="sng" algn="ctr">
                      <a:solidFill>
                        <a:srgbClr val="D5DCE8"/>
                      </a:solidFill>
                      <a:prstDash val="solid"/>
                      <a:round/>
                      <a:headEnd type="none" w="med" len="med"/>
                      <a:tailEnd type="none" w="med" len="med"/>
                    </a:lnT>
                    <a:lnB w="6350" cap="flat" cmpd="sng" algn="ctr">
                      <a:solidFill>
                        <a:srgbClr val="D5DCE8"/>
                      </a:solidFill>
                      <a:prstDash val="solid"/>
                      <a:round/>
                      <a:headEnd type="none" w="med" len="med"/>
                      <a:tailEnd type="none" w="med" len="med"/>
                    </a:lnB>
                  </a:tcPr>
                </a:tc>
                <a:tc>
                  <a:txBody>
                    <a:bodyPr/>
                    <a:lstStyle/>
                    <a:p>
                      <a:pPr marL="0" indent="0" algn="ctr">
                        <a:buNone/>
                      </a:pPr>
                      <a:r>
                        <a:rPr lang="en-US" sz="1050" b="1" dirty="0">
                          <a:solidFill>
                            <a:schemeClr val="accent5"/>
                          </a:solidFill>
                        </a:rPr>
                        <a:t>Pass</a:t>
                      </a:r>
                      <a:endParaRPr lang="en-US" sz="1050" dirty="0"/>
                    </a:p>
                  </a:txBody>
                  <a:tcPr marL="64008" marR="64008" marT="36576" marB="36576" anchor="ctr">
                    <a:lnL w="6350" cap="flat" cmpd="sng" algn="ctr">
                      <a:solidFill>
                        <a:srgbClr val="D5DCE8"/>
                      </a:solidFill>
                      <a:prstDash val="solid"/>
                      <a:round/>
                      <a:headEnd type="none" w="med" len="med"/>
                      <a:tailEnd type="none" w="med" len="med"/>
                    </a:lnL>
                    <a:lnR w="6350" cap="flat" cmpd="sng" algn="ctr">
                      <a:solidFill>
                        <a:srgbClr val="D5DCE8"/>
                      </a:solidFill>
                      <a:prstDash val="solid"/>
                      <a:round/>
                      <a:headEnd type="none" w="med" len="med"/>
                      <a:tailEnd type="none" w="med" len="med"/>
                    </a:lnR>
                    <a:lnT w="6350" cap="flat" cmpd="sng" algn="ctr">
                      <a:solidFill>
                        <a:srgbClr val="D5DCE8"/>
                      </a:solidFill>
                      <a:prstDash val="solid"/>
                      <a:round/>
                      <a:headEnd type="none" w="med" len="med"/>
                      <a:tailEnd type="none" w="med" len="med"/>
                    </a:lnT>
                    <a:lnB w="6350" cap="flat" cmpd="sng" algn="ctr">
                      <a:solidFill>
                        <a:srgbClr val="D5DCE8"/>
                      </a:solidFill>
                      <a:prstDash val="solid"/>
                      <a:round/>
                      <a:headEnd type="none" w="med" len="med"/>
                      <a:tailEnd type="none" w="med" len="med"/>
                    </a:lnB>
                  </a:tcPr>
                </a:tc>
                <a:extLst>
                  <a:ext uri="{0D108BD9-81ED-4DB2-BD59-A6C34878D82A}">
                    <a16:rowId xmlns:a16="http://schemas.microsoft.com/office/drawing/2014/main" val="10001"/>
                  </a:ext>
                </a:extLst>
              </a:tr>
              <a:tr h="214884">
                <a:tc>
                  <a:txBody>
                    <a:bodyPr/>
                    <a:lstStyle/>
                    <a:p>
                      <a:pPr marL="0" indent="0">
                        <a:buNone/>
                      </a:pPr>
                      <a:r>
                        <a:rPr lang="en-US" sz="1050" dirty="0">
                          <a:solidFill>
                            <a:schemeClr val="tx1"/>
                          </a:solidFill>
                        </a:rPr>
                        <a:t>Invalid login (UAT03)</a:t>
                      </a:r>
                      <a:endParaRPr lang="en-US" sz="1050" dirty="0"/>
                    </a:p>
                  </a:txBody>
                  <a:tcPr marL="64008" marR="64008" marT="36576" marB="36576" anchor="ctr">
                    <a:lnL w="6350" cap="flat" cmpd="sng" algn="ctr">
                      <a:solidFill>
                        <a:srgbClr val="D5DCE8"/>
                      </a:solidFill>
                      <a:prstDash val="solid"/>
                      <a:round/>
                      <a:headEnd type="none" w="med" len="med"/>
                      <a:tailEnd type="none" w="med" len="med"/>
                    </a:lnL>
                    <a:lnR w="6350" cap="flat" cmpd="sng" algn="ctr">
                      <a:solidFill>
                        <a:srgbClr val="D5DCE8"/>
                      </a:solidFill>
                      <a:prstDash val="solid"/>
                      <a:round/>
                      <a:headEnd type="none" w="med" len="med"/>
                      <a:tailEnd type="none" w="med" len="med"/>
                    </a:lnR>
                    <a:lnT w="6350" cap="flat" cmpd="sng" algn="ctr">
                      <a:solidFill>
                        <a:srgbClr val="D5DCE8"/>
                      </a:solidFill>
                      <a:prstDash val="solid"/>
                      <a:round/>
                      <a:headEnd type="none" w="med" len="med"/>
                      <a:tailEnd type="none" w="med" len="med"/>
                    </a:lnT>
                    <a:lnB w="6350" cap="flat" cmpd="sng" algn="ctr">
                      <a:solidFill>
                        <a:srgbClr val="D5DCE8"/>
                      </a:solidFill>
                      <a:prstDash val="solid"/>
                      <a:round/>
                      <a:headEnd type="none" w="med" len="med"/>
                      <a:tailEnd type="none" w="med" len="med"/>
                    </a:lnB>
                  </a:tcPr>
                </a:tc>
                <a:tc>
                  <a:txBody>
                    <a:bodyPr/>
                    <a:lstStyle/>
                    <a:p>
                      <a:pPr marL="0" indent="0">
                        <a:buNone/>
                      </a:pPr>
                      <a:r>
                        <a:rPr lang="en-US" sz="1050" dirty="0">
                          <a:solidFill>
                            <a:schemeClr val="tx1"/>
                          </a:solidFill>
                        </a:rPr>
                        <a:t>Error message; no session</a:t>
                      </a:r>
                      <a:endParaRPr lang="en-US" sz="1050" dirty="0"/>
                    </a:p>
                  </a:txBody>
                  <a:tcPr marL="64008" marR="64008" marT="36576" marB="36576" anchor="ctr">
                    <a:lnL w="6350" cap="flat" cmpd="sng" algn="ctr">
                      <a:solidFill>
                        <a:srgbClr val="D5DCE8"/>
                      </a:solidFill>
                      <a:prstDash val="solid"/>
                      <a:round/>
                      <a:headEnd type="none" w="med" len="med"/>
                      <a:tailEnd type="none" w="med" len="med"/>
                    </a:lnL>
                    <a:lnR w="6350" cap="flat" cmpd="sng" algn="ctr">
                      <a:solidFill>
                        <a:srgbClr val="D5DCE8"/>
                      </a:solidFill>
                      <a:prstDash val="solid"/>
                      <a:round/>
                      <a:headEnd type="none" w="med" len="med"/>
                      <a:tailEnd type="none" w="med" len="med"/>
                    </a:lnR>
                    <a:lnT w="6350" cap="flat" cmpd="sng" algn="ctr">
                      <a:solidFill>
                        <a:srgbClr val="D5DCE8"/>
                      </a:solidFill>
                      <a:prstDash val="solid"/>
                      <a:round/>
                      <a:headEnd type="none" w="med" len="med"/>
                      <a:tailEnd type="none" w="med" len="med"/>
                    </a:lnT>
                    <a:lnB w="6350" cap="flat" cmpd="sng" algn="ctr">
                      <a:solidFill>
                        <a:srgbClr val="D5DCE8"/>
                      </a:solidFill>
                      <a:prstDash val="solid"/>
                      <a:round/>
                      <a:headEnd type="none" w="med" len="med"/>
                      <a:tailEnd type="none" w="med" len="med"/>
                    </a:lnB>
                  </a:tcPr>
                </a:tc>
                <a:tc>
                  <a:txBody>
                    <a:bodyPr/>
                    <a:lstStyle/>
                    <a:p>
                      <a:pPr marL="0" indent="0">
                        <a:buNone/>
                      </a:pPr>
                      <a:r>
                        <a:rPr lang="en-US" sz="1050" dirty="0">
                          <a:solidFill>
                            <a:schemeClr val="tx1"/>
                          </a:solidFill>
                        </a:rPr>
                        <a:t>Executed</a:t>
                      </a:r>
                      <a:endParaRPr lang="en-US" sz="1050" dirty="0"/>
                    </a:p>
                  </a:txBody>
                  <a:tcPr marL="64008" marR="64008" marT="36576" marB="36576" anchor="ctr">
                    <a:lnL w="6350" cap="flat" cmpd="sng" algn="ctr">
                      <a:solidFill>
                        <a:srgbClr val="D5DCE8"/>
                      </a:solidFill>
                      <a:prstDash val="solid"/>
                      <a:round/>
                      <a:headEnd type="none" w="med" len="med"/>
                      <a:tailEnd type="none" w="med" len="med"/>
                    </a:lnL>
                    <a:lnR w="6350" cap="flat" cmpd="sng" algn="ctr">
                      <a:solidFill>
                        <a:srgbClr val="D5DCE8"/>
                      </a:solidFill>
                      <a:prstDash val="solid"/>
                      <a:round/>
                      <a:headEnd type="none" w="med" len="med"/>
                      <a:tailEnd type="none" w="med" len="med"/>
                    </a:lnR>
                    <a:lnT w="6350" cap="flat" cmpd="sng" algn="ctr">
                      <a:solidFill>
                        <a:srgbClr val="D5DCE8"/>
                      </a:solidFill>
                      <a:prstDash val="solid"/>
                      <a:round/>
                      <a:headEnd type="none" w="med" len="med"/>
                      <a:tailEnd type="none" w="med" len="med"/>
                    </a:lnT>
                    <a:lnB w="6350" cap="flat" cmpd="sng" algn="ctr">
                      <a:solidFill>
                        <a:srgbClr val="D5DCE8"/>
                      </a:solidFill>
                      <a:prstDash val="solid"/>
                      <a:round/>
                      <a:headEnd type="none" w="med" len="med"/>
                      <a:tailEnd type="none" w="med" len="med"/>
                    </a:lnB>
                  </a:tcPr>
                </a:tc>
                <a:tc>
                  <a:txBody>
                    <a:bodyPr/>
                    <a:lstStyle/>
                    <a:p>
                      <a:pPr marL="0" indent="0" algn="ctr">
                        <a:buNone/>
                      </a:pPr>
                      <a:r>
                        <a:rPr lang="en-US" sz="1050" b="1" dirty="0">
                          <a:solidFill>
                            <a:schemeClr val="accent5"/>
                          </a:solidFill>
                        </a:rPr>
                        <a:t>Pass</a:t>
                      </a:r>
                      <a:endParaRPr lang="en-US" sz="1050" dirty="0"/>
                    </a:p>
                  </a:txBody>
                  <a:tcPr marL="64008" marR="64008" marT="36576" marB="36576" anchor="ctr">
                    <a:lnL w="6350" cap="flat" cmpd="sng" algn="ctr">
                      <a:solidFill>
                        <a:srgbClr val="D5DCE8"/>
                      </a:solidFill>
                      <a:prstDash val="solid"/>
                      <a:round/>
                      <a:headEnd type="none" w="med" len="med"/>
                      <a:tailEnd type="none" w="med" len="med"/>
                    </a:lnL>
                    <a:lnR w="6350" cap="flat" cmpd="sng" algn="ctr">
                      <a:solidFill>
                        <a:srgbClr val="D5DCE8"/>
                      </a:solidFill>
                      <a:prstDash val="solid"/>
                      <a:round/>
                      <a:headEnd type="none" w="med" len="med"/>
                      <a:tailEnd type="none" w="med" len="med"/>
                    </a:lnR>
                    <a:lnT w="6350" cap="flat" cmpd="sng" algn="ctr">
                      <a:solidFill>
                        <a:srgbClr val="D5DCE8"/>
                      </a:solidFill>
                      <a:prstDash val="solid"/>
                      <a:round/>
                      <a:headEnd type="none" w="med" len="med"/>
                      <a:tailEnd type="none" w="med" len="med"/>
                    </a:lnT>
                    <a:lnB w="6350" cap="flat" cmpd="sng" algn="ctr">
                      <a:solidFill>
                        <a:srgbClr val="D5DCE8"/>
                      </a:solidFill>
                      <a:prstDash val="solid"/>
                      <a:round/>
                      <a:headEnd type="none" w="med" len="med"/>
                      <a:tailEnd type="none" w="med" len="med"/>
                    </a:lnB>
                  </a:tcPr>
                </a:tc>
                <a:extLst>
                  <a:ext uri="{0D108BD9-81ED-4DB2-BD59-A6C34878D82A}">
                    <a16:rowId xmlns:a16="http://schemas.microsoft.com/office/drawing/2014/main" val="10002"/>
                  </a:ext>
                </a:extLst>
              </a:tr>
              <a:tr h="214884">
                <a:tc>
                  <a:txBody>
                    <a:bodyPr/>
                    <a:lstStyle/>
                    <a:p>
                      <a:pPr marL="0" indent="0">
                        <a:buNone/>
                      </a:pPr>
                      <a:r>
                        <a:rPr lang="en-US" sz="1050" dirty="0">
                          <a:solidFill>
                            <a:schemeClr val="tx1"/>
                          </a:solidFill>
                        </a:rPr>
                        <a:t>Create ride (UAT05)</a:t>
                      </a:r>
                      <a:endParaRPr lang="en-US" sz="1050" dirty="0"/>
                    </a:p>
                  </a:txBody>
                  <a:tcPr marL="64008" marR="64008" marT="36576" marB="36576" anchor="ctr">
                    <a:lnL w="6350" cap="flat" cmpd="sng" algn="ctr">
                      <a:solidFill>
                        <a:srgbClr val="D5DCE8"/>
                      </a:solidFill>
                      <a:prstDash val="solid"/>
                      <a:round/>
                      <a:headEnd type="none" w="med" len="med"/>
                      <a:tailEnd type="none" w="med" len="med"/>
                    </a:lnL>
                    <a:lnR w="6350" cap="flat" cmpd="sng" algn="ctr">
                      <a:solidFill>
                        <a:srgbClr val="D5DCE8"/>
                      </a:solidFill>
                      <a:prstDash val="solid"/>
                      <a:round/>
                      <a:headEnd type="none" w="med" len="med"/>
                      <a:tailEnd type="none" w="med" len="med"/>
                    </a:lnR>
                    <a:lnT w="6350" cap="flat" cmpd="sng" algn="ctr">
                      <a:solidFill>
                        <a:srgbClr val="D5DCE8"/>
                      </a:solidFill>
                      <a:prstDash val="solid"/>
                      <a:round/>
                      <a:headEnd type="none" w="med" len="med"/>
                      <a:tailEnd type="none" w="med" len="med"/>
                    </a:lnT>
                    <a:lnB w="6350" cap="flat" cmpd="sng" algn="ctr">
                      <a:solidFill>
                        <a:srgbClr val="D5DCE8"/>
                      </a:solidFill>
                      <a:prstDash val="solid"/>
                      <a:round/>
                      <a:headEnd type="none" w="med" len="med"/>
                      <a:tailEnd type="none" w="med" len="med"/>
                    </a:lnB>
                  </a:tcPr>
                </a:tc>
                <a:tc>
                  <a:txBody>
                    <a:bodyPr/>
                    <a:lstStyle/>
                    <a:p>
                      <a:pPr marL="0" indent="0">
                        <a:buNone/>
                      </a:pPr>
                      <a:r>
                        <a:rPr lang="en-US" sz="1050" dirty="0">
                          <a:solidFill>
                            <a:schemeClr val="tx1"/>
                          </a:solidFill>
                        </a:rPr>
                        <a:t>Group created; creator is leader</a:t>
                      </a:r>
                      <a:endParaRPr lang="en-US" sz="1050" dirty="0"/>
                    </a:p>
                  </a:txBody>
                  <a:tcPr marL="64008" marR="64008" marT="36576" marB="36576" anchor="ctr">
                    <a:lnL w="6350" cap="flat" cmpd="sng" algn="ctr">
                      <a:solidFill>
                        <a:srgbClr val="D5DCE8"/>
                      </a:solidFill>
                      <a:prstDash val="solid"/>
                      <a:round/>
                      <a:headEnd type="none" w="med" len="med"/>
                      <a:tailEnd type="none" w="med" len="med"/>
                    </a:lnL>
                    <a:lnR w="6350" cap="flat" cmpd="sng" algn="ctr">
                      <a:solidFill>
                        <a:srgbClr val="D5DCE8"/>
                      </a:solidFill>
                      <a:prstDash val="solid"/>
                      <a:round/>
                      <a:headEnd type="none" w="med" len="med"/>
                      <a:tailEnd type="none" w="med" len="med"/>
                    </a:lnR>
                    <a:lnT w="6350" cap="flat" cmpd="sng" algn="ctr">
                      <a:solidFill>
                        <a:srgbClr val="D5DCE8"/>
                      </a:solidFill>
                      <a:prstDash val="solid"/>
                      <a:round/>
                      <a:headEnd type="none" w="med" len="med"/>
                      <a:tailEnd type="none" w="med" len="med"/>
                    </a:lnT>
                    <a:lnB w="6350" cap="flat" cmpd="sng" algn="ctr">
                      <a:solidFill>
                        <a:srgbClr val="D5DCE8"/>
                      </a:solidFill>
                      <a:prstDash val="solid"/>
                      <a:round/>
                      <a:headEnd type="none" w="med" len="med"/>
                      <a:tailEnd type="none" w="med" len="med"/>
                    </a:lnB>
                  </a:tcPr>
                </a:tc>
                <a:tc>
                  <a:txBody>
                    <a:bodyPr/>
                    <a:lstStyle/>
                    <a:p>
                      <a:pPr marL="0" indent="0">
                        <a:buNone/>
                      </a:pPr>
                      <a:r>
                        <a:rPr lang="en-US" sz="1050" dirty="0">
                          <a:solidFill>
                            <a:schemeClr val="tx1"/>
                          </a:solidFill>
                        </a:rPr>
                        <a:t>Executed</a:t>
                      </a:r>
                      <a:endParaRPr lang="en-US" sz="1050" dirty="0"/>
                    </a:p>
                  </a:txBody>
                  <a:tcPr marL="64008" marR="64008" marT="36576" marB="36576" anchor="ctr">
                    <a:lnL w="6350" cap="flat" cmpd="sng" algn="ctr">
                      <a:solidFill>
                        <a:srgbClr val="D5DCE8"/>
                      </a:solidFill>
                      <a:prstDash val="solid"/>
                      <a:round/>
                      <a:headEnd type="none" w="med" len="med"/>
                      <a:tailEnd type="none" w="med" len="med"/>
                    </a:lnL>
                    <a:lnR w="6350" cap="flat" cmpd="sng" algn="ctr">
                      <a:solidFill>
                        <a:srgbClr val="D5DCE8"/>
                      </a:solidFill>
                      <a:prstDash val="solid"/>
                      <a:round/>
                      <a:headEnd type="none" w="med" len="med"/>
                      <a:tailEnd type="none" w="med" len="med"/>
                    </a:lnR>
                    <a:lnT w="6350" cap="flat" cmpd="sng" algn="ctr">
                      <a:solidFill>
                        <a:srgbClr val="D5DCE8"/>
                      </a:solidFill>
                      <a:prstDash val="solid"/>
                      <a:round/>
                      <a:headEnd type="none" w="med" len="med"/>
                      <a:tailEnd type="none" w="med" len="med"/>
                    </a:lnT>
                    <a:lnB w="6350" cap="flat" cmpd="sng" algn="ctr">
                      <a:solidFill>
                        <a:srgbClr val="D5DCE8"/>
                      </a:solidFill>
                      <a:prstDash val="solid"/>
                      <a:round/>
                      <a:headEnd type="none" w="med" len="med"/>
                      <a:tailEnd type="none" w="med" len="med"/>
                    </a:lnB>
                  </a:tcPr>
                </a:tc>
                <a:tc>
                  <a:txBody>
                    <a:bodyPr/>
                    <a:lstStyle/>
                    <a:p>
                      <a:pPr marL="0" indent="0" algn="ctr">
                        <a:buNone/>
                      </a:pPr>
                      <a:r>
                        <a:rPr lang="en-US" sz="1050" b="1" dirty="0">
                          <a:solidFill>
                            <a:schemeClr val="accent5"/>
                          </a:solidFill>
                        </a:rPr>
                        <a:t>Pass</a:t>
                      </a:r>
                      <a:endParaRPr lang="en-US" sz="1050" dirty="0"/>
                    </a:p>
                  </a:txBody>
                  <a:tcPr marL="64008" marR="64008" marT="36576" marB="36576" anchor="ctr">
                    <a:lnL w="6350" cap="flat" cmpd="sng" algn="ctr">
                      <a:solidFill>
                        <a:srgbClr val="D5DCE8"/>
                      </a:solidFill>
                      <a:prstDash val="solid"/>
                      <a:round/>
                      <a:headEnd type="none" w="med" len="med"/>
                      <a:tailEnd type="none" w="med" len="med"/>
                    </a:lnL>
                    <a:lnR w="6350" cap="flat" cmpd="sng" algn="ctr">
                      <a:solidFill>
                        <a:srgbClr val="D5DCE8"/>
                      </a:solidFill>
                      <a:prstDash val="solid"/>
                      <a:round/>
                      <a:headEnd type="none" w="med" len="med"/>
                      <a:tailEnd type="none" w="med" len="med"/>
                    </a:lnR>
                    <a:lnT w="6350" cap="flat" cmpd="sng" algn="ctr">
                      <a:solidFill>
                        <a:srgbClr val="D5DCE8"/>
                      </a:solidFill>
                      <a:prstDash val="solid"/>
                      <a:round/>
                      <a:headEnd type="none" w="med" len="med"/>
                      <a:tailEnd type="none" w="med" len="med"/>
                    </a:lnT>
                    <a:lnB w="6350" cap="flat" cmpd="sng" algn="ctr">
                      <a:solidFill>
                        <a:srgbClr val="D5DCE8"/>
                      </a:solidFill>
                      <a:prstDash val="solid"/>
                      <a:round/>
                      <a:headEnd type="none" w="med" len="med"/>
                      <a:tailEnd type="none" w="med" len="med"/>
                    </a:lnB>
                  </a:tcPr>
                </a:tc>
                <a:extLst>
                  <a:ext uri="{0D108BD9-81ED-4DB2-BD59-A6C34878D82A}">
                    <a16:rowId xmlns:a16="http://schemas.microsoft.com/office/drawing/2014/main" val="10003"/>
                  </a:ext>
                </a:extLst>
              </a:tr>
              <a:tr h="214884">
                <a:tc>
                  <a:txBody>
                    <a:bodyPr/>
                    <a:lstStyle/>
                    <a:p>
                      <a:pPr marL="0" indent="0">
                        <a:buNone/>
                      </a:pPr>
                      <a:r>
                        <a:rPr lang="en-US" sz="1050" dirty="0">
                          <a:solidFill>
                            <a:schemeClr val="tx1"/>
                          </a:solidFill>
                        </a:rPr>
                        <a:t>Join ride (UAT06)</a:t>
                      </a:r>
                      <a:endParaRPr lang="en-US" sz="1050" dirty="0"/>
                    </a:p>
                  </a:txBody>
                  <a:tcPr marL="64008" marR="64008" marT="36576" marB="36576" anchor="ctr">
                    <a:lnL w="6350" cap="flat" cmpd="sng" algn="ctr">
                      <a:solidFill>
                        <a:srgbClr val="D5DCE8"/>
                      </a:solidFill>
                      <a:prstDash val="solid"/>
                      <a:round/>
                      <a:headEnd type="none" w="med" len="med"/>
                      <a:tailEnd type="none" w="med" len="med"/>
                    </a:lnL>
                    <a:lnR w="6350" cap="flat" cmpd="sng" algn="ctr">
                      <a:solidFill>
                        <a:srgbClr val="D5DCE8"/>
                      </a:solidFill>
                      <a:prstDash val="solid"/>
                      <a:round/>
                      <a:headEnd type="none" w="med" len="med"/>
                      <a:tailEnd type="none" w="med" len="med"/>
                    </a:lnR>
                    <a:lnT w="6350" cap="flat" cmpd="sng" algn="ctr">
                      <a:solidFill>
                        <a:srgbClr val="D5DCE8"/>
                      </a:solidFill>
                      <a:prstDash val="solid"/>
                      <a:round/>
                      <a:headEnd type="none" w="med" len="med"/>
                      <a:tailEnd type="none" w="med" len="med"/>
                    </a:lnT>
                    <a:lnB w="6350" cap="flat" cmpd="sng" algn="ctr">
                      <a:solidFill>
                        <a:srgbClr val="D5DCE8"/>
                      </a:solidFill>
                      <a:prstDash val="solid"/>
                      <a:round/>
                      <a:headEnd type="none" w="med" len="med"/>
                      <a:tailEnd type="none" w="med" len="med"/>
                    </a:lnB>
                  </a:tcPr>
                </a:tc>
                <a:tc>
                  <a:txBody>
                    <a:bodyPr/>
                    <a:lstStyle/>
                    <a:p>
                      <a:pPr marL="0" indent="0">
                        <a:buNone/>
                      </a:pPr>
                      <a:r>
                        <a:rPr lang="en-US" sz="1050" dirty="0">
                          <a:solidFill>
                            <a:schemeClr val="tx1"/>
                          </a:solidFill>
                        </a:rPr>
                        <a:t>Rider added to the group</a:t>
                      </a:r>
                      <a:endParaRPr lang="en-US" sz="1050" dirty="0"/>
                    </a:p>
                  </a:txBody>
                  <a:tcPr marL="64008" marR="64008" marT="36576" marB="36576" anchor="ctr">
                    <a:lnL w="6350" cap="flat" cmpd="sng" algn="ctr">
                      <a:solidFill>
                        <a:srgbClr val="D5DCE8"/>
                      </a:solidFill>
                      <a:prstDash val="solid"/>
                      <a:round/>
                      <a:headEnd type="none" w="med" len="med"/>
                      <a:tailEnd type="none" w="med" len="med"/>
                    </a:lnL>
                    <a:lnR w="6350" cap="flat" cmpd="sng" algn="ctr">
                      <a:solidFill>
                        <a:srgbClr val="D5DCE8"/>
                      </a:solidFill>
                      <a:prstDash val="solid"/>
                      <a:round/>
                      <a:headEnd type="none" w="med" len="med"/>
                      <a:tailEnd type="none" w="med" len="med"/>
                    </a:lnR>
                    <a:lnT w="6350" cap="flat" cmpd="sng" algn="ctr">
                      <a:solidFill>
                        <a:srgbClr val="D5DCE8"/>
                      </a:solidFill>
                      <a:prstDash val="solid"/>
                      <a:round/>
                      <a:headEnd type="none" w="med" len="med"/>
                      <a:tailEnd type="none" w="med" len="med"/>
                    </a:lnT>
                    <a:lnB w="6350" cap="flat" cmpd="sng" algn="ctr">
                      <a:solidFill>
                        <a:srgbClr val="D5DCE8"/>
                      </a:solidFill>
                      <a:prstDash val="solid"/>
                      <a:round/>
                      <a:headEnd type="none" w="med" len="med"/>
                      <a:tailEnd type="none" w="med" len="med"/>
                    </a:lnB>
                  </a:tcPr>
                </a:tc>
                <a:tc>
                  <a:txBody>
                    <a:bodyPr/>
                    <a:lstStyle/>
                    <a:p>
                      <a:pPr marL="0" indent="0">
                        <a:buNone/>
                      </a:pPr>
                      <a:r>
                        <a:rPr lang="en-US" sz="1050" dirty="0">
                          <a:solidFill>
                            <a:schemeClr val="tx1"/>
                          </a:solidFill>
                        </a:rPr>
                        <a:t>Executed</a:t>
                      </a:r>
                      <a:endParaRPr lang="en-US" sz="1050" dirty="0"/>
                    </a:p>
                  </a:txBody>
                  <a:tcPr marL="64008" marR="64008" marT="36576" marB="36576" anchor="ctr">
                    <a:lnL w="6350" cap="flat" cmpd="sng" algn="ctr">
                      <a:solidFill>
                        <a:srgbClr val="D5DCE8"/>
                      </a:solidFill>
                      <a:prstDash val="solid"/>
                      <a:round/>
                      <a:headEnd type="none" w="med" len="med"/>
                      <a:tailEnd type="none" w="med" len="med"/>
                    </a:lnL>
                    <a:lnR w="6350" cap="flat" cmpd="sng" algn="ctr">
                      <a:solidFill>
                        <a:srgbClr val="D5DCE8"/>
                      </a:solidFill>
                      <a:prstDash val="solid"/>
                      <a:round/>
                      <a:headEnd type="none" w="med" len="med"/>
                      <a:tailEnd type="none" w="med" len="med"/>
                    </a:lnR>
                    <a:lnT w="6350" cap="flat" cmpd="sng" algn="ctr">
                      <a:solidFill>
                        <a:srgbClr val="D5DCE8"/>
                      </a:solidFill>
                      <a:prstDash val="solid"/>
                      <a:round/>
                      <a:headEnd type="none" w="med" len="med"/>
                      <a:tailEnd type="none" w="med" len="med"/>
                    </a:lnT>
                    <a:lnB w="6350" cap="flat" cmpd="sng" algn="ctr">
                      <a:solidFill>
                        <a:srgbClr val="D5DCE8"/>
                      </a:solidFill>
                      <a:prstDash val="solid"/>
                      <a:round/>
                      <a:headEnd type="none" w="med" len="med"/>
                      <a:tailEnd type="none" w="med" len="med"/>
                    </a:lnB>
                  </a:tcPr>
                </a:tc>
                <a:tc>
                  <a:txBody>
                    <a:bodyPr/>
                    <a:lstStyle/>
                    <a:p>
                      <a:pPr marL="0" indent="0" algn="ctr">
                        <a:buNone/>
                      </a:pPr>
                      <a:r>
                        <a:rPr lang="en-US" sz="1050" b="1" dirty="0">
                          <a:solidFill>
                            <a:srgbClr val="00B050"/>
                          </a:solidFill>
                        </a:rPr>
                        <a:t>pass</a:t>
                      </a:r>
                      <a:endParaRPr lang="en-US" sz="1050" dirty="0">
                        <a:solidFill>
                          <a:srgbClr val="00B050"/>
                        </a:solidFill>
                      </a:endParaRPr>
                    </a:p>
                  </a:txBody>
                  <a:tcPr marL="64008" marR="64008" marT="36576" marB="36576" anchor="ctr">
                    <a:lnL w="6350" cap="flat" cmpd="sng" algn="ctr">
                      <a:solidFill>
                        <a:srgbClr val="D5DCE8"/>
                      </a:solidFill>
                      <a:prstDash val="solid"/>
                      <a:round/>
                      <a:headEnd type="none" w="med" len="med"/>
                      <a:tailEnd type="none" w="med" len="med"/>
                    </a:lnL>
                    <a:lnR w="6350" cap="flat" cmpd="sng" algn="ctr">
                      <a:solidFill>
                        <a:srgbClr val="D5DCE8"/>
                      </a:solidFill>
                      <a:prstDash val="solid"/>
                      <a:round/>
                      <a:headEnd type="none" w="med" len="med"/>
                      <a:tailEnd type="none" w="med" len="med"/>
                    </a:lnR>
                    <a:lnT w="6350" cap="flat" cmpd="sng" algn="ctr">
                      <a:solidFill>
                        <a:srgbClr val="D5DCE8"/>
                      </a:solidFill>
                      <a:prstDash val="solid"/>
                      <a:round/>
                      <a:headEnd type="none" w="med" len="med"/>
                      <a:tailEnd type="none" w="med" len="med"/>
                    </a:lnT>
                    <a:lnB w="6350" cap="flat" cmpd="sng" algn="ctr">
                      <a:solidFill>
                        <a:srgbClr val="D5DCE8"/>
                      </a:solidFill>
                      <a:prstDash val="solid"/>
                      <a:round/>
                      <a:headEnd type="none" w="med" len="med"/>
                      <a:tailEnd type="none" w="med" len="med"/>
                    </a:lnB>
                  </a:tcPr>
                </a:tc>
                <a:extLst>
                  <a:ext uri="{0D108BD9-81ED-4DB2-BD59-A6C34878D82A}">
                    <a16:rowId xmlns:a16="http://schemas.microsoft.com/office/drawing/2014/main" val="10004"/>
                  </a:ext>
                </a:extLst>
              </a:tr>
              <a:tr h="214884">
                <a:tc>
                  <a:txBody>
                    <a:bodyPr/>
                    <a:lstStyle/>
                    <a:p>
                      <a:pPr marL="0" indent="0">
                        <a:buNone/>
                      </a:pPr>
                      <a:r>
                        <a:rPr lang="en-US" sz="1050" dirty="0">
                          <a:solidFill>
                            <a:schemeClr val="tx1"/>
                          </a:solidFill>
                        </a:rPr>
                        <a:t>GPS permission (UAT08)</a:t>
                      </a:r>
                      <a:endParaRPr lang="en-US" sz="1050" dirty="0"/>
                    </a:p>
                  </a:txBody>
                  <a:tcPr marL="64008" marR="64008" marT="36576" marB="36576" anchor="ctr">
                    <a:lnL w="6350" cap="flat" cmpd="sng" algn="ctr">
                      <a:solidFill>
                        <a:srgbClr val="D5DCE8"/>
                      </a:solidFill>
                      <a:prstDash val="solid"/>
                      <a:round/>
                      <a:headEnd type="none" w="med" len="med"/>
                      <a:tailEnd type="none" w="med" len="med"/>
                    </a:lnL>
                    <a:lnR w="6350" cap="flat" cmpd="sng" algn="ctr">
                      <a:solidFill>
                        <a:srgbClr val="D5DCE8"/>
                      </a:solidFill>
                      <a:prstDash val="solid"/>
                      <a:round/>
                      <a:headEnd type="none" w="med" len="med"/>
                      <a:tailEnd type="none" w="med" len="med"/>
                    </a:lnR>
                    <a:lnT w="6350" cap="flat" cmpd="sng" algn="ctr">
                      <a:solidFill>
                        <a:srgbClr val="D5DCE8"/>
                      </a:solidFill>
                      <a:prstDash val="solid"/>
                      <a:round/>
                      <a:headEnd type="none" w="med" len="med"/>
                      <a:tailEnd type="none" w="med" len="med"/>
                    </a:lnT>
                    <a:lnB w="6350" cap="flat" cmpd="sng" algn="ctr">
                      <a:solidFill>
                        <a:srgbClr val="D5DCE8"/>
                      </a:solidFill>
                      <a:prstDash val="solid"/>
                      <a:round/>
                      <a:headEnd type="none" w="med" len="med"/>
                      <a:tailEnd type="none" w="med" len="med"/>
                    </a:lnB>
                  </a:tcPr>
                </a:tc>
                <a:tc>
                  <a:txBody>
                    <a:bodyPr/>
                    <a:lstStyle/>
                    <a:p>
                      <a:pPr marL="0" indent="0">
                        <a:buNone/>
                      </a:pPr>
                      <a:r>
                        <a:rPr lang="en-US" sz="1050" dirty="0">
                          <a:solidFill>
                            <a:schemeClr val="tx1"/>
                          </a:solidFill>
                        </a:rPr>
                        <a:t>Message when denied; sharing when allowed</a:t>
                      </a:r>
                      <a:endParaRPr lang="en-US" sz="1050" dirty="0"/>
                    </a:p>
                  </a:txBody>
                  <a:tcPr marL="64008" marR="64008" marT="36576" marB="36576" anchor="ctr">
                    <a:lnL w="6350" cap="flat" cmpd="sng" algn="ctr">
                      <a:solidFill>
                        <a:srgbClr val="D5DCE8"/>
                      </a:solidFill>
                      <a:prstDash val="solid"/>
                      <a:round/>
                      <a:headEnd type="none" w="med" len="med"/>
                      <a:tailEnd type="none" w="med" len="med"/>
                    </a:lnL>
                    <a:lnR w="6350" cap="flat" cmpd="sng" algn="ctr">
                      <a:solidFill>
                        <a:srgbClr val="D5DCE8"/>
                      </a:solidFill>
                      <a:prstDash val="solid"/>
                      <a:round/>
                      <a:headEnd type="none" w="med" len="med"/>
                      <a:tailEnd type="none" w="med" len="med"/>
                    </a:lnR>
                    <a:lnT w="6350" cap="flat" cmpd="sng" algn="ctr">
                      <a:solidFill>
                        <a:srgbClr val="D5DCE8"/>
                      </a:solidFill>
                      <a:prstDash val="solid"/>
                      <a:round/>
                      <a:headEnd type="none" w="med" len="med"/>
                      <a:tailEnd type="none" w="med" len="med"/>
                    </a:lnT>
                    <a:lnB w="6350" cap="flat" cmpd="sng" algn="ctr">
                      <a:solidFill>
                        <a:srgbClr val="D5DCE8"/>
                      </a:solidFill>
                      <a:prstDash val="solid"/>
                      <a:round/>
                      <a:headEnd type="none" w="med" len="med"/>
                      <a:tailEnd type="none" w="med" len="med"/>
                    </a:lnB>
                  </a:tcPr>
                </a:tc>
                <a:tc>
                  <a:txBody>
                    <a:bodyPr/>
                    <a:lstStyle/>
                    <a:p>
                      <a:pPr marL="0" indent="0">
                        <a:buNone/>
                      </a:pPr>
                      <a:r>
                        <a:rPr lang="en-US" sz="1050" dirty="0">
                          <a:solidFill>
                            <a:schemeClr val="tx1"/>
                          </a:solidFill>
                        </a:rPr>
                        <a:t>Executed</a:t>
                      </a:r>
                      <a:endParaRPr lang="en-US" sz="1050" dirty="0"/>
                    </a:p>
                  </a:txBody>
                  <a:tcPr marL="64008" marR="64008" marT="36576" marB="36576" anchor="ctr">
                    <a:lnL w="6350" cap="flat" cmpd="sng" algn="ctr">
                      <a:solidFill>
                        <a:srgbClr val="D5DCE8"/>
                      </a:solidFill>
                      <a:prstDash val="solid"/>
                      <a:round/>
                      <a:headEnd type="none" w="med" len="med"/>
                      <a:tailEnd type="none" w="med" len="med"/>
                    </a:lnL>
                    <a:lnR w="6350" cap="flat" cmpd="sng" algn="ctr">
                      <a:solidFill>
                        <a:srgbClr val="D5DCE8"/>
                      </a:solidFill>
                      <a:prstDash val="solid"/>
                      <a:round/>
                      <a:headEnd type="none" w="med" len="med"/>
                      <a:tailEnd type="none" w="med" len="med"/>
                    </a:lnR>
                    <a:lnT w="6350" cap="flat" cmpd="sng" algn="ctr">
                      <a:solidFill>
                        <a:srgbClr val="D5DCE8"/>
                      </a:solidFill>
                      <a:prstDash val="solid"/>
                      <a:round/>
                      <a:headEnd type="none" w="med" len="med"/>
                      <a:tailEnd type="none" w="med" len="med"/>
                    </a:lnT>
                    <a:lnB w="6350" cap="flat" cmpd="sng" algn="ctr">
                      <a:solidFill>
                        <a:srgbClr val="D5DCE8"/>
                      </a:solidFill>
                      <a:prstDash val="solid"/>
                      <a:round/>
                      <a:headEnd type="none" w="med" len="med"/>
                      <a:tailEnd type="none" w="med" len="med"/>
                    </a:lnB>
                  </a:tcPr>
                </a:tc>
                <a:tc>
                  <a:txBody>
                    <a:bodyPr/>
                    <a:lstStyle/>
                    <a:p>
                      <a:pPr marL="0" indent="0" algn="ctr">
                        <a:buNone/>
                      </a:pPr>
                      <a:r>
                        <a:rPr lang="en-US" sz="1050" b="1" dirty="0">
                          <a:solidFill>
                            <a:schemeClr val="accent5"/>
                          </a:solidFill>
                        </a:rPr>
                        <a:t>Pass</a:t>
                      </a:r>
                      <a:endParaRPr lang="en-US" sz="1050" dirty="0"/>
                    </a:p>
                  </a:txBody>
                  <a:tcPr marL="64008" marR="64008" marT="36576" marB="36576" anchor="ctr">
                    <a:lnL w="6350" cap="flat" cmpd="sng" algn="ctr">
                      <a:solidFill>
                        <a:srgbClr val="D5DCE8"/>
                      </a:solidFill>
                      <a:prstDash val="solid"/>
                      <a:round/>
                      <a:headEnd type="none" w="med" len="med"/>
                      <a:tailEnd type="none" w="med" len="med"/>
                    </a:lnL>
                    <a:lnR w="6350" cap="flat" cmpd="sng" algn="ctr">
                      <a:solidFill>
                        <a:srgbClr val="D5DCE8"/>
                      </a:solidFill>
                      <a:prstDash val="solid"/>
                      <a:round/>
                      <a:headEnd type="none" w="med" len="med"/>
                      <a:tailEnd type="none" w="med" len="med"/>
                    </a:lnR>
                    <a:lnT w="6350" cap="flat" cmpd="sng" algn="ctr">
                      <a:solidFill>
                        <a:srgbClr val="D5DCE8"/>
                      </a:solidFill>
                      <a:prstDash val="solid"/>
                      <a:round/>
                      <a:headEnd type="none" w="med" len="med"/>
                      <a:tailEnd type="none" w="med" len="med"/>
                    </a:lnT>
                    <a:lnB w="6350" cap="flat" cmpd="sng" algn="ctr">
                      <a:solidFill>
                        <a:srgbClr val="D5DCE8"/>
                      </a:solidFill>
                      <a:prstDash val="solid"/>
                      <a:round/>
                      <a:headEnd type="none" w="med" len="med"/>
                      <a:tailEnd type="none" w="med" len="med"/>
                    </a:lnB>
                  </a:tcPr>
                </a:tc>
                <a:extLst>
                  <a:ext uri="{0D108BD9-81ED-4DB2-BD59-A6C34878D82A}">
                    <a16:rowId xmlns:a16="http://schemas.microsoft.com/office/drawing/2014/main" val="10005"/>
                  </a:ext>
                </a:extLst>
              </a:tr>
              <a:tr h="214884">
                <a:tc>
                  <a:txBody>
                    <a:bodyPr/>
                    <a:lstStyle/>
                    <a:p>
                      <a:pPr marL="0" indent="0">
                        <a:buNone/>
                      </a:pPr>
                      <a:r>
                        <a:rPr lang="en-US" sz="1050" dirty="0">
                          <a:solidFill>
                            <a:schemeClr val="tx1"/>
                          </a:solidFill>
                        </a:rPr>
                        <a:t>Live location (UAT09)</a:t>
                      </a:r>
                      <a:endParaRPr lang="en-US" sz="1050" dirty="0"/>
                    </a:p>
                  </a:txBody>
                  <a:tcPr marL="64008" marR="64008" marT="36576" marB="36576" anchor="ctr">
                    <a:lnL w="6350" cap="flat" cmpd="sng" algn="ctr">
                      <a:solidFill>
                        <a:srgbClr val="D5DCE8"/>
                      </a:solidFill>
                      <a:prstDash val="solid"/>
                      <a:round/>
                      <a:headEnd type="none" w="med" len="med"/>
                      <a:tailEnd type="none" w="med" len="med"/>
                    </a:lnL>
                    <a:lnR w="6350" cap="flat" cmpd="sng" algn="ctr">
                      <a:solidFill>
                        <a:srgbClr val="D5DCE8"/>
                      </a:solidFill>
                      <a:prstDash val="solid"/>
                      <a:round/>
                      <a:headEnd type="none" w="med" len="med"/>
                      <a:tailEnd type="none" w="med" len="med"/>
                    </a:lnR>
                    <a:lnT w="6350" cap="flat" cmpd="sng" algn="ctr">
                      <a:solidFill>
                        <a:srgbClr val="D5DCE8"/>
                      </a:solidFill>
                      <a:prstDash val="solid"/>
                      <a:round/>
                      <a:headEnd type="none" w="med" len="med"/>
                      <a:tailEnd type="none" w="med" len="med"/>
                    </a:lnT>
                    <a:lnB w="6350" cap="flat" cmpd="sng" algn="ctr">
                      <a:solidFill>
                        <a:srgbClr val="D5DCE8"/>
                      </a:solidFill>
                      <a:prstDash val="solid"/>
                      <a:round/>
                      <a:headEnd type="none" w="med" len="med"/>
                      <a:tailEnd type="none" w="med" len="med"/>
                    </a:lnB>
                  </a:tcPr>
                </a:tc>
                <a:tc>
                  <a:txBody>
                    <a:bodyPr/>
                    <a:lstStyle/>
                    <a:p>
                      <a:pPr marL="0" indent="0">
                        <a:buNone/>
                      </a:pPr>
                      <a:r>
                        <a:rPr lang="en-US" sz="1050" dirty="0">
                          <a:solidFill>
                            <a:schemeClr val="tx1"/>
                          </a:solidFill>
                        </a:rPr>
                        <a:t>New location sent and stored</a:t>
                      </a:r>
                      <a:endParaRPr lang="en-US" sz="1050" dirty="0"/>
                    </a:p>
                  </a:txBody>
                  <a:tcPr marL="64008" marR="64008" marT="36576" marB="36576" anchor="ctr">
                    <a:lnL w="6350" cap="flat" cmpd="sng" algn="ctr">
                      <a:solidFill>
                        <a:srgbClr val="D5DCE8"/>
                      </a:solidFill>
                      <a:prstDash val="solid"/>
                      <a:round/>
                      <a:headEnd type="none" w="med" len="med"/>
                      <a:tailEnd type="none" w="med" len="med"/>
                    </a:lnL>
                    <a:lnR w="6350" cap="flat" cmpd="sng" algn="ctr">
                      <a:solidFill>
                        <a:srgbClr val="D5DCE8"/>
                      </a:solidFill>
                      <a:prstDash val="solid"/>
                      <a:round/>
                      <a:headEnd type="none" w="med" len="med"/>
                      <a:tailEnd type="none" w="med" len="med"/>
                    </a:lnR>
                    <a:lnT w="6350" cap="flat" cmpd="sng" algn="ctr">
                      <a:solidFill>
                        <a:srgbClr val="D5DCE8"/>
                      </a:solidFill>
                      <a:prstDash val="solid"/>
                      <a:round/>
                      <a:headEnd type="none" w="med" len="med"/>
                      <a:tailEnd type="none" w="med" len="med"/>
                    </a:lnT>
                    <a:lnB w="6350" cap="flat" cmpd="sng" algn="ctr">
                      <a:solidFill>
                        <a:srgbClr val="D5DCE8"/>
                      </a:solidFill>
                      <a:prstDash val="solid"/>
                      <a:round/>
                      <a:headEnd type="none" w="med" len="med"/>
                      <a:tailEnd type="none" w="med" len="med"/>
                    </a:lnB>
                  </a:tcPr>
                </a:tc>
                <a:tc>
                  <a:txBody>
                    <a:bodyPr/>
                    <a:lstStyle/>
                    <a:p>
                      <a:pPr marL="0" indent="0">
                        <a:buNone/>
                      </a:pPr>
                      <a:r>
                        <a:rPr lang="en-US" sz="1050" dirty="0">
                          <a:solidFill>
                            <a:schemeClr val="tx1"/>
                          </a:solidFill>
                        </a:rPr>
                        <a:t>Executed</a:t>
                      </a:r>
                      <a:endParaRPr lang="en-US" sz="1050" dirty="0"/>
                    </a:p>
                  </a:txBody>
                  <a:tcPr marL="64008" marR="64008" marT="36576" marB="36576" anchor="ctr">
                    <a:lnL w="6350" cap="flat" cmpd="sng" algn="ctr">
                      <a:solidFill>
                        <a:srgbClr val="D5DCE8"/>
                      </a:solidFill>
                      <a:prstDash val="solid"/>
                      <a:round/>
                      <a:headEnd type="none" w="med" len="med"/>
                      <a:tailEnd type="none" w="med" len="med"/>
                    </a:lnL>
                    <a:lnR w="6350" cap="flat" cmpd="sng" algn="ctr">
                      <a:solidFill>
                        <a:srgbClr val="D5DCE8"/>
                      </a:solidFill>
                      <a:prstDash val="solid"/>
                      <a:round/>
                      <a:headEnd type="none" w="med" len="med"/>
                      <a:tailEnd type="none" w="med" len="med"/>
                    </a:lnR>
                    <a:lnT w="6350" cap="flat" cmpd="sng" algn="ctr">
                      <a:solidFill>
                        <a:srgbClr val="D5DCE8"/>
                      </a:solidFill>
                      <a:prstDash val="solid"/>
                      <a:round/>
                      <a:headEnd type="none" w="med" len="med"/>
                      <a:tailEnd type="none" w="med" len="med"/>
                    </a:lnT>
                    <a:lnB w="6350" cap="flat" cmpd="sng" algn="ctr">
                      <a:solidFill>
                        <a:srgbClr val="D5DCE8"/>
                      </a:solidFill>
                      <a:prstDash val="solid"/>
                      <a:round/>
                      <a:headEnd type="none" w="med" len="med"/>
                      <a:tailEnd type="none" w="med" len="med"/>
                    </a:lnB>
                  </a:tcPr>
                </a:tc>
                <a:tc>
                  <a:txBody>
                    <a:bodyPr/>
                    <a:lstStyle/>
                    <a:p>
                      <a:pPr marL="0" indent="0" algn="ctr">
                        <a:buNone/>
                      </a:pPr>
                      <a:r>
                        <a:rPr lang="en-US" sz="1050" b="1" dirty="0">
                          <a:solidFill>
                            <a:schemeClr val="accent5"/>
                          </a:solidFill>
                        </a:rPr>
                        <a:t>Pass</a:t>
                      </a:r>
                      <a:endParaRPr lang="en-US" sz="1050" dirty="0"/>
                    </a:p>
                  </a:txBody>
                  <a:tcPr marL="64008" marR="64008" marT="36576" marB="36576" anchor="ctr">
                    <a:lnL w="6350" cap="flat" cmpd="sng" algn="ctr">
                      <a:solidFill>
                        <a:srgbClr val="D5DCE8"/>
                      </a:solidFill>
                      <a:prstDash val="solid"/>
                      <a:round/>
                      <a:headEnd type="none" w="med" len="med"/>
                      <a:tailEnd type="none" w="med" len="med"/>
                    </a:lnL>
                    <a:lnR w="6350" cap="flat" cmpd="sng" algn="ctr">
                      <a:solidFill>
                        <a:srgbClr val="D5DCE8"/>
                      </a:solidFill>
                      <a:prstDash val="solid"/>
                      <a:round/>
                      <a:headEnd type="none" w="med" len="med"/>
                      <a:tailEnd type="none" w="med" len="med"/>
                    </a:lnR>
                    <a:lnT w="6350" cap="flat" cmpd="sng" algn="ctr">
                      <a:solidFill>
                        <a:srgbClr val="D5DCE8"/>
                      </a:solidFill>
                      <a:prstDash val="solid"/>
                      <a:round/>
                      <a:headEnd type="none" w="med" len="med"/>
                      <a:tailEnd type="none" w="med" len="med"/>
                    </a:lnT>
                    <a:lnB w="6350" cap="flat" cmpd="sng" algn="ctr">
                      <a:solidFill>
                        <a:srgbClr val="D5DCE8"/>
                      </a:solidFill>
                      <a:prstDash val="solid"/>
                      <a:round/>
                      <a:headEnd type="none" w="med" len="med"/>
                      <a:tailEnd type="none" w="med" len="med"/>
                    </a:lnB>
                  </a:tcPr>
                </a:tc>
                <a:extLst>
                  <a:ext uri="{0D108BD9-81ED-4DB2-BD59-A6C34878D82A}">
                    <a16:rowId xmlns:a16="http://schemas.microsoft.com/office/drawing/2014/main" val="10006"/>
                  </a:ext>
                </a:extLst>
              </a:tr>
              <a:tr h="214884">
                <a:tc>
                  <a:txBody>
                    <a:bodyPr/>
                    <a:lstStyle/>
                    <a:p>
                      <a:pPr marL="0" indent="0">
                        <a:buNone/>
                      </a:pPr>
                      <a:r>
                        <a:rPr lang="en-US" sz="1050" dirty="0">
                          <a:solidFill>
                            <a:schemeClr val="tx1"/>
                          </a:solidFill>
                        </a:rPr>
                        <a:t>Multiple riders (UAT07, UAT10)</a:t>
                      </a:r>
                      <a:endParaRPr lang="en-US" sz="1050" dirty="0"/>
                    </a:p>
                  </a:txBody>
                  <a:tcPr marL="64008" marR="64008" marT="36576" marB="36576" anchor="ctr">
                    <a:lnL w="6350" cap="flat" cmpd="sng" algn="ctr">
                      <a:solidFill>
                        <a:srgbClr val="D5DCE8"/>
                      </a:solidFill>
                      <a:prstDash val="solid"/>
                      <a:round/>
                      <a:headEnd type="none" w="med" len="med"/>
                      <a:tailEnd type="none" w="med" len="med"/>
                    </a:lnL>
                    <a:lnR w="6350" cap="flat" cmpd="sng" algn="ctr">
                      <a:solidFill>
                        <a:srgbClr val="D5DCE8"/>
                      </a:solidFill>
                      <a:prstDash val="solid"/>
                      <a:round/>
                      <a:headEnd type="none" w="med" len="med"/>
                      <a:tailEnd type="none" w="med" len="med"/>
                    </a:lnR>
                    <a:lnT w="6350" cap="flat" cmpd="sng" algn="ctr">
                      <a:solidFill>
                        <a:srgbClr val="D5DCE8"/>
                      </a:solidFill>
                      <a:prstDash val="solid"/>
                      <a:round/>
                      <a:headEnd type="none" w="med" len="med"/>
                      <a:tailEnd type="none" w="med" len="med"/>
                    </a:lnT>
                    <a:lnB w="6350" cap="flat" cmpd="sng" algn="ctr">
                      <a:solidFill>
                        <a:srgbClr val="D5DCE8"/>
                      </a:solidFill>
                      <a:prstDash val="solid"/>
                      <a:round/>
                      <a:headEnd type="none" w="med" len="med"/>
                      <a:tailEnd type="none" w="med" len="med"/>
                    </a:lnB>
                  </a:tcPr>
                </a:tc>
                <a:tc>
                  <a:txBody>
                    <a:bodyPr/>
                    <a:lstStyle/>
                    <a:p>
                      <a:pPr marL="0" indent="0">
                        <a:buNone/>
                      </a:pPr>
                      <a:r>
                        <a:rPr lang="en-US" sz="1050" dirty="0">
                          <a:solidFill>
                            <a:schemeClr val="tx1"/>
                          </a:solidFill>
                        </a:rPr>
                        <a:t>All riders listed; a marker for each</a:t>
                      </a:r>
                      <a:endParaRPr lang="en-US" sz="1050" dirty="0"/>
                    </a:p>
                  </a:txBody>
                  <a:tcPr marL="64008" marR="64008" marT="36576" marB="36576" anchor="ctr">
                    <a:lnL w="6350" cap="flat" cmpd="sng" algn="ctr">
                      <a:solidFill>
                        <a:srgbClr val="D5DCE8"/>
                      </a:solidFill>
                      <a:prstDash val="solid"/>
                      <a:round/>
                      <a:headEnd type="none" w="med" len="med"/>
                      <a:tailEnd type="none" w="med" len="med"/>
                    </a:lnL>
                    <a:lnR w="6350" cap="flat" cmpd="sng" algn="ctr">
                      <a:solidFill>
                        <a:srgbClr val="D5DCE8"/>
                      </a:solidFill>
                      <a:prstDash val="solid"/>
                      <a:round/>
                      <a:headEnd type="none" w="med" len="med"/>
                      <a:tailEnd type="none" w="med" len="med"/>
                    </a:lnR>
                    <a:lnT w="6350" cap="flat" cmpd="sng" algn="ctr">
                      <a:solidFill>
                        <a:srgbClr val="D5DCE8"/>
                      </a:solidFill>
                      <a:prstDash val="solid"/>
                      <a:round/>
                      <a:headEnd type="none" w="med" len="med"/>
                      <a:tailEnd type="none" w="med" len="med"/>
                    </a:lnT>
                    <a:lnB w="6350" cap="flat" cmpd="sng" algn="ctr">
                      <a:solidFill>
                        <a:srgbClr val="D5DCE8"/>
                      </a:solidFill>
                      <a:prstDash val="solid"/>
                      <a:round/>
                      <a:headEnd type="none" w="med" len="med"/>
                      <a:tailEnd type="none" w="med" len="med"/>
                    </a:lnB>
                  </a:tcPr>
                </a:tc>
                <a:tc>
                  <a:txBody>
                    <a:bodyPr/>
                    <a:lstStyle/>
                    <a:p>
                      <a:pPr marL="0" indent="0">
                        <a:buNone/>
                      </a:pPr>
                      <a:r>
                        <a:rPr lang="en-US" sz="1050" dirty="0">
                          <a:solidFill>
                            <a:schemeClr val="tx1"/>
                          </a:solidFill>
                        </a:rPr>
                        <a:t>Executed</a:t>
                      </a:r>
                      <a:endParaRPr lang="en-US" sz="1050" dirty="0"/>
                    </a:p>
                  </a:txBody>
                  <a:tcPr marL="64008" marR="64008" marT="36576" marB="36576" anchor="ctr">
                    <a:lnL w="6350" cap="flat" cmpd="sng" algn="ctr">
                      <a:solidFill>
                        <a:srgbClr val="D5DCE8"/>
                      </a:solidFill>
                      <a:prstDash val="solid"/>
                      <a:round/>
                      <a:headEnd type="none" w="med" len="med"/>
                      <a:tailEnd type="none" w="med" len="med"/>
                    </a:lnL>
                    <a:lnR w="6350" cap="flat" cmpd="sng" algn="ctr">
                      <a:solidFill>
                        <a:srgbClr val="D5DCE8"/>
                      </a:solidFill>
                      <a:prstDash val="solid"/>
                      <a:round/>
                      <a:headEnd type="none" w="med" len="med"/>
                      <a:tailEnd type="none" w="med" len="med"/>
                    </a:lnR>
                    <a:lnT w="6350" cap="flat" cmpd="sng" algn="ctr">
                      <a:solidFill>
                        <a:srgbClr val="D5DCE8"/>
                      </a:solidFill>
                      <a:prstDash val="solid"/>
                      <a:round/>
                      <a:headEnd type="none" w="med" len="med"/>
                      <a:tailEnd type="none" w="med" len="med"/>
                    </a:lnT>
                    <a:lnB w="6350" cap="flat" cmpd="sng" algn="ctr">
                      <a:solidFill>
                        <a:srgbClr val="D5DCE8"/>
                      </a:solidFill>
                      <a:prstDash val="solid"/>
                      <a:round/>
                      <a:headEnd type="none" w="med" len="med"/>
                      <a:tailEnd type="none" w="med" len="med"/>
                    </a:lnB>
                  </a:tcPr>
                </a:tc>
                <a:tc>
                  <a:txBody>
                    <a:bodyPr/>
                    <a:lstStyle/>
                    <a:p>
                      <a:pPr marL="0" indent="0" algn="ctr">
                        <a:buNone/>
                      </a:pPr>
                      <a:r>
                        <a:rPr lang="en-US" sz="1050" b="1" dirty="0">
                          <a:solidFill>
                            <a:srgbClr val="00B050"/>
                          </a:solidFill>
                        </a:rPr>
                        <a:t>pass</a:t>
                      </a:r>
                      <a:endParaRPr lang="en-US" sz="1050" dirty="0">
                        <a:solidFill>
                          <a:srgbClr val="00B050"/>
                        </a:solidFill>
                      </a:endParaRPr>
                    </a:p>
                  </a:txBody>
                  <a:tcPr marL="64008" marR="64008" marT="36576" marB="36576" anchor="ctr">
                    <a:lnL w="6350" cap="flat" cmpd="sng" algn="ctr">
                      <a:solidFill>
                        <a:srgbClr val="D5DCE8"/>
                      </a:solidFill>
                      <a:prstDash val="solid"/>
                      <a:round/>
                      <a:headEnd type="none" w="med" len="med"/>
                      <a:tailEnd type="none" w="med" len="med"/>
                    </a:lnL>
                    <a:lnR w="6350" cap="flat" cmpd="sng" algn="ctr">
                      <a:solidFill>
                        <a:srgbClr val="D5DCE8"/>
                      </a:solidFill>
                      <a:prstDash val="solid"/>
                      <a:round/>
                      <a:headEnd type="none" w="med" len="med"/>
                      <a:tailEnd type="none" w="med" len="med"/>
                    </a:lnR>
                    <a:lnT w="6350" cap="flat" cmpd="sng" algn="ctr">
                      <a:solidFill>
                        <a:srgbClr val="D5DCE8"/>
                      </a:solidFill>
                      <a:prstDash val="solid"/>
                      <a:round/>
                      <a:headEnd type="none" w="med" len="med"/>
                      <a:tailEnd type="none" w="med" len="med"/>
                    </a:lnT>
                    <a:lnB w="6350" cap="flat" cmpd="sng" algn="ctr">
                      <a:solidFill>
                        <a:srgbClr val="D5DCE8"/>
                      </a:solidFill>
                      <a:prstDash val="solid"/>
                      <a:round/>
                      <a:headEnd type="none" w="med" len="med"/>
                      <a:tailEnd type="none" w="med" len="med"/>
                    </a:lnB>
                  </a:tcPr>
                </a:tc>
                <a:extLst>
                  <a:ext uri="{0D108BD9-81ED-4DB2-BD59-A6C34878D82A}">
                    <a16:rowId xmlns:a16="http://schemas.microsoft.com/office/drawing/2014/main" val="10007"/>
                  </a:ext>
                </a:extLst>
              </a:tr>
              <a:tr h="214884">
                <a:tc>
                  <a:txBody>
                    <a:bodyPr/>
                    <a:lstStyle/>
                    <a:p>
                      <a:pPr marL="0" indent="0">
                        <a:buNone/>
                      </a:pPr>
                      <a:r>
                        <a:rPr lang="en-US" sz="1050" dirty="0">
                          <a:solidFill>
                            <a:schemeClr val="tx1"/>
                          </a:solidFill>
                        </a:rPr>
                        <a:t>WebSocket update (UAT11)</a:t>
                      </a:r>
                      <a:endParaRPr lang="en-US" sz="1050" dirty="0"/>
                    </a:p>
                  </a:txBody>
                  <a:tcPr marL="64008" marR="64008" marT="36576" marB="36576" anchor="ctr">
                    <a:lnL w="6350" cap="flat" cmpd="sng" algn="ctr">
                      <a:solidFill>
                        <a:srgbClr val="D5DCE8"/>
                      </a:solidFill>
                      <a:prstDash val="solid"/>
                      <a:round/>
                      <a:headEnd type="none" w="med" len="med"/>
                      <a:tailEnd type="none" w="med" len="med"/>
                    </a:lnL>
                    <a:lnR w="6350" cap="flat" cmpd="sng" algn="ctr">
                      <a:solidFill>
                        <a:srgbClr val="D5DCE8"/>
                      </a:solidFill>
                      <a:prstDash val="solid"/>
                      <a:round/>
                      <a:headEnd type="none" w="med" len="med"/>
                      <a:tailEnd type="none" w="med" len="med"/>
                    </a:lnR>
                    <a:lnT w="6350" cap="flat" cmpd="sng" algn="ctr">
                      <a:solidFill>
                        <a:srgbClr val="D5DCE8"/>
                      </a:solidFill>
                      <a:prstDash val="solid"/>
                      <a:round/>
                      <a:headEnd type="none" w="med" len="med"/>
                      <a:tailEnd type="none" w="med" len="med"/>
                    </a:lnT>
                    <a:lnB w="6350" cap="flat" cmpd="sng" algn="ctr">
                      <a:solidFill>
                        <a:srgbClr val="D5DCE8"/>
                      </a:solidFill>
                      <a:prstDash val="solid"/>
                      <a:round/>
                      <a:headEnd type="none" w="med" len="med"/>
                      <a:tailEnd type="none" w="med" len="med"/>
                    </a:lnB>
                  </a:tcPr>
                </a:tc>
                <a:tc>
                  <a:txBody>
                    <a:bodyPr/>
                    <a:lstStyle/>
                    <a:p>
                      <a:pPr marL="0" indent="0">
                        <a:buNone/>
                      </a:pPr>
                      <a:r>
                        <a:rPr lang="en-US" sz="1050" dirty="0">
                          <a:solidFill>
                            <a:schemeClr val="tx1"/>
                          </a:solidFill>
                        </a:rPr>
                        <a:t>Other rider's map updates without reload</a:t>
                      </a:r>
                      <a:endParaRPr lang="en-US" sz="1050" dirty="0"/>
                    </a:p>
                  </a:txBody>
                  <a:tcPr marL="64008" marR="64008" marT="36576" marB="36576" anchor="ctr">
                    <a:lnL w="6350" cap="flat" cmpd="sng" algn="ctr">
                      <a:solidFill>
                        <a:srgbClr val="D5DCE8"/>
                      </a:solidFill>
                      <a:prstDash val="solid"/>
                      <a:round/>
                      <a:headEnd type="none" w="med" len="med"/>
                      <a:tailEnd type="none" w="med" len="med"/>
                    </a:lnL>
                    <a:lnR w="6350" cap="flat" cmpd="sng" algn="ctr">
                      <a:solidFill>
                        <a:srgbClr val="D5DCE8"/>
                      </a:solidFill>
                      <a:prstDash val="solid"/>
                      <a:round/>
                      <a:headEnd type="none" w="med" len="med"/>
                      <a:tailEnd type="none" w="med" len="med"/>
                    </a:lnR>
                    <a:lnT w="6350" cap="flat" cmpd="sng" algn="ctr">
                      <a:solidFill>
                        <a:srgbClr val="D5DCE8"/>
                      </a:solidFill>
                      <a:prstDash val="solid"/>
                      <a:round/>
                      <a:headEnd type="none" w="med" len="med"/>
                      <a:tailEnd type="none" w="med" len="med"/>
                    </a:lnT>
                    <a:lnB w="6350" cap="flat" cmpd="sng" algn="ctr">
                      <a:solidFill>
                        <a:srgbClr val="D5DCE8"/>
                      </a:solidFill>
                      <a:prstDash val="solid"/>
                      <a:round/>
                      <a:headEnd type="none" w="med" len="med"/>
                      <a:tailEnd type="none" w="med" len="med"/>
                    </a:lnB>
                  </a:tcPr>
                </a:tc>
                <a:tc>
                  <a:txBody>
                    <a:bodyPr/>
                    <a:lstStyle/>
                    <a:p>
                      <a:pPr marL="0" indent="0">
                        <a:buNone/>
                      </a:pPr>
                      <a:r>
                        <a:rPr lang="en-US" sz="1050" dirty="0">
                          <a:solidFill>
                            <a:schemeClr val="tx1"/>
                          </a:solidFill>
                        </a:rPr>
                        <a:t>Executed</a:t>
                      </a:r>
                      <a:endParaRPr lang="en-US" sz="1050" dirty="0"/>
                    </a:p>
                  </a:txBody>
                  <a:tcPr marL="64008" marR="64008" marT="36576" marB="36576" anchor="ctr">
                    <a:lnL w="6350" cap="flat" cmpd="sng" algn="ctr">
                      <a:solidFill>
                        <a:srgbClr val="D5DCE8"/>
                      </a:solidFill>
                      <a:prstDash val="solid"/>
                      <a:round/>
                      <a:headEnd type="none" w="med" len="med"/>
                      <a:tailEnd type="none" w="med" len="med"/>
                    </a:lnL>
                    <a:lnR w="6350" cap="flat" cmpd="sng" algn="ctr">
                      <a:solidFill>
                        <a:srgbClr val="D5DCE8"/>
                      </a:solidFill>
                      <a:prstDash val="solid"/>
                      <a:round/>
                      <a:headEnd type="none" w="med" len="med"/>
                      <a:tailEnd type="none" w="med" len="med"/>
                    </a:lnR>
                    <a:lnT w="6350" cap="flat" cmpd="sng" algn="ctr">
                      <a:solidFill>
                        <a:srgbClr val="D5DCE8"/>
                      </a:solidFill>
                      <a:prstDash val="solid"/>
                      <a:round/>
                      <a:headEnd type="none" w="med" len="med"/>
                      <a:tailEnd type="none" w="med" len="med"/>
                    </a:lnT>
                    <a:lnB w="6350" cap="flat" cmpd="sng" algn="ctr">
                      <a:solidFill>
                        <a:srgbClr val="D5DCE8"/>
                      </a:solidFill>
                      <a:prstDash val="solid"/>
                      <a:round/>
                      <a:headEnd type="none" w="med" len="med"/>
                      <a:tailEnd type="none" w="med" len="med"/>
                    </a:lnB>
                  </a:tcPr>
                </a:tc>
                <a:tc>
                  <a:txBody>
                    <a:bodyPr/>
                    <a:lstStyle/>
                    <a:p>
                      <a:pPr marL="0" indent="0" algn="ctr">
                        <a:buNone/>
                      </a:pPr>
                      <a:r>
                        <a:rPr lang="en-US" sz="1050" b="1" dirty="0">
                          <a:solidFill>
                            <a:schemeClr val="accent5"/>
                          </a:solidFill>
                        </a:rPr>
                        <a:t>Pass</a:t>
                      </a:r>
                      <a:endParaRPr lang="en-US" sz="1050" dirty="0"/>
                    </a:p>
                  </a:txBody>
                  <a:tcPr marL="64008" marR="64008" marT="36576" marB="36576" anchor="ctr">
                    <a:lnL w="6350" cap="flat" cmpd="sng" algn="ctr">
                      <a:solidFill>
                        <a:srgbClr val="D5DCE8"/>
                      </a:solidFill>
                      <a:prstDash val="solid"/>
                      <a:round/>
                      <a:headEnd type="none" w="med" len="med"/>
                      <a:tailEnd type="none" w="med" len="med"/>
                    </a:lnL>
                    <a:lnR w="6350" cap="flat" cmpd="sng" algn="ctr">
                      <a:solidFill>
                        <a:srgbClr val="D5DCE8"/>
                      </a:solidFill>
                      <a:prstDash val="solid"/>
                      <a:round/>
                      <a:headEnd type="none" w="med" len="med"/>
                      <a:tailEnd type="none" w="med" len="med"/>
                    </a:lnR>
                    <a:lnT w="6350" cap="flat" cmpd="sng" algn="ctr">
                      <a:solidFill>
                        <a:srgbClr val="D5DCE8"/>
                      </a:solidFill>
                      <a:prstDash val="solid"/>
                      <a:round/>
                      <a:headEnd type="none" w="med" len="med"/>
                      <a:tailEnd type="none" w="med" len="med"/>
                    </a:lnT>
                    <a:lnB w="6350" cap="flat" cmpd="sng" algn="ctr">
                      <a:solidFill>
                        <a:srgbClr val="D5DCE8"/>
                      </a:solidFill>
                      <a:prstDash val="solid"/>
                      <a:round/>
                      <a:headEnd type="none" w="med" len="med"/>
                      <a:tailEnd type="none" w="med" len="med"/>
                    </a:lnB>
                  </a:tcPr>
                </a:tc>
                <a:extLst>
                  <a:ext uri="{0D108BD9-81ED-4DB2-BD59-A6C34878D82A}">
                    <a16:rowId xmlns:a16="http://schemas.microsoft.com/office/drawing/2014/main" val="10008"/>
                  </a:ext>
                </a:extLst>
              </a:tr>
              <a:tr h="214884">
                <a:tc>
                  <a:txBody>
                    <a:bodyPr/>
                    <a:lstStyle/>
                    <a:p>
                      <a:pPr marL="0" indent="0">
                        <a:buNone/>
                      </a:pPr>
                      <a:r>
                        <a:rPr lang="en-US" sz="1050" dirty="0">
                          <a:solidFill>
                            <a:schemeClr val="tx1"/>
                          </a:solidFill>
                        </a:rPr>
                        <a:t>Disconnect, last known (UAT12-13)</a:t>
                      </a:r>
                      <a:endParaRPr lang="en-US" sz="1050" dirty="0"/>
                    </a:p>
                  </a:txBody>
                  <a:tcPr marL="64008" marR="64008" marT="36576" marB="36576" anchor="ctr">
                    <a:lnL w="6350" cap="flat" cmpd="sng" algn="ctr">
                      <a:solidFill>
                        <a:srgbClr val="D5DCE8"/>
                      </a:solidFill>
                      <a:prstDash val="solid"/>
                      <a:round/>
                      <a:headEnd type="none" w="med" len="med"/>
                      <a:tailEnd type="none" w="med" len="med"/>
                    </a:lnL>
                    <a:lnR w="6350" cap="flat" cmpd="sng" algn="ctr">
                      <a:solidFill>
                        <a:srgbClr val="D5DCE8"/>
                      </a:solidFill>
                      <a:prstDash val="solid"/>
                      <a:round/>
                      <a:headEnd type="none" w="med" len="med"/>
                      <a:tailEnd type="none" w="med" len="med"/>
                    </a:lnR>
                    <a:lnT w="6350" cap="flat" cmpd="sng" algn="ctr">
                      <a:solidFill>
                        <a:srgbClr val="D5DCE8"/>
                      </a:solidFill>
                      <a:prstDash val="solid"/>
                      <a:round/>
                      <a:headEnd type="none" w="med" len="med"/>
                      <a:tailEnd type="none" w="med" len="med"/>
                    </a:lnT>
                    <a:lnB w="6350" cap="flat" cmpd="sng" algn="ctr">
                      <a:solidFill>
                        <a:srgbClr val="D5DCE8"/>
                      </a:solidFill>
                      <a:prstDash val="solid"/>
                      <a:round/>
                      <a:headEnd type="none" w="med" len="med"/>
                      <a:tailEnd type="none" w="med" len="med"/>
                    </a:lnB>
                  </a:tcPr>
                </a:tc>
                <a:tc>
                  <a:txBody>
                    <a:bodyPr/>
                    <a:lstStyle/>
                    <a:p>
                      <a:pPr marL="0" indent="0">
                        <a:buNone/>
                      </a:pPr>
                      <a:r>
                        <a:rPr lang="en-US" sz="1050" dirty="0">
                          <a:solidFill>
                            <a:schemeClr val="tx1"/>
                          </a:solidFill>
                        </a:rPr>
                        <a:t>Marked disconnected; last location stays</a:t>
                      </a:r>
                      <a:endParaRPr lang="en-US" sz="1050" dirty="0"/>
                    </a:p>
                  </a:txBody>
                  <a:tcPr marL="64008" marR="64008" marT="36576" marB="36576" anchor="ctr">
                    <a:lnL w="6350" cap="flat" cmpd="sng" algn="ctr">
                      <a:solidFill>
                        <a:srgbClr val="D5DCE8"/>
                      </a:solidFill>
                      <a:prstDash val="solid"/>
                      <a:round/>
                      <a:headEnd type="none" w="med" len="med"/>
                      <a:tailEnd type="none" w="med" len="med"/>
                    </a:lnL>
                    <a:lnR w="6350" cap="flat" cmpd="sng" algn="ctr">
                      <a:solidFill>
                        <a:srgbClr val="D5DCE8"/>
                      </a:solidFill>
                      <a:prstDash val="solid"/>
                      <a:round/>
                      <a:headEnd type="none" w="med" len="med"/>
                      <a:tailEnd type="none" w="med" len="med"/>
                    </a:lnR>
                    <a:lnT w="6350" cap="flat" cmpd="sng" algn="ctr">
                      <a:solidFill>
                        <a:srgbClr val="D5DCE8"/>
                      </a:solidFill>
                      <a:prstDash val="solid"/>
                      <a:round/>
                      <a:headEnd type="none" w="med" len="med"/>
                      <a:tailEnd type="none" w="med" len="med"/>
                    </a:lnT>
                    <a:lnB w="6350" cap="flat" cmpd="sng" algn="ctr">
                      <a:solidFill>
                        <a:srgbClr val="D5DCE8"/>
                      </a:solidFill>
                      <a:prstDash val="solid"/>
                      <a:round/>
                      <a:headEnd type="none" w="med" len="med"/>
                      <a:tailEnd type="none" w="med" len="med"/>
                    </a:lnB>
                  </a:tcPr>
                </a:tc>
                <a:tc>
                  <a:txBody>
                    <a:bodyPr/>
                    <a:lstStyle/>
                    <a:p>
                      <a:pPr marL="0" indent="0">
                        <a:buNone/>
                      </a:pPr>
                      <a:r>
                        <a:rPr lang="en-US" sz="1050" dirty="0">
                          <a:solidFill>
                            <a:schemeClr val="tx1"/>
                          </a:solidFill>
                        </a:rPr>
                        <a:t>Executed</a:t>
                      </a:r>
                      <a:endParaRPr lang="en-US" sz="1050" dirty="0"/>
                    </a:p>
                  </a:txBody>
                  <a:tcPr marL="64008" marR="64008" marT="36576" marB="36576" anchor="ctr">
                    <a:lnL w="6350" cap="flat" cmpd="sng" algn="ctr">
                      <a:solidFill>
                        <a:srgbClr val="D5DCE8"/>
                      </a:solidFill>
                      <a:prstDash val="solid"/>
                      <a:round/>
                      <a:headEnd type="none" w="med" len="med"/>
                      <a:tailEnd type="none" w="med" len="med"/>
                    </a:lnL>
                    <a:lnR w="6350" cap="flat" cmpd="sng" algn="ctr">
                      <a:solidFill>
                        <a:srgbClr val="D5DCE8"/>
                      </a:solidFill>
                      <a:prstDash val="solid"/>
                      <a:round/>
                      <a:headEnd type="none" w="med" len="med"/>
                      <a:tailEnd type="none" w="med" len="med"/>
                    </a:lnR>
                    <a:lnT w="6350" cap="flat" cmpd="sng" algn="ctr">
                      <a:solidFill>
                        <a:srgbClr val="D5DCE8"/>
                      </a:solidFill>
                      <a:prstDash val="solid"/>
                      <a:round/>
                      <a:headEnd type="none" w="med" len="med"/>
                      <a:tailEnd type="none" w="med" len="med"/>
                    </a:lnT>
                    <a:lnB w="6350" cap="flat" cmpd="sng" algn="ctr">
                      <a:solidFill>
                        <a:srgbClr val="D5DCE8"/>
                      </a:solidFill>
                      <a:prstDash val="solid"/>
                      <a:round/>
                      <a:headEnd type="none" w="med" len="med"/>
                      <a:tailEnd type="none" w="med" len="med"/>
                    </a:lnB>
                  </a:tcPr>
                </a:tc>
                <a:tc>
                  <a:txBody>
                    <a:bodyPr/>
                    <a:lstStyle/>
                    <a:p>
                      <a:pPr marL="0" indent="0" algn="ctr">
                        <a:buNone/>
                      </a:pPr>
                      <a:r>
                        <a:rPr lang="en-US" sz="1050" b="1" dirty="0">
                          <a:solidFill>
                            <a:srgbClr val="00B050"/>
                          </a:solidFill>
                        </a:rPr>
                        <a:t>pass</a:t>
                      </a:r>
                      <a:endParaRPr lang="en-US" sz="1050" dirty="0">
                        <a:solidFill>
                          <a:srgbClr val="00B050"/>
                        </a:solidFill>
                      </a:endParaRPr>
                    </a:p>
                  </a:txBody>
                  <a:tcPr marL="64008" marR="64008" marT="36576" marB="36576" anchor="ctr">
                    <a:lnL w="6350" cap="flat" cmpd="sng" algn="ctr">
                      <a:solidFill>
                        <a:srgbClr val="D5DCE8"/>
                      </a:solidFill>
                      <a:prstDash val="solid"/>
                      <a:round/>
                      <a:headEnd type="none" w="med" len="med"/>
                      <a:tailEnd type="none" w="med" len="med"/>
                    </a:lnL>
                    <a:lnR w="6350" cap="flat" cmpd="sng" algn="ctr">
                      <a:solidFill>
                        <a:srgbClr val="D5DCE8"/>
                      </a:solidFill>
                      <a:prstDash val="solid"/>
                      <a:round/>
                      <a:headEnd type="none" w="med" len="med"/>
                      <a:tailEnd type="none" w="med" len="med"/>
                    </a:lnR>
                    <a:lnT w="6350" cap="flat" cmpd="sng" algn="ctr">
                      <a:solidFill>
                        <a:srgbClr val="D5DCE8"/>
                      </a:solidFill>
                      <a:prstDash val="solid"/>
                      <a:round/>
                      <a:headEnd type="none" w="med" len="med"/>
                      <a:tailEnd type="none" w="med" len="med"/>
                    </a:lnT>
                    <a:lnB w="6350" cap="flat" cmpd="sng" algn="ctr">
                      <a:solidFill>
                        <a:srgbClr val="D5DCE8"/>
                      </a:solidFill>
                      <a:prstDash val="solid"/>
                      <a:round/>
                      <a:headEnd type="none" w="med" len="med"/>
                      <a:tailEnd type="none" w="med" len="med"/>
                    </a:lnB>
                  </a:tcPr>
                </a:tc>
                <a:extLst>
                  <a:ext uri="{0D108BD9-81ED-4DB2-BD59-A6C34878D82A}">
                    <a16:rowId xmlns:a16="http://schemas.microsoft.com/office/drawing/2014/main" val="10009"/>
                  </a:ext>
                </a:extLst>
              </a:tr>
              <a:tr h="214884">
                <a:tc>
                  <a:txBody>
                    <a:bodyPr/>
                    <a:lstStyle/>
                    <a:p>
                      <a:pPr marL="0" indent="0">
                        <a:buNone/>
                      </a:pPr>
                      <a:r>
                        <a:rPr lang="en-US" sz="1050" dirty="0">
                          <a:solidFill>
                            <a:schemeClr val="tx1"/>
                          </a:solidFill>
                        </a:rPr>
                        <a:t>Route deviation (UAT15)</a:t>
                      </a:r>
                      <a:endParaRPr lang="en-US" sz="1050" dirty="0"/>
                    </a:p>
                  </a:txBody>
                  <a:tcPr marL="64008" marR="64008" marT="36576" marB="36576" anchor="ctr">
                    <a:lnL w="6350" cap="flat" cmpd="sng" algn="ctr">
                      <a:solidFill>
                        <a:srgbClr val="D5DCE8"/>
                      </a:solidFill>
                      <a:prstDash val="solid"/>
                      <a:round/>
                      <a:headEnd type="none" w="med" len="med"/>
                      <a:tailEnd type="none" w="med" len="med"/>
                    </a:lnL>
                    <a:lnR w="6350" cap="flat" cmpd="sng" algn="ctr">
                      <a:solidFill>
                        <a:srgbClr val="D5DCE8"/>
                      </a:solidFill>
                      <a:prstDash val="solid"/>
                      <a:round/>
                      <a:headEnd type="none" w="med" len="med"/>
                      <a:tailEnd type="none" w="med" len="med"/>
                    </a:lnR>
                    <a:lnT w="6350" cap="flat" cmpd="sng" algn="ctr">
                      <a:solidFill>
                        <a:srgbClr val="D5DCE8"/>
                      </a:solidFill>
                      <a:prstDash val="solid"/>
                      <a:round/>
                      <a:headEnd type="none" w="med" len="med"/>
                      <a:tailEnd type="none" w="med" len="med"/>
                    </a:lnT>
                    <a:lnB w="6350" cap="flat" cmpd="sng" algn="ctr">
                      <a:solidFill>
                        <a:srgbClr val="D5DCE8"/>
                      </a:solidFill>
                      <a:prstDash val="solid"/>
                      <a:round/>
                      <a:headEnd type="none" w="med" len="med"/>
                      <a:tailEnd type="none" w="med" len="med"/>
                    </a:lnB>
                  </a:tcPr>
                </a:tc>
                <a:tc>
                  <a:txBody>
                    <a:bodyPr/>
                    <a:lstStyle/>
                    <a:p>
                      <a:pPr marL="0" indent="0">
                        <a:buNone/>
                      </a:pPr>
                      <a:r>
                        <a:rPr lang="en-US" sz="1050" dirty="0">
                          <a:solidFill>
                            <a:schemeClr val="tx1"/>
                          </a:solidFill>
                        </a:rPr>
                        <a:t>Deviation detected and reported</a:t>
                      </a:r>
                      <a:endParaRPr lang="en-US" sz="1050" dirty="0"/>
                    </a:p>
                  </a:txBody>
                  <a:tcPr marL="64008" marR="64008" marT="36576" marB="36576" anchor="ctr">
                    <a:lnL w="6350" cap="flat" cmpd="sng" algn="ctr">
                      <a:solidFill>
                        <a:srgbClr val="D5DCE8"/>
                      </a:solidFill>
                      <a:prstDash val="solid"/>
                      <a:round/>
                      <a:headEnd type="none" w="med" len="med"/>
                      <a:tailEnd type="none" w="med" len="med"/>
                    </a:lnL>
                    <a:lnR w="6350" cap="flat" cmpd="sng" algn="ctr">
                      <a:solidFill>
                        <a:srgbClr val="D5DCE8"/>
                      </a:solidFill>
                      <a:prstDash val="solid"/>
                      <a:round/>
                      <a:headEnd type="none" w="med" len="med"/>
                      <a:tailEnd type="none" w="med" len="med"/>
                    </a:lnR>
                    <a:lnT w="6350" cap="flat" cmpd="sng" algn="ctr">
                      <a:solidFill>
                        <a:srgbClr val="D5DCE8"/>
                      </a:solidFill>
                      <a:prstDash val="solid"/>
                      <a:round/>
                      <a:headEnd type="none" w="med" len="med"/>
                      <a:tailEnd type="none" w="med" len="med"/>
                    </a:lnT>
                    <a:lnB w="6350" cap="flat" cmpd="sng" algn="ctr">
                      <a:solidFill>
                        <a:srgbClr val="D5DCE8"/>
                      </a:solidFill>
                      <a:prstDash val="solid"/>
                      <a:round/>
                      <a:headEnd type="none" w="med" len="med"/>
                      <a:tailEnd type="none" w="med" len="med"/>
                    </a:lnB>
                  </a:tcPr>
                </a:tc>
                <a:tc>
                  <a:txBody>
                    <a:bodyPr/>
                    <a:lstStyle/>
                    <a:p>
                      <a:pPr marL="0" indent="0">
                        <a:buNone/>
                      </a:pPr>
                      <a:r>
                        <a:rPr lang="en-US" sz="1050" dirty="0">
                          <a:solidFill>
                            <a:schemeClr val="tx1"/>
                          </a:solidFill>
                        </a:rPr>
                        <a:t>Executed</a:t>
                      </a:r>
                      <a:endParaRPr lang="en-US" sz="1050" dirty="0"/>
                    </a:p>
                  </a:txBody>
                  <a:tcPr marL="64008" marR="64008" marT="36576" marB="36576" anchor="ctr">
                    <a:lnL w="6350" cap="flat" cmpd="sng" algn="ctr">
                      <a:solidFill>
                        <a:srgbClr val="D5DCE8"/>
                      </a:solidFill>
                      <a:prstDash val="solid"/>
                      <a:round/>
                      <a:headEnd type="none" w="med" len="med"/>
                      <a:tailEnd type="none" w="med" len="med"/>
                    </a:lnL>
                    <a:lnR w="6350" cap="flat" cmpd="sng" algn="ctr">
                      <a:solidFill>
                        <a:srgbClr val="D5DCE8"/>
                      </a:solidFill>
                      <a:prstDash val="solid"/>
                      <a:round/>
                      <a:headEnd type="none" w="med" len="med"/>
                      <a:tailEnd type="none" w="med" len="med"/>
                    </a:lnR>
                    <a:lnT w="6350" cap="flat" cmpd="sng" algn="ctr">
                      <a:solidFill>
                        <a:srgbClr val="D5DCE8"/>
                      </a:solidFill>
                      <a:prstDash val="solid"/>
                      <a:round/>
                      <a:headEnd type="none" w="med" len="med"/>
                      <a:tailEnd type="none" w="med" len="med"/>
                    </a:lnT>
                    <a:lnB w="6350" cap="flat" cmpd="sng" algn="ctr">
                      <a:solidFill>
                        <a:srgbClr val="D5DCE8"/>
                      </a:solidFill>
                      <a:prstDash val="solid"/>
                      <a:round/>
                      <a:headEnd type="none" w="med" len="med"/>
                      <a:tailEnd type="none" w="med" len="med"/>
                    </a:lnB>
                  </a:tcPr>
                </a:tc>
                <a:tc>
                  <a:txBody>
                    <a:bodyPr/>
                    <a:lstStyle/>
                    <a:p>
                      <a:pPr marL="0" indent="0" algn="ctr">
                        <a:buNone/>
                      </a:pPr>
                      <a:r>
                        <a:rPr lang="en-US" sz="1050" b="1" dirty="0">
                          <a:solidFill>
                            <a:schemeClr val="accent5"/>
                          </a:solidFill>
                        </a:rPr>
                        <a:t>Pass</a:t>
                      </a:r>
                      <a:endParaRPr lang="en-US" sz="1050" dirty="0"/>
                    </a:p>
                  </a:txBody>
                  <a:tcPr marL="64008" marR="64008" marT="36576" marB="36576" anchor="ctr">
                    <a:lnL w="6350" cap="flat" cmpd="sng" algn="ctr">
                      <a:solidFill>
                        <a:srgbClr val="D5DCE8"/>
                      </a:solidFill>
                      <a:prstDash val="solid"/>
                      <a:round/>
                      <a:headEnd type="none" w="med" len="med"/>
                      <a:tailEnd type="none" w="med" len="med"/>
                    </a:lnL>
                    <a:lnR w="6350" cap="flat" cmpd="sng" algn="ctr">
                      <a:solidFill>
                        <a:srgbClr val="D5DCE8"/>
                      </a:solidFill>
                      <a:prstDash val="solid"/>
                      <a:round/>
                      <a:headEnd type="none" w="med" len="med"/>
                      <a:tailEnd type="none" w="med" len="med"/>
                    </a:lnR>
                    <a:lnT w="6350" cap="flat" cmpd="sng" algn="ctr">
                      <a:solidFill>
                        <a:srgbClr val="D5DCE8"/>
                      </a:solidFill>
                      <a:prstDash val="solid"/>
                      <a:round/>
                      <a:headEnd type="none" w="med" len="med"/>
                      <a:tailEnd type="none" w="med" len="med"/>
                    </a:lnT>
                    <a:lnB w="6350" cap="flat" cmpd="sng" algn="ctr">
                      <a:solidFill>
                        <a:srgbClr val="D5DCE8"/>
                      </a:solidFill>
                      <a:prstDash val="solid"/>
                      <a:round/>
                      <a:headEnd type="none" w="med" len="med"/>
                      <a:tailEnd type="none" w="med" len="med"/>
                    </a:lnB>
                  </a:tcPr>
                </a:tc>
                <a:extLst>
                  <a:ext uri="{0D108BD9-81ED-4DB2-BD59-A6C34878D82A}">
                    <a16:rowId xmlns:a16="http://schemas.microsoft.com/office/drawing/2014/main" val="10010"/>
                  </a:ext>
                </a:extLst>
              </a:tr>
              <a:tr h="214884">
                <a:tc>
                  <a:txBody>
                    <a:bodyPr/>
                    <a:lstStyle/>
                    <a:p>
                      <a:pPr marL="0" indent="0">
                        <a:buNone/>
                      </a:pPr>
                      <a:r>
                        <a:rPr lang="en-US" sz="1050" dirty="0">
                          <a:solidFill>
                            <a:schemeClr val="tx1"/>
                          </a:solidFill>
                        </a:rPr>
                        <a:t>SOS alert (UAT16-17)</a:t>
                      </a:r>
                      <a:endParaRPr lang="en-US" sz="1050" dirty="0"/>
                    </a:p>
                  </a:txBody>
                  <a:tcPr marL="64008" marR="64008" marT="36576" marB="36576" anchor="ctr">
                    <a:lnL w="6350" cap="flat" cmpd="sng" algn="ctr">
                      <a:solidFill>
                        <a:srgbClr val="D5DCE8"/>
                      </a:solidFill>
                      <a:prstDash val="solid"/>
                      <a:round/>
                      <a:headEnd type="none" w="med" len="med"/>
                      <a:tailEnd type="none" w="med" len="med"/>
                    </a:lnL>
                    <a:lnR w="6350" cap="flat" cmpd="sng" algn="ctr">
                      <a:solidFill>
                        <a:srgbClr val="D5DCE8"/>
                      </a:solidFill>
                      <a:prstDash val="solid"/>
                      <a:round/>
                      <a:headEnd type="none" w="med" len="med"/>
                      <a:tailEnd type="none" w="med" len="med"/>
                    </a:lnR>
                    <a:lnT w="6350" cap="flat" cmpd="sng" algn="ctr">
                      <a:solidFill>
                        <a:srgbClr val="D5DCE8"/>
                      </a:solidFill>
                      <a:prstDash val="solid"/>
                      <a:round/>
                      <a:headEnd type="none" w="med" len="med"/>
                      <a:tailEnd type="none" w="med" len="med"/>
                    </a:lnT>
                    <a:lnB w="6350" cap="flat" cmpd="sng" algn="ctr">
                      <a:solidFill>
                        <a:srgbClr val="D5DCE8"/>
                      </a:solidFill>
                      <a:prstDash val="solid"/>
                      <a:round/>
                      <a:headEnd type="none" w="med" len="med"/>
                      <a:tailEnd type="none" w="med" len="med"/>
                    </a:lnB>
                  </a:tcPr>
                </a:tc>
                <a:tc>
                  <a:txBody>
                    <a:bodyPr/>
                    <a:lstStyle/>
                    <a:p>
                      <a:pPr marL="0" indent="0">
                        <a:buNone/>
                      </a:pPr>
                      <a:r>
                        <a:rPr lang="en-US" sz="1050" dirty="0">
                          <a:solidFill>
                            <a:schemeClr val="tx1"/>
                          </a:solidFill>
                        </a:rPr>
                        <a:t>Alert raised, stored, received by riders</a:t>
                      </a:r>
                      <a:endParaRPr lang="en-US" sz="1050" dirty="0"/>
                    </a:p>
                  </a:txBody>
                  <a:tcPr marL="64008" marR="64008" marT="36576" marB="36576" anchor="ctr">
                    <a:lnL w="6350" cap="flat" cmpd="sng" algn="ctr">
                      <a:solidFill>
                        <a:srgbClr val="D5DCE8"/>
                      </a:solidFill>
                      <a:prstDash val="solid"/>
                      <a:round/>
                      <a:headEnd type="none" w="med" len="med"/>
                      <a:tailEnd type="none" w="med" len="med"/>
                    </a:lnL>
                    <a:lnR w="6350" cap="flat" cmpd="sng" algn="ctr">
                      <a:solidFill>
                        <a:srgbClr val="D5DCE8"/>
                      </a:solidFill>
                      <a:prstDash val="solid"/>
                      <a:round/>
                      <a:headEnd type="none" w="med" len="med"/>
                      <a:tailEnd type="none" w="med" len="med"/>
                    </a:lnR>
                    <a:lnT w="6350" cap="flat" cmpd="sng" algn="ctr">
                      <a:solidFill>
                        <a:srgbClr val="D5DCE8"/>
                      </a:solidFill>
                      <a:prstDash val="solid"/>
                      <a:round/>
                      <a:headEnd type="none" w="med" len="med"/>
                      <a:tailEnd type="none" w="med" len="med"/>
                    </a:lnT>
                    <a:lnB w="6350" cap="flat" cmpd="sng" algn="ctr">
                      <a:solidFill>
                        <a:srgbClr val="D5DCE8"/>
                      </a:solidFill>
                      <a:prstDash val="solid"/>
                      <a:round/>
                      <a:headEnd type="none" w="med" len="med"/>
                      <a:tailEnd type="none" w="med" len="med"/>
                    </a:lnB>
                  </a:tcPr>
                </a:tc>
                <a:tc>
                  <a:txBody>
                    <a:bodyPr/>
                    <a:lstStyle/>
                    <a:p>
                      <a:pPr marL="0" indent="0">
                        <a:buNone/>
                      </a:pPr>
                      <a:r>
                        <a:rPr lang="en-US" sz="1050" dirty="0">
                          <a:solidFill>
                            <a:schemeClr val="tx1"/>
                          </a:solidFill>
                        </a:rPr>
                        <a:t>Executed</a:t>
                      </a:r>
                      <a:endParaRPr lang="en-US" sz="1050" dirty="0"/>
                    </a:p>
                  </a:txBody>
                  <a:tcPr marL="64008" marR="64008" marT="36576" marB="36576" anchor="ctr">
                    <a:lnL w="6350" cap="flat" cmpd="sng" algn="ctr">
                      <a:solidFill>
                        <a:srgbClr val="D5DCE8"/>
                      </a:solidFill>
                      <a:prstDash val="solid"/>
                      <a:round/>
                      <a:headEnd type="none" w="med" len="med"/>
                      <a:tailEnd type="none" w="med" len="med"/>
                    </a:lnL>
                    <a:lnR w="6350" cap="flat" cmpd="sng" algn="ctr">
                      <a:solidFill>
                        <a:srgbClr val="D5DCE8"/>
                      </a:solidFill>
                      <a:prstDash val="solid"/>
                      <a:round/>
                      <a:headEnd type="none" w="med" len="med"/>
                      <a:tailEnd type="none" w="med" len="med"/>
                    </a:lnR>
                    <a:lnT w="6350" cap="flat" cmpd="sng" algn="ctr">
                      <a:solidFill>
                        <a:srgbClr val="D5DCE8"/>
                      </a:solidFill>
                      <a:prstDash val="solid"/>
                      <a:round/>
                      <a:headEnd type="none" w="med" len="med"/>
                      <a:tailEnd type="none" w="med" len="med"/>
                    </a:lnT>
                    <a:lnB w="6350" cap="flat" cmpd="sng" algn="ctr">
                      <a:solidFill>
                        <a:srgbClr val="D5DCE8"/>
                      </a:solidFill>
                      <a:prstDash val="solid"/>
                      <a:round/>
                      <a:headEnd type="none" w="med" len="med"/>
                      <a:tailEnd type="none" w="med" len="med"/>
                    </a:lnB>
                  </a:tcPr>
                </a:tc>
                <a:tc>
                  <a:txBody>
                    <a:bodyPr/>
                    <a:lstStyle/>
                    <a:p>
                      <a:pPr marL="0" indent="0" algn="ctr">
                        <a:buNone/>
                      </a:pPr>
                      <a:r>
                        <a:rPr lang="en-US" sz="1050" b="1" dirty="0">
                          <a:solidFill>
                            <a:schemeClr val="accent5"/>
                          </a:solidFill>
                        </a:rPr>
                        <a:t>Pass</a:t>
                      </a:r>
                      <a:endParaRPr lang="en-US" sz="1050" dirty="0"/>
                    </a:p>
                  </a:txBody>
                  <a:tcPr marL="64008" marR="64008" marT="36576" marB="36576" anchor="ctr">
                    <a:lnL w="6350" cap="flat" cmpd="sng" algn="ctr">
                      <a:solidFill>
                        <a:srgbClr val="D5DCE8"/>
                      </a:solidFill>
                      <a:prstDash val="solid"/>
                      <a:round/>
                      <a:headEnd type="none" w="med" len="med"/>
                      <a:tailEnd type="none" w="med" len="med"/>
                    </a:lnL>
                    <a:lnR w="6350" cap="flat" cmpd="sng" algn="ctr">
                      <a:solidFill>
                        <a:srgbClr val="D5DCE8"/>
                      </a:solidFill>
                      <a:prstDash val="solid"/>
                      <a:round/>
                      <a:headEnd type="none" w="med" len="med"/>
                      <a:tailEnd type="none" w="med" len="med"/>
                    </a:lnR>
                    <a:lnT w="6350" cap="flat" cmpd="sng" algn="ctr">
                      <a:solidFill>
                        <a:srgbClr val="D5DCE8"/>
                      </a:solidFill>
                      <a:prstDash val="solid"/>
                      <a:round/>
                      <a:headEnd type="none" w="med" len="med"/>
                      <a:tailEnd type="none" w="med" len="med"/>
                    </a:lnT>
                    <a:lnB w="6350" cap="flat" cmpd="sng" algn="ctr">
                      <a:solidFill>
                        <a:srgbClr val="D5DCE8"/>
                      </a:solidFill>
                      <a:prstDash val="solid"/>
                      <a:round/>
                      <a:headEnd type="none" w="med" len="med"/>
                      <a:tailEnd type="none" w="med" len="med"/>
                    </a:lnB>
                  </a:tcPr>
                </a:tc>
                <a:extLst>
                  <a:ext uri="{0D108BD9-81ED-4DB2-BD59-A6C34878D82A}">
                    <a16:rowId xmlns:a16="http://schemas.microsoft.com/office/drawing/2014/main" val="10011"/>
                  </a:ext>
                </a:extLst>
              </a:tr>
              <a:tr h="214884">
                <a:tc>
                  <a:txBody>
                    <a:bodyPr/>
                    <a:lstStyle/>
                    <a:p>
                      <a:pPr marL="0" indent="0">
                        <a:buNone/>
                      </a:pPr>
                      <a:r>
                        <a:rPr lang="en-US" sz="1050" dirty="0">
                          <a:solidFill>
                            <a:schemeClr val="tx1"/>
                          </a:solidFill>
                        </a:rPr>
                        <a:t>Ride history (UAT19)</a:t>
                      </a:r>
                      <a:endParaRPr lang="en-US" sz="1050" dirty="0"/>
                    </a:p>
                  </a:txBody>
                  <a:tcPr marL="64008" marR="64008" marT="36576" marB="36576" anchor="ctr">
                    <a:lnL w="6350" cap="flat" cmpd="sng" algn="ctr">
                      <a:solidFill>
                        <a:srgbClr val="D5DCE8"/>
                      </a:solidFill>
                      <a:prstDash val="solid"/>
                      <a:round/>
                      <a:headEnd type="none" w="med" len="med"/>
                      <a:tailEnd type="none" w="med" len="med"/>
                    </a:lnL>
                    <a:lnR w="6350" cap="flat" cmpd="sng" algn="ctr">
                      <a:solidFill>
                        <a:srgbClr val="D5DCE8"/>
                      </a:solidFill>
                      <a:prstDash val="solid"/>
                      <a:round/>
                      <a:headEnd type="none" w="med" len="med"/>
                      <a:tailEnd type="none" w="med" len="med"/>
                    </a:lnR>
                    <a:lnT w="6350" cap="flat" cmpd="sng" algn="ctr">
                      <a:solidFill>
                        <a:srgbClr val="D5DCE8"/>
                      </a:solidFill>
                      <a:prstDash val="solid"/>
                      <a:round/>
                      <a:headEnd type="none" w="med" len="med"/>
                      <a:tailEnd type="none" w="med" len="med"/>
                    </a:lnT>
                    <a:lnB w="6350" cap="flat" cmpd="sng" algn="ctr">
                      <a:solidFill>
                        <a:srgbClr val="D5DCE8"/>
                      </a:solidFill>
                      <a:prstDash val="solid"/>
                      <a:round/>
                      <a:headEnd type="none" w="med" len="med"/>
                      <a:tailEnd type="none" w="med" len="med"/>
                    </a:lnB>
                  </a:tcPr>
                </a:tc>
                <a:tc>
                  <a:txBody>
                    <a:bodyPr/>
                    <a:lstStyle/>
                    <a:p>
                      <a:pPr marL="0" indent="0">
                        <a:buNone/>
                      </a:pPr>
                      <a:r>
                        <a:rPr lang="en-US" sz="1050" dirty="0">
                          <a:solidFill>
                            <a:schemeClr val="tx1"/>
                          </a:solidFill>
                        </a:rPr>
                        <a:t>Completed ride listed with details</a:t>
                      </a:r>
                      <a:endParaRPr lang="en-US" sz="1050" dirty="0"/>
                    </a:p>
                  </a:txBody>
                  <a:tcPr marL="64008" marR="64008" marT="36576" marB="36576" anchor="ctr">
                    <a:lnL w="6350" cap="flat" cmpd="sng" algn="ctr">
                      <a:solidFill>
                        <a:srgbClr val="D5DCE8"/>
                      </a:solidFill>
                      <a:prstDash val="solid"/>
                      <a:round/>
                      <a:headEnd type="none" w="med" len="med"/>
                      <a:tailEnd type="none" w="med" len="med"/>
                    </a:lnL>
                    <a:lnR w="6350" cap="flat" cmpd="sng" algn="ctr">
                      <a:solidFill>
                        <a:srgbClr val="D5DCE8"/>
                      </a:solidFill>
                      <a:prstDash val="solid"/>
                      <a:round/>
                      <a:headEnd type="none" w="med" len="med"/>
                      <a:tailEnd type="none" w="med" len="med"/>
                    </a:lnR>
                    <a:lnT w="6350" cap="flat" cmpd="sng" algn="ctr">
                      <a:solidFill>
                        <a:srgbClr val="D5DCE8"/>
                      </a:solidFill>
                      <a:prstDash val="solid"/>
                      <a:round/>
                      <a:headEnd type="none" w="med" len="med"/>
                      <a:tailEnd type="none" w="med" len="med"/>
                    </a:lnT>
                    <a:lnB w="6350" cap="flat" cmpd="sng" algn="ctr">
                      <a:solidFill>
                        <a:srgbClr val="D5DCE8"/>
                      </a:solidFill>
                      <a:prstDash val="solid"/>
                      <a:round/>
                      <a:headEnd type="none" w="med" len="med"/>
                      <a:tailEnd type="none" w="med" len="med"/>
                    </a:lnB>
                  </a:tcPr>
                </a:tc>
                <a:tc>
                  <a:txBody>
                    <a:bodyPr/>
                    <a:lstStyle/>
                    <a:p>
                      <a:pPr marL="0" indent="0">
                        <a:buNone/>
                      </a:pPr>
                      <a:r>
                        <a:rPr lang="en-US" sz="1050" dirty="0">
                          <a:solidFill>
                            <a:schemeClr val="tx1"/>
                          </a:solidFill>
                        </a:rPr>
                        <a:t>Executed</a:t>
                      </a:r>
                      <a:endParaRPr lang="en-US" sz="1050" dirty="0"/>
                    </a:p>
                  </a:txBody>
                  <a:tcPr marL="64008" marR="64008" marT="36576" marB="36576" anchor="ctr">
                    <a:lnL w="6350" cap="flat" cmpd="sng" algn="ctr">
                      <a:solidFill>
                        <a:srgbClr val="D5DCE8"/>
                      </a:solidFill>
                      <a:prstDash val="solid"/>
                      <a:round/>
                      <a:headEnd type="none" w="med" len="med"/>
                      <a:tailEnd type="none" w="med" len="med"/>
                    </a:lnL>
                    <a:lnR w="6350" cap="flat" cmpd="sng" algn="ctr">
                      <a:solidFill>
                        <a:srgbClr val="D5DCE8"/>
                      </a:solidFill>
                      <a:prstDash val="solid"/>
                      <a:round/>
                      <a:headEnd type="none" w="med" len="med"/>
                      <a:tailEnd type="none" w="med" len="med"/>
                    </a:lnR>
                    <a:lnT w="6350" cap="flat" cmpd="sng" algn="ctr">
                      <a:solidFill>
                        <a:srgbClr val="D5DCE8"/>
                      </a:solidFill>
                      <a:prstDash val="solid"/>
                      <a:round/>
                      <a:headEnd type="none" w="med" len="med"/>
                      <a:tailEnd type="none" w="med" len="med"/>
                    </a:lnT>
                    <a:lnB w="6350" cap="flat" cmpd="sng" algn="ctr">
                      <a:solidFill>
                        <a:srgbClr val="D5DCE8"/>
                      </a:solidFill>
                      <a:prstDash val="solid"/>
                      <a:round/>
                      <a:headEnd type="none" w="med" len="med"/>
                      <a:tailEnd type="none" w="med" len="med"/>
                    </a:lnB>
                  </a:tcPr>
                </a:tc>
                <a:tc>
                  <a:txBody>
                    <a:bodyPr/>
                    <a:lstStyle/>
                    <a:p>
                      <a:pPr marL="0" indent="0" algn="ctr">
                        <a:buNone/>
                      </a:pPr>
                      <a:r>
                        <a:rPr lang="en-US" sz="1050" b="1" dirty="0">
                          <a:solidFill>
                            <a:schemeClr val="accent5"/>
                          </a:solidFill>
                        </a:rPr>
                        <a:t>Pass</a:t>
                      </a:r>
                      <a:endParaRPr lang="en-US" sz="1050" dirty="0"/>
                    </a:p>
                  </a:txBody>
                  <a:tcPr marL="64008" marR="64008" marT="36576" marB="36576" anchor="ctr">
                    <a:lnL w="6350" cap="flat" cmpd="sng" algn="ctr">
                      <a:solidFill>
                        <a:srgbClr val="D5DCE8"/>
                      </a:solidFill>
                      <a:prstDash val="solid"/>
                      <a:round/>
                      <a:headEnd type="none" w="med" len="med"/>
                      <a:tailEnd type="none" w="med" len="med"/>
                    </a:lnL>
                    <a:lnR w="6350" cap="flat" cmpd="sng" algn="ctr">
                      <a:solidFill>
                        <a:srgbClr val="D5DCE8"/>
                      </a:solidFill>
                      <a:prstDash val="solid"/>
                      <a:round/>
                      <a:headEnd type="none" w="med" len="med"/>
                      <a:tailEnd type="none" w="med" len="med"/>
                    </a:lnR>
                    <a:lnT w="6350" cap="flat" cmpd="sng" algn="ctr">
                      <a:solidFill>
                        <a:srgbClr val="D5DCE8"/>
                      </a:solidFill>
                      <a:prstDash val="solid"/>
                      <a:round/>
                      <a:headEnd type="none" w="med" len="med"/>
                      <a:tailEnd type="none" w="med" len="med"/>
                    </a:lnT>
                    <a:lnB w="6350" cap="flat" cmpd="sng" algn="ctr">
                      <a:solidFill>
                        <a:srgbClr val="D5DCE8"/>
                      </a:solidFill>
                      <a:prstDash val="solid"/>
                      <a:round/>
                      <a:headEnd type="none" w="med" len="med"/>
                      <a:tailEnd type="none" w="med" len="med"/>
                    </a:lnB>
                  </a:tcPr>
                </a:tc>
                <a:extLst>
                  <a:ext uri="{0D108BD9-81ED-4DB2-BD59-A6C34878D82A}">
                    <a16:rowId xmlns:a16="http://schemas.microsoft.com/office/drawing/2014/main" val="10012"/>
                  </a:ext>
                </a:extLst>
              </a:tr>
            </a:tbl>
          </a:graphicData>
        </a:graphic>
      </p:graphicFrame>
      <p:sp>
        <p:nvSpPr>
          <p:cNvPr id="15" name="Text 11"/>
          <p:cNvSpPr txBox="1"/>
          <p:nvPr/>
        </p:nvSpPr>
        <p:spPr>
          <a:xfrm>
            <a:off x="457200" y="4572000"/>
            <a:ext cx="7772400" cy="182880"/>
          </a:xfrm>
          <a:prstGeom prst="rect">
            <a:avLst/>
          </a:prstGeom>
          <a:noFill/>
          <a:ln/>
        </p:spPr>
        <p:txBody>
          <a:bodyPr wrap="square" lIns="0" tIns="0" rIns="0" bIns="0" rtlCol="0" anchor="t"/>
          <a:lstStyle/>
          <a:p>
            <a:pPr marL="0" indent="0">
              <a:buNone/>
            </a:pPr>
            <a:r>
              <a:rPr lang="en-US" sz="1000" i="1" dirty="0">
                <a:solidFill>
                  <a:schemeClr val="tx2"/>
                </a:solidFill>
              </a:rPr>
              <a:t>Statuses as recorded in report Table 6.2. No performance figures were measured.</a:t>
            </a:r>
            <a:endParaRPr lang="en-US" sz="1000" dirty="0"/>
          </a:p>
        </p:txBody>
      </p:sp>
      <p:sp>
        <p:nvSpPr>
          <p:cNvPr id="25" name="Slide Number Placeholder 0"/>
          <p:cNvSpPr>
            <a:spLocks noGrp="1"/>
          </p:cNvSpPr>
          <p:nvPr>
            <p:ph type="sldNum" sz="quarter" idx="4294967295"/>
          </p:nvPr>
        </p:nvSpPr>
        <p:spPr>
          <a:xfrm>
            <a:off x="8138160" y="4791456"/>
            <a:ext cx="548640" cy="228600"/>
          </a:xfrm>
          <a:prstGeom prst="rect">
            <a:avLst/>
          </a:prstGeom>
          <a:extLst>
            <a:ext uri="{C572A759-6A51-4108-AA02-DFA0A04FC94B}">
              <ma14:wrappingTextBoxFlag xmlns:ma14="http://schemas.microsoft.com/office/mac/drawingml/2011/main" xmlns="" val="0"/>
            </a:ext>
          </a:extLst>
        </p:spPr>
        <p:txBody>
          <a:bodyPr/>
          <a:lstStyle>
            <a:lvl1pPr>
              <a:defRPr sz="1000">
                <a:solidFill>
                  <a:srgbClr val="475569"/>
                </a:solidFill>
              </a:defRPr>
            </a:lvl1pPr>
          </a:lstStyle>
          <a:p>
            <a:pPr algn="r"/>
            <a:fld id="{F7021451-1387-4CA6-816F-3879F97B5CBC}" type="slidenum">
              <a:rPr lang="en-US" b="0"/>
              <a:t>27</a:t>
            </a:fld>
            <a:endParaRPr lang="en-US"/>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name="Slide 28">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457200" y="420624"/>
            <a:ext cx="8229600" cy="566928"/>
          </a:xfrm>
          <a:prstGeom prst="rect">
            <a:avLst/>
          </a:prstGeom>
          <a:noFill/>
          <a:ln/>
        </p:spPr>
        <p:txBody>
          <a:bodyPr wrap="square" lIns="0" tIns="0" rIns="0" bIns="0" rtlCol="0" anchor="ctr"/>
          <a:lstStyle/>
          <a:p>
            <a:pPr marL="0" indent="0" algn="l">
              <a:buNone/>
            </a:pPr>
            <a:r>
              <a:rPr lang="en-US" sz="2800" b="1" dirty="0">
                <a:solidFill>
                  <a:schemeClr val="tx1"/>
                </a:solidFill>
              </a:rPr>
              <a:t>Existing approach vs PackTrace</a:t>
            </a:r>
            <a:endParaRPr lang="en-US" sz="2800" dirty="0"/>
          </a:p>
        </p:txBody>
      </p:sp>
      <p:sp>
        <p:nvSpPr>
          <p:cNvPr id="3" name="Text 1"/>
          <p:cNvSpPr txBox="1"/>
          <p:nvPr/>
        </p:nvSpPr>
        <p:spPr>
          <a:xfrm>
            <a:off x="457200" y="219456"/>
            <a:ext cx="5486400" cy="182880"/>
          </a:xfrm>
          <a:prstGeom prst="rect">
            <a:avLst/>
          </a:prstGeom>
          <a:noFill/>
          <a:ln/>
        </p:spPr>
        <p:txBody>
          <a:bodyPr wrap="square" lIns="0" tIns="0" rIns="0" bIns="0" rtlCol="0" anchor="t"/>
          <a:lstStyle/>
          <a:p>
            <a:pPr marL="0" indent="0">
              <a:buNone/>
            </a:pPr>
            <a:r>
              <a:rPr lang="en-US" sz="1000" b="1" kern="0" spc="200" dirty="0">
                <a:solidFill>
                  <a:schemeClr val="accent1"/>
                </a:solidFill>
              </a:rPr>
              <a:t>COMPARISON</a:t>
            </a:r>
            <a:endParaRPr lang="en-US" sz="1000" dirty="0"/>
          </a:p>
        </p:txBody>
      </p:sp>
      <p:graphicFrame>
        <p:nvGraphicFramePr>
          <p:cNvPr id="29" name="Table 0"/>
          <p:cNvGraphicFramePr>
            <a:graphicFrameLocks noGrp="1"/>
          </p:cNvGraphicFramePr>
          <p:nvPr>
            <p:extLst>
              <p:ext uri="{D42A27DB-BD31-4B8C-83A1-F6EECF244321}">
                <p14:modId xmlns:p14="http://schemas.microsoft.com/office/powerpoint/2010/main" val="1579011935"/>
              </p:ext>
            </p:extLst>
          </p:nvPr>
        </p:nvGraphicFramePr>
        <p:xfrm>
          <a:off x="457200" y="1188720"/>
          <a:ext cx="8229600" cy="3383280"/>
        </p:xfrm>
        <a:graphic>
          <a:graphicData uri="http://schemas.openxmlformats.org/drawingml/2006/table">
            <a:tbl>
              <a:tblPr/>
              <a:tblGrid>
                <a:gridCol w="1737360">
                  <a:extLst>
                    <a:ext uri="{9D8B030D-6E8A-4147-A177-3AD203B41FA5}">
                      <a16:colId xmlns:a16="http://schemas.microsoft.com/office/drawing/2014/main" val="20000"/>
                    </a:ext>
                  </a:extLst>
                </a:gridCol>
                <a:gridCol w="1920240">
                  <a:extLst>
                    <a:ext uri="{9D8B030D-6E8A-4147-A177-3AD203B41FA5}">
                      <a16:colId xmlns:a16="http://schemas.microsoft.com/office/drawing/2014/main" val="20001"/>
                    </a:ext>
                  </a:extLst>
                </a:gridCol>
                <a:gridCol w="2926080">
                  <a:extLst>
                    <a:ext uri="{9D8B030D-6E8A-4147-A177-3AD203B41FA5}">
                      <a16:colId xmlns:a16="http://schemas.microsoft.com/office/drawing/2014/main" val="20002"/>
                    </a:ext>
                  </a:extLst>
                </a:gridCol>
                <a:gridCol w="1645920">
                  <a:extLst>
                    <a:ext uri="{9D8B030D-6E8A-4147-A177-3AD203B41FA5}">
                      <a16:colId xmlns:a16="http://schemas.microsoft.com/office/drawing/2014/main" val="20003"/>
                    </a:ext>
                  </a:extLst>
                </a:gridCol>
              </a:tblGrid>
              <a:tr h="310896">
                <a:tc>
                  <a:txBody>
                    <a:bodyPr/>
                    <a:lstStyle/>
                    <a:p>
                      <a:pPr marL="0" indent="0">
                        <a:buNone/>
                      </a:pPr>
                      <a:r>
                        <a:rPr lang="en-US" sz="1100" b="1" dirty="0">
                          <a:solidFill>
                            <a:schemeClr val="bg1"/>
                          </a:solidFill>
                        </a:rPr>
                        <a:t>Feature</a:t>
                      </a:r>
                      <a:endParaRPr lang="en-US" sz="1100" dirty="0"/>
                    </a:p>
                  </a:txBody>
                  <a:tcPr marL="64008" marR="64008" marT="36576" marB="36576" anchor="ctr">
                    <a:lnL w="6350" cap="flat" cmpd="sng" algn="ctr">
                      <a:solidFill>
                        <a:srgbClr val="D5DCE8"/>
                      </a:solidFill>
                      <a:prstDash val="solid"/>
                      <a:round/>
                      <a:headEnd type="none" w="med" len="med"/>
                      <a:tailEnd type="none" w="med" len="med"/>
                    </a:lnL>
                    <a:lnR w="6350" cap="flat" cmpd="sng" algn="ctr">
                      <a:solidFill>
                        <a:srgbClr val="D5DCE8"/>
                      </a:solidFill>
                      <a:prstDash val="solid"/>
                      <a:round/>
                      <a:headEnd type="none" w="med" len="med"/>
                      <a:tailEnd type="none" w="med" len="med"/>
                    </a:lnR>
                    <a:lnT w="6350" cap="flat" cmpd="sng" algn="ctr">
                      <a:solidFill>
                        <a:srgbClr val="D5DCE8"/>
                      </a:solidFill>
                      <a:prstDash val="solid"/>
                      <a:round/>
                      <a:headEnd type="none" w="med" len="med"/>
                      <a:tailEnd type="none" w="med" len="med"/>
                    </a:lnT>
                    <a:lnB w="6350" cap="flat" cmpd="sng" algn="ctr">
                      <a:solidFill>
                        <a:srgbClr val="D5DCE8"/>
                      </a:solidFill>
                      <a:prstDash val="solid"/>
                      <a:round/>
                      <a:headEnd type="none" w="med" len="med"/>
                      <a:tailEnd type="none" w="med" len="med"/>
                    </a:lnB>
                    <a:solidFill>
                      <a:schemeClr val="tx1"/>
                    </a:solidFill>
                  </a:tcPr>
                </a:tc>
                <a:tc>
                  <a:txBody>
                    <a:bodyPr/>
                    <a:lstStyle/>
                    <a:p>
                      <a:pPr marL="0" indent="0">
                        <a:buNone/>
                      </a:pPr>
                      <a:r>
                        <a:rPr lang="en-US" sz="1100" b="1" dirty="0">
                          <a:solidFill>
                            <a:schemeClr val="bg1"/>
                          </a:solidFill>
                        </a:rPr>
                        <a:t>Existing approach</a:t>
                      </a:r>
                      <a:endParaRPr lang="en-US" sz="1100" dirty="0"/>
                    </a:p>
                  </a:txBody>
                  <a:tcPr marL="64008" marR="64008" marT="36576" marB="36576" anchor="ctr">
                    <a:lnL w="6350" cap="flat" cmpd="sng" algn="ctr">
                      <a:solidFill>
                        <a:srgbClr val="D5DCE8"/>
                      </a:solidFill>
                      <a:prstDash val="solid"/>
                      <a:round/>
                      <a:headEnd type="none" w="med" len="med"/>
                      <a:tailEnd type="none" w="med" len="med"/>
                    </a:lnL>
                    <a:lnR w="6350" cap="flat" cmpd="sng" algn="ctr">
                      <a:solidFill>
                        <a:srgbClr val="D5DCE8"/>
                      </a:solidFill>
                      <a:prstDash val="solid"/>
                      <a:round/>
                      <a:headEnd type="none" w="med" len="med"/>
                      <a:tailEnd type="none" w="med" len="med"/>
                    </a:lnR>
                    <a:lnT w="6350" cap="flat" cmpd="sng" algn="ctr">
                      <a:solidFill>
                        <a:srgbClr val="D5DCE8"/>
                      </a:solidFill>
                      <a:prstDash val="solid"/>
                      <a:round/>
                      <a:headEnd type="none" w="med" len="med"/>
                      <a:tailEnd type="none" w="med" len="med"/>
                    </a:lnT>
                    <a:lnB w="6350" cap="flat" cmpd="sng" algn="ctr">
                      <a:solidFill>
                        <a:srgbClr val="D5DCE8"/>
                      </a:solidFill>
                      <a:prstDash val="solid"/>
                      <a:round/>
                      <a:headEnd type="none" w="med" len="med"/>
                      <a:tailEnd type="none" w="med" len="med"/>
                    </a:lnB>
                    <a:solidFill>
                      <a:schemeClr val="tx1"/>
                    </a:solidFill>
                  </a:tcPr>
                </a:tc>
                <a:tc>
                  <a:txBody>
                    <a:bodyPr/>
                    <a:lstStyle/>
                    <a:p>
                      <a:pPr marL="0" indent="0">
                        <a:buNone/>
                      </a:pPr>
                      <a:r>
                        <a:rPr lang="en-US" sz="1100" b="1" dirty="0">
                          <a:solidFill>
                            <a:schemeClr val="bg1"/>
                          </a:solidFill>
                        </a:rPr>
                        <a:t>PackTrace</a:t>
                      </a:r>
                      <a:endParaRPr lang="en-US" sz="1100" dirty="0"/>
                    </a:p>
                  </a:txBody>
                  <a:tcPr marL="64008" marR="64008" marT="36576" marB="36576" anchor="ctr">
                    <a:lnL w="6350" cap="flat" cmpd="sng" algn="ctr">
                      <a:solidFill>
                        <a:srgbClr val="D5DCE8"/>
                      </a:solidFill>
                      <a:prstDash val="solid"/>
                      <a:round/>
                      <a:headEnd type="none" w="med" len="med"/>
                      <a:tailEnd type="none" w="med" len="med"/>
                    </a:lnL>
                    <a:lnR w="6350" cap="flat" cmpd="sng" algn="ctr">
                      <a:solidFill>
                        <a:srgbClr val="D5DCE8"/>
                      </a:solidFill>
                      <a:prstDash val="solid"/>
                      <a:round/>
                      <a:headEnd type="none" w="med" len="med"/>
                      <a:tailEnd type="none" w="med" len="med"/>
                    </a:lnR>
                    <a:lnT w="6350" cap="flat" cmpd="sng" algn="ctr">
                      <a:solidFill>
                        <a:srgbClr val="D5DCE8"/>
                      </a:solidFill>
                      <a:prstDash val="solid"/>
                      <a:round/>
                      <a:headEnd type="none" w="med" len="med"/>
                      <a:tailEnd type="none" w="med" len="med"/>
                    </a:lnT>
                    <a:lnB w="6350" cap="flat" cmpd="sng" algn="ctr">
                      <a:solidFill>
                        <a:srgbClr val="D5DCE8"/>
                      </a:solidFill>
                      <a:prstDash val="solid"/>
                      <a:round/>
                      <a:headEnd type="none" w="med" len="med"/>
                      <a:tailEnd type="none" w="med" len="med"/>
                    </a:lnB>
                    <a:solidFill>
                      <a:schemeClr val="tx1"/>
                    </a:solidFill>
                  </a:tcPr>
                </a:tc>
                <a:tc>
                  <a:txBody>
                    <a:bodyPr/>
                    <a:lstStyle/>
                    <a:p>
                      <a:pPr marL="0" indent="0">
                        <a:buNone/>
                      </a:pPr>
                      <a:r>
                        <a:rPr lang="en-US" sz="1100" b="1" dirty="0">
                          <a:solidFill>
                            <a:schemeClr val="bg1"/>
                          </a:solidFill>
                        </a:rPr>
                        <a:t>Evidence in code</a:t>
                      </a:r>
                      <a:endParaRPr lang="en-US" sz="1100" dirty="0"/>
                    </a:p>
                  </a:txBody>
                  <a:tcPr marL="64008" marR="64008" marT="36576" marB="36576" anchor="ctr">
                    <a:lnL w="6350" cap="flat" cmpd="sng" algn="ctr">
                      <a:solidFill>
                        <a:srgbClr val="D5DCE8"/>
                      </a:solidFill>
                      <a:prstDash val="solid"/>
                      <a:round/>
                      <a:headEnd type="none" w="med" len="med"/>
                      <a:tailEnd type="none" w="med" len="med"/>
                    </a:lnL>
                    <a:lnR w="6350" cap="flat" cmpd="sng" algn="ctr">
                      <a:solidFill>
                        <a:srgbClr val="D5DCE8"/>
                      </a:solidFill>
                      <a:prstDash val="solid"/>
                      <a:round/>
                      <a:headEnd type="none" w="med" len="med"/>
                      <a:tailEnd type="none" w="med" len="med"/>
                    </a:lnR>
                    <a:lnT w="6350" cap="flat" cmpd="sng" algn="ctr">
                      <a:solidFill>
                        <a:srgbClr val="D5DCE8"/>
                      </a:solidFill>
                      <a:prstDash val="solid"/>
                      <a:round/>
                      <a:headEnd type="none" w="med" len="med"/>
                      <a:tailEnd type="none" w="med" len="med"/>
                    </a:lnT>
                    <a:lnB w="6350" cap="flat" cmpd="sng" algn="ctr">
                      <a:solidFill>
                        <a:srgbClr val="D5DCE8"/>
                      </a:solidFill>
                      <a:prstDash val="solid"/>
                      <a:round/>
                      <a:headEnd type="none" w="med" len="med"/>
                      <a:tailEnd type="none" w="med" len="med"/>
                    </a:lnB>
                    <a:solidFill>
                      <a:schemeClr val="tx1"/>
                    </a:solidFill>
                  </a:tcPr>
                </a:tc>
                <a:extLst>
                  <a:ext uri="{0D108BD9-81ED-4DB2-BD59-A6C34878D82A}">
                    <a16:rowId xmlns:a16="http://schemas.microsoft.com/office/drawing/2014/main" val="10000"/>
                  </a:ext>
                </a:extLst>
              </a:tr>
              <a:tr h="384048">
                <a:tc>
                  <a:txBody>
                    <a:bodyPr/>
                    <a:lstStyle/>
                    <a:p>
                      <a:pPr marL="0" indent="0">
                        <a:buNone/>
                      </a:pPr>
                      <a:r>
                        <a:rPr lang="en-US" sz="1050" b="1" dirty="0">
                          <a:solidFill>
                            <a:schemeClr val="tx1"/>
                          </a:solidFill>
                        </a:rPr>
                        <a:t>Group management</a:t>
                      </a:r>
                      <a:endParaRPr lang="en-US" sz="1050" dirty="0"/>
                    </a:p>
                  </a:txBody>
                  <a:tcPr marL="64008" marR="64008" marT="36576" marB="36576" anchor="ctr">
                    <a:lnL w="6350" cap="flat" cmpd="sng" algn="ctr">
                      <a:solidFill>
                        <a:srgbClr val="D5DCE8"/>
                      </a:solidFill>
                      <a:prstDash val="solid"/>
                      <a:round/>
                      <a:headEnd type="none" w="med" len="med"/>
                      <a:tailEnd type="none" w="med" len="med"/>
                    </a:lnL>
                    <a:lnR w="6350" cap="flat" cmpd="sng" algn="ctr">
                      <a:solidFill>
                        <a:srgbClr val="D5DCE8"/>
                      </a:solidFill>
                      <a:prstDash val="solid"/>
                      <a:round/>
                      <a:headEnd type="none" w="med" len="med"/>
                      <a:tailEnd type="none" w="med" len="med"/>
                    </a:lnR>
                    <a:lnT w="6350" cap="flat" cmpd="sng" algn="ctr">
                      <a:solidFill>
                        <a:srgbClr val="D5DCE8"/>
                      </a:solidFill>
                      <a:prstDash val="solid"/>
                      <a:round/>
                      <a:headEnd type="none" w="med" len="med"/>
                      <a:tailEnd type="none" w="med" len="med"/>
                    </a:lnT>
                    <a:lnB w="6350" cap="flat" cmpd="sng" algn="ctr">
                      <a:solidFill>
                        <a:srgbClr val="D5DCE8"/>
                      </a:solidFill>
                      <a:prstDash val="solid"/>
                      <a:round/>
                      <a:headEnd type="none" w="med" len="med"/>
                      <a:tailEnd type="none" w="med" len="med"/>
                    </a:lnB>
                  </a:tcPr>
                </a:tc>
                <a:tc>
                  <a:txBody>
                    <a:bodyPr/>
                    <a:lstStyle/>
                    <a:p>
                      <a:pPr marL="0" indent="0">
                        <a:buNone/>
                      </a:pPr>
                      <a:r>
                        <a:rPr lang="en-US" sz="1050" dirty="0">
                          <a:solidFill>
                            <a:schemeClr val="tx1"/>
                          </a:solidFill>
                        </a:rPr>
                        <a:t>Limited</a:t>
                      </a:r>
                      <a:endParaRPr lang="en-US" sz="1050" dirty="0"/>
                    </a:p>
                  </a:txBody>
                  <a:tcPr marL="64008" marR="64008" marT="36576" marB="36576" anchor="ctr">
                    <a:lnL w="6350" cap="flat" cmpd="sng" algn="ctr">
                      <a:solidFill>
                        <a:srgbClr val="D5DCE8"/>
                      </a:solidFill>
                      <a:prstDash val="solid"/>
                      <a:round/>
                      <a:headEnd type="none" w="med" len="med"/>
                      <a:tailEnd type="none" w="med" len="med"/>
                    </a:lnL>
                    <a:lnR w="6350" cap="flat" cmpd="sng" algn="ctr">
                      <a:solidFill>
                        <a:srgbClr val="D5DCE8"/>
                      </a:solidFill>
                      <a:prstDash val="solid"/>
                      <a:round/>
                      <a:headEnd type="none" w="med" len="med"/>
                      <a:tailEnd type="none" w="med" len="med"/>
                    </a:lnR>
                    <a:lnT w="6350" cap="flat" cmpd="sng" algn="ctr">
                      <a:solidFill>
                        <a:srgbClr val="D5DCE8"/>
                      </a:solidFill>
                      <a:prstDash val="solid"/>
                      <a:round/>
                      <a:headEnd type="none" w="med" len="med"/>
                      <a:tailEnd type="none" w="med" len="med"/>
                    </a:lnT>
                    <a:lnB w="6350" cap="flat" cmpd="sng" algn="ctr">
                      <a:solidFill>
                        <a:srgbClr val="D5DCE8"/>
                      </a:solidFill>
                      <a:prstDash val="solid"/>
                      <a:round/>
                      <a:headEnd type="none" w="med" len="med"/>
                      <a:tailEnd type="none" w="med" len="med"/>
                    </a:lnB>
                  </a:tcPr>
                </a:tc>
                <a:tc>
                  <a:txBody>
                    <a:bodyPr/>
                    <a:lstStyle/>
                    <a:p>
                      <a:pPr marL="0" indent="0">
                        <a:buNone/>
                      </a:pPr>
                      <a:r>
                        <a:rPr lang="en-US" sz="1050" dirty="0">
                          <a:solidFill>
                            <a:schemeClr val="tx1"/>
                          </a:solidFill>
                        </a:rPr>
                        <a:t>Ride-based groups with join code, leader</a:t>
                      </a:r>
                      <a:endParaRPr lang="en-US" sz="1050" dirty="0"/>
                    </a:p>
                  </a:txBody>
                  <a:tcPr marL="64008" marR="64008" marT="36576" marB="36576" anchor="ctr">
                    <a:lnL w="6350" cap="flat" cmpd="sng" algn="ctr">
                      <a:solidFill>
                        <a:srgbClr val="D5DCE8"/>
                      </a:solidFill>
                      <a:prstDash val="solid"/>
                      <a:round/>
                      <a:headEnd type="none" w="med" len="med"/>
                      <a:tailEnd type="none" w="med" len="med"/>
                    </a:lnL>
                    <a:lnR w="6350" cap="flat" cmpd="sng" algn="ctr">
                      <a:solidFill>
                        <a:srgbClr val="D5DCE8"/>
                      </a:solidFill>
                      <a:prstDash val="solid"/>
                      <a:round/>
                      <a:headEnd type="none" w="med" len="med"/>
                      <a:tailEnd type="none" w="med" len="med"/>
                    </a:lnR>
                    <a:lnT w="6350" cap="flat" cmpd="sng" algn="ctr">
                      <a:solidFill>
                        <a:srgbClr val="D5DCE8"/>
                      </a:solidFill>
                      <a:prstDash val="solid"/>
                      <a:round/>
                      <a:headEnd type="none" w="med" len="med"/>
                      <a:tailEnd type="none" w="med" len="med"/>
                    </a:lnT>
                    <a:lnB w="6350" cap="flat" cmpd="sng" algn="ctr">
                      <a:solidFill>
                        <a:srgbClr val="D5DCE8"/>
                      </a:solidFill>
                      <a:prstDash val="solid"/>
                      <a:round/>
                      <a:headEnd type="none" w="med" len="med"/>
                      <a:tailEnd type="none" w="med" len="med"/>
                    </a:lnB>
                  </a:tcPr>
                </a:tc>
                <a:tc>
                  <a:txBody>
                    <a:bodyPr/>
                    <a:lstStyle/>
                    <a:p>
                      <a:pPr marL="0" indent="0">
                        <a:buNone/>
                      </a:pPr>
                      <a:r>
                        <a:rPr lang="en-US" sz="1050" dirty="0">
                          <a:solidFill>
                            <a:schemeClr val="tx2"/>
                          </a:solidFill>
                        </a:rPr>
                        <a:t>RideGroup, RideMember</a:t>
                      </a:r>
                      <a:endParaRPr lang="en-US" sz="1050" dirty="0"/>
                    </a:p>
                  </a:txBody>
                  <a:tcPr marL="64008" marR="64008" marT="36576" marB="36576" anchor="ctr">
                    <a:lnL w="6350" cap="flat" cmpd="sng" algn="ctr">
                      <a:solidFill>
                        <a:srgbClr val="D5DCE8"/>
                      </a:solidFill>
                      <a:prstDash val="solid"/>
                      <a:round/>
                      <a:headEnd type="none" w="med" len="med"/>
                      <a:tailEnd type="none" w="med" len="med"/>
                    </a:lnL>
                    <a:lnR w="6350" cap="flat" cmpd="sng" algn="ctr">
                      <a:solidFill>
                        <a:srgbClr val="D5DCE8"/>
                      </a:solidFill>
                      <a:prstDash val="solid"/>
                      <a:round/>
                      <a:headEnd type="none" w="med" len="med"/>
                      <a:tailEnd type="none" w="med" len="med"/>
                    </a:lnR>
                    <a:lnT w="6350" cap="flat" cmpd="sng" algn="ctr">
                      <a:solidFill>
                        <a:srgbClr val="D5DCE8"/>
                      </a:solidFill>
                      <a:prstDash val="solid"/>
                      <a:round/>
                      <a:headEnd type="none" w="med" len="med"/>
                      <a:tailEnd type="none" w="med" len="med"/>
                    </a:lnT>
                    <a:lnB w="6350" cap="flat" cmpd="sng" algn="ctr">
                      <a:solidFill>
                        <a:srgbClr val="D5DCE8"/>
                      </a:solidFill>
                      <a:prstDash val="solid"/>
                      <a:round/>
                      <a:headEnd type="none" w="med" len="med"/>
                      <a:tailEnd type="none" w="med" len="med"/>
                    </a:lnB>
                  </a:tcPr>
                </a:tc>
                <a:extLst>
                  <a:ext uri="{0D108BD9-81ED-4DB2-BD59-A6C34878D82A}">
                    <a16:rowId xmlns:a16="http://schemas.microsoft.com/office/drawing/2014/main" val="10001"/>
                  </a:ext>
                </a:extLst>
              </a:tr>
              <a:tr h="384048">
                <a:tc>
                  <a:txBody>
                    <a:bodyPr/>
                    <a:lstStyle/>
                    <a:p>
                      <a:pPr marL="0" indent="0">
                        <a:buNone/>
                      </a:pPr>
                      <a:r>
                        <a:rPr lang="en-US" sz="1050" b="1" dirty="0">
                          <a:solidFill>
                            <a:schemeClr val="tx1"/>
                          </a:solidFill>
                        </a:rPr>
                        <a:t>Common map</a:t>
                      </a:r>
                      <a:endParaRPr lang="en-US" sz="1050" dirty="0"/>
                    </a:p>
                  </a:txBody>
                  <a:tcPr marL="64008" marR="64008" marT="36576" marB="36576" anchor="ctr">
                    <a:lnL w="6350" cap="flat" cmpd="sng" algn="ctr">
                      <a:solidFill>
                        <a:srgbClr val="D5DCE8"/>
                      </a:solidFill>
                      <a:prstDash val="solid"/>
                      <a:round/>
                      <a:headEnd type="none" w="med" len="med"/>
                      <a:tailEnd type="none" w="med" len="med"/>
                    </a:lnL>
                    <a:lnR w="6350" cap="flat" cmpd="sng" algn="ctr">
                      <a:solidFill>
                        <a:srgbClr val="D5DCE8"/>
                      </a:solidFill>
                      <a:prstDash val="solid"/>
                      <a:round/>
                      <a:headEnd type="none" w="med" len="med"/>
                      <a:tailEnd type="none" w="med" len="med"/>
                    </a:lnR>
                    <a:lnT w="6350" cap="flat" cmpd="sng" algn="ctr">
                      <a:solidFill>
                        <a:srgbClr val="D5DCE8"/>
                      </a:solidFill>
                      <a:prstDash val="solid"/>
                      <a:round/>
                      <a:headEnd type="none" w="med" len="med"/>
                      <a:tailEnd type="none" w="med" len="med"/>
                    </a:lnT>
                    <a:lnB w="6350" cap="flat" cmpd="sng" algn="ctr">
                      <a:solidFill>
                        <a:srgbClr val="D5DCE8"/>
                      </a:solidFill>
                      <a:prstDash val="solid"/>
                      <a:round/>
                      <a:headEnd type="none" w="med" len="med"/>
                      <a:tailEnd type="none" w="med" len="med"/>
                    </a:lnB>
                  </a:tcPr>
                </a:tc>
                <a:tc>
                  <a:txBody>
                    <a:bodyPr/>
                    <a:lstStyle/>
                    <a:p>
                      <a:pPr marL="0" indent="0">
                        <a:buNone/>
                      </a:pPr>
                      <a:r>
                        <a:rPr lang="en-US" sz="1050" dirty="0">
                          <a:solidFill>
                            <a:schemeClr val="tx1"/>
                          </a:solidFill>
                        </a:rPr>
                        <a:t>Limited / separate shares</a:t>
                      </a:r>
                      <a:endParaRPr lang="en-US" sz="1050" dirty="0"/>
                    </a:p>
                  </a:txBody>
                  <a:tcPr marL="64008" marR="64008" marT="36576" marB="36576" anchor="ctr">
                    <a:lnL w="6350" cap="flat" cmpd="sng" algn="ctr">
                      <a:solidFill>
                        <a:srgbClr val="D5DCE8"/>
                      </a:solidFill>
                      <a:prstDash val="solid"/>
                      <a:round/>
                      <a:headEnd type="none" w="med" len="med"/>
                      <a:tailEnd type="none" w="med" len="med"/>
                    </a:lnL>
                    <a:lnR w="6350" cap="flat" cmpd="sng" algn="ctr">
                      <a:solidFill>
                        <a:srgbClr val="D5DCE8"/>
                      </a:solidFill>
                      <a:prstDash val="solid"/>
                      <a:round/>
                      <a:headEnd type="none" w="med" len="med"/>
                      <a:tailEnd type="none" w="med" len="med"/>
                    </a:lnR>
                    <a:lnT w="6350" cap="flat" cmpd="sng" algn="ctr">
                      <a:solidFill>
                        <a:srgbClr val="D5DCE8"/>
                      </a:solidFill>
                      <a:prstDash val="solid"/>
                      <a:round/>
                      <a:headEnd type="none" w="med" len="med"/>
                      <a:tailEnd type="none" w="med" len="med"/>
                    </a:lnT>
                    <a:lnB w="6350" cap="flat" cmpd="sng" algn="ctr">
                      <a:solidFill>
                        <a:srgbClr val="D5DCE8"/>
                      </a:solidFill>
                      <a:prstDash val="solid"/>
                      <a:round/>
                      <a:headEnd type="none" w="med" len="med"/>
                      <a:tailEnd type="none" w="med" len="med"/>
                    </a:lnB>
                  </a:tcPr>
                </a:tc>
                <a:tc>
                  <a:txBody>
                    <a:bodyPr/>
                    <a:lstStyle/>
                    <a:p>
                      <a:pPr marL="0" indent="0">
                        <a:buNone/>
                      </a:pPr>
                      <a:r>
                        <a:rPr lang="en-US" sz="1050" dirty="0">
                          <a:solidFill>
                            <a:schemeClr val="tx1"/>
                          </a:solidFill>
                        </a:rPr>
                        <a:t>Centralised Google Map for the ride</a:t>
                      </a:r>
                      <a:endParaRPr lang="en-US" sz="1050" dirty="0"/>
                    </a:p>
                  </a:txBody>
                  <a:tcPr marL="64008" marR="64008" marT="36576" marB="36576" anchor="ctr">
                    <a:lnL w="6350" cap="flat" cmpd="sng" algn="ctr">
                      <a:solidFill>
                        <a:srgbClr val="D5DCE8"/>
                      </a:solidFill>
                      <a:prstDash val="solid"/>
                      <a:round/>
                      <a:headEnd type="none" w="med" len="med"/>
                      <a:tailEnd type="none" w="med" len="med"/>
                    </a:lnL>
                    <a:lnR w="6350" cap="flat" cmpd="sng" algn="ctr">
                      <a:solidFill>
                        <a:srgbClr val="D5DCE8"/>
                      </a:solidFill>
                      <a:prstDash val="solid"/>
                      <a:round/>
                      <a:headEnd type="none" w="med" len="med"/>
                      <a:tailEnd type="none" w="med" len="med"/>
                    </a:lnR>
                    <a:lnT w="6350" cap="flat" cmpd="sng" algn="ctr">
                      <a:solidFill>
                        <a:srgbClr val="D5DCE8"/>
                      </a:solidFill>
                      <a:prstDash val="solid"/>
                      <a:round/>
                      <a:headEnd type="none" w="med" len="med"/>
                      <a:tailEnd type="none" w="med" len="med"/>
                    </a:lnT>
                    <a:lnB w="6350" cap="flat" cmpd="sng" algn="ctr">
                      <a:solidFill>
                        <a:srgbClr val="D5DCE8"/>
                      </a:solidFill>
                      <a:prstDash val="solid"/>
                      <a:round/>
                      <a:headEnd type="none" w="med" len="med"/>
                      <a:tailEnd type="none" w="med" len="med"/>
                    </a:lnB>
                  </a:tcPr>
                </a:tc>
                <a:tc>
                  <a:txBody>
                    <a:bodyPr/>
                    <a:lstStyle/>
                    <a:p>
                      <a:pPr marL="0" indent="0">
                        <a:buNone/>
                      </a:pPr>
                      <a:r>
                        <a:rPr lang="en-US" sz="1050" dirty="0">
                          <a:solidFill>
                            <a:schemeClr val="tx2"/>
                          </a:solidFill>
                        </a:rPr>
                        <a:t>dashboard.html</a:t>
                      </a:r>
                      <a:endParaRPr lang="en-US" sz="1050" dirty="0"/>
                    </a:p>
                  </a:txBody>
                  <a:tcPr marL="64008" marR="64008" marT="36576" marB="36576" anchor="ctr">
                    <a:lnL w="6350" cap="flat" cmpd="sng" algn="ctr">
                      <a:solidFill>
                        <a:srgbClr val="D5DCE8"/>
                      </a:solidFill>
                      <a:prstDash val="solid"/>
                      <a:round/>
                      <a:headEnd type="none" w="med" len="med"/>
                      <a:tailEnd type="none" w="med" len="med"/>
                    </a:lnL>
                    <a:lnR w="6350" cap="flat" cmpd="sng" algn="ctr">
                      <a:solidFill>
                        <a:srgbClr val="D5DCE8"/>
                      </a:solidFill>
                      <a:prstDash val="solid"/>
                      <a:round/>
                      <a:headEnd type="none" w="med" len="med"/>
                      <a:tailEnd type="none" w="med" len="med"/>
                    </a:lnR>
                    <a:lnT w="6350" cap="flat" cmpd="sng" algn="ctr">
                      <a:solidFill>
                        <a:srgbClr val="D5DCE8"/>
                      </a:solidFill>
                      <a:prstDash val="solid"/>
                      <a:round/>
                      <a:headEnd type="none" w="med" len="med"/>
                      <a:tailEnd type="none" w="med" len="med"/>
                    </a:lnT>
                    <a:lnB w="6350" cap="flat" cmpd="sng" algn="ctr">
                      <a:solidFill>
                        <a:srgbClr val="D5DCE8"/>
                      </a:solidFill>
                      <a:prstDash val="solid"/>
                      <a:round/>
                      <a:headEnd type="none" w="med" len="med"/>
                      <a:tailEnd type="none" w="med" len="med"/>
                    </a:lnB>
                  </a:tcPr>
                </a:tc>
                <a:extLst>
                  <a:ext uri="{0D108BD9-81ED-4DB2-BD59-A6C34878D82A}">
                    <a16:rowId xmlns:a16="http://schemas.microsoft.com/office/drawing/2014/main" val="10002"/>
                  </a:ext>
                </a:extLst>
              </a:tr>
              <a:tr h="384048">
                <a:tc>
                  <a:txBody>
                    <a:bodyPr/>
                    <a:lstStyle/>
                    <a:p>
                      <a:pPr marL="0" indent="0">
                        <a:buNone/>
                      </a:pPr>
                      <a:r>
                        <a:rPr lang="en-US" sz="1050" b="1" dirty="0">
                          <a:solidFill>
                            <a:schemeClr val="tx1"/>
                          </a:solidFill>
                        </a:rPr>
                        <a:t>Live rider tracking</a:t>
                      </a:r>
                      <a:endParaRPr lang="en-US" sz="1050" dirty="0"/>
                    </a:p>
                  </a:txBody>
                  <a:tcPr marL="64008" marR="64008" marT="36576" marB="36576" anchor="ctr">
                    <a:lnL w="6350" cap="flat" cmpd="sng" algn="ctr">
                      <a:solidFill>
                        <a:srgbClr val="D5DCE8"/>
                      </a:solidFill>
                      <a:prstDash val="solid"/>
                      <a:round/>
                      <a:headEnd type="none" w="med" len="med"/>
                      <a:tailEnd type="none" w="med" len="med"/>
                    </a:lnL>
                    <a:lnR w="6350" cap="flat" cmpd="sng" algn="ctr">
                      <a:solidFill>
                        <a:srgbClr val="D5DCE8"/>
                      </a:solidFill>
                      <a:prstDash val="solid"/>
                      <a:round/>
                      <a:headEnd type="none" w="med" len="med"/>
                      <a:tailEnd type="none" w="med" len="med"/>
                    </a:lnR>
                    <a:lnT w="6350" cap="flat" cmpd="sng" algn="ctr">
                      <a:solidFill>
                        <a:srgbClr val="D5DCE8"/>
                      </a:solidFill>
                      <a:prstDash val="solid"/>
                      <a:round/>
                      <a:headEnd type="none" w="med" len="med"/>
                      <a:tailEnd type="none" w="med" len="med"/>
                    </a:lnT>
                    <a:lnB w="6350" cap="flat" cmpd="sng" algn="ctr">
                      <a:solidFill>
                        <a:srgbClr val="D5DCE8"/>
                      </a:solidFill>
                      <a:prstDash val="solid"/>
                      <a:round/>
                      <a:headEnd type="none" w="med" len="med"/>
                      <a:tailEnd type="none" w="med" len="med"/>
                    </a:lnB>
                  </a:tcPr>
                </a:tc>
                <a:tc>
                  <a:txBody>
                    <a:bodyPr/>
                    <a:lstStyle/>
                    <a:p>
                      <a:pPr marL="0" indent="0">
                        <a:buNone/>
                      </a:pPr>
                      <a:r>
                        <a:rPr lang="en-US" sz="1050" dirty="0">
                          <a:solidFill>
                            <a:schemeClr val="tx1"/>
                          </a:solidFill>
                        </a:rPr>
                        <a:t>Individual sharing</a:t>
                      </a:r>
                      <a:endParaRPr lang="en-US" sz="1050" dirty="0"/>
                    </a:p>
                  </a:txBody>
                  <a:tcPr marL="64008" marR="64008" marT="36576" marB="36576" anchor="ctr">
                    <a:lnL w="6350" cap="flat" cmpd="sng" algn="ctr">
                      <a:solidFill>
                        <a:srgbClr val="D5DCE8"/>
                      </a:solidFill>
                      <a:prstDash val="solid"/>
                      <a:round/>
                      <a:headEnd type="none" w="med" len="med"/>
                      <a:tailEnd type="none" w="med" len="med"/>
                    </a:lnL>
                    <a:lnR w="6350" cap="flat" cmpd="sng" algn="ctr">
                      <a:solidFill>
                        <a:srgbClr val="D5DCE8"/>
                      </a:solidFill>
                      <a:prstDash val="solid"/>
                      <a:round/>
                      <a:headEnd type="none" w="med" len="med"/>
                      <a:tailEnd type="none" w="med" len="med"/>
                    </a:lnR>
                    <a:lnT w="6350" cap="flat" cmpd="sng" algn="ctr">
                      <a:solidFill>
                        <a:srgbClr val="D5DCE8"/>
                      </a:solidFill>
                      <a:prstDash val="solid"/>
                      <a:round/>
                      <a:headEnd type="none" w="med" len="med"/>
                      <a:tailEnd type="none" w="med" len="med"/>
                    </a:lnT>
                    <a:lnB w="6350" cap="flat" cmpd="sng" algn="ctr">
                      <a:solidFill>
                        <a:srgbClr val="D5DCE8"/>
                      </a:solidFill>
                      <a:prstDash val="solid"/>
                      <a:round/>
                      <a:headEnd type="none" w="med" len="med"/>
                      <a:tailEnd type="none" w="med" len="med"/>
                    </a:lnB>
                  </a:tcPr>
                </a:tc>
                <a:tc>
                  <a:txBody>
                    <a:bodyPr/>
                    <a:lstStyle/>
                    <a:p>
                      <a:pPr marL="0" indent="0">
                        <a:buNone/>
                      </a:pPr>
                      <a:r>
                        <a:rPr lang="en-US" sz="1050" dirty="0">
                          <a:solidFill>
                            <a:schemeClr val="tx1"/>
                          </a:solidFill>
                        </a:rPr>
                        <a:t>Group tracking over WebSocket</a:t>
                      </a:r>
                      <a:endParaRPr lang="en-US" sz="1050" dirty="0"/>
                    </a:p>
                  </a:txBody>
                  <a:tcPr marL="64008" marR="64008" marT="36576" marB="36576" anchor="ctr">
                    <a:lnL w="6350" cap="flat" cmpd="sng" algn="ctr">
                      <a:solidFill>
                        <a:srgbClr val="D5DCE8"/>
                      </a:solidFill>
                      <a:prstDash val="solid"/>
                      <a:round/>
                      <a:headEnd type="none" w="med" len="med"/>
                      <a:tailEnd type="none" w="med" len="med"/>
                    </a:lnL>
                    <a:lnR w="6350" cap="flat" cmpd="sng" algn="ctr">
                      <a:solidFill>
                        <a:srgbClr val="D5DCE8"/>
                      </a:solidFill>
                      <a:prstDash val="solid"/>
                      <a:round/>
                      <a:headEnd type="none" w="med" len="med"/>
                      <a:tailEnd type="none" w="med" len="med"/>
                    </a:lnR>
                    <a:lnT w="6350" cap="flat" cmpd="sng" algn="ctr">
                      <a:solidFill>
                        <a:srgbClr val="D5DCE8"/>
                      </a:solidFill>
                      <a:prstDash val="solid"/>
                      <a:round/>
                      <a:headEnd type="none" w="med" len="med"/>
                      <a:tailEnd type="none" w="med" len="med"/>
                    </a:lnT>
                    <a:lnB w="6350" cap="flat" cmpd="sng" algn="ctr">
                      <a:solidFill>
                        <a:srgbClr val="D5DCE8"/>
                      </a:solidFill>
                      <a:prstDash val="solid"/>
                      <a:round/>
                      <a:headEnd type="none" w="med" len="med"/>
                      <a:tailEnd type="none" w="med" len="med"/>
                    </a:lnB>
                  </a:tcPr>
                </a:tc>
                <a:tc>
                  <a:txBody>
                    <a:bodyPr/>
                    <a:lstStyle/>
                    <a:p>
                      <a:pPr marL="0" indent="0">
                        <a:buNone/>
                      </a:pPr>
                      <a:r>
                        <a:rPr lang="en-US" sz="1050" dirty="0">
                          <a:solidFill>
                            <a:schemeClr val="tx2"/>
                          </a:solidFill>
                        </a:rPr>
                        <a:t>consumers.py</a:t>
                      </a:r>
                      <a:endParaRPr lang="en-US" sz="1050" dirty="0"/>
                    </a:p>
                  </a:txBody>
                  <a:tcPr marL="64008" marR="64008" marT="36576" marB="36576" anchor="ctr">
                    <a:lnL w="6350" cap="flat" cmpd="sng" algn="ctr">
                      <a:solidFill>
                        <a:srgbClr val="D5DCE8"/>
                      </a:solidFill>
                      <a:prstDash val="solid"/>
                      <a:round/>
                      <a:headEnd type="none" w="med" len="med"/>
                      <a:tailEnd type="none" w="med" len="med"/>
                    </a:lnL>
                    <a:lnR w="6350" cap="flat" cmpd="sng" algn="ctr">
                      <a:solidFill>
                        <a:srgbClr val="D5DCE8"/>
                      </a:solidFill>
                      <a:prstDash val="solid"/>
                      <a:round/>
                      <a:headEnd type="none" w="med" len="med"/>
                      <a:tailEnd type="none" w="med" len="med"/>
                    </a:lnR>
                    <a:lnT w="6350" cap="flat" cmpd="sng" algn="ctr">
                      <a:solidFill>
                        <a:srgbClr val="D5DCE8"/>
                      </a:solidFill>
                      <a:prstDash val="solid"/>
                      <a:round/>
                      <a:headEnd type="none" w="med" len="med"/>
                      <a:tailEnd type="none" w="med" len="med"/>
                    </a:lnT>
                    <a:lnB w="6350" cap="flat" cmpd="sng" algn="ctr">
                      <a:solidFill>
                        <a:srgbClr val="D5DCE8"/>
                      </a:solidFill>
                      <a:prstDash val="solid"/>
                      <a:round/>
                      <a:headEnd type="none" w="med" len="med"/>
                      <a:tailEnd type="none" w="med" len="med"/>
                    </a:lnB>
                  </a:tcPr>
                </a:tc>
                <a:extLst>
                  <a:ext uri="{0D108BD9-81ED-4DB2-BD59-A6C34878D82A}">
                    <a16:rowId xmlns:a16="http://schemas.microsoft.com/office/drawing/2014/main" val="10003"/>
                  </a:ext>
                </a:extLst>
              </a:tr>
              <a:tr h="384048">
                <a:tc>
                  <a:txBody>
                    <a:bodyPr/>
                    <a:lstStyle/>
                    <a:p>
                      <a:pPr marL="0" indent="0">
                        <a:buNone/>
                      </a:pPr>
                      <a:r>
                        <a:rPr lang="en-US" sz="1050" b="1" dirty="0">
                          <a:solidFill>
                            <a:schemeClr val="tx1"/>
                          </a:solidFill>
                        </a:rPr>
                        <a:t>Disconnect handling</a:t>
                      </a:r>
                      <a:endParaRPr lang="en-US" sz="1050" dirty="0"/>
                    </a:p>
                  </a:txBody>
                  <a:tcPr marL="64008" marR="64008" marT="36576" marB="36576" anchor="ctr">
                    <a:lnL w="6350" cap="flat" cmpd="sng" algn="ctr">
                      <a:solidFill>
                        <a:srgbClr val="D5DCE8"/>
                      </a:solidFill>
                      <a:prstDash val="solid"/>
                      <a:round/>
                      <a:headEnd type="none" w="med" len="med"/>
                      <a:tailEnd type="none" w="med" len="med"/>
                    </a:lnL>
                    <a:lnR w="6350" cap="flat" cmpd="sng" algn="ctr">
                      <a:solidFill>
                        <a:srgbClr val="D5DCE8"/>
                      </a:solidFill>
                      <a:prstDash val="solid"/>
                      <a:round/>
                      <a:headEnd type="none" w="med" len="med"/>
                      <a:tailEnd type="none" w="med" len="med"/>
                    </a:lnR>
                    <a:lnT w="6350" cap="flat" cmpd="sng" algn="ctr">
                      <a:solidFill>
                        <a:srgbClr val="D5DCE8"/>
                      </a:solidFill>
                      <a:prstDash val="solid"/>
                      <a:round/>
                      <a:headEnd type="none" w="med" len="med"/>
                      <a:tailEnd type="none" w="med" len="med"/>
                    </a:lnT>
                    <a:lnB w="6350" cap="flat" cmpd="sng" algn="ctr">
                      <a:solidFill>
                        <a:srgbClr val="D5DCE8"/>
                      </a:solidFill>
                      <a:prstDash val="solid"/>
                      <a:round/>
                      <a:headEnd type="none" w="med" len="med"/>
                      <a:tailEnd type="none" w="med" len="med"/>
                    </a:lnB>
                  </a:tcPr>
                </a:tc>
                <a:tc>
                  <a:txBody>
                    <a:bodyPr/>
                    <a:lstStyle/>
                    <a:p>
                      <a:pPr marL="0" indent="0">
                        <a:buNone/>
                      </a:pPr>
                      <a:r>
                        <a:rPr lang="en-US" sz="1050" dirty="0">
                          <a:solidFill>
                            <a:schemeClr val="tx1"/>
                          </a:solidFill>
                        </a:rPr>
                        <a:t>No dedicated mechanism</a:t>
                      </a:r>
                      <a:endParaRPr lang="en-US" sz="1050" dirty="0"/>
                    </a:p>
                  </a:txBody>
                  <a:tcPr marL="64008" marR="64008" marT="36576" marB="36576" anchor="ctr">
                    <a:lnL w="6350" cap="flat" cmpd="sng" algn="ctr">
                      <a:solidFill>
                        <a:srgbClr val="D5DCE8"/>
                      </a:solidFill>
                      <a:prstDash val="solid"/>
                      <a:round/>
                      <a:headEnd type="none" w="med" len="med"/>
                      <a:tailEnd type="none" w="med" len="med"/>
                    </a:lnL>
                    <a:lnR w="6350" cap="flat" cmpd="sng" algn="ctr">
                      <a:solidFill>
                        <a:srgbClr val="D5DCE8"/>
                      </a:solidFill>
                      <a:prstDash val="solid"/>
                      <a:round/>
                      <a:headEnd type="none" w="med" len="med"/>
                      <a:tailEnd type="none" w="med" len="med"/>
                    </a:lnR>
                    <a:lnT w="6350" cap="flat" cmpd="sng" algn="ctr">
                      <a:solidFill>
                        <a:srgbClr val="D5DCE8"/>
                      </a:solidFill>
                      <a:prstDash val="solid"/>
                      <a:round/>
                      <a:headEnd type="none" w="med" len="med"/>
                      <a:tailEnd type="none" w="med" len="med"/>
                    </a:lnT>
                    <a:lnB w="6350" cap="flat" cmpd="sng" algn="ctr">
                      <a:solidFill>
                        <a:srgbClr val="D5DCE8"/>
                      </a:solidFill>
                      <a:prstDash val="solid"/>
                      <a:round/>
                      <a:headEnd type="none" w="med" len="med"/>
                      <a:tailEnd type="none" w="med" len="med"/>
                    </a:lnB>
                  </a:tcPr>
                </a:tc>
                <a:tc>
                  <a:txBody>
                    <a:bodyPr/>
                    <a:lstStyle/>
                    <a:p>
                      <a:pPr marL="0" indent="0">
                        <a:buNone/>
                      </a:pPr>
                      <a:r>
                        <a:rPr lang="en-US" sz="1050" dirty="0">
                          <a:solidFill>
                            <a:schemeClr val="tx1"/>
                          </a:solidFill>
                        </a:rPr>
                        <a:t>Last known location retained (45 s rule)</a:t>
                      </a:r>
                      <a:endParaRPr lang="en-US" sz="1050" dirty="0"/>
                    </a:p>
                  </a:txBody>
                  <a:tcPr marL="64008" marR="64008" marT="36576" marB="36576" anchor="ctr">
                    <a:lnL w="6350" cap="flat" cmpd="sng" algn="ctr">
                      <a:solidFill>
                        <a:srgbClr val="D5DCE8"/>
                      </a:solidFill>
                      <a:prstDash val="solid"/>
                      <a:round/>
                      <a:headEnd type="none" w="med" len="med"/>
                      <a:tailEnd type="none" w="med" len="med"/>
                    </a:lnL>
                    <a:lnR w="6350" cap="flat" cmpd="sng" algn="ctr">
                      <a:solidFill>
                        <a:srgbClr val="D5DCE8"/>
                      </a:solidFill>
                      <a:prstDash val="solid"/>
                      <a:round/>
                      <a:headEnd type="none" w="med" len="med"/>
                      <a:tailEnd type="none" w="med" len="med"/>
                    </a:lnR>
                    <a:lnT w="6350" cap="flat" cmpd="sng" algn="ctr">
                      <a:solidFill>
                        <a:srgbClr val="D5DCE8"/>
                      </a:solidFill>
                      <a:prstDash val="solid"/>
                      <a:round/>
                      <a:headEnd type="none" w="med" len="med"/>
                      <a:tailEnd type="none" w="med" len="med"/>
                    </a:lnT>
                    <a:lnB w="6350" cap="flat" cmpd="sng" algn="ctr">
                      <a:solidFill>
                        <a:srgbClr val="D5DCE8"/>
                      </a:solidFill>
                      <a:prstDash val="solid"/>
                      <a:round/>
                      <a:headEnd type="none" w="med" len="med"/>
                      <a:tailEnd type="none" w="med" len="med"/>
                    </a:lnB>
                  </a:tcPr>
                </a:tc>
                <a:tc>
                  <a:txBody>
                    <a:bodyPr/>
                    <a:lstStyle/>
                    <a:p>
                      <a:pPr marL="0" indent="0">
                        <a:buNone/>
                      </a:pPr>
                      <a:r>
                        <a:rPr lang="en-US" sz="1050" dirty="0">
                          <a:solidFill>
                            <a:schemeClr val="tx2"/>
                          </a:solidFill>
                        </a:rPr>
                        <a:t>services.py</a:t>
                      </a:r>
                      <a:endParaRPr lang="en-US" sz="1050" dirty="0"/>
                    </a:p>
                  </a:txBody>
                  <a:tcPr marL="64008" marR="64008" marT="36576" marB="36576" anchor="ctr">
                    <a:lnL w="6350" cap="flat" cmpd="sng" algn="ctr">
                      <a:solidFill>
                        <a:srgbClr val="D5DCE8"/>
                      </a:solidFill>
                      <a:prstDash val="solid"/>
                      <a:round/>
                      <a:headEnd type="none" w="med" len="med"/>
                      <a:tailEnd type="none" w="med" len="med"/>
                    </a:lnL>
                    <a:lnR w="6350" cap="flat" cmpd="sng" algn="ctr">
                      <a:solidFill>
                        <a:srgbClr val="D5DCE8"/>
                      </a:solidFill>
                      <a:prstDash val="solid"/>
                      <a:round/>
                      <a:headEnd type="none" w="med" len="med"/>
                      <a:tailEnd type="none" w="med" len="med"/>
                    </a:lnR>
                    <a:lnT w="6350" cap="flat" cmpd="sng" algn="ctr">
                      <a:solidFill>
                        <a:srgbClr val="D5DCE8"/>
                      </a:solidFill>
                      <a:prstDash val="solid"/>
                      <a:round/>
                      <a:headEnd type="none" w="med" len="med"/>
                      <a:tailEnd type="none" w="med" len="med"/>
                    </a:lnT>
                    <a:lnB w="6350" cap="flat" cmpd="sng" algn="ctr">
                      <a:solidFill>
                        <a:srgbClr val="D5DCE8"/>
                      </a:solidFill>
                      <a:prstDash val="solid"/>
                      <a:round/>
                      <a:headEnd type="none" w="med" len="med"/>
                      <a:tailEnd type="none" w="med" len="med"/>
                    </a:lnB>
                  </a:tcPr>
                </a:tc>
                <a:extLst>
                  <a:ext uri="{0D108BD9-81ED-4DB2-BD59-A6C34878D82A}">
                    <a16:rowId xmlns:a16="http://schemas.microsoft.com/office/drawing/2014/main" val="10004"/>
                  </a:ext>
                </a:extLst>
              </a:tr>
              <a:tr h="384048">
                <a:tc>
                  <a:txBody>
                    <a:bodyPr/>
                    <a:lstStyle/>
                    <a:p>
                      <a:pPr marL="0" indent="0">
                        <a:buNone/>
                      </a:pPr>
                      <a:r>
                        <a:rPr lang="en-US" sz="1050" b="1" dirty="0">
                          <a:solidFill>
                            <a:schemeClr val="tx1"/>
                          </a:solidFill>
                        </a:rPr>
                        <a:t>Route deviation</a:t>
                      </a:r>
                      <a:endParaRPr lang="en-US" sz="1050" dirty="0"/>
                    </a:p>
                  </a:txBody>
                  <a:tcPr marL="64008" marR="64008" marT="36576" marB="36576" anchor="ctr">
                    <a:lnL w="6350" cap="flat" cmpd="sng" algn="ctr">
                      <a:solidFill>
                        <a:srgbClr val="D5DCE8"/>
                      </a:solidFill>
                      <a:prstDash val="solid"/>
                      <a:round/>
                      <a:headEnd type="none" w="med" len="med"/>
                      <a:tailEnd type="none" w="med" len="med"/>
                    </a:lnL>
                    <a:lnR w="6350" cap="flat" cmpd="sng" algn="ctr">
                      <a:solidFill>
                        <a:srgbClr val="D5DCE8"/>
                      </a:solidFill>
                      <a:prstDash val="solid"/>
                      <a:round/>
                      <a:headEnd type="none" w="med" len="med"/>
                      <a:tailEnd type="none" w="med" len="med"/>
                    </a:lnR>
                    <a:lnT w="6350" cap="flat" cmpd="sng" algn="ctr">
                      <a:solidFill>
                        <a:srgbClr val="D5DCE8"/>
                      </a:solidFill>
                      <a:prstDash val="solid"/>
                      <a:round/>
                      <a:headEnd type="none" w="med" len="med"/>
                      <a:tailEnd type="none" w="med" len="med"/>
                    </a:lnT>
                    <a:lnB w="6350" cap="flat" cmpd="sng" algn="ctr">
                      <a:solidFill>
                        <a:srgbClr val="D5DCE8"/>
                      </a:solidFill>
                      <a:prstDash val="solid"/>
                      <a:round/>
                      <a:headEnd type="none" w="med" len="med"/>
                      <a:tailEnd type="none" w="med" len="med"/>
                    </a:lnB>
                  </a:tcPr>
                </a:tc>
                <a:tc>
                  <a:txBody>
                    <a:bodyPr/>
                    <a:lstStyle/>
                    <a:p>
                      <a:pPr marL="0" indent="0">
                        <a:buNone/>
                      </a:pPr>
                      <a:r>
                        <a:rPr lang="en-US" sz="1050" dirty="0">
                          <a:solidFill>
                            <a:schemeClr val="tx1"/>
                          </a:solidFill>
                        </a:rPr>
                        <a:t>Not ride-specific</a:t>
                      </a:r>
                      <a:endParaRPr lang="en-US" sz="1050" dirty="0"/>
                    </a:p>
                  </a:txBody>
                  <a:tcPr marL="64008" marR="64008" marT="36576" marB="36576" anchor="ctr">
                    <a:lnL w="6350" cap="flat" cmpd="sng" algn="ctr">
                      <a:solidFill>
                        <a:srgbClr val="D5DCE8"/>
                      </a:solidFill>
                      <a:prstDash val="solid"/>
                      <a:round/>
                      <a:headEnd type="none" w="med" len="med"/>
                      <a:tailEnd type="none" w="med" len="med"/>
                    </a:lnL>
                    <a:lnR w="6350" cap="flat" cmpd="sng" algn="ctr">
                      <a:solidFill>
                        <a:srgbClr val="D5DCE8"/>
                      </a:solidFill>
                      <a:prstDash val="solid"/>
                      <a:round/>
                      <a:headEnd type="none" w="med" len="med"/>
                      <a:tailEnd type="none" w="med" len="med"/>
                    </a:lnR>
                    <a:lnT w="6350" cap="flat" cmpd="sng" algn="ctr">
                      <a:solidFill>
                        <a:srgbClr val="D5DCE8"/>
                      </a:solidFill>
                      <a:prstDash val="solid"/>
                      <a:round/>
                      <a:headEnd type="none" w="med" len="med"/>
                      <a:tailEnd type="none" w="med" len="med"/>
                    </a:lnT>
                    <a:lnB w="6350" cap="flat" cmpd="sng" algn="ctr">
                      <a:solidFill>
                        <a:srgbClr val="D5DCE8"/>
                      </a:solidFill>
                      <a:prstDash val="solid"/>
                      <a:round/>
                      <a:headEnd type="none" w="med" len="med"/>
                      <a:tailEnd type="none" w="med" len="med"/>
                    </a:lnB>
                  </a:tcPr>
                </a:tc>
                <a:tc>
                  <a:txBody>
                    <a:bodyPr/>
                    <a:lstStyle/>
                    <a:p>
                      <a:pPr marL="0" indent="0">
                        <a:buNone/>
                      </a:pPr>
                      <a:r>
                        <a:rPr lang="en-US" sz="1050" dirty="0">
                          <a:solidFill>
                            <a:schemeClr val="tx1"/>
                          </a:solidFill>
                        </a:rPr>
                        <a:t>Detected beyond 500 m of route</a:t>
                      </a:r>
                      <a:endParaRPr lang="en-US" sz="1050" dirty="0"/>
                    </a:p>
                  </a:txBody>
                  <a:tcPr marL="64008" marR="64008" marT="36576" marB="36576" anchor="ctr">
                    <a:lnL w="6350" cap="flat" cmpd="sng" algn="ctr">
                      <a:solidFill>
                        <a:srgbClr val="D5DCE8"/>
                      </a:solidFill>
                      <a:prstDash val="solid"/>
                      <a:round/>
                      <a:headEnd type="none" w="med" len="med"/>
                      <a:tailEnd type="none" w="med" len="med"/>
                    </a:lnL>
                    <a:lnR w="6350" cap="flat" cmpd="sng" algn="ctr">
                      <a:solidFill>
                        <a:srgbClr val="D5DCE8"/>
                      </a:solidFill>
                      <a:prstDash val="solid"/>
                      <a:round/>
                      <a:headEnd type="none" w="med" len="med"/>
                      <a:tailEnd type="none" w="med" len="med"/>
                    </a:lnR>
                    <a:lnT w="6350" cap="flat" cmpd="sng" algn="ctr">
                      <a:solidFill>
                        <a:srgbClr val="D5DCE8"/>
                      </a:solidFill>
                      <a:prstDash val="solid"/>
                      <a:round/>
                      <a:headEnd type="none" w="med" len="med"/>
                      <a:tailEnd type="none" w="med" len="med"/>
                    </a:lnT>
                    <a:lnB w="6350" cap="flat" cmpd="sng" algn="ctr">
                      <a:solidFill>
                        <a:srgbClr val="D5DCE8"/>
                      </a:solidFill>
                      <a:prstDash val="solid"/>
                      <a:round/>
                      <a:headEnd type="none" w="med" len="med"/>
                      <a:tailEnd type="none" w="med" len="med"/>
                    </a:lnB>
                  </a:tcPr>
                </a:tc>
                <a:tc>
                  <a:txBody>
                    <a:bodyPr/>
                    <a:lstStyle/>
                    <a:p>
                      <a:pPr marL="0" indent="0">
                        <a:buNone/>
                      </a:pPr>
                      <a:r>
                        <a:rPr lang="en-US" sz="1050" dirty="0">
                          <a:solidFill>
                            <a:schemeClr val="tx2"/>
                          </a:solidFill>
                        </a:rPr>
                        <a:t>check_route_deviation</a:t>
                      </a:r>
                      <a:endParaRPr lang="en-US" sz="1050" dirty="0"/>
                    </a:p>
                  </a:txBody>
                  <a:tcPr marL="64008" marR="64008" marT="36576" marB="36576" anchor="ctr">
                    <a:lnL w="6350" cap="flat" cmpd="sng" algn="ctr">
                      <a:solidFill>
                        <a:srgbClr val="D5DCE8"/>
                      </a:solidFill>
                      <a:prstDash val="solid"/>
                      <a:round/>
                      <a:headEnd type="none" w="med" len="med"/>
                      <a:tailEnd type="none" w="med" len="med"/>
                    </a:lnL>
                    <a:lnR w="6350" cap="flat" cmpd="sng" algn="ctr">
                      <a:solidFill>
                        <a:srgbClr val="D5DCE8"/>
                      </a:solidFill>
                      <a:prstDash val="solid"/>
                      <a:round/>
                      <a:headEnd type="none" w="med" len="med"/>
                      <a:tailEnd type="none" w="med" len="med"/>
                    </a:lnR>
                    <a:lnT w="6350" cap="flat" cmpd="sng" algn="ctr">
                      <a:solidFill>
                        <a:srgbClr val="D5DCE8"/>
                      </a:solidFill>
                      <a:prstDash val="solid"/>
                      <a:round/>
                      <a:headEnd type="none" w="med" len="med"/>
                      <a:tailEnd type="none" w="med" len="med"/>
                    </a:lnT>
                    <a:lnB w="6350" cap="flat" cmpd="sng" algn="ctr">
                      <a:solidFill>
                        <a:srgbClr val="D5DCE8"/>
                      </a:solidFill>
                      <a:prstDash val="solid"/>
                      <a:round/>
                      <a:headEnd type="none" w="med" len="med"/>
                      <a:tailEnd type="none" w="med" len="med"/>
                    </a:lnB>
                  </a:tcPr>
                </a:tc>
                <a:extLst>
                  <a:ext uri="{0D108BD9-81ED-4DB2-BD59-A6C34878D82A}">
                    <a16:rowId xmlns:a16="http://schemas.microsoft.com/office/drawing/2014/main" val="10005"/>
                  </a:ext>
                </a:extLst>
              </a:tr>
              <a:tr h="384048">
                <a:tc>
                  <a:txBody>
                    <a:bodyPr/>
                    <a:lstStyle/>
                    <a:p>
                      <a:pPr marL="0" indent="0">
                        <a:buNone/>
                      </a:pPr>
                      <a:r>
                        <a:rPr lang="en-US" sz="1050" b="1" dirty="0">
                          <a:solidFill>
                            <a:schemeClr val="tx1"/>
                          </a:solidFill>
                        </a:rPr>
                        <a:t>SOS</a:t>
                      </a:r>
                      <a:endParaRPr lang="en-US" sz="1050" dirty="0"/>
                    </a:p>
                  </a:txBody>
                  <a:tcPr marL="64008" marR="64008" marT="36576" marB="36576" anchor="ctr">
                    <a:lnL w="6350" cap="flat" cmpd="sng" algn="ctr">
                      <a:solidFill>
                        <a:srgbClr val="D5DCE8"/>
                      </a:solidFill>
                      <a:prstDash val="solid"/>
                      <a:round/>
                      <a:headEnd type="none" w="med" len="med"/>
                      <a:tailEnd type="none" w="med" len="med"/>
                    </a:lnL>
                    <a:lnR w="6350" cap="flat" cmpd="sng" algn="ctr">
                      <a:solidFill>
                        <a:srgbClr val="D5DCE8"/>
                      </a:solidFill>
                      <a:prstDash val="solid"/>
                      <a:round/>
                      <a:headEnd type="none" w="med" len="med"/>
                      <a:tailEnd type="none" w="med" len="med"/>
                    </a:lnR>
                    <a:lnT w="6350" cap="flat" cmpd="sng" algn="ctr">
                      <a:solidFill>
                        <a:srgbClr val="D5DCE8"/>
                      </a:solidFill>
                      <a:prstDash val="solid"/>
                      <a:round/>
                      <a:headEnd type="none" w="med" len="med"/>
                      <a:tailEnd type="none" w="med" len="med"/>
                    </a:lnT>
                    <a:lnB w="6350" cap="flat" cmpd="sng" algn="ctr">
                      <a:solidFill>
                        <a:srgbClr val="D5DCE8"/>
                      </a:solidFill>
                      <a:prstDash val="solid"/>
                      <a:round/>
                      <a:headEnd type="none" w="med" len="med"/>
                      <a:tailEnd type="none" w="med" len="med"/>
                    </a:lnB>
                  </a:tcPr>
                </a:tc>
                <a:tc>
                  <a:txBody>
                    <a:bodyPr/>
                    <a:lstStyle/>
                    <a:p>
                      <a:pPr marL="0" indent="0">
                        <a:buNone/>
                      </a:pPr>
                      <a:r>
                        <a:rPr lang="en-US" sz="1050" dirty="0">
                          <a:solidFill>
                            <a:schemeClr val="tx1"/>
                          </a:solidFill>
                        </a:rPr>
                        <a:t>General communication</a:t>
                      </a:r>
                      <a:endParaRPr lang="en-US" sz="1050" dirty="0"/>
                    </a:p>
                  </a:txBody>
                  <a:tcPr marL="64008" marR="64008" marT="36576" marB="36576" anchor="ctr">
                    <a:lnL w="6350" cap="flat" cmpd="sng" algn="ctr">
                      <a:solidFill>
                        <a:srgbClr val="D5DCE8"/>
                      </a:solidFill>
                      <a:prstDash val="solid"/>
                      <a:round/>
                      <a:headEnd type="none" w="med" len="med"/>
                      <a:tailEnd type="none" w="med" len="med"/>
                    </a:lnL>
                    <a:lnR w="6350" cap="flat" cmpd="sng" algn="ctr">
                      <a:solidFill>
                        <a:srgbClr val="D5DCE8"/>
                      </a:solidFill>
                      <a:prstDash val="solid"/>
                      <a:round/>
                      <a:headEnd type="none" w="med" len="med"/>
                      <a:tailEnd type="none" w="med" len="med"/>
                    </a:lnR>
                    <a:lnT w="6350" cap="flat" cmpd="sng" algn="ctr">
                      <a:solidFill>
                        <a:srgbClr val="D5DCE8"/>
                      </a:solidFill>
                      <a:prstDash val="solid"/>
                      <a:round/>
                      <a:headEnd type="none" w="med" len="med"/>
                      <a:tailEnd type="none" w="med" len="med"/>
                    </a:lnT>
                    <a:lnB w="6350" cap="flat" cmpd="sng" algn="ctr">
                      <a:solidFill>
                        <a:srgbClr val="D5DCE8"/>
                      </a:solidFill>
                      <a:prstDash val="solid"/>
                      <a:round/>
                      <a:headEnd type="none" w="med" len="med"/>
                      <a:tailEnd type="none" w="med" len="med"/>
                    </a:lnB>
                  </a:tcPr>
                </a:tc>
                <a:tc>
                  <a:txBody>
                    <a:bodyPr/>
                    <a:lstStyle/>
                    <a:p>
                      <a:pPr marL="0" indent="0">
                        <a:buNone/>
                      </a:pPr>
                      <a:r>
                        <a:rPr lang="en-US" sz="1050" dirty="0">
                          <a:solidFill>
                            <a:schemeClr val="tx1"/>
                          </a:solidFill>
                        </a:rPr>
                        <a:t>Ride-level in-app alert to group and admin</a:t>
                      </a:r>
                      <a:endParaRPr lang="en-US" sz="1050" dirty="0"/>
                    </a:p>
                  </a:txBody>
                  <a:tcPr marL="64008" marR="64008" marT="36576" marB="36576" anchor="ctr">
                    <a:lnL w="6350" cap="flat" cmpd="sng" algn="ctr">
                      <a:solidFill>
                        <a:srgbClr val="D5DCE8"/>
                      </a:solidFill>
                      <a:prstDash val="solid"/>
                      <a:round/>
                      <a:headEnd type="none" w="med" len="med"/>
                      <a:tailEnd type="none" w="med" len="med"/>
                    </a:lnL>
                    <a:lnR w="6350" cap="flat" cmpd="sng" algn="ctr">
                      <a:solidFill>
                        <a:srgbClr val="D5DCE8"/>
                      </a:solidFill>
                      <a:prstDash val="solid"/>
                      <a:round/>
                      <a:headEnd type="none" w="med" len="med"/>
                      <a:tailEnd type="none" w="med" len="med"/>
                    </a:lnR>
                    <a:lnT w="6350" cap="flat" cmpd="sng" algn="ctr">
                      <a:solidFill>
                        <a:srgbClr val="D5DCE8"/>
                      </a:solidFill>
                      <a:prstDash val="solid"/>
                      <a:round/>
                      <a:headEnd type="none" w="med" len="med"/>
                      <a:tailEnd type="none" w="med" len="med"/>
                    </a:lnT>
                    <a:lnB w="6350" cap="flat" cmpd="sng" algn="ctr">
                      <a:solidFill>
                        <a:srgbClr val="D5DCE8"/>
                      </a:solidFill>
                      <a:prstDash val="solid"/>
                      <a:round/>
                      <a:headEnd type="none" w="med" len="med"/>
                      <a:tailEnd type="none" w="med" len="med"/>
                    </a:lnB>
                  </a:tcPr>
                </a:tc>
                <a:tc>
                  <a:txBody>
                    <a:bodyPr/>
                    <a:lstStyle/>
                    <a:p>
                      <a:pPr marL="0" indent="0">
                        <a:buNone/>
                      </a:pPr>
                      <a:r>
                        <a:rPr lang="en-US" sz="1050" dirty="0">
                          <a:solidFill>
                            <a:schemeClr val="tx2"/>
                          </a:solidFill>
                        </a:rPr>
                        <a:t>handle_sos_alert</a:t>
                      </a:r>
                      <a:endParaRPr lang="en-US" sz="1050" dirty="0"/>
                    </a:p>
                  </a:txBody>
                  <a:tcPr marL="64008" marR="64008" marT="36576" marB="36576" anchor="ctr">
                    <a:lnL w="6350" cap="flat" cmpd="sng" algn="ctr">
                      <a:solidFill>
                        <a:srgbClr val="D5DCE8"/>
                      </a:solidFill>
                      <a:prstDash val="solid"/>
                      <a:round/>
                      <a:headEnd type="none" w="med" len="med"/>
                      <a:tailEnd type="none" w="med" len="med"/>
                    </a:lnL>
                    <a:lnR w="6350" cap="flat" cmpd="sng" algn="ctr">
                      <a:solidFill>
                        <a:srgbClr val="D5DCE8"/>
                      </a:solidFill>
                      <a:prstDash val="solid"/>
                      <a:round/>
                      <a:headEnd type="none" w="med" len="med"/>
                      <a:tailEnd type="none" w="med" len="med"/>
                    </a:lnR>
                    <a:lnT w="6350" cap="flat" cmpd="sng" algn="ctr">
                      <a:solidFill>
                        <a:srgbClr val="D5DCE8"/>
                      </a:solidFill>
                      <a:prstDash val="solid"/>
                      <a:round/>
                      <a:headEnd type="none" w="med" len="med"/>
                      <a:tailEnd type="none" w="med" len="med"/>
                    </a:lnT>
                    <a:lnB w="6350" cap="flat" cmpd="sng" algn="ctr">
                      <a:solidFill>
                        <a:srgbClr val="D5DCE8"/>
                      </a:solidFill>
                      <a:prstDash val="solid"/>
                      <a:round/>
                      <a:headEnd type="none" w="med" len="med"/>
                      <a:tailEnd type="none" w="med" len="med"/>
                    </a:lnB>
                  </a:tcPr>
                </a:tc>
                <a:extLst>
                  <a:ext uri="{0D108BD9-81ED-4DB2-BD59-A6C34878D82A}">
                    <a16:rowId xmlns:a16="http://schemas.microsoft.com/office/drawing/2014/main" val="10006"/>
                  </a:ext>
                </a:extLst>
              </a:tr>
              <a:tr h="384048">
                <a:tc>
                  <a:txBody>
                    <a:bodyPr/>
                    <a:lstStyle/>
                    <a:p>
                      <a:pPr marL="0" indent="0">
                        <a:buNone/>
                      </a:pPr>
                      <a:r>
                        <a:rPr lang="en-US" sz="1050" b="1" dirty="0">
                          <a:solidFill>
                            <a:schemeClr val="tx1"/>
                          </a:solidFill>
                        </a:rPr>
                        <a:t>Ride history</a:t>
                      </a:r>
                      <a:endParaRPr lang="en-US" sz="1050" dirty="0"/>
                    </a:p>
                  </a:txBody>
                  <a:tcPr marL="64008" marR="64008" marT="36576" marB="36576" anchor="ctr">
                    <a:lnL w="6350" cap="flat" cmpd="sng" algn="ctr">
                      <a:solidFill>
                        <a:srgbClr val="D5DCE8"/>
                      </a:solidFill>
                      <a:prstDash val="solid"/>
                      <a:round/>
                      <a:headEnd type="none" w="med" len="med"/>
                      <a:tailEnd type="none" w="med" len="med"/>
                    </a:lnL>
                    <a:lnR w="6350" cap="flat" cmpd="sng" algn="ctr">
                      <a:solidFill>
                        <a:srgbClr val="D5DCE8"/>
                      </a:solidFill>
                      <a:prstDash val="solid"/>
                      <a:round/>
                      <a:headEnd type="none" w="med" len="med"/>
                      <a:tailEnd type="none" w="med" len="med"/>
                    </a:lnR>
                    <a:lnT w="6350" cap="flat" cmpd="sng" algn="ctr">
                      <a:solidFill>
                        <a:srgbClr val="D5DCE8"/>
                      </a:solidFill>
                      <a:prstDash val="solid"/>
                      <a:round/>
                      <a:headEnd type="none" w="med" len="med"/>
                      <a:tailEnd type="none" w="med" len="med"/>
                    </a:lnT>
                    <a:lnB w="6350" cap="flat" cmpd="sng" algn="ctr">
                      <a:solidFill>
                        <a:srgbClr val="D5DCE8"/>
                      </a:solidFill>
                      <a:prstDash val="solid"/>
                      <a:round/>
                      <a:headEnd type="none" w="med" len="med"/>
                      <a:tailEnd type="none" w="med" len="med"/>
                    </a:lnB>
                  </a:tcPr>
                </a:tc>
                <a:tc>
                  <a:txBody>
                    <a:bodyPr/>
                    <a:lstStyle/>
                    <a:p>
                      <a:pPr marL="0" indent="0">
                        <a:buNone/>
                      </a:pPr>
                      <a:r>
                        <a:rPr lang="en-US" sz="1050" dirty="0">
                          <a:solidFill>
                            <a:schemeClr val="tx1"/>
                          </a:solidFill>
                        </a:rPr>
                        <a:t>Limited</a:t>
                      </a:r>
                      <a:endParaRPr lang="en-US" sz="1050" dirty="0"/>
                    </a:p>
                  </a:txBody>
                  <a:tcPr marL="64008" marR="64008" marT="36576" marB="36576" anchor="ctr">
                    <a:lnL w="6350" cap="flat" cmpd="sng" algn="ctr">
                      <a:solidFill>
                        <a:srgbClr val="D5DCE8"/>
                      </a:solidFill>
                      <a:prstDash val="solid"/>
                      <a:round/>
                      <a:headEnd type="none" w="med" len="med"/>
                      <a:tailEnd type="none" w="med" len="med"/>
                    </a:lnL>
                    <a:lnR w="6350" cap="flat" cmpd="sng" algn="ctr">
                      <a:solidFill>
                        <a:srgbClr val="D5DCE8"/>
                      </a:solidFill>
                      <a:prstDash val="solid"/>
                      <a:round/>
                      <a:headEnd type="none" w="med" len="med"/>
                      <a:tailEnd type="none" w="med" len="med"/>
                    </a:lnR>
                    <a:lnT w="6350" cap="flat" cmpd="sng" algn="ctr">
                      <a:solidFill>
                        <a:srgbClr val="D5DCE8"/>
                      </a:solidFill>
                      <a:prstDash val="solid"/>
                      <a:round/>
                      <a:headEnd type="none" w="med" len="med"/>
                      <a:tailEnd type="none" w="med" len="med"/>
                    </a:lnT>
                    <a:lnB w="6350" cap="flat" cmpd="sng" algn="ctr">
                      <a:solidFill>
                        <a:srgbClr val="D5DCE8"/>
                      </a:solidFill>
                      <a:prstDash val="solid"/>
                      <a:round/>
                      <a:headEnd type="none" w="med" len="med"/>
                      <a:tailEnd type="none" w="med" len="med"/>
                    </a:lnB>
                  </a:tcPr>
                </a:tc>
                <a:tc>
                  <a:txBody>
                    <a:bodyPr/>
                    <a:lstStyle/>
                    <a:p>
                      <a:pPr marL="0" indent="0">
                        <a:buNone/>
                      </a:pPr>
                      <a:r>
                        <a:rPr lang="en-US" sz="1050" dirty="0">
                          <a:solidFill>
                            <a:schemeClr val="tx1"/>
                          </a:solidFill>
                        </a:rPr>
                        <a:t>Completed rides with distance, duration</a:t>
                      </a:r>
                      <a:endParaRPr lang="en-US" sz="1050" dirty="0"/>
                    </a:p>
                  </a:txBody>
                  <a:tcPr marL="64008" marR="64008" marT="36576" marB="36576" anchor="ctr">
                    <a:lnL w="6350" cap="flat" cmpd="sng" algn="ctr">
                      <a:solidFill>
                        <a:srgbClr val="D5DCE8"/>
                      </a:solidFill>
                      <a:prstDash val="solid"/>
                      <a:round/>
                      <a:headEnd type="none" w="med" len="med"/>
                      <a:tailEnd type="none" w="med" len="med"/>
                    </a:lnL>
                    <a:lnR w="6350" cap="flat" cmpd="sng" algn="ctr">
                      <a:solidFill>
                        <a:srgbClr val="D5DCE8"/>
                      </a:solidFill>
                      <a:prstDash val="solid"/>
                      <a:round/>
                      <a:headEnd type="none" w="med" len="med"/>
                      <a:tailEnd type="none" w="med" len="med"/>
                    </a:lnR>
                    <a:lnT w="6350" cap="flat" cmpd="sng" algn="ctr">
                      <a:solidFill>
                        <a:srgbClr val="D5DCE8"/>
                      </a:solidFill>
                      <a:prstDash val="solid"/>
                      <a:round/>
                      <a:headEnd type="none" w="med" len="med"/>
                      <a:tailEnd type="none" w="med" len="med"/>
                    </a:lnT>
                    <a:lnB w="6350" cap="flat" cmpd="sng" algn="ctr">
                      <a:solidFill>
                        <a:srgbClr val="D5DCE8"/>
                      </a:solidFill>
                      <a:prstDash val="solid"/>
                      <a:round/>
                      <a:headEnd type="none" w="med" len="med"/>
                      <a:tailEnd type="none" w="med" len="med"/>
                    </a:lnB>
                  </a:tcPr>
                </a:tc>
                <a:tc>
                  <a:txBody>
                    <a:bodyPr/>
                    <a:lstStyle/>
                    <a:p>
                      <a:pPr marL="0" indent="0">
                        <a:buNone/>
                      </a:pPr>
                      <a:r>
                        <a:rPr lang="en-US" sz="1050" dirty="0">
                          <a:solidFill>
                            <a:schemeClr val="tx2"/>
                          </a:solidFill>
                        </a:rPr>
                        <a:t>ride_history_view</a:t>
                      </a:r>
                      <a:endParaRPr lang="en-US" sz="1050" dirty="0"/>
                    </a:p>
                  </a:txBody>
                  <a:tcPr marL="64008" marR="64008" marT="36576" marB="36576" anchor="ctr">
                    <a:lnL w="6350" cap="flat" cmpd="sng" algn="ctr">
                      <a:solidFill>
                        <a:srgbClr val="D5DCE8"/>
                      </a:solidFill>
                      <a:prstDash val="solid"/>
                      <a:round/>
                      <a:headEnd type="none" w="med" len="med"/>
                      <a:tailEnd type="none" w="med" len="med"/>
                    </a:lnL>
                    <a:lnR w="6350" cap="flat" cmpd="sng" algn="ctr">
                      <a:solidFill>
                        <a:srgbClr val="D5DCE8"/>
                      </a:solidFill>
                      <a:prstDash val="solid"/>
                      <a:round/>
                      <a:headEnd type="none" w="med" len="med"/>
                      <a:tailEnd type="none" w="med" len="med"/>
                    </a:lnR>
                    <a:lnT w="6350" cap="flat" cmpd="sng" algn="ctr">
                      <a:solidFill>
                        <a:srgbClr val="D5DCE8"/>
                      </a:solidFill>
                      <a:prstDash val="solid"/>
                      <a:round/>
                      <a:headEnd type="none" w="med" len="med"/>
                      <a:tailEnd type="none" w="med" len="med"/>
                    </a:lnT>
                    <a:lnB w="6350" cap="flat" cmpd="sng" algn="ctr">
                      <a:solidFill>
                        <a:srgbClr val="D5DCE8"/>
                      </a:solidFill>
                      <a:prstDash val="solid"/>
                      <a:round/>
                      <a:headEnd type="none" w="med" len="med"/>
                      <a:tailEnd type="none" w="med" len="med"/>
                    </a:lnB>
                  </a:tcPr>
                </a:tc>
                <a:extLst>
                  <a:ext uri="{0D108BD9-81ED-4DB2-BD59-A6C34878D82A}">
                    <a16:rowId xmlns:a16="http://schemas.microsoft.com/office/drawing/2014/main" val="10007"/>
                  </a:ext>
                </a:extLst>
              </a:tr>
              <a:tr h="384048">
                <a:tc>
                  <a:txBody>
                    <a:bodyPr/>
                    <a:lstStyle/>
                    <a:p>
                      <a:pPr marL="0" indent="0">
                        <a:buNone/>
                      </a:pPr>
                      <a:r>
                        <a:rPr lang="en-US" sz="1050" b="1" dirty="0">
                          <a:solidFill>
                            <a:schemeClr val="tx1"/>
                          </a:solidFill>
                        </a:rPr>
                        <a:t>Admin monitoring</a:t>
                      </a:r>
                      <a:endParaRPr lang="en-US" sz="1050" dirty="0"/>
                    </a:p>
                  </a:txBody>
                  <a:tcPr marL="64008" marR="64008" marT="36576" marB="36576" anchor="ctr">
                    <a:lnL w="6350" cap="flat" cmpd="sng" algn="ctr">
                      <a:solidFill>
                        <a:srgbClr val="D5DCE8"/>
                      </a:solidFill>
                      <a:prstDash val="solid"/>
                      <a:round/>
                      <a:headEnd type="none" w="med" len="med"/>
                      <a:tailEnd type="none" w="med" len="med"/>
                    </a:lnL>
                    <a:lnR w="6350" cap="flat" cmpd="sng" algn="ctr">
                      <a:solidFill>
                        <a:srgbClr val="D5DCE8"/>
                      </a:solidFill>
                      <a:prstDash val="solid"/>
                      <a:round/>
                      <a:headEnd type="none" w="med" len="med"/>
                      <a:tailEnd type="none" w="med" len="med"/>
                    </a:lnR>
                    <a:lnT w="6350" cap="flat" cmpd="sng" algn="ctr">
                      <a:solidFill>
                        <a:srgbClr val="D5DCE8"/>
                      </a:solidFill>
                      <a:prstDash val="solid"/>
                      <a:round/>
                      <a:headEnd type="none" w="med" len="med"/>
                      <a:tailEnd type="none" w="med" len="med"/>
                    </a:lnT>
                    <a:lnB w="6350" cap="flat" cmpd="sng" algn="ctr">
                      <a:solidFill>
                        <a:srgbClr val="D5DCE8"/>
                      </a:solidFill>
                      <a:prstDash val="solid"/>
                      <a:round/>
                      <a:headEnd type="none" w="med" len="med"/>
                      <a:tailEnd type="none" w="med" len="med"/>
                    </a:lnB>
                  </a:tcPr>
                </a:tc>
                <a:tc>
                  <a:txBody>
                    <a:bodyPr/>
                    <a:lstStyle/>
                    <a:p>
                      <a:pPr marL="0" indent="0">
                        <a:buNone/>
                      </a:pPr>
                      <a:r>
                        <a:rPr lang="en-US" sz="1050" dirty="0">
                          <a:solidFill>
                            <a:schemeClr val="tx1"/>
                          </a:solidFill>
                        </a:rPr>
                        <a:t>Not available</a:t>
                      </a:r>
                      <a:endParaRPr lang="en-US" sz="1050" dirty="0"/>
                    </a:p>
                  </a:txBody>
                  <a:tcPr marL="64008" marR="64008" marT="36576" marB="36576" anchor="ctr">
                    <a:lnL w="6350" cap="flat" cmpd="sng" algn="ctr">
                      <a:solidFill>
                        <a:srgbClr val="D5DCE8"/>
                      </a:solidFill>
                      <a:prstDash val="solid"/>
                      <a:round/>
                      <a:headEnd type="none" w="med" len="med"/>
                      <a:tailEnd type="none" w="med" len="med"/>
                    </a:lnL>
                    <a:lnR w="6350" cap="flat" cmpd="sng" algn="ctr">
                      <a:solidFill>
                        <a:srgbClr val="D5DCE8"/>
                      </a:solidFill>
                      <a:prstDash val="solid"/>
                      <a:round/>
                      <a:headEnd type="none" w="med" len="med"/>
                      <a:tailEnd type="none" w="med" len="med"/>
                    </a:lnR>
                    <a:lnT w="6350" cap="flat" cmpd="sng" algn="ctr">
                      <a:solidFill>
                        <a:srgbClr val="D5DCE8"/>
                      </a:solidFill>
                      <a:prstDash val="solid"/>
                      <a:round/>
                      <a:headEnd type="none" w="med" len="med"/>
                      <a:tailEnd type="none" w="med" len="med"/>
                    </a:lnT>
                    <a:lnB w="6350" cap="flat" cmpd="sng" algn="ctr">
                      <a:solidFill>
                        <a:srgbClr val="D5DCE8"/>
                      </a:solidFill>
                      <a:prstDash val="solid"/>
                      <a:round/>
                      <a:headEnd type="none" w="med" len="med"/>
                      <a:tailEnd type="none" w="med" len="med"/>
                    </a:lnB>
                  </a:tcPr>
                </a:tc>
                <a:tc>
                  <a:txBody>
                    <a:bodyPr/>
                    <a:lstStyle/>
                    <a:p>
                      <a:pPr marL="0" indent="0">
                        <a:buNone/>
                      </a:pPr>
                      <a:r>
                        <a:rPr lang="en-US" sz="1050" dirty="0">
                          <a:solidFill>
                            <a:schemeClr val="tx1"/>
                          </a:solidFill>
                        </a:rPr>
                        <a:t>Django Admin and monitor page</a:t>
                      </a:r>
                      <a:endParaRPr lang="en-US" sz="1050" dirty="0"/>
                    </a:p>
                  </a:txBody>
                  <a:tcPr marL="64008" marR="64008" marT="36576" marB="36576" anchor="ctr">
                    <a:lnL w="6350" cap="flat" cmpd="sng" algn="ctr">
                      <a:solidFill>
                        <a:srgbClr val="D5DCE8"/>
                      </a:solidFill>
                      <a:prstDash val="solid"/>
                      <a:round/>
                      <a:headEnd type="none" w="med" len="med"/>
                      <a:tailEnd type="none" w="med" len="med"/>
                    </a:lnL>
                    <a:lnR w="6350" cap="flat" cmpd="sng" algn="ctr">
                      <a:solidFill>
                        <a:srgbClr val="D5DCE8"/>
                      </a:solidFill>
                      <a:prstDash val="solid"/>
                      <a:round/>
                      <a:headEnd type="none" w="med" len="med"/>
                      <a:tailEnd type="none" w="med" len="med"/>
                    </a:lnR>
                    <a:lnT w="6350" cap="flat" cmpd="sng" algn="ctr">
                      <a:solidFill>
                        <a:srgbClr val="D5DCE8"/>
                      </a:solidFill>
                      <a:prstDash val="solid"/>
                      <a:round/>
                      <a:headEnd type="none" w="med" len="med"/>
                      <a:tailEnd type="none" w="med" len="med"/>
                    </a:lnT>
                    <a:lnB w="6350" cap="flat" cmpd="sng" algn="ctr">
                      <a:solidFill>
                        <a:srgbClr val="D5DCE8"/>
                      </a:solidFill>
                      <a:prstDash val="solid"/>
                      <a:round/>
                      <a:headEnd type="none" w="med" len="med"/>
                      <a:tailEnd type="none" w="med" len="med"/>
                    </a:lnB>
                  </a:tcPr>
                </a:tc>
                <a:tc>
                  <a:txBody>
                    <a:bodyPr/>
                    <a:lstStyle/>
                    <a:p>
                      <a:pPr marL="0" indent="0">
                        <a:buNone/>
                      </a:pPr>
                      <a:r>
                        <a:rPr lang="en-US" sz="1050" dirty="0">
                          <a:solidFill>
                            <a:schemeClr val="tx2"/>
                          </a:solidFill>
                        </a:rPr>
                        <a:t>admin.py, admin_monitor</a:t>
                      </a:r>
                      <a:endParaRPr lang="en-US" sz="1050" dirty="0"/>
                    </a:p>
                  </a:txBody>
                  <a:tcPr marL="64008" marR="64008" marT="36576" marB="36576" anchor="ctr">
                    <a:lnL w="6350" cap="flat" cmpd="sng" algn="ctr">
                      <a:solidFill>
                        <a:srgbClr val="D5DCE8"/>
                      </a:solidFill>
                      <a:prstDash val="solid"/>
                      <a:round/>
                      <a:headEnd type="none" w="med" len="med"/>
                      <a:tailEnd type="none" w="med" len="med"/>
                    </a:lnL>
                    <a:lnR w="6350" cap="flat" cmpd="sng" algn="ctr">
                      <a:solidFill>
                        <a:srgbClr val="D5DCE8"/>
                      </a:solidFill>
                      <a:prstDash val="solid"/>
                      <a:round/>
                      <a:headEnd type="none" w="med" len="med"/>
                      <a:tailEnd type="none" w="med" len="med"/>
                    </a:lnR>
                    <a:lnT w="6350" cap="flat" cmpd="sng" algn="ctr">
                      <a:solidFill>
                        <a:srgbClr val="D5DCE8"/>
                      </a:solidFill>
                      <a:prstDash val="solid"/>
                      <a:round/>
                      <a:headEnd type="none" w="med" len="med"/>
                      <a:tailEnd type="none" w="med" len="med"/>
                    </a:lnT>
                    <a:lnB w="6350" cap="flat" cmpd="sng" algn="ctr">
                      <a:solidFill>
                        <a:srgbClr val="D5DCE8"/>
                      </a:solidFill>
                      <a:prstDash val="solid"/>
                      <a:round/>
                      <a:headEnd type="none" w="med" len="med"/>
                      <a:tailEnd type="none" w="med" len="med"/>
                    </a:lnB>
                  </a:tcPr>
                </a:tc>
                <a:extLst>
                  <a:ext uri="{0D108BD9-81ED-4DB2-BD59-A6C34878D82A}">
                    <a16:rowId xmlns:a16="http://schemas.microsoft.com/office/drawing/2014/main" val="10008"/>
                  </a:ext>
                </a:extLst>
              </a:tr>
            </a:tbl>
          </a:graphicData>
        </a:graphic>
      </p:graphicFrame>
      <p:sp>
        <p:nvSpPr>
          <p:cNvPr id="6" name="Text 2"/>
          <p:cNvSpPr txBox="1"/>
          <p:nvPr/>
        </p:nvSpPr>
        <p:spPr>
          <a:xfrm>
            <a:off x="457200" y="4434840"/>
            <a:ext cx="7772400" cy="228600"/>
          </a:xfrm>
          <a:prstGeom prst="rect">
            <a:avLst/>
          </a:prstGeom>
          <a:noFill/>
          <a:ln/>
        </p:spPr>
        <p:txBody>
          <a:bodyPr wrap="square" lIns="0" tIns="0" rIns="0" bIns="0" rtlCol="0" anchor="t"/>
          <a:lstStyle/>
          <a:p>
            <a:pPr marL="0" indent="0">
              <a:buNone/>
            </a:pPr>
            <a:r>
              <a:rPr lang="en-US" sz="1100" i="1" dirty="0">
                <a:solidFill>
                  <a:schemeClr val="tx2"/>
                </a:solidFill>
              </a:rPr>
              <a:t>SOS and alerts are in-app only: no SMS, email or push notifications.</a:t>
            </a:r>
            <a:endParaRPr lang="en-US" sz="1100" dirty="0"/>
          </a:p>
        </p:txBody>
      </p:sp>
      <p:sp>
        <p:nvSpPr>
          <p:cNvPr id="25" name="Slide Number Placeholder 0"/>
          <p:cNvSpPr>
            <a:spLocks noGrp="1"/>
          </p:cNvSpPr>
          <p:nvPr>
            <p:ph type="sldNum" sz="quarter" idx="4294967295"/>
          </p:nvPr>
        </p:nvSpPr>
        <p:spPr>
          <a:xfrm>
            <a:off x="8138160" y="4791456"/>
            <a:ext cx="548640" cy="228600"/>
          </a:xfrm>
          <a:prstGeom prst="rect">
            <a:avLst/>
          </a:prstGeom>
          <a:extLst>
            <a:ext uri="{C572A759-6A51-4108-AA02-DFA0A04FC94B}">
              <ma14:wrappingTextBoxFlag xmlns:ma14="http://schemas.microsoft.com/office/mac/drawingml/2011/main" xmlns="" val="0"/>
            </a:ext>
          </a:extLst>
        </p:spPr>
        <p:txBody>
          <a:bodyPr/>
          <a:lstStyle>
            <a:lvl1pPr>
              <a:defRPr sz="1000">
                <a:solidFill>
                  <a:srgbClr val="475569"/>
                </a:solidFill>
              </a:defRPr>
            </a:lvl1pPr>
          </a:lstStyle>
          <a:p>
            <a:pPr algn="r"/>
            <a:fld id="{F7021451-1387-4CA6-816F-3879F97B5CBC}" type="slidenum">
              <a:rPr lang="en-US" b="0"/>
              <a:t>28</a:t>
            </a:fld>
            <a:endParaRPr lang="en-US"/>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name="Slide 29">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457200" y="420624"/>
            <a:ext cx="8229600" cy="566928"/>
          </a:xfrm>
          <a:prstGeom prst="rect">
            <a:avLst/>
          </a:prstGeom>
          <a:noFill/>
          <a:ln/>
        </p:spPr>
        <p:txBody>
          <a:bodyPr wrap="square" lIns="0" tIns="0" rIns="0" bIns="0" rtlCol="0" anchor="ctr"/>
          <a:lstStyle/>
          <a:p>
            <a:pPr marL="0" indent="0" algn="l">
              <a:buNone/>
            </a:pPr>
            <a:r>
              <a:rPr lang="en-US" sz="2800" b="1" dirty="0">
                <a:solidFill>
                  <a:schemeClr val="tx1"/>
                </a:solidFill>
              </a:rPr>
              <a:t>Advantages, limitations and future scope</a:t>
            </a:r>
            <a:endParaRPr lang="en-US" sz="2800" dirty="0"/>
          </a:p>
        </p:txBody>
      </p:sp>
      <p:sp>
        <p:nvSpPr>
          <p:cNvPr id="3" name="Text 1"/>
          <p:cNvSpPr txBox="1"/>
          <p:nvPr/>
        </p:nvSpPr>
        <p:spPr>
          <a:xfrm>
            <a:off x="457200" y="219456"/>
            <a:ext cx="5486400" cy="182880"/>
          </a:xfrm>
          <a:prstGeom prst="rect">
            <a:avLst/>
          </a:prstGeom>
          <a:noFill/>
          <a:ln/>
        </p:spPr>
        <p:txBody>
          <a:bodyPr wrap="square" lIns="0" tIns="0" rIns="0" bIns="0" rtlCol="0" anchor="t"/>
          <a:lstStyle/>
          <a:p>
            <a:pPr marL="0" indent="0">
              <a:buNone/>
            </a:pPr>
            <a:r>
              <a:rPr lang="en-US" sz="1000" b="1" kern="0" spc="200" dirty="0">
                <a:solidFill>
                  <a:schemeClr val="accent1"/>
                </a:solidFill>
              </a:rPr>
              <a:t>EVALUATION</a:t>
            </a:r>
            <a:endParaRPr lang="en-US" sz="1000" dirty="0"/>
          </a:p>
        </p:txBody>
      </p:sp>
      <p:sp>
        <p:nvSpPr>
          <p:cNvPr id="5" name="Shape 2"/>
          <p:cNvSpPr/>
          <p:nvPr/>
        </p:nvSpPr>
        <p:spPr>
          <a:xfrm>
            <a:off x="457200" y="1188720"/>
            <a:ext cx="2624328" cy="3429000"/>
          </a:xfrm>
          <a:prstGeom prst="roundRect">
            <a:avLst>
              <a:gd name="adj" fmla="val 2787"/>
            </a:avLst>
          </a:prstGeom>
          <a:solidFill>
            <a:schemeClr val="bg1"/>
          </a:solidFill>
          <a:ln w="12700">
            <a:solidFill>
              <a:srgbClr val="D5DCE8"/>
            </a:solidFill>
            <a:prstDash val="solid"/>
          </a:ln>
        </p:spPr>
      </p:sp>
      <p:sp>
        <p:nvSpPr>
          <p:cNvPr id="6" name="Shape 3"/>
          <p:cNvSpPr/>
          <p:nvPr/>
        </p:nvSpPr>
        <p:spPr>
          <a:xfrm>
            <a:off x="640080" y="1325880"/>
            <a:ext cx="384048" cy="384048"/>
          </a:xfrm>
          <a:prstGeom prst="ellipse">
            <a:avLst/>
          </a:prstGeom>
          <a:solidFill>
            <a:schemeClr val="accent1">
              <a:alpha val="12000"/>
            </a:schemeClr>
          </a:solidFill>
          <a:ln/>
        </p:spPr>
      </p:sp>
      <p:pic>
        <p:nvPicPr>
          <p:cNvPr id="7" name="Image 0" descr="preencoded.png"/>
          <p:cNvPicPr>
            <a:picLocks noChangeAspect="1"/>
          </p:cNvPicPr>
          <p:nvPr/>
        </p:nvPicPr>
        <p:blipFill>
          <a:blip r:embed="rId3"/>
          <a:stretch>
            <a:fillRect/>
          </a:stretch>
        </p:blipFill>
        <p:spPr>
          <a:xfrm>
            <a:off x="739932" y="1425732"/>
            <a:ext cx="184343" cy="184343"/>
          </a:xfrm>
          <a:prstGeom prst="rect">
            <a:avLst/>
          </a:prstGeom>
        </p:spPr>
      </p:pic>
      <p:sp>
        <p:nvSpPr>
          <p:cNvPr id="8" name="Text 4"/>
          <p:cNvSpPr txBox="1"/>
          <p:nvPr/>
        </p:nvSpPr>
        <p:spPr>
          <a:xfrm>
            <a:off x="1143000" y="1325880"/>
            <a:ext cx="1801368" cy="384048"/>
          </a:xfrm>
          <a:prstGeom prst="rect">
            <a:avLst/>
          </a:prstGeom>
          <a:noFill/>
          <a:ln/>
        </p:spPr>
        <p:txBody>
          <a:bodyPr wrap="square" lIns="0" tIns="0" rIns="0" bIns="0" rtlCol="0" anchor="ctr"/>
          <a:lstStyle/>
          <a:p>
            <a:pPr marL="0" indent="0">
              <a:buNone/>
            </a:pPr>
            <a:r>
              <a:rPr lang="en-US" sz="1600" b="1" dirty="0">
                <a:solidFill>
                  <a:schemeClr val="tx1"/>
                </a:solidFill>
              </a:rPr>
              <a:t>Advantages</a:t>
            </a:r>
            <a:endParaRPr lang="en-US" sz="1600" dirty="0"/>
          </a:p>
        </p:txBody>
      </p:sp>
      <p:sp>
        <p:nvSpPr>
          <p:cNvPr id="9" name="Text 5"/>
          <p:cNvSpPr txBox="1"/>
          <p:nvPr/>
        </p:nvSpPr>
        <p:spPr>
          <a:xfrm>
            <a:off x="640080" y="1920240"/>
            <a:ext cx="2258568" cy="2651760"/>
          </a:xfrm>
          <a:prstGeom prst="rect">
            <a:avLst/>
          </a:prstGeom>
          <a:noFill/>
          <a:ln/>
        </p:spPr>
        <p:txBody>
          <a:bodyPr wrap="square" lIns="0" tIns="0" rIns="0" bIns="0" rtlCol="0" anchor="t"/>
          <a:lstStyle/>
          <a:p>
            <a:pPr marL="177800" indent="-177800">
              <a:spcAft>
                <a:spcPts val="600"/>
              </a:spcAft>
              <a:buSzPct val="100000"/>
              <a:buChar char="•"/>
            </a:pPr>
            <a:r>
              <a:rPr lang="en-US" sz="1250" dirty="0">
                <a:solidFill>
                  <a:schemeClr val="tx1"/>
                </a:solidFill>
              </a:rPr>
              <a:t>Centralised group visibility</a:t>
            </a:r>
            <a:endParaRPr lang="en-US" sz="1400" dirty="0"/>
          </a:p>
          <a:p>
            <a:pPr marL="177800" indent="-177800">
              <a:spcAft>
                <a:spcPts val="600"/>
              </a:spcAft>
              <a:buSzPct val="100000"/>
              <a:buChar char="•"/>
            </a:pPr>
            <a:r>
              <a:rPr lang="en-US" sz="1250" dirty="0">
                <a:solidFill>
                  <a:schemeClr val="tx1"/>
                </a:solidFill>
              </a:rPr>
              <a:t>Real-time location sharing</a:t>
            </a:r>
            <a:endParaRPr lang="en-US" sz="1400" dirty="0"/>
          </a:p>
          <a:p>
            <a:pPr marL="177800" indent="-177800">
              <a:spcAft>
                <a:spcPts val="600"/>
              </a:spcAft>
              <a:buSzPct val="100000"/>
              <a:buChar char="•"/>
            </a:pPr>
            <a:r>
              <a:rPr lang="en-US" sz="1250" dirty="0">
                <a:solidFill>
                  <a:schemeClr val="tx1"/>
                </a:solidFill>
              </a:rPr>
              <a:t>Runs in a browser, no install</a:t>
            </a:r>
            <a:endParaRPr lang="en-US" sz="1400" dirty="0"/>
          </a:p>
          <a:p>
            <a:pPr marL="177800" indent="-177800">
              <a:spcAft>
                <a:spcPts val="600"/>
              </a:spcAft>
              <a:buSzPct val="100000"/>
              <a:buChar char="•"/>
            </a:pPr>
            <a:r>
              <a:rPr lang="en-US" sz="1250" dirty="0">
                <a:solidFill>
                  <a:schemeClr val="tx1"/>
                </a:solidFill>
              </a:rPr>
              <a:t>No tracking hardware</a:t>
            </a:r>
            <a:endParaRPr lang="en-US" sz="1400" dirty="0"/>
          </a:p>
          <a:p>
            <a:pPr marL="177800" indent="-177800">
              <a:spcAft>
                <a:spcPts val="600"/>
              </a:spcAft>
              <a:buSzPct val="100000"/>
              <a:buChar char="•"/>
            </a:pPr>
            <a:r>
              <a:rPr lang="en-US" sz="1250" dirty="0">
                <a:solidFill>
                  <a:schemeClr val="tx1"/>
                </a:solidFill>
              </a:rPr>
              <a:t>Safety-oriented features</a:t>
            </a:r>
            <a:endParaRPr lang="en-US" sz="1400" dirty="0"/>
          </a:p>
          <a:p>
            <a:pPr marL="177800" indent="-177800">
              <a:spcAft>
                <a:spcPts val="600"/>
              </a:spcAft>
              <a:buSzPct val="100000"/>
              <a:buChar char="•"/>
            </a:pPr>
            <a:r>
              <a:rPr lang="en-US" sz="1250" dirty="0">
                <a:solidFill>
                  <a:schemeClr val="tx1"/>
                </a:solidFill>
              </a:rPr>
              <a:t>Ride history</a:t>
            </a:r>
            <a:endParaRPr lang="en-US" sz="1400" dirty="0"/>
          </a:p>
        </p:txBody>
      </p:sp>
      <p:sp>
        <p:nvSpPr>
          <p:cNvPr id="10" name="Shape 6"/>
          <p:cNvSpPr/>
          <p:nvPr/>
        </p:nvSpPr>
        <p:spPr>
          <a:xfrm>
            <a:off x="3259836" y="1188720"/>
            <a:ext cx="2624328" cy="3429000"/>
          </a:xfrm>
          <a:prstGeom prst="roundRect">
            <a:avLst>
              <a:gd name="adj" fmla="val 2787"/>
            </a:avLst>
          </a:prstGeom>
          <a:solidFill>
            <a:schemeClr val="bg1"/>
          </a:solidFill>
          <a:ln w="12700">
            <a:solidFill>
              <a:srgbClr val="D5DCE8"/>
            </a:solidFill>
            <a:prstDash val="solid"/>
          </a:ln>
        </p:spPr>
      </p:sp>
      <p:sp>
        <p:nvSpPr>
          <p:cNvPr id="11" name="Shape 7"/>
          <p:cNvSpPr/>
          <p:nvPr/>
        </p:nvSpPr>
        <p:spPr>
          <a:xfrm>
            <a:off x="3442716" y="1325880"/>
            <a:ext cx="384048" cy="384048"/>
          </a:xfrm>
          <a:prstGeom prst="ellipse">
            <a:avLst/>
          </a:prstGeom>
          <a:solidFill>
            <a:schemeClr val="accent1">
              <a:alpha val="12000"/>
            </a:schemeClr>
          </a:solidFill>
          <a:ln/>
        </p:spPr>
      </p:sp>
      <p:pic>
        <p:nvPicPr>
          <p:cNvPr id="12" name="Image 1" descr="preencoded.png"/>
          <p:cNvPicPr>
            <a:picLocks noChangeAspect="1"/>
          </p:cNvPicPr>
          <p:nvPr/>
        </p:nvPicPr>
        <p:blipFill>
          <a:blip r:embed="rId4"/>
          <a:stretch>
            <a:fillRect/>
          </a:stretch>
        </p:blipFill>
        <p:spPr>
          <a:xfrm>
            <a:off x="3542568" y="1425732"/>
            <a:ext cx="184343" cy="184343"/>
          </a:xfrm>
          <a:prstGeom prst="rect">
            <a:avLst/>
          </a:prstGeom>
        </p:spPr>
      </p:pic>
      <p:sp>
        <p:nvSpPr>
          <p:cNvPr id="13" name="Text 8"/>
          <p:cNvSpPr txBox="1"/>
          <p:nvPr/>
        </p:nvSpPr>
        <p:spPr>
          <a:xfrm>
            <a:off x="3945636" y="1325880"/>
            <a:ext cx="1801368" cy="384048"/>
          </a:xfrm>
          <a:prstGeom prst="rect">
            <a:avLst/>
          </a:prstGeom>
          <a:noFill/>
          <a:ln/>
        </p:spPr>
        <p:txBody>
          <a:bodyPr wrap="square" lIns="0" tIns="0" rIns="0" bIns="0" rtlCol="0" anchor="ctr"/>
          <a:lstStyle/>
          <a:p>
            <a:pPr marL="0" indent="0">
              <a:buNone/>
            </a:pPr>
            <a:r>
              <a:rPr lang="en-US" sz="1600" b="1" dirty="0">
                <a:solidFill>
                  <a:schemeClr val="tx1"/>
                </a:solidFill>
              </a:rPr>
              <a:t>Limitations</a:t>
            </a:r>
            <a:endParaRPr lang="en-US" sz="1600" dirty="0"/>
          </a:p>
        </p:txBody>
      </p:sp>
      <p:sp>
        <p:nvSpPr>
          <p:cNvPr id="14" name="Text 9"/>
          <p:cNvSpPr txBox="1"/>
          <p:nvPr/>
        </p:nvSpPr>
        <p:spPr>
          <a:xfrm>
            <a:off x="3442716" y="1920240"/>
            <a:ext cx="2258568" cy="2651760"/>
          </a:xfrm>
          <a:prstGeom prst="rect">
            <a:avLst/>
          </a:prstGeom>
          <a:noFill/>
          <a:ln/>
        </p:spPr>
        <p:txBody>
          <a:bodyPr wrap="square" lIns="0" tIns="0" rIns="0" bIns="0" rtlCol="0" anchor="t"/>
          <a:lstStyle/>
          <a:p>
            <a:pPr marL="177800" indent="-177800">
              <a:spcAft>
                <a:spcPts val="600"/>
              </a:spcAft>
              <a:buSzPct val="100000"/>
              <a:buChar char="•"/>
            </a:pPr>
            <a:r>
              <a:rPr lang="en-US" sz="1250" dirty="0">
                <a:solidFill>
                  <a:schemeClr val="tx1"/>
                </a:solidFill>
              </a:rPr>
              <a:t>GPS accuracy depends on device and surroundings</a:t>
            </a:r>
            <a:endParaRPr lang="en-US" sz="1400" dirty="0"/>
          </a:p>
          <a:p>
            <a:pPr marL="177800" indent="-177800">
              <a:spcAft>
                <a:spcPts val="600"/>
              </a:spcAft>
              <a:buSzPct val="100000"/>
              <a:buChar char="•"/>
            </a:pPr>
            <a:r>
              <a:rPr lang="en-US" sz="1250" dirty="0">
                <a:solidFill>
                  <a:schemeClr val="tx1"/>
                </a:solidFill>
              </a:rPr>
              <a:t>Needs continuous internet</a:t>
            </a:r>
            <a:endParaRPr lang="en-US" sz="1400" dirty="0"/>
          </a:p>
          <a:p>
            <a:pPr marL="177800" indent="-177800">
              <a:spcAft>
                <a:spcPts val="600"/>
              </a:spcAft>
              <a:buSzPct val="100000"/>
              <a:buChar char="•"/>
            </a:pPr>
            <a:r>
              <a:rPr lang="en-US" sz="1250" dirty="0">
                <a:solidFill>
                  <a:schemeClr val="tx1"/>
                </a:solidFill>
              </a:rPr>
              <a:t>Web app: background tracking is limited</a:t>
            </a:r>
            <a:endParaRPr lang="en-US" sz="1400" dirty="0"/>
          </a:p>
          <a:p>
            <a:pPr marL="177800" indent="-177800">
              <a:spcAft>
                <a:spcPts val="600"/>
              </a:spcAft>
              <a:buSzPct val="100000"/>
              <a:buChar char="•"/>
            </a:pPr>
            <a:r>
              <a:rPr lang="en-US" sz="1250" dirty="0">
                <a:solidFill>
                  <a:schemeClr val="tx1"/>
                </a:solidFill>
              </a:rPr>
              <a:t>Google Maps API key and usage limits</a:t>
            </a:r>
            <a:endParaRPr lang="en-US" sz="1400" dirty="0"/>
          </a:p>
          <a:p>
            <a:pPr marL="177800" indent="-177800">
              <a:spcAft>
                <a:spcPts val="600"/>
              </a:spcAft>
              <a:buSzPct val="100000"/>
              <a:buChar char="•"/>
            </a:pPr>
            <a:r>
              <a:rPr lang="en-US" sz="1250" dirty="0">
                <a:solidFill>
                  <a:schemeClr val="tx1"/>
                </a:solidFill>
              </a:rPr>
              <a:t>Development setup: SQLite, in-memory channel layer</a:t>
            </a:r>
            <a:endParaRPr lang="en-US" sz="1400" dirty="0"/>
          </a:p>
        </p:txBody>
      </p:sp>
      <p:sp>
        <p:nvSpPr>
          <p:cNvPr id="15" name="Shape 10"/>
          <p:cNvSpPr/>
          <p:nvPr/>
        </p:nvSpPr>
        <p:spPr>
          <a:xfrm>
            <a:off x="6062472" y="1188720"/>
            <a:ext cx="2624328" cy="3429000"/>
          </a:xfrm>
          <a:prstGeom prst="roundRect">
            <a:avLst>
              <a:gd name="adj" fmla="val 2787"/>
            </a:avLst>
          </a:prstGeom>
          <a:solidFill>
            <a:schemeClr val="bg1"/>
          </a:solidFill>
          <a:ln w="12700">
            <a:solidFill>
              <a:srgbClr val="D5DCE8"/>
            </a:solidFill>
            <a:prstDash val="solid"/>
          </a:ln>
        </p:spPr>
      </p:sp>
      <p:sp>
        <p:nvSpPr>
          <p:cNvPr id="16" name="Shape 11"/>
          <p:cNvSpPr/>
          <p:nvPr/>
        </p:nvSpPr>
        <p:spPr>
          <a:xfrm>
            <a:off x="6245352" y="1325880"/>
            <a:ext cx="384048" cy="384048"/>
          </a:xfrm>
          <a:prstGeom prst="ellipse">
            <a:avLst/>
          </a:prstGeom>
          <a:solidFill>
            <a:schemeClr val="accent1">
              <a:alpha val="12000"/>
            </a:schemeClr>
          </a:solidFill>
          <a:ln/>
        </p:spPr>
      </p:sp>
      <p:pic>
        <p:nvPicPr>
          <p:cNvPr id="17" name="Image 2" descr="preencoded.png"/>
          <p:cNvPicPr>
            <a:picLocks noChangeAspect="1"/>
          </p:cNvPicPr>
          <p:nvPr/>
        </p:nvPicPr>
        <p:blipFill>
          <a:blip r:embed="rId5"/>
          <a:stretch>
            <a:fillRect/>
          </a:stretch>
        </p:blipFill>
        <p:spPr>
          <a:xfrm>
            <a:off x="6345204" y="1425732"/>
            <a:ext cx="184343" cy="184343"/>
          </a:xfrm>
          <a:prstGeom prst="rect">
            <a:avLst/>
          </a:prstGeom>
        </p:spPr>
      </p:pic>
      <p:sp>
        <p:nvSpPr>
          <p:cNvPr id="18" name="Text 12"/>
          <p:cNvSpPr txBox="1"/>
          <p:nvPr/>
        </p:nvSpPr>
        <p:spPr>
          <a:xfrm>
            <a:off x="6748272" y="1325880"/>
            <a:ext cx="1801368" cy="384048"/>
          </a:xfrm>
          <a:prstGeom prst="rect">
            <a:avLst/>
          </a:prstGeom>
          <a:noFill/>
          <a:ln/>
        </p:spPr>
        <p:txBody>
          <a:bodyPr wrap="square" lIns="0" tIns="0" rIns="0" bIns="0" rtlCol="0" anchor="ctr"/>
          <a:lstStyle/>
          <a:p>
            <a:pPr marL="0" indent="0">
              <a:buNone/>
            </a:pPr>
            <a:r>
              <a:rPr lang="en-US" sz="1600" b="1" dirty="0">
                <a:solidFill>
                  <a:schemeClr val="tx1"/>
                </a:solidFill>
              </a:rPr>
              <a:t>Future scope</a:t>
            </a:r>
            <a:endParaRPr lang="en-US" sz="1600" dirty="0"/>
          </a:p>
        </p:txBody>
      </p:sp>
      <p:sp>
        <p:nvSpPr>
          <p:cNvPr id="19" name="Text 13"/>
          <p:cNvSpPr txBox="1"/>
          <p:nvPr/>
        </p:nvSpPr>
        <p:spPr>
          <a:xfrm>
            <a:off x="6245352" y="1920240"/>
            <a:ext cx="2258568" cy="2651760"/>
          </a:xfrm>
          <a:prstGeom prst="rect">
            <a:avLst/>
          </a:prstGeom>
          <a:noFill/>
          <a:ln/>
        </p:spPr>
        <p:txBody>
          <a:bodyPr wrap="square" lIns="0" tIns="0" rIns="0" bIns="0" rtlCol="0" anchor="t"/>
          <a:lstStyle/>
          <a:p>
            <a:pPr marL="177800" indent="-177800">
              <a:spcAft>
                <a:spcPts val="600"/>
              </a:spcAft>
              <a:buSzPct val="100000"/>
              <a:buChar char="•"/>
            </a:pPr>
            <a:r>
              <a:rPr lang="en-US" sz="1250" dirty="0">
                <a:solidFill>
                  <a:schemeClr val="tx1"/>
                </a:solidFill>
              </a:rPr>
              <a:t>Native Android / iOS app</a:t>
            </a:r>
            <a:endParaRPr lang="en-US" sz="1400" dirty="0"/>
          </a:p>
          <a:p>
            <a:pPr marL="177800" indent="-177800">
              <a:spcAft>
                <a:spcPts val="600"/>
              </a:spcAft>
              <a:buSzPct val="100000"/>
              <a:buChar char="•"/>
            </a:pPr>
            <a:r>
              <a:rPr lang="en-US" sz="1250" dirty="0">
                <a:solidFill>
                  <a:schemeClr val="tx1"/>
                </a:solidFill>
              </a:rPr>
              <a:t>Offline tracking, SMS fallback</a:t>
            </a:r>
            <a:endParaRPr lang="en-US" sz="1400" dirty="0"/>
          </a:p>
          <a:p>
            <a:pPr marL="177800" indent="-177800">
              <a:spcAft>
                <a:spcPts val="600"/>
              </a:spcAft>
              <a:buSzPct val="100000"/>
              <a:buChar char="•"/>
            </a:pPr>
            <a:r>
              <a:rPr lang="en-US" sz="1250" dirty="0">
                <a:solidFill>
                  <a:schemeClr val="tx1"/>
                </a:solidFill>
              </a:rPr>
              <a:t>Geofencing, low-battery alerts</a:t>
            </a:r>
            <a:endParaRPr lang="en-US" sz="1400" dirty="0"/>
          </a:p>
          <a:p>
            <a:pPr marL="177800" indent="-177800">
              <a:spcAft>
                <a:spcPts val="600"/>
              </a:spcAft>
              <a:buSzPct val="100000"/>
              <a:buChar char="•"/>
            </a:pPr>
            <a:r>
              <a:rPr lang="en-US" sz="1250" dirty="0">
                <a:solidFill>
                  <a:schemeClr val="tx1"/>
                </a:solidFill>
              </a:rPr>
              <a:t>Push, SMS, email, audio alerts</a:t>
            </a:r>
            <a:endParaRPr lang="en-US" sz="1400" dirty="0"/>
          </a:p>
          <a:p>
            <a:pPr marL="177800" indent="-177800">
              <a:spcAft>
                <a:spcPts val="600"/>
              </a:spcAft>
              <a:buSzPct val="100000"/>
              <a:buChar char="•"/>
            </a:pPr>
            <a:r>
              <a:rPr lang="en-US" sz="1250" dirty="0">
                <a:solidFill>
                  <a:schemeClr val="tx1"/>
                </a:solidFill>
              </a:rPr>
              <a:t>Automatic accident detection</a:t>
            </a:r>
            <a:endParaRPr lang="en-US" sz="1400" dirty="0"/>
          </a:p>
          <a:p>
            <a:pPr marL="177800" indent="-177800">
              <a:spcAft>
                <a:spcPts val="600"/>
              </a:spcAft>
              <a:buSzPct val="100000"/>
              <a:buChar char="•"/>
            </a:pPr>
            <a:r>
              <a:rPr lang="en-US" sz="1250" dirty="0">
                <a:solidFill>
                  <a:schemeClr val="tx1"/>
                </a:solidFill>
              </a:rPr>
              <a:t>Voice navigation, ride analytics</a:t>
            </a:r>
            <a:endParaRPr lang="en-US" sz="1400" dirty="0"/>
          </a:p>
        </p:txBody>
      </p:sp>
      <p:sp>
        <p:nvSpPr>
          <p:cNvPr id="25" name="Slide Number Placeholder 0"/>
          <p:cNvSpPr>
            <a:spLocks noGrp="1"/>
          </p:cNvSpPr>
          <p:nvPr>
            <p:ph type="sldNum" sz="quarter" idx="4294967295"/>
          </p:nvPr>
        </p:nvSpPr>
        <p:spPr>
          <a:xfrm>
            <a:off x="8138160" y="4791456"/>
            <a:ext cx="548640" cy="228600"/>
          </a:xfrm>
          <a:prstGeom prst="rect">
            <a:avLst/>
          </a:prstGeom>
          <a:extLst>
            <a:ext uri="{C572A759-6A51-4108-AA02-DFA0A04FC94B}">
              <ma14:wrappingTextBoxFlag xmlns:ma14="http://schemas.microsoft.com/office/mac/drawingml/2011/main" xmlns="" val="0"/>
            </a:ext>
          </a:extLst>
        </p:spPr>
        <p:txBody>
          <a:bodyPr/>
          <a:lstStyle>
            <a:lvl1pPr>
              <a:defRPr sz="1000">
                <a:solidFill>
                  <a:srgbClr val="475569"/>
                </a:solidFill>
              </a:defRPr>
            </a:lvl1pPr>
          </a:lstStyle>
          <a:p>
            <a:pPr algn="r"/>
            <a:fld id="{F7021451-1387-4CA6-816F-3879F97B5CBC}" type="slidenum">
              <a:rPr lang="en-US" b="0"/>
              <a:t>29</a:t>
            </a:fld>
            <a:endParaRPr lang="en-US"/>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name="Slide 30">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457200" y="420624"/>
            <a:ext cx="8229600" cy="566928"/>
          </a:xfrm>
          <a:prstGeom prst="rect">
            <a:avLst/>
          </a:prstGeom>
          <a:noFill/>
          <a:ln/>
        </p:spPr>
        <p:txBody>
          <a:bodyPr wrap="square" lIns="0" tIns="0" rIns="0" bIns="0" rtlCol="0" anchor="ctr"/>
          <a:lstStyle/>
          <a:p>
            <a:pPr marL="0" indent="0" algn="l">
              <a:buNone/>
            </a:pPr>
            <a:r>
              <a:rPr lang="en-US" sz="2800" b="1" dirty="0">
                <a:solidFill>
                  <a:schemeClr val="tx1"/>
                </a:solidFill>
              </a:rPr>
              <a:t>Conclusion and outcome mapping</a:t>
            </a:r>
            <a:endParaRPr lang="en-US" sz="2800" dirty="0"/>
          </a:p>
        </p:txBody>
      </p:sp>
      <p:sp>
        <p:nvSpPr>
          <p:cNvPr id="3" name="Text 1"/>
          <p:cNvSpPr txBox="1"/>
          <p:nvPr/>
        </p:nvSpPr>
        <p:spPr>
          <a:xfrm>
            <a:off x="457200" y="219456"/>
            <a:ext cx="5486400" cy="182880"/>
          </a:xfrm>
          <a:prstGeom prst="rect">
            <a:avLst/>
          </a:prstGeom>
          <a:noFill/>
          <a:ln/>
        </p:spPr>
        <p:txBody>
          <a:bodyPr wrap="square" lIns="0" tIns="0" rIns="0" bIns="0" rtlCol="0" anchor="t"/>
          <a:lstStyle/>
          <a:p>
            <a:pPr marL="0" indent="0">
              <a:buNone/>
            </a:pPr>
            <a:r>
              <a:rPr lang="en-US" sz="1000" b="1" kern="0" spc="200" dirty="0">
                <a:solidFill>
                  <a:schemeClr val="accent1"/>
                </a:solidFill>
              </a:rPr>
              <a:t>CONCLUSION</a:t>
            </a:r>
            <a:endParaRPr lang="en-US" sz="1000" dirty="0"/>
          </a:p>
        </p:txBody>
      </p:sp>
      <p:sp>
        <p:nvSpPr>
          <p:cNvPr id="5" name="Shape 2"/>
          <p:cNvSpPr/>
          <p:nvPr/>
        </p:nvSpPr>
        <p:spPr>
          <a:xfrm>
            <a:off x="457200" y="1170432"/>
            <a:ext cx="8229600" cy="868680"/>
          </a:xfrm>
          <a:prstGeom prst="roundRect">
            <a:avLst>
              <a:gd name="adj" fmla="val 10526"/>
            </a:avLst>
          </a:prstGeom>
          <a:solidFill>
            <a:schemeClr val="tx1"/>
          </a:solidFill>
          <a:ln/>
        </p:spPr>
      </p:sp>
      <p:sp>
        <p:nvSpPr>
          <p:cNvPr id="6" name="Text 3"/>
          <p:cNvSpPr txBox="1"/>
          <p:nvPr/>
        </p:nvSpPr>
        <p:spPr>
          <a:xfrm>
            <a:off x="731520" y="1170432"/>
            <a:ext cx="7680960" cy="868680"/>
          </a:xfrm>
          <a:prstGeom prst="rect">
            <a:avLst/>
          </a:prstGeom>
          <a:noFill/>
          <a:ln/>
        </p:spPr>
        <p:txBody>
          <a:bodyPr wrap="square" lIns="0" tIns="0" rIns="0" bIns="0" rtlCol="0" anchor="ctr"/>
          <a:lstStyle/>
          <a:p>
            <a:pPr marL="0" indent="0">
              <a:buNone/>
            </a:pPr>
            <a:r>
              <a:rPr lang="en-US" sz="1500" b="1" dirty="0">
                <a:solidFill>
                  <a:schemeClr val="bg1"/>
                </a:solidFill>
              </a:rPr>
              <a:t>PackTrace gives group riders a centralised, browser-based place to share live locations, monitor group movement and receive safety alerts.</a:t>
            </a:r>
            <a:endParaRPr lang="en-US" sz="1500" dirty="0"/>
          </a:p>
        </p:txBody>
      </p:sp>
      <p:sp>
        <p:nvSpPr>
          <p:cNvPr id="7" name="Text 4"/>
          <p:cNvSpPr txBox="1"/>
          <p:nvPr/>
        </p:nvSpPr>
        <p:spPr>
          <a:xfrm>
            <a:off x="457200" y="2212848"/>
            <a:ext cx="3291840" cy="182880"/>
          </a:xfrm>
          <a:prstGeom prst="rect">
            <a:avLst/>
          </a:prstGeom>
          <a:noFill/>
          <a:ln/>
        </p:spPr>
        <p:txBody>
          <a:bodyPr wrap="square" lIns="0" tIns="0" rIns="0" bIns="0" rtlCol="0" anchor="t"/>
          <a:lstStyle/>
          <a:p>
            <a:pPr marL="0" indent="0">
              <a:buNone/>
            </a:pPr>
            <a:r>
              <a:rPr lang="en-US" sz="1000" b="1" kern="0" spc="100" dirty="0">
                <a:solidFill>
                  <a:schemeClr val="accent1"/>
                </a:solidFill>
              </a:rPr>
              <a:t>PROGRAMME OUTCOMES</a:t>
            </a:r>
            <a:endParaRPr lang="en-US" sz="1000" dirty="0"/>
          </a:p>
        </p:txBody>
      </p:sp>
      <p:sp>
        <p:nvSpPr>
          <p:cNvPr id="8" name="Shape 5"/>
          <p:cNvSpPr/>
          <p:nvPr/>
        </p:nvSpPr>
        <p:spPr>
          <a:xfrm>
            <a:off x="457200" y="2468880"/>
            <a:ext cx="1600200" cy="457200"/>
          </a:xfrm>
          <a:prstGeom prst="roundRect">
            <a:avLst>
              <a:gd name="adj" fmla="val 10000"/>
            </a:avLst>
          </a:prstGeom>
          <a:solidFill>
            <a:schemeClr val="bg2"/>
          </a:solidFill>
          <a:ln/>
        </p:spPr>
      </p:sp>
      <p:sp>
        <p:nvSpPr>
          <p:cNvPr id="9" name="Text 6"/>
          <p:cNvSpPr txBox="1"/>
          <p:nvPr/>
        </p:nvSpPr>
        <p:spPr>
          <a:xfrm>
            <a:off x="530352" y="2468880"/>
            <a:ext cx="1481328" cy="457200"/>
          </a:xfrm>
          <a:prstGeom prst="rect">
            <a:avLst/>
          </a:prstGeom>
          <a:noFill/>
          <a:ln/>
        </p:spPr>
        <p:txBody>
          <a:bodyPr wrap="square" lIns="0" tIns="0" rIns="0" bIns="0" rtlCol="0" anchor="ctr"/>
          <a:lstStyle/>
          <a:p>
            <a:pPr marL="0" indent="0">
              <a:buNone/>
            </a:pPr>
            <a:r>
              <a:rPr lang="en-US" sz="1050" b="1" dirty="0">
                <a:solidFill>
                  <a:schemeClr val="accent1"/>
                </a:solidFill>
              </a:rPr>
              <a:t>PO1  </a:t>
            </a:r>
            <a:r>
              <a:rPr lang="en-US" sz="1050" dirty="0">
                <a:solidFill>
                  <a:schemeClr val="tx1"/>
                </a:solidFill>
              </a:rPr>
              <a:t>Foundation</a:t>
            </a:r>
            <a:endParaRPr lang="en-US" sz="1050" dirty="0"/>
          </a:p>
        </p:txBody>
      </p:sp>
      <p:sp>
        <p:nvSpPr>
          <p:cNvPr id="10" name="Shape 7"/>
          <p:cNvSpPr/>
          <p:nvPr/>
        </p:nvSpPr>
        <p:spPr>
          <a:xfrm>
            <a:off x="2148840" y="2468880"/>
            <a:ext cx="1600200" cy="457200"/>
          </a:xfrm>
          <a:prstGeom prst="roundRect">
            <a:avLst>
              <a:gd name="adj" fmla="val 10000"/>
            </a:avLst>
          </a:prstGeom>
          <a:solidFill>
            <a:schemeClr val="bg2"/>
          </a:solidFill>
          <a:ln/>
        </p:spPr>
      </p:sp>
      <p:sp>
        <p:nvSpPr>
          <p:cNvPr id="11" name="Text 8"/>
          <p:cNvSpPr txBox="1"/>
          <p:nvPr/>
        </p:nvSpPr>
        <p:spPr>
          <a:xfrm>
            <a:off x="2221992" y="2468880"/>
            <a:ext cx="1481328" cy="457200"/>
          </a:xfrm>
          <a:prstGeom prst="rect">
            <a:avLst/>
          </a:prstGeom>
          <a:noFill/>
          <a:ln/>
        </p:spPr>
        <p:txBody>
          <a:bodyPr wrap="square" lIns="0" tIns="0" rIns="0" bIns="0" rtlCol="0" anchor="ctr"/>
          <a:lstStyle/>
          <a:p>
            <a:pPr marL="0" indent="0">
              <a:buNone/>
            </a:pPr>
            <a:r>
              <a:rPr lang="en-US" sz="1050" b="1" dirty="0">
                <a:solidFill>
                  <a:schemeClr val="accent1"/>
                </a:solidFill>
              </a:rPr>
              <a:t>PO2  </a:t>
            </a:r>
            <a:r>
              <a:rPr lang="en-US" sz="1050" dirty="0">
                <a:solidFill>
                  <a:schemeClr val="tx1"/>
                </a:solidFill>
              </a:rPr>
              <a:t>Problem analysis</a:t>
            </a:r>
            <a:endParaRPr lang="en-US" sz="1050" dirty="0"/>
          </a:p>
        </p:txBody>
      </p:sp>
      <p:sp>
        <p:nvSpPr>
          <p:cNvPr id="12" name="Shape 9"/>
          <p:cNvSpPr/>
          <p:nvPr/>
        </p:nvSpPr>
        <p:spPr>
          <a:xfrm>
            <a:off x="457200" y="2999232"/>
            <a:ext cx="1600200" cy="457200"/>
          </a:xfrm>
          <a:prstGeom prst="roundRect">
            <a:avLst>
              <a:gd name="adj" fmla="val 10000"/>
            </a:avLst>
          </a:prstGeom>
          <a:solidFill>
            <a:schemeClr val="bg2"/>
          </a:solidFill>
          <a:ln/>
        </p:spPr>
      </p:sp>
      <p:sp>
        <p:nvSpPr>
          <p:cNvPr id="13" name="Text 10"/>
          <p:cNvSpPr txBox="1"/>
          <p:nvPr/>
        </p:nvSpPr>
        <p:spPr>
          <a:xfrm>
            <a:off x="530352" y="2999232"/>
            <a:ext cx="1481328" cy="457200"/>
          </a:xfrm>
          <a:prstGeom prst="rect">
            <a:avLst/>
          </a:prstGeom>
          <a:noFill/>
          <a:ln/>
        </p:spPr>
        <p:txBody>
          <a:bodyPr wrap="square" lIns="0" tIns="0" rIns="0" bIns="0" rtlCol="0" anchor="ctr"/>
          <a:lstStyle/>
          <a:p>
            <a:pPr marL="0" indent="0">
              <a:buNone/>
            </a:pPr>
            <a:r>
              <a:rPr lang="en-US" sz="1050" b="1" dirty="0">
                <a:solidFill>
                  <a:schemeClr val="accent1"/>
                </a:solidFill>
              </a:rPr>
              <a:t>PO3  </a:t>
            </a:r>
            <a:r>
              <a:rPr lang="en-US" sz="1050" dirty="0">
                <a:solidFill>
                  <a:schemeClr val="tx1"/>
                </a:solidFill>
              </a:rPr>
              <a:t>Solution design</a:t>
            </a:r>
            <a:endParaRPr lang="en-US" sz="1050" dirty="0"/>
          </a:p>
        </p:txBody>
      </p:sp>
      <p:sp>
        <p:nvSpPr>
          <p:cNvPr id="14" name="Shape 11"/>
          <p:cNvSpPr/>
          <p:nvPr/>
        </p:nvSpPr>
        <p:spPr>
          <a:xfrm>
            <a:off x="2148840" y="2999232"/>
            <a:ext cx="1600200" cy="457200"/>
          </a:xfrm>
          <a:prstGeom prst="roundRect">
            <a:avLst>
              <a:gd name="adj" fmla="val 10000"/>
            </a:avLst>
          </a:prstGeom>
          <a:solidFill>
            <a:schemeClr val="bg2"/>
          </a:solidFill>
          <a:ln/>
        </p:spPr>
      </p:sp>
      <p:sp>
        <p:nvSpPr>
          <p:cNvPr id="15" name="Text 12"/>
          <p:cNvSpPr txBox="1"/>
          <p:nvPr/>
        </p:nvSpPr>
        <p:spPr>
          <a:xfrm>
            <a:off x="2221992" y="2999232"/>
            <a:ext cx="1481328" cy="457200"/>
          </a:xfrm>
          <a:prstGeom prst="rect">
            <a:avLst/>
          </a:prstGeom>
          <a:noFill/>
          <a:ln/>
        </p:spPr>
        <p:txBody>
          <a:bodyPr wrap="square" lIns="0" tIns="0" rIns="0" bIns="0" rtlCol="0" anchor="ctr"/>
          <a:lstStyle/>
          <a:p>
            <a:pPr marL="0" indent="0">
              <a:buNone/>
            </a:pPr>
            <a:r>
              <a:rPr lang="en-US" sz="1050" b="1" dirty="0">
                <a:solidFill>
                  <a:schemeClr val="accent1"/>
                </a:solidFill>
              </a:rPr>
              <a:t>PO4  </a:t>
            </a:r>
            <a:r>
              <a:rPr lang="en-US" sz="1050" dirty="0">
                <a:solidFill>
                  <a:schemeClr val="tx1"/>
                </a:solidFill>
              </a:rPr>
              <a:t>Modern tools</a:t>
            </a:r>
            <a:endParaRPr lang="en-US" sz="1050" dirty="0"/>
          </a:p>
        </p:txBody>
      </p:sp>
      <p:sp>
        <p:nvSpPr>
          <p:cNvPr id="16" name="Shape 13"/>
          <p:cNvSpPr/>
          <p:nvPr/>
        </p:nvSpPr>
        <p:spPr>
          <a:xfrm>
            <a:off x="457200" y="3529584"/>
            <a:ext cx="1600200" cy="457200"/>
          </a:xfrm>
          <a:prstGeom prst="roundRect">
            <a:avLst>
              <a:gd name="adj" fmla="val 10000"/>
            </a:avLst>
          </a:prstGeom>
          <a:solidFill>
            <a:schemeClr val="bg2"/>
          </a:solidFill>
          <a:ln/>
        </p:spPr>
      </p:sp>
      <p:sp>
        <p:nvSpPr>
          <p:cNvPr id="17" name="Text 14"/>
          <p:cNvSpPr txBox="1"/>
          <p:nvPr/>
        </p:nvSpPr>
        <p:spPr>
          <a:xfrm>
            <a:off x="530352" y="3529584"/>
            <a:ext cx="1481328" cy="457200"/>
          </a:xfrm>
          <a:prstGeom prst="rect">
            <a:avLst/>
          </a:prstGeom>
          <a:noFill/>
          <a:ln/>
        </p:spPr>
        <p:txBody>
          <a:bodyPr wrap="square" lIns="0" tIns="0" rIns="0" bIns="0" rtlCol="0" anchor="ctr"/>
          <a:lstStyle/>
          <a:p>
            <a:pPr marL="0" indent="0">
              <a:buNone/>
            </a:pPr>
            <a:r>
              <a:rPr lang="en-US" sz="1050" b="1" dirty="0">
                <a:solidFill>
                  <a:schemeClr val="accent1"/>
                </a:solidFill>
              </a:rPr>
              <a:t>PO5  </a:t>
            </a:r>
            <a:r>
              <a:rPr lang="en-US" sz="1050" dirty="0">
                <a:solidFill>
                  <a:schemeClr val="tx1"/>
                </a:solidFill>
              </a:rPr>
              <a:t>Individual work</a:t>
            </a:r>
            <a:endParaRPr lang="en-US" sz="1050" dirty="0"/>
          </a:p>
        </p:txBody>
      </p:sp>
      <p:sp>
        <p:nvSpPr>
          <p:cNvPr id="18" name="Shape 15"/>
          <p:cNvSpPr/>
          <p:nvPr/>
        </p:nvSpPr>
        <p:spPr>
          <a:xfrm>
            <a:off x="2148840" y="3529584"/>
            <a:ext cx="1600200" cy="457200"/>
          </a:xfrm>
          <a:prstGeom prst="roundRect">
            <a:avLst>
              <a:gd name="adj" fmla="val 10000"/>
            </a:avLst>
          </a:prstGeom>
          <a:solidFill>
            <a:schemeClr val="bg2"/>
          </a:solidFill>
          <a:ln/>
        </p:spPr>
      </p:sp>
      <p:sp>
        <p:nvSpPr>
          <p:cNvPr id="19" name="Text 16"/>
          <p:cNvSpPr txBox="1"/>
          <p:nvPr/>
        </p:nvSpPr>
        <p:spPr>
          <a:xfrm>
            <a:off x="2221992" y="3529584"/>
            <a:ext cx="1481328" cy="457200"/>
          </a:xfrm>
          <a:prstGeom prst="rect">
            <a:avLst/>
          </a:prstGeom>
          <a:noFill/>
          <a:ln/>
        </p:spPr>
        <p:txBody>
          <a:bodyPr wrap="square" lIns="0" tIns="0" rIns="0" bIns="0" rtlCol="0" anchor="ctr"/>
          <a:lstStyle/>
          <a:p>
            <a:pPr marL="0" indent="0">
              <a:buNone/>
            </a:pPr>
            <a:r>
              <a:rPr lang="en-US" sz="1050" b="1" dirty="0">
                <a:solidFill>
                  <a:schemeClr val="accent1"/>
                </a:solidFill>
              </a:rPr>
              <a:t>PO6  </a:t>
            </a:r>
            <a:r>
              <a:rPr lang="en-US" sz="1050" dirty="0">
                <a:solidFill>
                  <a:schemeClr val="tx1"/>
                </a:solidFill>
              </a:rPr>
              <a:t>Project planning</a:t>
            </a:r>
            <a:endParaRPr lang="en-US" sz="1050" dirty="0"/>
          </a:p>
        </p:txBody>
      </p:sp>
      <p:sp>
        <p:nvSpPr>
          <p:cNvPr id="22" name="Shape 19"/>
          <p:cNvSpPr/>
          <p:nvPr/>
        </p:nvSpPr>
        <p:spPr>
          <a:xfrm>
            <a:off x="2148840" y="4059936"/>
            <a:ext cx="1600200" cy="457200"/>
          </a:xfrm>
          <a:prstGeom prst="roundRect">
            <a:avLst>
              <a:gd name="adj" fmla="val 10000"/>
            </a:avLst>
          </a:prstGeom>
          <a:solidFill>
            <a:schemeClr val="bg2"/>
          </a:solidFill>
          <a:ln/>
        </p:spPr>
      </p:sp>
      <p:sp>
        <p:nvSpPr>
          <p:cNvPr id="23" name="Text 20"/>
          <p:cNvSpPr txBox="1"/>
          <p:nvPr/>
        </p:nvSpPr>
        <p:spPr>
          <a:xfrm>
            <a:off x="2221992" y="4059936"/>
            <a:ext cx="1481328" cy="457200"/>
          </a:xfrm>
          <a:prstGeom prst="rect">
            <a:avLst/>
          </a:prstGeom>
          <a:noFill/>
          <a:ln/>
        </p:spPr>
        <p:txBody>
          <a:bodyPr wrap="square" lIns="0" tIns="0" rIns="0" bIns="0" rtlCol="0" anchor="ctr"/>
          <a:lstStyle/>
          <a:p>
            <a:pPr marL="0" indent="0">
              <a:buNone/>
            </a:pPr>
            <a:r>
              <a:rPr lang="en-US" sz="1050" b="1" dirty="0">
                <a:solidFill>
                  <a:schemeClr val="accent1"/>
                </a:solidFill>
              </a:rPr>
              <a:t>PO8  </a:t>
            </a:r>
            <a:r>
              <a:rPr lang="en-US" sz="1050" dirty="0">
                <a:solidFill>
                  <a:schemeClr val="tx1"/>
                </a:solidFill>
              </a:rPr>
              <a:t>Lifelong learning</a:t>
            </a:r>
            <a:endParaRPr lang="en-US" sz="1050" dirty="0"/>
          </a:p>
        </p:txBody>
      </p:sp>
      <p:sp>
        <p:nvSpPr>
          <p:cNvPr id="24" name="Text 21"/>
          <p:cNvSpPr txBox="1"/>
          <p:nvPr/>
        </p:nvSpPr>
        <p:spPr>
          <a:xfrm>
            <a:off x="4023360" y="2212848"/>
            <a:ext cx="2286000" cy="182880"/>
          </a:xfrm>
          <a:prstGeom prst="rect">
            <a:avLst/>
          </a:prstGeom>
          <a:noFill/>
          <a:ln/>
        </p:spPr>
        <p:txBody>
          <a:bodyPr wrap="square" lIns="0" tIns="0" rIns="0" bIns="0" rtlCol="0" anchor="t"/>
          <a:lstStyle/>
          <a:p>
            <a:pPr marL="0" indent="0">
              <a:buNone/>
            </a:pPr>
            <a:r>
              <a:rPr lang="en-US" sz="1000" b="1" kern="0" spc="100" dirty="0">
                <a:solidFill>
                  <a:schemeClr val="accent1"/>
                </a:solidFill>
              </a:rPr>
              <a:t>PROGRAMME SPECIFIC OUTCOMES</a:t>
            </a:r>
            <a:endParaRPr lang="en-US" sz="1000" dirty="0"/>
          </a:p>
        </p:txBody>
      </p:sp>
      <p:sp>
        <p:nvSpPr>
          <p:cNvPr id="25" name="Shape 22"/>
          <p:cNvSpPr/>
          <p:nvPr/>
        </p:nvSpPr>
        <p:spPr>
          <a:xfrm>
            <a:off x="4023360" y="2468880"/>
            <a:ext cx="2148840" cy="987552"/>
          </a:xfrm>
          <a:prstGeom prst="roundRect">
            <a:avLst>
              <a:gd name="adj" fmla="val 7407"/>
            </a:avLst>
          </a:prstGeom>
          <a:solidFill>
            <a:schemeClr val="bg2"/>
          </a:solidFill>
          <a:ln/>
        </p:spPr>
      </p:sp>
      <p:sp>
        <p:nvSpPr>
          <p:cNvPr id="26" name="Text 23"/>
          <p:cNvSpPr txBox="1"/>
          <p:nvPr/>
        </p:nvSpPr>
        <p:spPr>
          <a:xfrm>
            <a:off x="4160520" y="2560320"/>
            <a:ext cx="1828800" cy="201168"/>
          </a:xfrm>
          <a:prstGeom prst="rect">
            <a:avLst/>
          </a:prstGeom>
          <a:noFill/>
          <a:ln/>
        </p:spPr>
        <p:txBody>
          <a:bodyPr wrap="square" lIns="0" tIns="0" rIns="0" bIns="0" rtlCol="0" anchor="t"/>
          <a:lstStyle/>
          <a:p>
            <a:pPr marL="0" indent="0">
              <a:buNone/>
            </a:pPr>
            <a:r>
              <a:rPr lang="en-US" sz="1200" b="1" dirty="0">
                <a:solidFill>
                  <a:schemeClr val="accent1"/>
                </a:solidFill>
              </a:rPr>
              <a:t>PSO 1</a:t>
            </a:r>
            <a:endParaRPr lang="en-US" sz="1200" dirty="0"/>
          </a:p>
        </p:txBody>
      </p:sp>
      <p:sp>
        <p:nvSpPr>
          <p:cNvPr id="27" name="Text 24"/>
          <p:cNvSpPr txBox="1"/>
          <p:nvPr/>
        </p:nvSpPr>
        <p:spPr>
          <a:xfrm>
            <a:off x="4160520" y="2798064"/>
            <a:ext cx="1920240" cy="621792"/>
          </a:xfrm>
          <a:prstGeom prst="rect">
            <a:avLst/>
          </a:prstGeom>
          <a:noFill/>
          <a:ln/>
        </p:spPr>
        <p:txBody>
          <a:bodyPr wrap="square" lIns="0" tIns="0" rIns="0" bIns="0" rtlCol="0" anchor="t"/>
          <a:lstStyle/>
          <a:p>
            <a:pPr marL="0" indent="0">
              <a:buNone/>
            </a:pPr>
            <a:r>
              <a:rPr lang="en-US" sz="1050" dirty="0">
                <a:solidFill>
                  <a:schemeClr val="tx2"/>
                </a:solidFill>
              </a:rPr>
              <a:t>Modern technologies: Django, WebSocket, geolocation, web mapping</a:t>
            </a:r>
            <a:endParaRPr lang="en-US" sz="1050" dirty="0"/>
          </a:p>
        </p:txBody>
      </p:sp>
      <p:sp>
        <p:nvSpPr>
          <p:cNvPr id="28" name="Shape 25"/>
          <p:cNvSpPr/>
          <p:nvPr/>
        </p:nvSpPr>
        <p:spPr>
          <a:xfrm>
            <a:off x="4023360" y="3547872"/>
            <a:ext cx="2148840" cy="987552"/>
          </a:xfrm>
          <a:prstGeom prst="roundRect">
            <a:avLst>
              <a:gd name="adj" fmla="val 7407"/>
            </a:avLst>
          </a:prstGeom>
          <a:solidFill>
            <a:schemeClr val="bg2"/>
          </a:solidFill>
          <a:ln/>
        </p:spPr>
      </p:sp>
      <p:sp>
        <p:nvSpPr>
          <p:cNvPr id="29" name="Text 26"/>
          <p:cNvSpPr txBox="1"/>
          <p:nvPr/>
        </p:nvSpPr>
        <p:spPr>
          <a:xfrm>
            <a:off x="4160520" y="3639312"/>
            <a:ext cx="1828800" cy="201168"/>
          </a:xfrm>
          <a:prstGeom prst="rect">
            <a:avLst/>
          </a:prstGeom>
          <a:noFill/>
          <a:ln/>
        </p:spPr>
        <p:txBody>
          <a:bodyPr wrap="square" lIns="0" tIns="0" rIns="0" bIns="0" rtlCol="0" anchor="t"/>
          <a:lstStyle/>
          <a:p>
            <a:pPr marL="0" indent="0">
              <a:buNone/>
            </a:pPr>
            <a:r>
              <a:rPr lang="en-US" sz="1200" b="1" dirty="0">
                <a:solidFill>
                  <a:schemeClr val="accent1"/>
                </a:solidFill>
              </a:rPr>
              <a:t>PSO 2</a:t>
            </a:r>
            <a:endParaRPr lang="en-US" sz="1200" dirty="0"/>
          </a:p>
        </p:txBody>
      </p:sp>
      <p:sp>
        <p:nvSpPr>
          <p:cNvPr id="30" name="Text 27"/>
          <p:cNvSpPr txBox="1"/>
          <p:nvPr/>
        </p:nvSpPr>
        <p:spPr>
          <a:xfrm>
            <a:off x="4160520" y="3877056"/>
            <a:ext cx="1920240" cy="621792"/>
          </a:xfrm>
          <a:prstGeom prst="rect">
            <a:avLst/>
          </a:prstGeom>
          <a:noFill/>
          <a:ln/>
        </p:spPr>
        <p:txBody>
          <a:bodyPr wrap="square" lIns="0" tIns="0" rIns="0" bIns="0" rtlCol="0" anchor="t"/>
          <a:lstStyle/>
          <a:p>
            <a:pPr marL="0" indent="0">
              <a:buNone/>
            </a:pPr>
            <a:r>
              <a:rPr lang="en-US" sz="1050" dirty="0">
                <a:solidFill>
                  <a:schemeClr val="tx2"/>
                </a:solidFill>
              </a:rPr>
              <a:t>Computing principles: distance computation, real-time data, database design</a:t>
            </a:r>
            <a:endParaRPr lang="en-US" sz="1050" dirty="0"/>
          </a:p>
        </p:txBody>
      </p:sp>
      <p:sp>
        <p:nvSpPr>
          <p:cNvPr id="31" name="Text 28"/>
          <p:cNvSpPr txBox="1"/>
          <p:nvPr/>
        </p:nvSpPr>
        <p:spPr>
          <a:xfrm>
            <a:off x="6461760" y="2916936"/>
            <a:ext cx="2286000" cy="182880"/>
          </a:xfrm>
          <a:prstGeom prst="rect">
            <a:avLst/>
          </a:prstGeom>
          <a:noFill/>
          <a:ln/>
        </p:spPr>
        <p:txBody>
          <a:bodyPr wrap="square" lIns="0" tIns="0" rIns="0" bIns="0" rtlCol="0" anchor="t"/>
          <a:lstStyle/>
          <a:p>
            <a:pPr marL="0" indent="0">
              <a:buNone/>
            </a:pPr>
            <a:r>
              <a:rPr lang="en-US" sz="1000" b="1" kern="0" spc="100" dirty="0">
                <a:solidFill>
                  <a:schemeClr val="accent1"/>
                </a:solidFill>
              </a:rPr>
              <a:t>SDGS</a:t>
            </a:r>
            <a:endParaRPr lang="en-US" sz="1000" dirty="0"/>
          </a:p>
        </p:txBody>
      </p:sp>
      <p:sp>
        <p:nvSpPr>
          <p:cNvPr id="37" name="Shape 34"/>
          <p:cNvSpPr/>
          <p:nvPr/>
        </p:nvSpPr>
        <p:spPr>
          <a:xfrm>
            <a:off x="6355080" y="3200400"/>
            <a:ext cx="2331720" cy="658368"/>
          </a:xfrm>
          <a:prstGeom prst="roundRect">
            <a:avLst>
              <a:gd name="adj" fmla="val 8333"/>
            </a:avLst>
          </a:prstGeom>
          <a:solidFill>
            <a:schemeClr val="bg1"/>
          </a:solidFill>
          <a:ln w="12700">
            <a:solidFill>
              <a:srgbClr val="D5DCE8"/>
            </a:solidFill>
            <a:prstDash val="solid"/>
          </a:ln>
        </p:spPr>
      </p:sp>
      <p:sp>
        <p:nvSpPr>
          <p:cNvPr id="38" name="Shape 35"/>
          <p:cNvSpPr/>
          <p:nvPr/>
        </p:nvSpPr>
        <p:spPr>
          <a:xfrm>
            <a:off x="6428232" y="3291840"/>
            <a:ext cx="475488" cy="475488"/>
          </a:xfrm>
          <a:prstGeom prst="roundRect">
            <a:avLst>
              <a:gd name="adj" fmla="val 11538"/>
            </a:avLst>
          </a:prstGeom>
          <a:solidFill>
            <a:schemeClr val="tx1"/>
          </a:solidFill>
          <a:ln/>
        </p:spPr>
      </p:sp>
      <p:sp>
        <p:nvSpPr>
          <p:cNvPr id="39" name="Text 36"/>
          <p:cNvSpPr txBox="1"/>
          <p:nvPr/>
        </p:nvSpPr>
        <p:spPr>
          <a:xfrm>
            <a:off x="6428232" y="3291840"/>
            <a:ext cx="475488" cy="475488"/>
          </a:xfrm>
          <a:prstGeom prst="rect">
            <a:avLst/>
          </a:prstGeom>
          <a:noFill/>
          <a:ln/>
        </p:spPr>
        <p:txBody>
          <a:bodyPr wrap="square" lIns="0" tIns="0" rIns="0" bIns="0" rtlCol="0" anchor="ctr"/>
          <a:lstStyle/>
          <a:p>
            <a:pPr marL="0" indent="0" algn="ctr">
              <a:buNone/>
            </a:pPr>
            <a:r>
              <a:rPr lang="en-US" sz="1500" b="1" dirty="0">
                <a:solidFill>
                  <a:schemeClr val="bg1"/>
                </a:solidFill>
              </a:rPr>
              <a:t>9</a:t>
            </a:r>
            <a:endParaRPr lang="en-US" sz="1500" dirty="0"/>
          </a:p>
        </p:txBody>
      </p:sp>
      <p:sp>
        <p:nvSpPr>
          <p:cNvPr id="40" name="Text 37"/>
          <p:cNvSpPr txBox="1"/>
          <p:nvPr/>
        </p:nvSpPr>
        <p:spPr>
          <a:xfrm>
            <a:off x="6995160" y="3255264"/>
            <a:ext cx="1645920" cy="365760"/>
          </a:xfrm>
          <a:prstGeom prst="rect">
            <a:avLst/>
          </a:prstGeom>
          <a:noFill/>
          <a:ln/>
        </p:spPr>
        <p:txBody>
          <a:bodyPr wrap="square" lIns="0" tIns="0" rIns="0" bIns="0" rtlCol="0" anchor="ctr"/>
          <a:lstStyle/>
          <a:p>
            <a:pPr marL="0" indent="0">
              <a:buNone/>
            </a:pPr>
            <a:r>
              <a:rPr lang="en-US" sz="1050" b="1" dirty="0">
                <a:solidFill>
                  <a:schemeClr val="tx1"/>
                </a:solidFill>
              </a:rPr>
              <a:t>Industry, Innovation and Infrastructure</a:t>
            </a:r>
            <a:endParaRPr lang="en-US" sz="1050" dirty="0"/>
          </a:p>
        </p:txBody>
      </p:sp>
      <p:sp>
        <p:nvSpPr>
          <p:cNvPr id="41" name="Text 38"/>
          <p:cNvSpPr txBox="1"/>
          <p:nvPr/>
        </p:nvSpPr>
        <p:spPr>
          <a:xfrm>
            <a:off x="6995160" y="3621024"/>
            <a:ext cx="1645920" cy="201168"/>
          </a:xfrm>
          <a:prstGeom prst="rect">
            <a:avLst/>
          </a:prstGeom>
          <a:noFill/>
          <a:ln/>
        </p:spPr>
        <p:txBody>
          <a:bodyPr wrap="square" lIns="0" tIns="0" rIns="0" bIns="0" rtlCol="0" anchor="t"/>
          <a:lstStyle/>
          <a:p>
            <a:pPr marL="0" indent="0">
              <a:buNone/>
            </a:pPr>
            <a:r>
              <a:rPr lang="en-US" sz="950" dirty="0">
                <a:solidFill>
                  <a:schemeClr val="tx2"/>
                </a:solidFill>
              </a:rPr>
              <a:t>real-time web and mapping</a:t>
            </a:r>
            <a:endParaRPr lang="en-US" sz="950" dirty="0"/>
          </a:p>
        </p:txBody>
      </p:sp>
      <p:sp>
        <p:nvSpPr>
          <p:cNvPr id="42" name="Shape 39"/>
          <p:cNvSpPr/>
          <p:nvPr/>
        </p:nvSpPr>
        <p:spPr>
          <a:xfrm>
            <a:off x="6355080" y="3931920"/>
            <a:ext cx="2331720" cy="658368"/>
          </a:xfrm>
          <a:prstGeom prst="roundRect">
            <a:avLst>
              <a:gd name="adj" fmla="val 8333"/>
            </a:avLst>
          </a:prstGeom>
          <a:solidFill>
            <a:schemeClr val="bg1"/>
          </a:solidFill>
          <a:ln w="12700">
            <a:solidFill>
              <a:srgbClr val="D5DCE8"/>
            </a:solidFill>
            <a:prstDash val="solid"/>
          </a:ln>
        </p:spPr>
      </p:sp>
      <p:sp>
        <p:nvSpPr>
          <p:cNvPr id="43" name="Shape 40"/>
          <p:cNvSpPr/>
          <p:nvPr/>
        </p:nvSpPr>
        <p:spPr>
          <a:xfrm>
            <a:off x="6428232" y="4023360"/>
            <a:ext cx="475488" cy="475488"/>
          </a:xfrm>
          <a:prstGeom prst="roundRect">
            <a:avLst>
              <a:gd name="adj" fmla="val 11538"/>
            </a:avLst>
          </a:prstGeom>
          <a:solidFill>
            <a:schemeClr val="tx1"/>
          </a:solidFill>
          <a:ln/>
        </p:spPr>
      </p:sp>
      <p:sp>
        <p:nvSpPr>
          <p:cNvPr id="44" name="Text 41"/>
          <p:cNvSpPr txBox="1"/>
          <p:nvPr/>
        </p:nvSpPr>
        <p:spPr>
          <a:xfrm>
            <a:off x="6428232" y="4023360"/>
            <a:ext cx="475488" cy="475488"/>
          </a:xfrm>
          <a:prstGeom prst="rect">
            <a:avLst/>
          </a:prstGeom>
          <a:noFill/>
          <a:ln/>
        </p:spPr>
        <p:txBody>
          <a:bodyPr wrap="square" lIns="0" tIns="0" rIns="0" bIns="0" rtlCol="0" anchor="ctr"/>
          <a:lstStyle/>
          <a:p>
            <a:pPr marL="0" indent="0" algn="ctr">
              <a:buNone/>
            </a:pPr>
            <a:r>
              <a:rPr lang="en-US" sz="1500" b="1" dirty="0">
                <a:solidFill>
                  <a:schemeClr val="bg1"/>
                </a:solidFill>
              </a:rPr>
              <a:t>11</a:t>
            </a:r>
            <a:endParaRPr lang="en-US" sz="1500" dirty="0"/>
          </a:p>
        </p:txBody>
      </p:sp>
      <p:sp>
        <p:nvSpPr>
          <p:cNvPr id="45" name="Text 42"/>
          <p:cNvSpPr txBox="1"/>
          <p:nvPr/>
        </p:nvSpPr>
        <p:spPr>
          <a:xfrm>
            <a:off x="6995160" y="3986784"/>
            <a:ext cx="1645920" cy="365760"/>
          </a:xfrm>
          <a:prstGeom prst="rect">
            <a:avLst/>
          </a:prstGeom>
          <a:noFill/>
          <a:ln/>
        </p:spPr>
        <p:txBody>
          <a:bodyPr wrap="square" lIns="0" tIns="0" rIns="0" bIns="0" rtlCol="0" anchor="ctr"/>
          <a:lstStyle/>
          <a:p>
            <a:pPr marL="0" indent="0">
              <a:buNone/>
            </a:pPr>
            <a:r>
              <a:rPr lang="en-US" sz="1050" b="1" dirty="0">
                <a:solidFill>
                  <a:schemeClr val="tx1"/>
                </a:solidFill>
              </a:rPr>
              <a:t>Sustainable Cities and Communities</a:t>
            </a:r>
            <a:endParaRPr lang="en-US" sz="1050" dirty="0"/>
          </a:p>
        </p:txBody>
      </p:sp>
      <p:sp>
        <p:nvSpPr>
          <p:cNvPr id="46" name="Text 43"/>
          <p:cNvSpPr txBox="1"/>
          <p:nvPr/>
        </p:nvSpPr>
        <p:spPr>
          <a:xfrm>
            <a:off x="6995160" y="4352544"/>
            <a:ext cx="1645920" cy="201168"/>
          </a:xfrm>
          <a:prstGeom prst="rect">
            <a:avLst/>
          </a:prstGeom>
          <a:noFill/>
          <a:ln/>
        </p:spPr>
        <p:txBody>
          <a:bodyPr wrap="square" lIns="0" tIns="0" rIns="0" bIns="0" rtlCol="0" anchor="t"/>
          <a:lstStyle/>
          <a:p>
            <a:pPr marL="0" indent="0">
              <a:buNone/>
            </a:pPr>
            <a:r>
              <a:rPr lang="en-US" sz="950" dirty="0">
                <a:solidFill>
                  <a:schemeClr val="tx2"/>
                </a:solidFill>
              </a:rPr>
              <a:t>safer, coordinated group travel</a:t>
            </a:r>
            <a:endParaRPr lang="en-US" sz="950" dirty="0"/>
          </a:p>
        </p:txBody>
      </p:sp>
      <p:sp>
        <p:nvSpPr>
          <p:cNvPr id="4" name="Slide Number Placeholder 0"/>
          <p:cNvSpPr>
            <a:spLocks noGrp="1"/>
          </p:cNvSpPr>
          <p:nvPr>
            <p:ph type="sldNum" sz="quarter" idx="4294967295"/>
          </p:nvPr>
        </p:nvSpPr>
        <p:spPr>
          <a:xfrm>
            <a:off x="8138160" y="4791456"/>
            <a:ext cx="548640" cy="228600"/>
          </a:xfrm>
          <a:prstGeom prst="rect">
            <a:avLst/>
          </a:prstGeom>
          <a:extLst>
            <a:ext uri="{C572A759-6A51-4108-AA02-DFA0A04FC94B}">
              <ma14:wrappingTextBoxFlag xmlns:ma14="http://schemas.microsoft.com/office/mac/drawingml/2011/main" xmlns="" val="0"/>
            </a:ext>
          </a:extLst>
        </p:spPr>
        <p:txBody>
          <a:bodyPr/>
          <a:lstStyle>
            <a:lvl1pPr>
              <a:defRPr sz="1000">
                <a:solidFill>
                  <a:srgbClr val="475569"/>
                </a:solidFill>
              </a:defRPr>
            </a:lvl1pPr>
          </a:lstStyle>
          <a:p>
            <a:pPr algn="r"/>
            <a:fld id="{F7021451-1387-4CA6-816F-3879F97B5CBC}" type="slidenum">
              <a:rPr lang="en-US" b="0"/>
              <a:t>30</a:t>
            </a:fld>
            <a:endParaRPr lang="en-US"/>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name="Slide 31">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457200" y="420624"/>
            <a:ext cx="8229600" cy="566928"/>
          </a:xfrm>
          <a:prstGeom prst="rect">
            <a:avLst/>
          </a:prstGeom>
          <a:noFill/>
          <a:ln/>
        </p:spPr>
        <p:txBody>
          <a:bodyPr wrap="square" lIns="0" tIns="0" rIns="0" bIns="0" rtlCol="0" anchor="ctr"/>
          <a:lstStyle/>
          <a:p>
            <a:pPr marL="0" indent="0" algn="l">
              <a:buNone/>
            </a:pPr>
            <a:r>
              <a:rPr lang="en-US" sz="2800" b="1" dirty="0">
                <a:solidFill>
                  <a:schemeClr val="tx1"/>
                </a:solidFill>
              </a:rPr>
              <a:t>References</a:t>
            </a:r>
            <a:endParaRPr lang="en-US" sz="2800" dirty="0"/>
          </a:p>
        </p:txBody>
      </p:sp>
      <p:sp>
        <p:nvSpPr>
          <p:cNvPr id="3" name="Text 1"/>
          <p:cNvSpPr txBox="1"/>
          <p:nvPr/>
        </p:nvSpPr>
        <p:spPr>
          <a:xfrm>
            <a:off x="457200" y="219456"/>
            <a:ext cx="5486400" cy="182880"/>
          </a:xfrm>
          <a:prstGeom prst="rect">
            <a:avLst/>
          </a:prstGeom>
          <a:noFill/>
          <a:ln/>
        </p:spPr>
        <p:txBody>
          <a:bodyPr wrap="square" lIns="0" tIns="0" rIns="0" bIns="0" rtlCol="0" anchor="t"/>
          <a:lstStyle/>
          <a:p>
            <a:pPr marL="0" indent="0">
              <a:buNone/>
            </a:pPr>
            <a:r>
              <a:rPr lang="en-US" sz="1000" b="1" kern="0" spc="200" dirty="0">
                <a:solidFill>
                  <a:schemeClr val="accent1"/>
                </a:solidFill>
              </a:rPr>
              <a:t>REFERENCES  (1 OF 2)</a:t>
            </a:r>
            <a:endParaRPr lang="en-US" sz="1000" dirty="0"/>
          </a:p>
        </p:txBody>
      </p:sp>
      <p:sp>
        <p:nvSpPr>
          <p:cNvPr id="5" name="Text 2"/>
          <p:cNvSpPr txBox="1"/>
          <p:nvPr/>
        </p:nvSpPr>
        <p:spPr>
          <a:xfrm>
            <a:off x="457200" y="1188720"/>
            <a:ext cx="3977640" cy="3429000"/>
          </a:xfrm>
          <a:prstGeom prst="rect">
            <a:avLst/>
          </a:prstGeom>
          <a:noFill/>
          <a:ln/>
        </p:spPr>
        <p:txBody>
          <a:bodyPr wrap="square" lIns="0" tIns="0" rIns="0" bIns="0" rtlCol="0" anchor="t"/>
          <a:lstStyle/>
          <a:p>
            <a:pPr marL="0" indent="0">
              <a:buNone/>
            </a:pPr>
            <a:r>
              <a:rPr lang="en-US" sz="1050" b="1" dirty="0">
                <a:solidFill>
                  <a:schemeClr val="accent1"/>
                </a:solidFill>
              </a:rPr>
              <a:t>[1]  </a:t>
            </a:r>
            <a:r>
              <a:rPr lang="en-US" sz="1050" dirty="0">
                <a:solidFill>
                  <a:schemeClr val="tx1"/>
                </a:solidFill>
              </a:rPr>
              <a:t>E. A. Aldhahri, A. A. Almazroi, M. H. Alkinani, M. Alqarni, E. A. Alghamdi, and N. Ayub, "GNN-RMNet: Leveraging graph neural networks and GPS analytics for driver behavior and route optimization in logistics," PLOS ONE, vol. 20, no. 8, Art. no. e0328899, Aug. 2025, doi: 10.1371/journal.pone.0328899.</a:t>
            </a:r>
            <a:endParaRPr lang="en-US" sz="1050" dirty="0"/>
          </a:p>
          <a:p>
            <a:pPr marL="0" indent="0">
              <a:buNone/>
            </a:pPr>
            <a:r>
              <a:rPr lang="en-US" sz="1050" b="1" dirty="0">
                <a:solidFill>
                  <a:schemeClr val="accent1"/>
                </a:solidFill>
              </a:rPr>
              <a:t>[2]  </a:t>
            </a:r>
            <a:r>
              <a:rPr lang="en-US" sz="1050" dirty="0">
                <a:solidFill>
                  <a:schemeClr val="tx1"/>
                </a:solidFill>
              </a:rPr>
              <a:t>I. Moumen, N. Rafalia, J. Abouchabaka, and M. Aoufi, "Real-time GPS tracking system for IoT-enabled connected vehicles," E3S Web Conf., vol. 412, Art. no. 01095, 2023, doi: 10.1051/e3sconf/202341201095.</a:t>
            </a:r>
            <a:endParaRPr lang="en-US" sz="1050" dirty="0"/>
          </a:p>
          <a:p>
            <a:pPr marL="0" indent="0">
              <a:buNone/>
            </a:pPr>
            <a:r>
              <a:rPr lang="en-US" sz="1050" b="1" dirty="0">
                <a:solidFill>
                  <a:schemeClr val="accent1"/>
                </a:solidFill>
              </a:rPr>
              <a:t>[3]  </a:t>
            </a:r>
            <a:r>
              <a:rPr lang="en-US" sz="1050" dirty="0">
                <a:solidFill>
                  <a:schemeClr val="tx1"/>
                </a:solidFill>
              </a:rPr>
              <a:t>P. Boronat, M. Pérez-Francisco, C. T. Calafate, and J.-C. Cano, "Towards a sustainable city for cyclists: Promoting safety through a mobile sensing application," Sensors, vol. 21, no. 6, Art. no. 2116, Mar. 2021, doi: 10.3390/s21062116.</a:t>
            </a:r>
            <a:endParaRPr lang="en-US" sz="1050" dirty="0"/>
          </a:p>
          <a:p>
            <a:pPr marL="0" indent="0">
              <a:buNone/>
            </a:pPr>
            <a:r>
              <a:rPr lang="en-US" sz="1050" b="1" dirty="0">
                <a:solidFill>
                  <a:schemeClr val="accent1"/>
                </a:solidFill>
              </a:rPr>
              <a:t>[4]  </a:t>
            </a:r>
            <a:r>
              <a:rPr lang="en-US" sz="1050" dirty="0">
                <a:solidFill>
                  <a:schemeClr val="tx1"/>
                </a:solidFill>
              </a:rPr>
              <a:t>V. Pimentel and B. G. Nickerson, "Communicating and displaying real-time data with WebSocket," IEEE Internet Comput., vol. 16, no. 4, pp. 45–53, Jul./Aug. 2012, doi: 10.1109/MIC.2012.64.</a:t>
            </a:r>
            <a:endParaRPr lang="en-US" sz="1050" dirty="0"/>
          </a:p>
        </p:txBody>
      </p:sp>
      <p:sp>
        <p:nvSpPr>
          <p:cNvPr id="6" name="Text 3"/>
          <p:cNvSpPr txBox="1"/>
          <p:nvPr/>
        </p:nvSpPr>
        <p:spPr>
          <a:xfrm>
            <a:off x="4709160" y="1188720"/>
            <a:ext cx="3977640" cy="3429000"/>
          </a:xfrm>
          <a:prstGeom prst="rect">
            <a:avLst/>
          </a:prstGeom>
          <a:noFill/>
          <a:ln/>
        </p:spPr>
        <p:txBody>
          <a:bodyPr wrap="square" lIns="0" tIns="0" rIns="0" bIns="0" rtlCol="0" anchor="t"/>
          <a:lstStyle/>
          <a:p>
            <a:pPr marL="0" indent="0">
              <a:buNone/>
            </a:pPr>
            <a:r>
              <a:rPr lang="en-US" sz="1050" b="1" dirty="0">
                <a:solidFill>
                  <a:schemeClr val="accent1"/>
                </a:solidFill>
              </a:rPr>
              <a:t>[5]  </a:t>
            </a:r>
            <a:r>
              <a:rPr lang="en-US" sz="1050" dirty="0">
                <a:solidFill>
                  <a:schemeClr val="tx1"/>
                </a:solidFill>
              </a:rPr>
              <a:t>P. A. Zandbergen and S. J. Barbeau, "Positional accuracy of assisted GPS data from high-sensitivity GPS-enabled mobile phones," J. Navigation, vol. 64, no. 3, pp. 381–399, Jul. 2011, doi: 10.1017/S0373463311000051.</a:t>
            </a:r>
            <a:endParaRPr lang="en-US" sz="1050" dirty="0"/>
          </a:p>
          <a:p>
            <a:pPr marL="0" indent="0">
              <a:buNone/>
            </a:pPr>
            <a:r>
              <a:rPr lang="en-US" sz="1050" b="1" dirty="0">
                <a:solidFill>
                  <a:schemeClr val="accent1"/>
                </a:solidFill>
              </a:rPr>
              <a:t>[6]  </a:t>
            </a:r>
            <a:r>
              <a:rPr lang="en-US" sz="1050" dirty="0">
                <a:solidFill>
                  <a:schemeClr val="tx1"/>
                </a:solidFill>
              </a:rPr>
              <a:t>J. White, C. Thompson, H. Turner, B. Dougherty, and D. C. Schmidt, "WreckWatch: Automatic traffic accident detection and notification with smartphones," Mobile Netw. Appl., vol. 16, no. 3, pp. 285–303, Jun. 2011, doi: 10.1007/s11036-011-0304-8.</a:t>
            </a:r>
            <a:endParaRPr lang="en-US" sz="1050" dirty="0"/>
          </a:p>
          <a:p>
            <a:pPr marL="0" indent="0">
              <a:buNone/>
            </a:pPr>
            <a:r>
              <a:rPr lang="en-US" sz="1050" b="1" dirty="0">
                <a:solidFill>
                  <a:schemeClr val="accent1"/>
                </a:solidFill>
              </a:rPr>
              <a:t>[7]  </a:t>
            </a:r>
            <a:r>
              <a:rPr lang="en-US" sz="1050" dirty="0">
                <a:solidFill>
                  <a:schemeClr val="tx1"/>
                </a:solidFill>
              </a:rPr>
              <a:t>P. A. Zandbergen, "Accuracy of iPhone locations: A comparison of assisted GPS, WiFi and cellular positioning," Trans. GIS, vol. 13, no. s1, pp. 5–25, 2009, doi: 10.1111/j.1467-9671.2009.01152.x.</a:t>
            </a:r>
            <a:endParaRPr lang="en-US" sz="1050" dirty="0"/>
          </a:p>
          <a:p>
            <a:pPr marL="0" indent="0">
              <a:buNone/>
            </a:pPr>
            <a:r>
              <a:rPr lang="en-US" sz="1050" b="1" dirty="0">
                <a:solidFill>
                  <a:schemeClr val="accent1"/>
                </a:solidFill>
              </a:rPr>
              <a:t>[8]  </a:t>
            </a:r>
            <a:r>
              <a:rPr lang="en-US" sz="1050" dirty="0">
                <a:solidFill>
                  <a:schemeClr val="tx1"/>
                </a:solidFill>
              </a:rPr>
              <a:t>S. Consolvo, I. E. Smith, T. Matthews, A. LaMarca, J. Tabert, and P. Powledge, "Location disclosure to social relations: Why, when, &amp; what people want to share," in Proc. SIGCHI Conf. Human Factors in Computing Systems (CHI '05), Portland, OR, USA, 2005, pp. 81–90, doi: 10.1145/1054972.1054985.</a:t>
            </a:r>
            <a:endParaRPr lang="en-US" sz="1050" dirty="0"/>
          </a:p>
        </p:txBody>
      </p:sp>
      <p:sp>
        <p:nvSpPr>
          <p:cNvPr id="25" name="Slide Number Placeholder 0"/>
          <p:cNvSpPr>
            <a:spLocks noGrp="1"/>
          </p:cNvSpPr>
          <p:nvPr>
            <p:ph type="sldNum" sz="quarter" idx="4294967295"/>
          </p:nvPr>
        </p:nvSpPr>
        <p:spPr>
          <a:xfrm>
            <a:off x="8138160" y="4791456"/>
            <a:ext cx="548640" cy="228600"/>
          </a:xfrm>
          <a:prstGeom prst="rect">
            <a:avLst/>
          </a:prstGeom>
          <a:extLst>
            <a:ext uri="{C572A759-6A51-4108-AA02-DFA0A04FC94B}">
              <ma14:wrappingTextBoxFlag xmlns:ma14="http://schemas.microsoft.com/office/mac/drawingml/2011/main" xmlns="" val="0"/>
            </a:ext>
          </a:extLst>
        </p:spPr>
        <p:txBody>
          <a:bodyPr/>
          <a:lstStyle>
            <a:lvl1pPr>
              <a:defRPr sz="1000">
                <a:solidFill>
                  <a:srgbClr val="475569"/>
                </a:solidFill>
              </a:defRPr>
            </a:lvl1pPr>
          </a:lstStyle>
          <a:p>
            <a:pPr algn="r"/>
            <a:fld id="{F7021451-1387-4CA6-816F-3879F97B5CBC}" type="slidenum">
              <a:rPr lang="en-US" b="0"/>
              <a:t>31</a:t>
            </a:fld>
            <a:endParaRPr lang="en-US"/>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name="Slide 32">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457200" y="420624"/>
            <a:ext cx="8229600" cy="566928"/>
          </a:xfrm>
          <a:prstGeom prst="rect">
            <a:avLst/>
          </a:prstGeom>
          <a:noFill/>
          <a:ln/>
        </p:spPr>
        <p:txBody>
          <a:bodyPr wrap="square" lIns="0" tIns="0" rIns="0" bIns="0" rtlCol="0" anchor="ctr"/>
          <a:lstStyle/>
          <a:p>
            <a:pPr marL="0" indent="0" algn="l">
              <a:buNone/>
            </a:pPr>
            <a:r>
              <a:rPr lang="en-US" sz="2800" b="1" dirty="0">
                <a:solidFill>
                  <a:schemeClr val="tx1"/>
                </a:solidFill>
              </a:rPr>
              <a:t>References (continued)</a:t>
            </a:r>
            <a:endParaRPr lang="en-US" sz="2800" dirty="0"/>
          </a:p>
        </p:txBody>
      </p:sp>
      <p:sp>
        <p:nvSpPr>
          <p:cNvPr id="3" name="Text 1"/>
          <p:cNvSpPr txBox="1"/>
          <p:nvPr/>
        </p:nvSpPr>
        <p:spPr>
          <a:xfrm>
            <a:off x="457200" y="219456"/>
            <a:ext cx="5486400" cy="182880"/>
          </a:xfrm>
          <a:prstGeom prst="rect">
            <a:avLst/>
          </a:prstGeom>
          <a:noFill/>
          <a:ln/>
        </p:spPr>
        <p:txBody>
          <a:bodyPr wrap="square" lIns="0" tIns="0" rIns="0" bIns="0" rtlCol="0" anchor="t"/>
          <a:lstStyle/>
          <a:p>
            <a:pPr marL="0" indent="0">
              <a:buNone/>
            </a:pPr>
            <a:r>
              <a:rPr lang="en-US" sz="1000" b="1" kern="0" spc="200" dirty="0">
                <a:solidFill>
                  <a:schemeClr val="accent1"/>
                </a:solidFill>
              </a:rPr>
              <a:t>REFERENCES  (2 OF 2)</a:t>
            </a:r>
            <a:endParaRPr lang="en-US" sz="1000" dirty="0"/>
          </a:p>
        </p:txBody>
      </p:sp>
      <p:sp>
        <p:nvSpPr>
          <p:cNvPr id="5" name="Text 2"/>
          <p:cNvSpPr txBox="1"/>
          <p:nvPr/>
        </p:nvSpPr>
        <p:spPr>
          <a:xfrm>
            <a:off x="457200" y="1188720"/>
            <a:ext cx="3977640" cy="3429000"/>
          </a:xfrm>
          <a:prstGeom prst="rect">
            <a:avLst/>
          </a:prstGeom>
          <a:noFill/>
          <a:ln/>
        </p:spPr>
        <p:txBody>
          <a:bodyPr wrap="square" lIns="0" tIns="0" rIns="0" bIns="0" rtlCol="0" anchor="t"/>
          <a:lstStyle/>
          <a:p>
            <a:pPr marL="0" indent="0">
              <a:buNone/>
            </a:pPr>
            <a:r>
              <a:rPr lang="en-US" sz="1100" b="1" dirty="0">
                <a:solidFill>
                  <a:schemeClr val="accent1"/>
                </a:solidFill>
              </a:rPr>
              <a:t>[9]  </a:t>
            </a:r>
            <a:r>
              <a:rPr lang="en-US" sz="1100" dirty="0">
                <a:solidFill>
                  <a:schemeClr val="tx1"/>
                </a:solidFill>
              </a:rPr>
              <a:t>A. R. Beresford and F. Stajano, "Location privacy in pervasive computing," IEEE Pervasive Comput., vol. 2, no. 1, pp. 46–55, Jan.–Mar. 2003, doi: 10.1109/MPRV.2003.1186725.</a:t>
            </a:r>
            <a:endParaRPr lang="en-US" sz="1100" dirty="0"/>
          </a:p>
          <a:p>
            <a:pPr marL="0" indent="0">
              <a:buNone/>
            </a:pPr>
            <a:r>
              <a:rPr lang="en-US" sz="1100" b="1" dirty="0">
                <a:solidFill>
                  <a:schemeClr val="accent1"/>
                </a:solidFill>
              </a:rPr>
              <a:t>[10]  </a:t>
            </a:r>
            <a:r>
              <a:rPr lang="en-US" sz="1100" dirty="0">
                <a:solidFill>
                  <a:schemeClr val="tx1"/>
                </a:solidFill>
              </a:rPr>
              <a:t>R. W. Sinnott, "Virtues of the Haversine," Sky &amp; Telescope, vol. 68, no. 2, p. 159, Aug. 1984.</a:t>
            </a:r>
            <a:endParaRPr lang="en-US" sz="1100" dirty="0"/>
          </a:p>
          <a:p>
            <a:pPr marL="0" indent="0">
              <a:buNone/>
            </a:pPr>
            <a:r>
              <a:rPr lang="en-US" sz="1100" b="1" dirty="0">
                <a:solidFill>
                  <a:schemeClr val="accent1"/>
                </a:solidFill>
              </a:rPr>
              <a:t>[11]  </a:t>
            </a:r>
            <a:r>
              <a:rPr lang="en-US" sz="1100" dirty="0">
                <a:solidFill>
                  <a:schemeClr val="tx1"/>
                </a:solidFill>
              </a:rPr>
              <a:t>A. Popescu, Ed., "Geolocation API," W3C Recommendation, Sep. 1, 2022. [Online]. Available: https://www.w3.org/TR/2022/REC-geolocation-20220901/</a:t>
            </a:r>
            <a:endParaRPr lang="en-US" sz="1100" dirty="0"/>
          </a:p>
          <a:p>
            <a:pPr marL="0" indent="0">
              <a:buNone/>
            </a:pPr>
            <a:r>
              <a:rPr lang="en-US" sz="1100" b="1" dirty="0">
                <a:solidFill>
                  <a:schemeClr val="accent1"/>
                </a:solidFill>
              </a:rPr>
              <a:t>[12]  </a:t>
            </a:r>
            <a:r>
              <a:rPr lang="en-US" sz="1100" dirty="0">
                <a:solidFill>
                  <a:schemeClr val="tx1"/>
                </a:solidFill>
              </a:rPr>
              <a:t>Google, "Google Maps Platform documentation: Maps JavaScript API." [Online]. Available: https://developers.google.com/maps/documentation/javascript</a:t>
            </a:r>
            <a:endParaRPr lang="en-US" sz="1100" dirty="0"/>
          </a:p>
          <a:p>
            <a:pPr marL="0" indent="0">
              <a:buNone/>
            </a:pPr>
            <a:r>
              <a:rPr lang="en-US" sz="1100" b="1" dirty="0">
                <a:solidFill>
                  <a:schemeClr val="accent1"/>
                </a:solidFill>
              </a:rPr>
              <a:t>[13]  </a:t>
            </a:r>
            <a:r>
              <a:rPr lang="en-US" sz="1100" dirty="0">
                <a:solidFill>
                  <a:schemeClr val="tx1"/>
                </a:solidFill>
              </a:rPr>
              <a:t>Python Software Foundation, "Python documentation." [Online]. Available: https://docs.python.org/</a:t>
            </a:r>
            <a:endParaRPr lang="en-US" sz="1100" dirty="0"/>
          </a:p>
        </p:txBody>
      </p:sp>
      <p:sp>
        <p:nvSpPr>
          <p:cNvPr id="6" name="Text 3"/>
          <p:cNvSpPr txBox="1"/>
          <p:nvPr/>
        </p:nvSpPr>
        <p:spPr>
          <a:xfrm>
            <a:off x="4709160" y="1188720"/>
            <a:ext cx="3977640" cy="3429000"/>
          </a:xfrm>
          <a:prstGeom prst="rect">
            <a:avLst/>
          </a:prstGeom>
          <a:noFill/>
          <a:ln/>
        </p:spPr>
        <p:txBody>
          <a:bodyPr wrap="square" lIns="0" tIns="0" rIns="0" bIns="0" rtlCol="0" anchor="t"/>
          <a:lstStyle/>
          <a:p>
            <a:pPr marL="0" indent="0">
              <a:buNone/>
            </a:pPr>
            <a:r>
              <a:rPr lang="en-US" sz="1100" b="1" dirty="0">
                <a:solidFill>
                  <a:schemeClr val="accent1"/>
                </a:solidFill>
              </a:rPr>
              <a:t>[14]  </a:t>
            </a:r>
            <a:r>
              <a:rPr lang="en-US" sz="1100" dirty="0">
                <a:solidFill>
                  <a:schemeClr val="tx1"/>
                </a:solidFill>
              </a:rPr>
              <a:t>Django Software Foundation, "Django documentation." [Online]. Available: https://docs.djangoproject.com/</a:t>
            </a:r>
            <a:endParaRPr lang="en-US" sz="1100" dirty="0"/>
          </a:p>
          <a:p>
            <a:pPr marL="0" indent="0">
              <a:buNone/>
            </a:pPr>
            <a:r>
              <a:rPr lang="en-US" sz="1100" b="1" dirty="0">
                <a:solidFill>
                  <a:schemeClr val="accent1"/>
                </a:solidFill>
              </a:rPr>
              <a:t>[15]  </a:t>
            </a:r>
            <a:r>
              <a:rPr lang="en-US" sz="1100" dirty="0">
                <a:solidFill>
                  <a:schemeClr val="tx1"/>
                </a:solidFill>
              </a:rPr>
              <a:t>Django Software Foundation, "Channels documentation." [Online]. Available: https://channels.readthedocs.io/</a:t>
            </a:r>
            <a:endParaRPr lang="en-US" sz="1100" dirty="0"/>
          </a:p>
          <a:p>
            <a:pPr marL="0" indent="0">
              <a:buNone/>
            </a:pPr>
            <a:r>
              <a:rPr lang="en-US" sz="1100" b="1" dirty="0">
                <a:solidFill>
                  <a:schemeClr val="accent1"/>
                </a:solidFill>
              </a:rPr>
              <a:t>[16]  </a:t>
            </a:r>
            <a:r>
              <a:rPr lang="en-US" sz="1100" dirty="0">
                <a:solidFill>
                  <a:schemeClr val="tx1"/>
                </a:solidFill>
              </a:rPr>
              <a:t>I. Fette and A. Melnikov, "The WebSocket Protocol," IETF, RFC 6455, Dec. 2011. [Online]. Available: https://www.rfc-editor.org/info/rfc6455</a:t>
            </a:r>
            <a:endParaRPr lang="en-US" sz="1100" dirty="0"/>
          </a:p>
          <a:p>
            <a:pPr marL="0" indent="0">
              <a:buNone/>
            </a:pPr>
            <a:r>
              <a:rPr lang="en-US" sz="1100" b="1" dirty="0">
                <a:solidFill>
                  <a:schemeClr val="accent1"/>
                </a:solidFill>
              </a:rPr>
              <a:t>[17]  </a:t>
            </a:r>
            <a:r>
              <a:rPr lang="en-US" sz="1100" dirty="0">
                <a:solidFill>
                  <a:schemeClr val="tx1"/>
                </a:solidFill>
              </a:rPr>
              <a:t>OWASP Foundation, "OWASP Top Ten." [Online]. Available: https://owasp.org/www-project-top-ten/</a:t>
            </a:r>
            <a:endParaRPr lang="en-US" sz="1100" dirty="0"/>
          </a:p>
        </p:txBody>
      </p:sp>
      <p:sp>
        <p:nvSpPr>
          <p:cNvPr id="25" name="Slide Number Placeholder 0"/>
          <p:cNvSpPr>
            <a:spLocks noGrp="1"/>
          </p:cNvSpPr>
          <p:nvPr>
            <p:ph type="sldNum" sz="quarter" idx="4294967295"/>
          </p:nvPr>
        </p:nvSpPr>
        <p:spPr>
          <a:xfrm>
            <a:off x="8138160" y="4791456"/>
            <a:ext cx="548640" cy="228600"/>
          </a:xfrm>
          <a:prstGeom prst="rect">
            <a:avLst/>
          </a:prstGeom>
          <a:extLst>
            <a:ext uri="{C572A759-6A51-4108-AA02-DFA0A04FC94B}">
              <ma14:wrappingTextBoxFlag xmlns:ma14="http://schemas.microsoft.com/office/mac/drawingml/2011/main" xmlns="" val="0"/>
            </a:ext>
          </a:extLst>
        </p:spPr>
        <p:txBody>
          <a:bodyPr/>
          <a:lstStyle>
            <a:lvl1pPr>
              <a:defRPr sz="1000">
                <a:solidFill>
                  <a:srgbClr val="475569"/>
                </a:solidFill>
              </a:defRPr>
            </a:lvl1pPr>
          </a:lstStyle>
          <a:p>
            <a:pPr algn="r"/>
            <a:fld id="{F7021451-1387-4CA6-816F-3879F97B5CBC}" type="slidenum">
              <a:rPr lang="en-US" b="0"/>
              <a:t>32</a:t>
            </a:fld>
            <a:endParaRPr lang="en-US"/>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name="Slide 33">
    <p:spTree>
      <p:nvGrpSpPr>
        <p:cNvPr id="1" name=""/>
        <p:cNvGrpSpPr/>
        <p:nvPr/>
      </p:nvGrpSpPr>
      <p:grpSpPr>
        <a:xfrm>
          <a:off x="0" y="0"/>
          <a:ext cx="0" cy="0"/>
          <a:chOff x="0" y="0"/>
          <a:chExt cx="0" cy="0"/>
        </a:xfrm>
      </p:grpSpPr>
      <p:sp>
        <p:nvSpPr>
          <p:cNvPr id="3" name="Text 0"/>
          <p:cNvSpPr txBox="1"/>
          <p:nvPr/>
        </p:nvSpPr>
        <p:spPr>
          <a:xfrm>
            <a:off x="457200" y="1371600"/>
            <a:ext cx="5303520" cy="914400"/>
          </a:xfrm>
          <a:prstGeom prst="rect">
            <a:avLst/>
          </a:prstGeom>
          <a:noFill/>
          <a:ln/>
        </p:spPr>
        <p:txBody>
          <a:bodyPr wrap="square" lIns="0" tIns="0" rIns="0" bIns="0" rtlCol="0" anchor="ctr"/>
          <a:lstStyle/>
          <a:p>
            <a:pPr marL="0" indent="0">
              <a:buNone/>
            </a:pPr>
            <a:r>
              <a:rPr lang="en-US" sz="5000" b="1" dirty="0">
                <a:solidFill>
                  <a:schemeClr val="tx1"/>
                </a:solidFill>
                <a:latin typeface="+mj-lt" pitchFamily="34" charset="0"/>
                <a:ea typeface="+mj-lt" pitchFamily="34" charset="-122"/>
                <a:cs typeface="+mj-lt" pitchFamily="34" charset="-120"/>
              </a:rPr>
              <a:t>THANK YOU</a:t>
            </a:r>
            <a:endParaRPr lang="en-US" sz="5000" dirty="0"/>
          </a:p>
        </p:txBody>
      </p:sp>
      <p:sp>
        <p:nvSpPr>
          <p:cNvPr id="4" name="Text 1"/>
          <p:cNvSpPr txBox="1"/>
          <p:nvPr/>
        </p:nvSpPr>
        <p:spPr>
          <a:xfrm>
            <a:off x="457200" y="2331720"/>
            <a:ext cx="5303520" cy="411480"/>
          </a:xfrm>
          <a:prstGeom prst="rect">
            <a:avLst/>
          </a:prstGeom>
          <a:noFill/>
          <a:ln/>
        </p:spPr>
        <p:txBody>
          <a:bodyPr wrap="square" lIns="0" tIns="0" rIns="0" bIns="0" rtlCol="0" anchor="t"/>
          <a:lstStyle/>
          <a:p>
            <a:pPr marL="0" indent="0">
              <a:buNone/>
            </a:pPr>
            <a:r>
              <a:rPr lang="en-US" sz="2200" b="1" dirty="0">
                <a:solidFill>
                  <a:schemeClr val="accent1"/>
                </a:solidFill>
              </a:rPr>
              <a:t>Questions &amp; Discussion</a:t>
            </a:r>
            <a:endParaRPr lang="en-US" sz="2200" dirty="0"/>
          </a:p>
        </p:txBody>
      </p:sp>
      <p:sp>
        <p:nvSpPr>
          <p:cNvPr id="5" name="Text 2"/>
          <p:cNvSpPr txBox="1"/>
          <p:nvPr/>
        </p:nvSpPr>
        <p:spPr>
          <a:xfrm>
            <a:off x="457200" y="3200400"/>
            <a:ext cx="5303520" cy="292608"/>
          </a:xfrm>
          <a:prstGeom prst="rect">
            <a:avLst/>
          </a:prstGeom>
          <a:noFill/>
          <a:ln/>
        </p:spPr>
        <p:txBody>
          <a:bodyPr wrap="square" lIns="0" tIns="0" rIns="0" bIns="0" rtlCol="0" anchor="t"/>
          <a:lstStyle/>
          <a:p>
            <a:pPr marL="0" indent="0">
              <a:buNone/>
            </a:pPr>
            <a:r>
              <a:rPr lang="en-US" sz="1600" b="1" dirty="0">
                <a:solidFill>
                  <a:schemeClr val="tx1"/>
                </a:solidFill>
              </a:rPr>
              <a:t>PackTrace</a:t>
            </a:r>
            <a:endParaRPr lang="en-US" sz="1600" dirty="0"/>
          </a:p>
        </p:txBody>
      </p:sp>
      <p:sp>
        <p:nvSpPr>
          <p:cNvPr id="6" name="Text 3"/>
          <p:cNvSpPr txBox="1"/>
          <p:nvPr/>
        </p:nvSpPr>
        <p:spPr>
          <a:xfrm>
            <a:off x="457200" y="3511296"/>
            <a:ext cx="5303520" cy="274320"/>
          </a:xfrm>
          <a:prstGeom prst="rect">
            <a:avLst/>
          </a:prstGeom>
          <a:noFill/>
          <a:ln/>
        </p:spPr>
        <p:txBody>
          <a:bodyPr wrap="square" lIns="0" tIns="0" rIns="0" bIns="0" rtlCol="0" anchor="t"/>
          <a:lstStyle/>
          <a:p>
            <a:pPr marL="0" indent="0">
              <a:buNone/>
            </a:pPr>
            <a:r>
              <a:rPr lang="en-US" sz="1400" dirty="0">
                <a:solidFill>
                  <a:schemeClr val="tx2"/>
                </a:solidFill>
              </a:rPr>
              <a:t>GPS-Based Group Ride Tracking System</a:t>
            </a:r>
            <a:endParaRPr lang="en-US" sz="1400" dirty="0"/>
          </a:p>
        </p:txBody>
      </p:sp>
      <p:sp>
        <p:nvSpPr>
          <p:cNvPr id="7" name="Text 4"/>
          <p:cNvSpPr txBox="1"/>
          <p:nvPr/>
        </p:nvSpPr>
        <p:spPr>
          <a:xfrm>
            <a:off x="457200" y="3931920"/>
            <a:ext cx="5303520" cy="274320"/>
          </a:xfrm>
          <a:prstGeom prst="rect">
            <a:avLst/>
          </a:prstGeom>
          <a:noFill/>
          <a:ln/>
        </p:spPr>
        <p:txBody>
          <a:bodyPr wrap="square" lIns="0" tIns="0" rIns="0" bIns="0" rtlCol="0" anchor="t"/>
          <a:lstStyle/>
          <a:p>
            <a:pPr marL="0" indent="0">
              <a:buNone/>
            </a:pPr>
            <a:r>
              <a:rPr lang="en-US" sz="1200" dirty="0">
                <a:solidFill>
                  <a:schemeClr val="tx2"/>
                </a:solidFill>
              </a:rPr>
              <a:t>Alan Johny  |  MLM25MCA2015</a:t>
            </a:r>
            <a:endParaRPr lang="en-US" sz="1200" dirty="0"/>
          </a:p>
        </p:txBody>
      </p:sp>
      <p:sp>
        <p:nvSpPr>
          <p:cNvPr id="8" name="Shape 5"/>
          <p:cNvSpPr/>
          <p:nvPr/>
        </p:nvSpPr>
        <p:spPr>
          <a:xfrm>
            <a:off x="5989320" y="457200"/>
            <a:ext cx="2697480" cy="4251960"/>
          </a:xfrm>
          <a:prstGeom prst="roundRect">
            <a:avLst>
              <a:gd name="adj" fmla="val 4746"/>
            </a:avLst>
          </a:prstGeom>
          <a:solidFill>
            <a:schemeClr val="bg2"/>
          </a:solidFill>
          <a:ln w="12700">
            <a:solidFill>
              <a:srgbClr val="D5DCE8"/>
            </a:solidFill>
            <a:prstDash val="solid"/>
          </a:ln>
        </p:spPr>
      </p:sp>
      <p:sp>
        <p:nvSpPr>
          <p:cNvPr id="9" name="Shape 6"/>
          <p:cNvSpPr/>
          <p:nvPr/>
        </p:nvSpPr>
        <p:spPr>
          <a:xfrm>
            <a:off x="6126480" y="1165860"/>
            <a:ext cx="2423160" cy="0"/>
          </a:xfrm>
          <a:prstGeom prst="line">
            <a:avLst/>
          </a:prstGeom>
          <a:noFill/>
          <a:ln w="9525">
            <a:solidFill>
              <a:srgbClr val="DCE3EE"/>
            </a:solidFill>
            <a:prstDash val="solid"/>
          </a:ln>
        </p:spPr>
      </p:sp>
      <p:sp>
        <p:nvSpPr>
          <p:cNvPr id="10" name="Shape 7"/>
          <p:cNvSpPr/>
          <p:nvPr/>
        </p:nvSpPr>
        <p:spPr>
          <a:xfrm>
            <a:off x="6126480" y="1874520"/>
            <a:ext cx="2423160" cy="0"/>
          </a:xfrm>
          <a:prstGeom prst="line">
            <a:avLst/>
          </a:prstGeom>
          <a:noFill/>
          <a:ln w="9525">
            <a:solidFill>
              <a:srgbClr val="DCE3EE"/>
            </a:solidFill>
            <a:prstDash val="solid"/>
          </a:ln>
        </p:spPr>
      </p:sp>
      <p:sp>
        <p:nvSpPr>
          <p:cNvPr id="11" name="Shape 8"/>
          <p:cNvSpPr/>
          <p:nvPr/>
        </p:nvSpPr>
        <p:spPr>
          <a:xfrm>
            <a:off x="6126480" y="2583180"/>
            <a:ext cx="2423160" cy="0"/>
          </a:xfrm>
          <a:prstGeom prst="line">
            <a:avLst/>
          </a:prstGeom>
          <a:noFill/>
          <a:ln w="9525">
            <a:solidFill>
              <a:srgbClr val="DCE3EE"/>
            </a:solidFill>
            <a:prstDash val="solid"/>
          </a:ln>
        </p:spPr>
      </p:sp>
      <p:sp>
        <p:nvSpPr>
          <p:cNvPr id="12" name="Shape 9"/>
          <p:cNvSpPr/>
          <p:nvPr/>
        </p:nvSpPr>
        <p:spPr>
          <a:xfrm>
            <a:off x="6126480" y="3291840"/>
            <a:ext cx="2423160" cy="0"/>
          </a:xfrm>
          <a:prstGeom prst="line">
            <a:avLst/>
          </a:prstGeom>
          <a:noFill/>
          <a:ln w="9525">
            <a:solidFill>
              <a:srgbClr val="DCE3EE"/>
            </a:solidFill>
            <a:prstDash val="solid"/>
          </a:ln>
        </p:spPr>
      </p:sp>
      <p:sp>
        <p:nvSpPr>
          <p:cNvPr id="13" name="Shape 10"/>
          <p:cNvSpPr/>
          <p:nvPr/>
        </p:nvSpPr>
        <p:spPr>
          <a:xfrm>
            <a:off x="6126480" y="4000500"/>
            <a:ext cx="2423160" cy="0"/>
          </a:xfrm>
          <a:prstGeom prst="line">
            <a:avLst/>
          </a:prstGeom>
          <a:noFill/>
          <a:ln w="9525">
            <a:solidFill>
              <a:srgbClr val="DCE3EE"/>
            </a:solidFill>
            <a:prstDash val="solid"/>
          </a:ln>
        </p:spPr>
      </p:sp>
      <p:sp>
        <p:nvSpPr>
          <p:cNvPr id="14" name="Shape 11"/>
          <p:cNvSpPr/>
          <p:nvPr/>
        </p:nvSpPr>
        <p:spPr>
          <a:xfrm>
            <a:off x="6663690" y="594360"/>
            <a:ext cx="0" cy="3977640"/>
          </a:xfrm>
          <a:prstGeom prst="line">
            <a:avLst/>
          </a:prstGeom>
          <a:noFill/>
          <a:ln w="9525">
            <a:solidFill>
              <a:srgbClr val="DCE3EE"/>
            </a:solidFill>
            <a:prstDash val="solid"/>
          </a:ln>
        </p:spPr>
      </p:sp>
      <p:sp>
        <p:nvSpPr>
          <p:cNvPr id="15" name="Shape 12"/>
          <p:cNvSpPr/>
          <p:nvPr/>
        </p:nvSpPr>
        <p:spPr>
          <a:xfrm>
            <a:off x="7338060" y="594360"/>
            <a:ext cx="0" cy="3977640"/>
          </a:xfrm>
          <a:prstGeom prst="line">
            <a:avLst/>
          </a:prstGeom>
          <a:noFill/>
          <a:ln w="9525">
            <a:solidFill>
              <a:srgbClr val="DCE3EE"/>
            </a:solidFill>
            <a:prstDash val="solid"/>
          </a:ln>
        </p:spPr>
      </p:sp>
      <p:sp>
        <p:nvSpPr>
          <p:cNvPr id="16" name="Shape 13"/>
          <p:cNvSpPr/>
          <p:nvPr/>
        </p:nvSpPr>
        <p:spPr>
          <a:xfrm>
            <a:off x="8012430" y="594360"/>
            <a:ext cx="0" cy="3977640"/>
          </a:xfrm>
          <a:prstGeom prst="line">
            <a:avLst/>
          </a:prstGeom>
          <a:noFill/>
          <a:ln w="9525">
            <a:solidFill>
              <a:srgbClr val="DCE3EE"/>
            </a:solidFill>
            <a:prstDash val="solid"/>
          </a:ln>
        </p:spPr>
      </p:sp>
      <p:sp>
        <p:nvSpPr>
          <p:cNvPr id="17" name="Shape 14"/>
          <p:cNvSpPr/>
          <p:nvPr/>
        </p:nvSpPr>
        <p:spPr>
          <a:xfrm flipV="1">
            <a:off x="6400800" y="3520440"/>
            <a:ext cx="594360" cy="685800"/>
          </a:xfrm>
          <a:prstGeom prst="line">
            <a:avLst/>
          </a:prstGeom>
          <a:noFill/>
          <a:ln w="38100">
            <a:solidFill>
              <a:schemeClr val="accent1"/>
            </a:solidFill>
            <a:prstDash val="solid"/>
          </a:ln>
        </p:spPr>
      </p:sp>
      <p:sp>
        <p:nvSpPr>
          <p:cNvPr id="18" name="Shape 15"/>
          <p:cNvSpPr/>
          <p:nvPr/>
        </p:nvSpPr>
        <p:spPr>
          <a:xfrm flipH="1" flipV="1">
            <a:off x="6720840" y="2743200"/>
            <a:ext cx="274320" cy="777240"/>
          </a:xfrm>
          <a:prstGeom prst="line">
            <a:avLst/>
          </a:prstGeom>
          <a:noFill/>
          <a:ln w="38100">
            <a:solidFill>
              <a:schemeClr val="accent1"/>
            </a:solidFill>
            <a:prstDash val="solid"/>
          </a:ln>
        </p:spPr>
      </p:sp>
      <p:sp>
        <p:nvSpPr>
          <p:cNvPr id="19" name="Shape 16"/>
          <p:cNvSpPr/>
          <p:nvPr/>
        </p:nvSpPr>
        <p:spPr>
          <a:xfrm flipV="1">
            <a:off x="6720840" y="2148840"/>
            <a:ext cx="822960" cy="594360"/>
          </a:xfrm>
          <a:prstGeom prst="line">
            <a:avLst/>
          </a:prstGeom>
          <a:noFill/>
          <a:ln w="38100">
            <a:solidFill>
              <a:schemeClr val="accent1"/>
            </a:solidFill>
            <a:prstDash val="solid"/>
          </a:ln>
        </p:spPr>
      </p:sp>
      <p:sp>
        <p:nvSpPr>
          <p:cNvPr id="20" name="Shape 17"/>
          <p:cNvSpPr/>
          <p:nvPr/>
        </p:nvSpPr>
        <p:spPr>
          <a:xfrm flipV="1">
            <a:off x="7543800" y="1508760"/>
            <a:ext cx="548640" cy="640080"/>
          </a:xfrm>
          <a:prstGeom prst="line">
            <a:avLst/>
          </a:prstGeom>
          <a:noFill/>
          <a:ln w="38100">
            <a:solidFill>
              <a:schemeClr val="accent1"/>
            </a:solidFill>
            <a:prstDash val="solid"/>
          </a:ln>
        </p:spPr>
      </p:sp>
      <p:sp>
        <p:nvSpPr>
          <p:cNvPr id="21" name="Shape 18"/>
          <p:cNvSpPr/>
          <p:nvPr/>
        </p:nvSpPr>
        <p:spPr>
          <a:xfrm flipV="1">
            <a:off x="8092440" y="1005840"/>
            <a:ext cx="137160" cy="502920"/>
          </a:xfrm>
          <a:prstGeom prst="line">
            <a:avLst/>
          </a:prstGeom>
          <a:noFill/>
          <a:ln w="38100">
            <a:solidFill>
              <a:schemeClr val="accent1"/>
            </a:solidFill>
            <a:prstDash val="solid"/>
          </a:ln>
        </p:spPr>
      </p:sp>
      <p:sp>
        <p:nvSpPr>
          <p:cNvPr id="22" name="Shape 19"/>
          <p:cNvSpPr/>
          <p:nvPr/>
        </p:nvSpPr>
        <p:spPr>
          <a:xfrm>
            <a:off x="6912864" y="3438144"/>
            <a:ext cx="164592" cy="164592"/>
          </a:xfrm>
          <a:prstGeom prst="ellipse">
            <a:avLst/>
          </a:prstGeom>
          <a:solidFill>
            <a:schemeClr val="bg1"/>
          </a:solidFill>
          <a:ln w="25400">
            <a:solidFill>
              <a:schemeClr val="accent1"/>
            </a:solidFill>
            <a:prstDash val="solid"/>
          </a:ln>
        </p:spPr>
      </p:sp>
      <p:sp>
        <p:nvSpPr>
          <p:cNvPr id="23" name="Shape 20"/>
          <p:cNvSpPr/>
          <p:nvPr/>
        </p:nvSpPr>
        <p:spPr>
          <a:xfrm>
            <a:off x="6638544" y="2660904"/>
            <a:ext cx="164592" cy="164592"/>
          </a:xfrm>
          <a:prstGeom prst="ellipse">
            <a:avLst/>
          </a:prstGeom>
          <a:solidFill>
            <a:schemeClr val="bg1"/>
          </a:solidFill>
          <a:ln w="25400">
            <a:solidFill>
              <a:schemeClr val="accent1"/>
            </a:solidFill>
            <a:prstDash val="solid"/>
          </a:ln>
        </p:spPr>
      </p:sp>
      <p:sp>
        <p:nvSpPr>
          <p:cNvPr id="24" name="Shape 21"/>
          <p:cNvSpPr/>
          <p:nvPr/>
        </p:nvSpPr>
        <p:spPr>
          <a:xfrm>
            <a:off x="7461504" y="2066544"/>
            <a:ext cx="164592" cy="164592"/>
          </a:xfrm>
          <a:prstGeom prst="ellipse">
            <a:avLst/>
          </a:prstGeom>
          <a:solidFill>
            <a:schemeClr val="bg1"/>
          </a:solidFill>
          <a:ln w="25400">
            <a:solidFill>
              <a:schemeClr val="accent1"/>
            </a:solidFill>
            <a:prstDash val="solid"/>
          </a:ln>
        </p:spPr>
      </p:sp>
      <p:sp>
        <p:nvSpPr>
          <p:cNvPr id="25" name="Shape 22"/>
          <p:cNvSpPr/>
          <p:nvPr/>
        </p:nvSpPr>
        <p:spPr>
          <a:xfrm>
            <a:off x="8010144" y="1426464"/>
            <a:ext cx="164592" cy="164592"/>
          </a:xfrm>
          <a:prstGeom prst="ellipse">
            <a:avLst/>
          </a:prstGeom>
          <a:solidFill>
            <a:schemeClr val="bg1"/>
          </a:solidFill>
          <a:ln w="25400">
            <a:solidFill>
              <a:schemeClr val="accent1"/>
            </a:solidFill>
            <a:prstDash val="solid"/>
          </a:ln>
        </p:spPr>
      </p:sp>
      <p:pic>
        <p:nvPicPr>
          <p:cNvPr id="26" name="Image 0" descr="preencoded.png"/>
          <p:cNvPicPr>
            <a:picLocks noChangeAspect="1"/>
          </p:cNvPicPr>
          <p:nvPr/>
        </p:nvPicPr>
        <p:blipFill>
          <a:blip r:embed="rId3"/>
          <a:stretch>
            <a:fillRect/>
          </a:stretch>
        </p:blipFill>
        <p:spPr>
          <a:xfrm>
            <a:off x="8046720" y="621792"/>
            <a:ext cx="365760" cy="365760"/>
          </a:xfrm>
          <a:prstGeom prst="rect">
            <a:avLst/>
          </a:prstGeom>
        </p:spPr>
      </p:pic>
      <p:sp>
        <p:nvSpPr>
          <p:cNvPr id="27" name="Shape 23"/>
          <p:cNvSpPr/>
          <p:nvPr/>
        </p:nvSpPr>
        <p:spPr>
          <a:xfrm>
            <a:off x="6153912" y="3959352"/>
            <a:ext cx="493776" cy="493776"/>
          </a:xfrm>
          <a:prstGeom prst="ellipse">
            <a:avLst/>
          </a:prstGeom>
          <a:solidFill>
            <a:schemeClr val="tx1"/>
          </a:solidFill>
          <a:ln/>
        </p:spPr>
      </p:sp>
      <p:pic>
        <p:nvPicPr>
          <p:cNvPr id="28" name="Image 1" descr="preencoded.png"/>
          <p:cNvPicPr>
            <a:picLocks noChangeAspect="1"/>
          </p:cNvPicPr>
          <p:nvPr/>
        </p:nvPicPr>
        <p:blipFill>
          <a:blip r:embed="rId4"/>
          <a:stretch>
            <a:fillRect/>
          </a:stretch>
        </p:blipFill>
        <p:spPr>
          <a:xfrm>
            <a:off x="6254496" y="4059936"/>
            <a:ext cx="292608" cy="292608"/>
          </a:xfrm>
          <a:prstGeom prst="rect">
            <a:avLst/>
          </a:prstGeom>
        </p:spPr>
      </p:pic>
      <p:sp>
        <p:nvSpPr>
          <p:cNvPr id="29" name="Shape 24"/>
          <p:cNvSpPr/>
          <p:nvPr/>
        </p:nvSpPr>
        <p:spPr>
          <a:xfrm>
            <a:off x="7342632" y="1947672"/>
            <a:ext cx="402336" cy="402336"/>
          </a:xfrm>
          <a:prstGeom prst="ellipse">
            <a:avLst/>
          </a:prstGeom>
          <a:solidFill>
            <a:schemeClr val="accent1"/>
          </a:solidFill>
          <a:ln/>
        </p:spPr>
      </p:sp>
      <p:pic>
        <p:nvPicPr>
          <p:cNvPr id="30" name="Image 2" descr="preencoded.png"/>
          <p:cNvPicPr>
            <a:picLocks noChangeAspect="1"/>
          </p:cNvPicPr>
          <p:nvPr/>
        </p:nvPicPr>
        <p:blipFill>
          <a:blip r:embed="rId4"/>
          <a:stretch>
            <a:fillRect/>
          </a:stretch>
        </p:blipFill>
        <p:spPr>
          <a:xfrm>
            <a:off x="7424928" y="2029968"/>
            <a:ext cx="237744" cy="237744"/>
          </a:xfrm>
          <a:prstGeom prst="rect">
            <a:avLst/>
          </a:prstGeom>
        </p:spPr>
      </p:pic>
    </p:spTree>
  </p:cSld>
  <p:clrMapOvr>
    <a:masterClrMapping/>
  </p:clrMapOvr>
</p:sld>
</file>

<file path=ppt/theme/theme1.xml><?xml version="1.0" encoding="utf-8"?>
<a:theme xmlns:a="http://schemas.openxmlformats.org/drawingml/2006/main" name="PackTrace Academic">
  <a:themeElements>
    <a:clrScheme name="PackTrace Academic">
      <a:dk1>
        <a:srgbClr val="0B1F44"/>
      </a:dk1>
      <a:lt1>
        <a:srgbClr val="FFFFFF"/>
      </a:lt1>
      <a:dk2>
        <a:srgbClr val="475569"/>
      </a:dk2>
      <a:lt2>
        <a:srgbClr val="F1F5FA"/>
      </a:lt2>
      <a:accent1>
        <a:srgbClr val="1D6FE8"/>
      </a:accent1>
      <a:accent2>
        <a:srgbClr val="0B1F44"/>
      </a:accent2>
      <a:accent3>
        <a:srgbClr val="94A3B8"/>
      </a:accent3>
      <a:accent4>
        <a:srgbClr val="D64545"/>
      </a:accent4>
      <a:accent5>
        <a:srgbClr val="1FA37A"/>
      </a:accent5>
      <a:accent6>
        <a:srgbClr val="E39A12"/>
      </a:accent6>
      <a:hlink>
        <a:srgbClr val="1D6FE8"/>
      </a:hlink>
      <a:folHlink>
        <a:srgbClr val="475569"/>
      </a:folHlink>
    </a:clrScheme>
    <a:fontScheme name="PackTrace Academic">
      <a:majorFont>
        <a:latin typeface="Cambria"/>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6626</TotalTime>
  <Words>5502</Words>
  <Application>Microsoft Office PowerPoint</Application>
  <PresentationFormat>On-screen Show (16:9)</PresentationFormat>
  <Paragraphs>788</Paragraphs>
  <Slides>33</Slides>
  <Notes>33</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33</vt:i4>
      </vt:variant>
    </vt:vector>
  </HeadingPairs>
  <TitlesOfParts>
    <vt:vector size="38" baseType="lpstr">
      <vt:lpstr>Arial</vt:lpstr>
      <vt:lpstr>Calibri</vt:lpstr>
      <vt:lpstr>Cambria</vt:lpstr>
      <vt:lpstr>Courier New</vt:lpstr>
      <vt:lpstr>PackTrace Academic</vt:lpstr>
      <vt:lpstr>PowerPoint Presentation</vt:lpstr>
      <vt:lpstr>Why group riders lose each other</vt:lpstr>
      <vt:lpstr>Project overview</vt:lpstr>
      <vt:lpstr>The problem in one sentence</vt:lpstr>
      <vt:lpstr>What PackTrace sets out to do</vt:lpstr>
      <vt:lpstr>How riding groups coordinate today</vt:lpstr>
      <vt:lpstr>PackTrace: one ride, one map</vt:lpstr>
      <vt:lpstr>Scope of the project</vt:lpstr>
      <vt:lpstr>Recent studies on GPS tracking and safety</vt:lpstr>
      <vt:lpstr>Accuracy, privacy and distance foundations</vt:lpstr>
      <vt:lpstr>Where PackTrace fits</vt:lpstr>
      <vt:lpstr>Technologies actually used</vt:lpstr>
      <vt:lpstr>Hardware and software requirements</vt:lpstr>
      <vt:lpstr>Layered architecture</vt:lpstr>
      <vt:lpstr>From login to ride history</vt:lpstr>
      <vt:lpstr>PowerPoint Presentation</vt:lpstr>
      <vt:lpstr>PowerPoint Presentation</vt:lpstr>
      <vt:lpstr>Use case diagram</vt:lpstr>
      <vt:lpstr>Sequence diagram</vt:lpstr>
      <vt:lpstr>ER diagram from the actual models</vt:lpstr>
      <vt:lpstr>Core modules</vt:lpstr>
      <vt:lpstr>Algorithms and logic used</vt:lpstr>
      <vt:lpstr>Implementation overview</vt:lpstr>
      <vt:lpstr>Authentication and ride management</vt:lpstr>
      <vt:lpstr>Live tracking dashboard</vt:lpstr>
      <vt:lpstr>Safety, history and administration</vt:lpstr>
      <vt:lpstr>User acceptance testing</vt:lpstr>
      <vt:lpstr>Existing approach vs PackTrace</vt:lpstr>
      <vt:lpstr>Advantages, limitations and future scope</vt:lpstr>
      <vt:lpstr>Conclusion and outcome mapping</vt:lpstr>
      <vt:lpstr>References</vt:lpstr>
      <vt:lpstr>References (continued)</vt:lpstr>
      <vt:lpstr>PowerPoint Presentation</vt:lpstr>
    </vt:vector>
  </TitlesOfParts>
  <Company>Mangalam College of Engineering, Ettumanoor</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PackTrace – GPS-Based Group Ride Tracking System</dc:title>
  <dc:subject>MCA Mini Project Presentation</dc:subject>
  <dc:creator>Alan Johny</dc:creator>
  <cp:lastModifiedBy>ALAN JOHNY</cp:lastModifiedBy>
  <cp:revision>15</cp:revision>
  <dcterms:created xsi:type="dcterms:W3CDTF">2026-10-03T22:25:04Z</dcterms:created>
  <dcterms:modified xsi:type="dcterms:W3CDTF">2026-10-14T09:54:55Z</dcterms:modified>
</cp:coreProperties>
</file>